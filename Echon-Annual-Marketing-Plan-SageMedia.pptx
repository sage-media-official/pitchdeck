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embeddedFontLst>
    <p:embeddedFont>
      <p:font typeface="Glacial Indifference"/>
      <p:regular r:id="rIdFontReg"/>
      <p:bold r:id="rIdFontBold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FontReg" Type="http://schemas.openxmlformats.org/officeDocument/2006/relationships/font" Target="fonts/font1.fntdata"/><Relationship Id="rIdFontBold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118872"/>
            <a:ext cx="3870655" cy="6739128"/>
          </a:xfrm>
          <a:prstGeom prst="rect">
            <a:avLst/>
          </a:prstGeom>
          <a:solidFill>
            <a:srgbClr val="22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118872"/>
            <a:ext cx="3870655" cy="6739128"/>
          </a:xfrm>
          <a:prstGeom prst="rect">
            <a:avLst/>
          </a:prstGeom>
          <a:solidFill>
            <a:srgbClr val="22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0" y="1097280"/>
            <a:ext cx="2834640" cy="274320"/>
          </a:xfrm>
          <a:prstGeom prst="roundRect">
            <a:avLst>
              <a:gd name="adj" fmla="val 3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0" y="1481328"/>
            <a:ext cx="2834640" cy="274320"/>
          </a:xfrm>
          <a:prstGeom prst="roundRect">
            <a:avLst>
              <a:gd name="adj" fmla="val 30000"/>
            </a:avLst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0" y="1865376"/>
            <a:ext cx="2834640" cy="274320"/>
          </a:xfrm>
          <a:prstGeom prst="roundRect">
            <a:avLst>
              <a:gd name="adj" fmla="val 30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0" y="2249424"/>
            <a:ext cx="2834640" cy="274320"/>
          </a:xfrm>
          <a:prstGeom prst="roundRect">
            <a:avLst>
              <a:gd name="adj" fmla="val 3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0" y="2633472"/>
            <a:ext cx="2834640" cy="274320"/>
          </a:xfrm>
          <a:prstGeom prst="roundRect">
            <a:avLst>
              <a:gd name="adj" fmla="val 3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32004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B27A"/>
                </a:solidFill>
                <a:latin typeface="Glacial Indifference"/>
                <a:cs typeface="Glacial Indifference"/>
              </a:rPr>
              <a:t>PVC BLEND-BASED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B27A"/>
                </a:solidFill>
                <a:latin typeface="Glacial Indifference"/>
                <a:cs typeface="Glacial Indifference"/>
              </a:rPr>
              <a:t>BUILDING 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97763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FEBD6"/>
                </a:solidFill>
                <a:latin typeface="Inter"/>
                <a:cs typeface="Inter"/>
              </a:rPr>
              <a:t>Boards · Doors · Wall &amp;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FEBD6"/>
                </a:solidFill>
                <a:latin typeface="Inter"/>
                <a:cs typeface="Inter"/>
              </a:rPr>
              <a:t>Ceiling Panels · Flooring · Signage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669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6F3E2"/>
                </a:solidFill>
                <a:latin typeface="Inter"/>
                <a:cs typeface="Inter"/>
              </a:rPr>
              <a:t>Prepared by Sage Media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6F3E2"/>
                </a:solidFill>
                <a:latin typeface="Inter"/>
                <a:cs typeface="Inter"/>
              </a:rPr>
              <a:t>Jaipur · Mumbai · Dubai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40080"/>
            <a:ext cx="4206240" cy="402336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YEAR 1 · INDIA · ANNUAL MARKETING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18872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50">
                <a:solidFill>
                  <a:srgbClr val="22321F"/>
                </a:solidFill>
                <a:latin typeface="Glacial Indifference"/>
                <a:cs typeface="Glacial Indifference"/>
              </a:rPr>
              <a:t>Echon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286000"/>
            <a:ext cx="7589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25">
                <a:solidFill>
                  <a:srgbClr val="22321F"/>
                </a:solidFill>
                <a:latin typeface="Glacial Indifference"/>
                <a:cs typeface="Glacial Indifference"/>
              </a:rPr>
              <a:t>Branding the worry-free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25">
                <a:solidFill>
                  <a:srgbClr val="A85F2B"/>
                </a:solidFill>
                <a:latin typeface="Glacial Indifference"/>
                <a:cs typeface="Glacial Indifference"/>
              </a:rPr>
              <a:t>alternative to wood.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46F5C"/>
                </a:solidFill>
                <a:latin typeface="Inter"/>
                <a:cs typeface="Inter"/>
              </a:rPr>
              <a:t>A sales-facilitation marketing engine that turns 22 years of manufacturing strength — and India's largest PVC-export base — into a branded domestic leader across channel, influencers &amp; brand.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74920"/>
            <a:ext cx="143377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14337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321F"/>
                </a:solidFill>
                <a:latin typeface="Glacial Indifference"/>
                <a:cs typeface="Glacial Indifference"/>
              </a:rPr>
              <a:t>₹3.99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50992"/>
            <a:ext cx="13423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Year-1 investment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10435" y="5074920"/>
            <a:ext cx="143377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10435" y="5212080"/>
            <a:ext cx="14337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321F"/>
                </a:solidFill>
                <a:latin typeface="Glacial Indifference"/>
                <a:cs typeface="Glacial Indifference"/>
              </a:rPr>
              <a:t>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6155" y="5650992"/>
            <a:ext cx="13423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Dealers · 40 cities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0790" y="5074920"/>
            <a:ext cx="143377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0790" y="5212080"/>
            <a:ext cx="14337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321F"/>
                </a:solidFill>
                <a:latin typeface="Glacial Indifference"/>
                <a:cs typeface="Glacial Indifference"/>
              </a:rPr>
              <a:t>~8,000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6510" y="5650992"/>
            <a:ext cx="13423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Carpenters engaged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1145" y="5074920"/>
            <a:ext cx="143377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1145" y="5212080"/>
            <a:ext cx="14337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321F"/>
                </a:solidFill>
                <a:latin typeface="Glacial Indifference"/>
                <a:cs typeface="Glacial Indifference"/>
              </a:rPr>
              <a:t>~₹70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6865" y="5650992"/>
            <a:ext cx="13423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Revenue enabled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21500" y="5074920"/>
            <a:ext cx="143377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1500" y="5212080"/>
            <a:ext cx="14337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321F"/>
                </a:solidFill>
                <a:latin typeface="Glacial Indifference"/>
                <a:cs typeface="Glacial Indifference"/>
              </a:rPr>
              <a:t>17.5×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7220" y="5650992"/>
            <a:ext cx="13423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Return per ₹1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2593238" cy="365760"/>
          </a:xfrm>
          <a:prstGeom prst="roundRect">
            <a:avLst>
              <a:gd name="adj" fmla="val 50000"/>
            </a:avLst>
          </a:prstGeom>
          <a:solidFill>
            <a:srgbClr val="2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E8B27A"/>
                </a:solidFill>
                <a:latin typeface="Inter"/>
                <a:cs typeface="Inter"/>
              </a:rPr>
              <a:t>00 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Convert manufacturing strength into branded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EFEBD6"/>
                </a:solidFill>
                <a:latin typeface="Inter"/>
                <a:cs typeface="Inter"/>
              </a:rPr>
              <a:t>Deepen the dealer channel, win the influencer layer — carpenters above all — and create enough consumer pull that buyers ask for Echon by name. Every rupee is tied to a measurable outcome.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09544"/>
            <a:ext cx="7315200" cy="10972"/>
          </a:xfrm>
          <a:prstGeom prst="rect">
            <a:avLst/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B27A"/>
                </a:solidFill>
                <a:latin typeface="Inter"/>
                <a:cs typeface="Inter"/>
              </a:rPr>
              <a:t>RECOMMENDED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788920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DFBEE"/>
                </a:solidFill>
                <a:latin typeface="Inter"/>
                <a:cs typeface="Inter"/>
              </a:rPr>
              <a:t>₹3.99 Cr / year (Balanced) · scenario range ₹1.85 – 7.90 Cr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76472"/>
            <a:ext cx="7315200" cy="10972"/>
          </a:xfrm>
          <a:prstGeom prst="rect">
            <a:avLst/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5584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B27A"/>
                </a:solidFill>
                <a:latin typeface="Inter"/>
                <a:cs typeface="Inter"/>
              </a:rPr>
              <a:t>YEAR-1 FOOTPRINT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355848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DFBEE"/>
                </a:solidFill>
                <a:latin typeface="Inter"/>
                <a:cs typeface="Inter"/>
              </a:rPr>
              <a:t>8 states · 40 cities · 400 dealers / distributors onboarded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43400"/>
            <a:ext cx="7315200" cy="10972"/>
          </a:xfrm>
          <a:prstGeom prst="rect">
            <a:avLst/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22776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B27A"/>
                </a:solidFill>
                <a:latin typeface="Inter"/>
                <a:cs typeface="Inter"/>
              </a:rPr>
              <a:t>INFLUENCER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922776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DFBEE"/>
                </a:solidFill>
                <a:latin typeface="Inter"/>
                <a:cs typeface="Inter"/>
              </a:rPr>
              <a:t>~8,000 carpenters engaged · ~1,000 architects / interior designers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10328"/>
            <a:ext cx="7315200" cy="10972"/>
          </a:xfrm>
          <a:prstGeom prst="rect">
            <a:avLst/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970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B27A"/>
                </a:solidFill>
                <a:latin typeface="Inter"/>
                <a:cs typeface="Inter"/>
              </a:rPr>
              <a:t>DEMAND 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489704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DFBEE"/>
                </a:solidFill>
                <a:latin typeface="Inter"/>
                <a:cs typeface="Inter"/>
              </a:rPr>
              <a:t>12,000 – 18,000 leads · ~2,000 qualified enquiries routed to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77256"/>
            <a:ext cx="7315200" cy="10972"/>
          </a:xfrm>
          <a:prstGeom prst="rect">
            <a:avLst/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5663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B27A"/>
                </a:solidFill>
                <a:latin typeface="Inter"/>
                <a:cs typeface="Inter"/>
              </a:rPr>
              <a:t>REVENUE ENABLED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5056632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DFBEE"/>
                </a:solidFill>
                <a:latin typeface="Inter"/>
                <a:cs typeface="Inter"/>
              </a:rPr>
              <a:t>~₹70 Cr (~17.5× spend; marketing ≈ 5.7% of enabled revenue)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44184"/>
            <a:ext cx="7315200" cy="10972"/>
          </a:xfrm>
          <a:prstGeom prst="rect">
            <a:avLst/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B27A"/>
                </a:solidFill>
                <a:latin typeface="Inter"/>
                <a:cs typeface="Inter"/>
              </a:rPr>
              <a:t>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623560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DFBEE"/>
                </a:solidFill>
                <a:latin typeface="Inter"/>
                <a:cs typeface="Inter"/>
              </a:rPr>
              <a:t>Monthly — against sales-facilitation KPIs, not vanity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2697480"/>
            <a:ext cx="3154680" cy="3200400"/>
          </a:xfrm>
          <a:prstGeom prst="roundRect">
            <a:avLst>
              <a:gd name="adj" fmla="val 8000"/>
            </a:avLst>
          </a:prstGeom>
          <a:solidFill>
            <a:srgbClr val="2C3A2E"/>
          </a:solidFill>
          <a:ln w="12700">
            <a:solidFill>
              <a:srgbClr val="456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926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B27A"/>
                </a:solidFill>
                <a:latin typeface="Inter"/>
                <a:cs typeface="Inter"/>
              </a:rPr>
              <a:t>BALANCED 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2918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lacial Indifference"/>
                <a:cs typeface="Glacial Indifference"/>
              </a:rPr>
              <a:t>₹3.99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0624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FEBD6"/>
                </a:solidFill>
                <a:latin typeface="Inter"/>
                <a:cs typeface="Inter"/>
              </a:rPr>
              <a:t>Our recommendation for a credible national Year-1 push.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5029200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6189" y="5029200"/>
            <a:ext cx="1329080" cy="146304"/>
          </a:xfrm>
          <a:prstGeom prst="roundRect">
            <a:avLst>
              <a:gd name="adj" fmla="val 5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525780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EBD6"/>
                </a:solidFill>
                <a:latin typeface="Inter"/>
                <a:cs typeface="Inter"/>
              </a:rPr>
              <a:t>Conservative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EBD6"/>
                </a:solidFill>
                <a:latin typeface="Inter"/>
                <a:cs typeface="Inter"/>
              </a:rPr>
              <a:t>₹1.85 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257800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EBD6"/>
                </a:solidFill>
                <a:latin typeface="Inter"/>
                <a:cs typeface="Inter"/>
              </a:rPr>
              <a:t>Aggressive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EBD6"/>
                </a:solidFill>
                <a:latin typeface="Inter"/>
                <a:cs typeface="Inter"/>
              </a:rPr>
              <a:t>₹7.90 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EFEBD6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EFEBD6"/>
                </a:solidFill>
                <a:latin typeface="Inter"/>
                <a:cs typeface="Inter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2691993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01   STRATEGIC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The sale is decided in two places.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A homeowner rarely names a board brand — the carpenter recommends it and the dealer stocks what moves. Four pillars, and every rupee maps to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670048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852160"/>
            <a:ext cx="2670048" cy="9144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PILLAR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31012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400" b="1" i="0">
                <a:solidFill>
                  <a:srgbClr val="FDFBEE"/>
                </a:solidFill>
                <a:latin typeface="Glacial Indifference"/>
                <a:cs typeface="Glacial Indifferenc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321F"/>
                </a:solidFill>
                <a:latin typeface="Glacial Indifference"/>
                <a:cs typeface="Glacial Indifference"/>
              </a:rPr>
              <a:t>Win the carpenter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The true decision-maker. Nukkad meets, a loyalty program, samples and recognition make Echon the default recommendation at the point of fabrication.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743200"/>
            <a:ext cx="2670048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5852160"/>
            <a:ext cx="2670048" cy="9144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99923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PILLAR 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31012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400" b="1" i="0">
                <a:solidFill>
                  <a:srgbClr val="FDFBEE"/>
                </a:solidFill>
                <a:latin typeface="Glacial Indifference"/>
                <a:cs typeface="Glacial Indifferenc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148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321F"/>
                </a:solidFill>
                <a:latin typeface="Glacial Indifference"/>
                <a:cs typeface="Glacial Indifference"/>
              </a:rPr>
              <a:t>Arm the counter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7548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Dealers &amp; distributors are the revenue engine. Signage, counter branding, samples, meets and trade visibility help the sales team onboard and sell through.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743200"/>
            <a:ext cx="2670048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5852160"/>
            <a:ext cx="2670048" cy="9144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99923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PILLAR 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31012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400" b="1" i="0">
                <a:solidFill>
                  <a:srgbClr val="FDFBEE"/>
                </a:solidFill>
                <a:latin typeface="Glacial Indifference"/>
                <a:cs typeface="Glacial Indifferenc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1148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321F"/>
                </a:solidFill>
                <a:latin typeface="Glacial Indifference"/>
                <a:cs typeface="Glacial Indifference"/>
              </a:rPr>
              <a:t>Build consumer pull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548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ATL, always-on social, influencers, the visualizer and experience corners make consumers ask for Echon by name — easing the channel's job.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743200"/>
            <a:ext cx="2670048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5852160"/>
            <a:ext cx="2670048" cy="9144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99923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PILLAR 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331012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400" b="1" i="0">
                <a:solidFill>
                  <a:srgbClr val="FDFBEE"/>
                </a:solidFill>
                <a:latin typeface="Glacial Indifference"/>
                <a:cs typeface="Glacial Indifference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1148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321F"/>
                </a:solidFill>
                <a:latin typeface="Glacial Indifference"/>
                <a:cs typeface="Glacial Indifference"/>
              </a:rPr>
              <a:t>Convert credibility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7548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Translate 22 years and 'India's largest exporter' into domestic trust — through PR, content, AID engagement and project specs, government &amp; private.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02   MARKETING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Five objectives, five measurable Year-1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08792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73152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57B3C"/>
                </a:solidFill>
                <a:latin typeface="Glacial Indifference"/>
                <a:cs typeface="Glacial Indifferenc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774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321F"/>
                </a:solidFill>
                <a:latin typeface="Glacial Indifference"/>
                <a:cs typeface="Glacial Indifference"/>
              </a:rPr>
              <a:t>Build brand salience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70048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Establish Echon as the branded leader in PVC blend-based building materials — the new-age alternative to wood.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404872"/>
            <a:ext cx="18288" cy="411479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286000"/>
            <a:ext cx="320040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7503B"/>
                </a:solidFill>
                <a:latin typeface="Inter"/>
                <a:cs typeface="Inter"/>
              </a:rPr>
              <a:t>Recall &amp; reach in 8 anchor markets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44952"/>
            <a:ext cx="10908792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73152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57B3C"/>
                </a:solidFill>
                <a:latin typeface="Glacial Indifference"/>
                <a:cs typeface="Glacial Indifferenc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3639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321F"/>
                </a:solidFill>
                <a:latin typeface="Glacial Indifference"/>
                <a:cs typeface="Glacial Indifference"/>
              </a:rPr>
              <a:t>Facilitate channel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290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Help the sales team onboard and activate dealers / distributors and arm them to sell through.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3163824"/>
            <a:ext cx="18288" cy="411479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044952"/>
            <a:ext cx="320040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7503B"/>
                </a:solidFill>
                <a:latin typeface="Inter"/>
                <a:cs typeface="Inter"/>
              </a:rPr>
              <a:t>400 dealers across 40 cities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03904"/>
            <a:ext cx="10908792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03904"/>
            <a:ext cx="73152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57B3C"/>
                </a:solidFill>
                <a:latin typeface="Glacial Indifference"/>
                <a:cs typeface="Glacial Indifferenc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89534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321F"/>
                </a:solidFill>
                <a:latin typeface="Glacial Indifference"/>
                <a:cs typeface="Glacial Indifference"/>
              </a:rPr>
              <a:t>Win the influencer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879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Carpenters above all, plus architects, interior designers, contractors and builders.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922776"/>
            <a:ext cx="18288" cy="411479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3803904"/>
            <a:ext cx="320040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7503B"/>
                </a:solidFill>
                <a:latin typeface="Inter"/>
                <a:cs typeface="Inter"/>
              </a:rPr>
              <a:t>8,000 carpenters · 1,000 AID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62856"/>
            <a:ext cx="10908792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62856"/>
            <a:ext cx="73152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57B3C"/>
                </a:solidFill>
                <a:latin typeface="Glacial Indifference"/>
                <a:cs typeface="Glacial Indifferenc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65429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321F"/>
                </a:solidFill>
                <a:latin typeface="Glacial Indifference"/>
                <a:cs typeface="Glacial Indifference"/>
              </a:rPr>
              <a:t>Generate qualified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946904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Dealer, retail, project (govt &amp; private) and consumer enquiries that feed sales targets.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4681728"/>
            <a:ext cx="18288" cy="411479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4562856"/>
            <a:ext cx="320040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7503B"/>
                </a:solidFill>
                <a:latin typeface="Inter"/>
                <a:cs typeface="Inter"/>
              </a:rPr>
              <a:t>12,000–18,000 leads / year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21808"/>
            <a:ext cx="10908792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21808"/>
            <a:ext cx="73152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57B3C"/>
                </a:solidFill>
                <a:latin typeface="Glacial Indifference"/>
                <a:cs typeface="Glacial Indifferenc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41324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321F"/>
                </a:solidFill>
                <a:latin typeface="Glacial Indifference"/>
                <a:cs typeface="Glacial Indifference"/>
              </a:rPr>
              <a:t>Run a measurable, ROI-driven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705856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6F5C"/>
                </a:solidFill>
                <a:latin typeface="Inter"/>
                <a:cs typeface="Inter"/>
              </a:rPr>
              <a:t>Reported monthly against sales facilitation, not vanity metrics.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5440680"/>
            <a:ext cx="18288" cy="411479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5321808"/>
            <a:ext cx="3200400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7503B"/>
                </a:solidFill>
                <a:latin typeface="Inter"/>
                <a:cs typeface="Inter"/>
              </a:rPr>
              <a:t>~₹70 Cr revenue enabled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2395728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03   TARGET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Three segments, three jobs.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The channel sells, the influencers recommend, the consumer pulls. Marketing serves all three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24327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SEGMENT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7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321F"/>
                </a:solidFill>
                <a:latin typeface="Glacial Indifference"/>
                <a:cs typeface="Glacial Indifference"/>
              </a:rPr>
              <a:t>Channel &amp; Direct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02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5F2B"/>
                </a:solidFill>
                <a:latin typeface="Inter"/>
                <a:cs typeface="Inter"/>
              </a:rPr>
              <a:t>THE REVENUE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130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C2620"/>
                </a:solidFill>
                <a:latin typeface="Inter"/>
                <a:cs typeface="Inter"/>
              </a:rPr>
              <a:t>Dealers &amp; distributors, retailers and large projects — government and private. The stock points that move volume.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754879"/>
            <a:ext cx="3108960" cy="10972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646F5C"/>
                </a:solidFill>
                <a:latin typeface="Inter"/>
                <a:cs typeface="Inter"/>
              </a:rPr>
              <a:t>Trade visibility, dealer/contractor meets, loyalty, samples &amp; catalogs, exhibition leads, project-spec support, corporate AV.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5778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000" b="1" i="0">
                <a:solidFill>
                  <a:srgbClr val="37503B"/>
                </a:solidFill>
                <a:latin typeface="Inter"/>
                <a:cs typeface="Inter"/>
              </a:rPr>
              <a:t>Goal: Onboard, stock, sell-through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2624327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SEGMENT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81527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321F"/>
                </a:solidFill>
                <a:latin typeface="Glacial Indifference"/>
                <a:cs typeface="Glacial Indifference"/>
              </a:rPr>
              <a:t>The Influencers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502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5F2B"/>
                </a:solidFill>
                <a:latin typeface="Inter"/>
                <a:cs typeface="Inter"/>
              </a:rPr>
              <a:t>THE RECOMMENDERS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130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C2620"/>
                </a:solidFill>
                <a:latin typeface="Inter"/>
                <a:cs typeface="Inter"/>
              </a:rPr>
              <a:t>Architects, interior designers, builders/contractors — and most importantly carpenters, who specify and fabricate.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754879"/>
            <a:ext cx="3108960" cy="10972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8463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646F5C"/>
                </a:solidFill>
                <a:latin typeface="Inter"/>
                <a:cs typeface="Inter"/>
              </a:rPr>
              <a:t>Carpenter nukkad meets + loyalty, AID engagement &amp; CPD, visualizer / 3D plugin, technical content, samples &amp; recognition.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55778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000" b="1" i="0">
                <a:solidFill>
                  <a:srgbClr val="37503B"/>
                </a:solidFill>
                <a:latin typeface="Inter"/>
                <a:cs typeface="Inter"/>
              </a:rPr>
              <a:t>Goal: Become the default recommendation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278892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66759" y="2624327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SEGMENT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3081527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321F"/>
                </a:solidFill>
                <a:latin typeface="Glacial Indifference"/>
                <a:cs typeface="Glacial Indifference"/>
              </a:rPr>
              <a:t>End Consumers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3502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5F2B"/>
                </a:solidFill>
                <a:latin typeface="Inter"/>
                <a:cs typeface="Inter"/>
              </a:rPr>
              <a:t>THE PULL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38130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C2620"/>
                </a:solidFill>
                <a:latin typeface="Inter"/>
                <a:cs typeface="Inter"/>
              </a:rPr>
              <a:t>Homeowners, renovators and self-builders choosing durable, low-maintenance surfaces over wood.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59" y="4754879"/>
            <a:ext cx="3108960" cy="10972"/>
          </a:xfrm>
          <a:prstGeom prst="rect">
            <a:avLst/>
          </a:prstGeom>
          <a:solidFill>
            <a:srgbClr val="D9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48463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646F5C"/>
                </a:solidFill>
                <a:latin typeface="Inter"/>
                <a:cs typeface="Inter"/>
              </a:rPr>
              <a:t>ATL, always-on social, influencer content, website + visualizer, performance lead-gen, experience corners, brand ambassador.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59" y="55778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000" b="1" i="0">
                <a:solidFill>
                  <a:srgbClr val="37503B"/>
                </a:solidFill>
                <a:latin typeface="Inter"/>
                <a:cs typeface="Inter"/>
              </a:rPr>
              <a:t>Goal: Create pull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2198217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04   SALES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A phased Year-1 footprint, front-loaded into the anchor 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8 states · 40 priority cities · 400 dealers / distributors. Proposed — to be confirmed with Echon's sales leadership.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5943600" cy="3291840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1005840"/>
                <a:gridCol w="822960"/>
                <a:gridCol w="1005840"/>
                <a:gridCol w="8229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State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Tier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Cities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Dealers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Activ.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Rajasthan (home)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Anchor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60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Gujarat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Anchor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60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Q1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Maharashtra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Anchor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70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Delhi-NCR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Anchor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55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Q2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Uttar Pradesh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Growth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50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Punjab &amp; Haryana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Growth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35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Q2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Karnataka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Growth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Telangana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Growth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35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Q3</a:t>
                      </a:r>
                    </a:p>
                  </a:txBody>
                  <a:tcPr marL="91440" marR="91440" marT="36576" marB="36576" anchor="ctr">
                    <a:solidFill>
                      <a:srgbClr val="F6F3E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Inter"/>
                          <a:cs typeface="Inter"/>
                        </a:rPr>
                        <a:t>TOTAL — 8 states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Inter"/>
                          <a:cs typeface="Inter"/>
                        </a:rPr>
                        <a:t>Q1–Q3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Inter"/>
                          <a:cs typeface="Inter"/>
                        </a:rPr>
                        <a:t>40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Inter"/>
                          <a:cs typeface="Inter"/>
                        </a:rPr>
                        <a:t>400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22321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807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6F5C"/>
                </a:solidFill>
                <a:latin typeface="Inter"/>
                <a:cs typeface="Inter"/>
              </a:rPr>
              <a:t>Q4 is consolidation &amp; depth — no new states. Deepen the 8 active states, expand retail width, drive repeat orders, and pilot East India (West Bengal) ahead of Year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743200"/>
            <a:ext cx="4645152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926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2321F"/>
                </a:solidFill>
                <a:latin typeface="Glacial Indifference"/>
                <a:cs typeface="Glacial Indifference"/>
              </a:rPr>
              <a:t>Target dealers by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2735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Anchor states (green) front-loaded; growth states (copper) follow.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3730752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Maharashtra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749039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3749039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00232" y="3730752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404622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Rajasthan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4064507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4064507"/>
            <a:ext cx="2272937" cy="219456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00232" y="4046220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4361688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Gujarat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379975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4379975"/>
            <a:ext cx="2272937" cy="219456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00232" y="4361688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4677155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Delhi-NCR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695443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75320" y="4695443"/>
            <a:ext cx="2083525" cy="219456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00232" y="4677155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992623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Uttar Pradesh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5010911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20" y="5010911"/>
            <a:ext cx="1894114" cy="219456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00232" y="4992623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5308091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Punjab &amp; Hy.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326379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75320" y="5326379"/>
            <a:ext cx="1325880" cy="219456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00232" y="5308091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5623559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Karnataka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641847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75320" y="5641847"/>
            <a:ext cx="1325880" cy="219456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00232" y="5623559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5939027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Telangana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5320" y="5957315"/>
            <a:ext cx="2651760" cy="219456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75320" y="5957315"/>
            <a:ext cx="1325880" cy="219456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00232" y="5939027"/>
            <a:ext cx="411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321F"/>
                </a:solidFill>
                <a:latin typeface="Inter"/>
                <a:cs typeface="Inter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482035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05   PLAN OF ACTION — 12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Four quarters: build, expand, deepen, optimise.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Spend is paced to match the rollout — front-loaded into the build, then sustained.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6692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Quarterly spend phasing — Balanced (₹ Lakhs)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19" y="3749039"/>
            <a:ext cx="960120" cy="1828800"/>
          </a:xfrm>
          <a:prstGeom prst="roundRect">
            <a:avLst>
              <a:gd name="adj" fmla="val 12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321F"/>
                </a:solidFill>
                <a:latin typeface="Inter"/>
                <a:cs typeface="Inter"/>
              </a:rPr>
              <a:t>₹140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59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Q1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5980" y="4140925"/>
            <a:ext cx="960120" cy="1436914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848317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321F"/>
                </a:solidFill>
                <a:latin typeface="Inter"/>
                <a:cs typeface="Inter"/>
              </a:rPr>
              <a:t>₹110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623559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Q2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6140" y="4428308"/>
            <a:ext cx="960120" cy="1149531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41357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321F"/>
                </a:solidFill>
                <a:latin typeface="Inter"/>
                <a:cs typeface="Inter"/>
              </a:rPr>
              <a:t>₹88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623559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Q3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6300" y="4781005"/>
            <a:ext cx="960120" cy="796834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488397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321F"/>
                </a:solidFill>
                <a:latin typeface="Inter"/>
                <a:cs typeface="Inter"/>
              </a:rPr>
              <a:t>₹61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623559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43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Foundation        N/W expansion        South &amp; depth        Optimise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743200"/>
            <a:ext cx="4937760" cy="7589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2743200"/>
            <a:ext cx="100584" cy="758952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8346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Q1 · M1–M3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163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Foundation &amp; Anchor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1089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6F5C"/>
                </a:solidFill>
                <a:latin typeface="Inter"/>
                <a:cs typeface="Inter"/>
              </a:rPr>
              <a:t>Set up anchor teams (RJ/GJ/MH); brand toolkit, website + visualizer, loyalty portal; signage &amp; first carpenter nukkad meets. ~120 dealers active.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593592"/>
            <a:ext cx="4937760" cy="7589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29400" y="3593592"/>
            <a:ext cx="100584" cy="758952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6850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Q2 · M4–M6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6674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North / West Expansion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95935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6F5C"/>
                </a:solidFill>
                <a:latin typeface="Inter"/>
                <a:cs typeface="Inter"/>
              </a:rPr>
              <a:t>Activate Delhi-NCR, UP, Punjab/Haryana (~230 dealers). ATL burst, AID program, first regional exhibition, mid-year sell-through review.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4443984"/>
            <a:ext cx="4937760" cy="7589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4443984"/>
            <a:ext cx="100584" cy="758952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53542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Q3 · M7–M9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1713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South Expansion &amp; Depth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80974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6F5C"/>
                </a:solidFill>
                <a:latin typeface="Inter"/>
                <a:cs typeface="Inter"/>
              </a:rPr>
              <a:t>Activate Karnataka &amp; Telangana (~330 dealers). Project &amp; AID specs, second expo, experience corner, performance optimisation.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5294376"/>
            <a:ext cx="4937760" cy="7589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29400" y="5294376"/>
            <a:ext cx="100584" cy="758952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538581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Q4 · M10–M12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3675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Consolidate &amp; Optimise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66013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6F5C"/>
                </a:solidFill>
                <a:latin typeface="Inter"/>
                <a:cs typeface="Inter"/>
              </a:rPr>
              <a:t>Retail width within ~400 dealers, repeat-order &amp; festive push, WB pilot prep, brand-ambassador decision, Year-2 roadmap.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383279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05   PLAN OF ACTION ·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The Year-1 rollout calendar.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0879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3657600"/>
                <a:gridCol w="6473952"/>
              </a:tblGrid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Mo.</a:t>
                      </a:r>
                    </a:p>
                  </a:txBody>
                  <a:tcPr marT="18288" marB="18288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Sales / Rollout Focus</a:t>
                      </a:r>
                    </a:p>
                  </a:txBody>
                  <a:tcPr marT="18288" marB="18288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Key Marketing Actions</a:t>
                      </a:r>
                    </a:p>
                  </a:txBody>
                  <a:tcPr marT="18288" marB="18288">
                    <a:solidFill>
                      <a:srgbClr val="22321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Set up anchor teams; map RJ/GJ/MH dealers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Brand toolkit; website + visualizer &amp; 3D plugin; social revamp; WhatsApp + loyalty setup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M2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Onboard first anchor dealers (RJ/GJ/MH)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Signage + counter branding; first carpenter meets; SEO + blogs; performance pilot; samples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~120 anchor dealers active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Dealer/contractor meets; influencer collabs start; product films + hero DVC; expo prep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M4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Activate Delhi-NCR; add dealers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ATL burst (print + OOH); scale performance; AID program; visualizer-led spec push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Activate UP + Punjab/Haryana (~230)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Signage/counter in new cities; carpenter meets; first regional exhibition; sample wave 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M6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Mid-year sell-through review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Regional TVC/radio burst; loyalty scale-up; mid-year performance review &amp; creative refresh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M7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Activate Karnataka; project &amp; AID specs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Influencer push; experience corner setup; walk-through content; retargeting layer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M8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Activate Telangana (~330)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Second expo (Acetech-class); visualizer-led AID campaign; CPL reduction focus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M9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Depth in active states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Counter-branding depth; carpenter loyalty milestones; case studies, corporate AV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M10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Retail width within dealers (~400)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Repeat-order &amp; festive campaign; merchandise refresh; project-spec content; remarketing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M11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East India (WB) pilot prep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Full-funnel optimisation; loyalty redemption drive; PR/awards; influencer round 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M12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Annual sales vs target review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Year-in-review content; brand-ambassador decision; KPI review; Year-2 roadmap &amp; budget</a:t>
                      </a:r>
                    </a:p>
                  </a:txBody>
                  <a:tcPr marT="18288" marB="18288">
                    <a:solidFill>
                      <a:srgbClr val="F6F3E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185769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06   CHANNEL STRATEGY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How each channel works — and what it returns.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Balanced working-media spend (₹ L, ex-agency); a flat 20% agency fee applies on the budget.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286000"/>
          <a:ext cx="1090879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97280"/>
                <a:gridCol w="6428232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Channel</a:t>
                      </a:r>
                    </a:p>
                  </a:txBody>
                  <a:tcPr marT="13716" marB="1371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₹ L</a:t>
                      </a:r>
                    </a:p>
                  </a:txBody>
                  <a:tcPr marT="13716" marB="1371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Primary KPIs &amp; Expected Year-1 Numbers</a:t>
                      </a:r>
                    </a:p>
                  </a:txBody>
                  <a:tcPr marT="13716" marB="13716">
                    <a:solidFill>
                      <a:srgbClr val="22321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ATL — Print/OOH/Radio/TVC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55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~25–40M reach across anchor cities; trade &amp; architect press; dealer-hub OOH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Digital — Social/Influencer/Web/SEO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68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+40–60k followers; 12–18M reach; 60–80 collabs; 30–50k visualizer sessions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Performance — SEM/SMM/GDN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38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12,000–18,000 leads/yr; CPL ₹120–250; ~1,500–2,500 qualified enquiries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Content / Videos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30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120–180 assets; 8–12M video views; product/application film + walk-throughs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Exhibition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17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4–6 expos; 2,000–3,500 leads; 60–100 dealer/distributor signups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Visibility — Signage + Counter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23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~400 outlets with signage; 250–350 counter-branded points across 40 cities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Meets — Carpenter + Dealer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28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~320 carpenter nukkad meets → ~8,000 carpenters; ~80 dealer/contractor meets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Loyalty — Dealer &amp; Carpenter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22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8,000+ carpenters &amp; 400+ dealers enrolled; 15–25% repeat-purchase uplift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Samples + Collaterals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22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~12,000–15,000 sample kits; full sales-kit &amp; sample-book coverage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Experience Stores / Centers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16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1–2 experience corners in anchor cities; touch-&amp;-feel for AID &amp; consumers</a:t>
                      </a:r>
                    </a:p>
                  </a:txBody>
                  <a:tcPr marT="13716" marB="13716">
                    <a:solidFill>
                      <a:srgbClr val="F6F3E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Agency Fee — Mainline + Digital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20%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20% of budget (₹80 L Bal): strategy, creative, execution &amp; monthly reporting</a:t>
                      </a:r>
                    </a:p>
                  </a:txBody>
                  <a:tcPr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2593238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07   BUDGET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Match spend to ambition.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Three scenarios. Balanced (₹3.99 Cr) is our recommendation — deliberately channel- and influencer-heavy.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6F5C"/>
                </a:solidFill>
                <a:latin typeface="Inter"/>
                <a:cs typeface="Inter"/>
              </a:rPr>
              <a:t>CONSERVATIVE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321F"/>
                </a:solidFill>
                <a:latin typeface="Glacial Indifference"/>
                <a:cs typeface="Glacial Indifference"/>
              </a:rPr>
              <a:t>₹1.85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6F5C"/>
                </a:solidFill>
                <a:latin typeface="Inter"/>
                <a:cs typeface="Inter"/>
              </a:rPr>
              <a:t>A focused, anchor-first build. Proves the model before scaling.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57B3C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9443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BALANCED 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461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321F"/>
                </a:solidFill>
                <a:latin typeface="Glacial Indifference"/>
                <a:cs typeface="Glacial Indifference"/>
              </a:rPr>
              <a:t>₹3.99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86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6F5C"/>
                </a:solidFill>
                <a:latin typeface="Inter"/>
                <a:cs typeface="Inter"/>
              </a:rPr>
              <a:t>A credible national Year-1 push — all engines funded. Recommended.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7432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9443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6F5C"/>
                </a:solidFill>
                <a:latin typeface="Inter"/>
                <a:cs typeface="Inter"/>
              </a:rPr>
              <a:t>AGGRESSIVE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461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321F"/>
                </a:solidFill>
                <a:latin typeface="Glacial Indifference"/>
                <a:cs typeface="Glacial Indifference"/>
              </a:rPr>
              <a:t>₹7.90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86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6F5C"/>
                </a:solidFill>
                <a:latin typeface="Inter"/>
                <a:cs typeface="Inter"/>
              </a:rPr>
              <a:t>Adds a brand ambassador, full TVC burst &amp; richer experience centres.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5F2B"/>
                </a:solidFill>
                <a:latin typeface="Inter"/>
                <a:cs typeface="Inter"/>
              </a:rPr>
              <a:t>Each total is all-in: 80% working media + 20% agency fee.  Balanced = ₹3.19 Cr media + ₹0.80 Cr agency = ₹3.99 Cr.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321F"/>
                </a:solidFill>
                <a:latin typeface="Glacial Indifference"/>
                <a:cs typeface="Glacial Indifference"/>
              </a:rPr>
              <a:t>Where the money goes — Balanced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12080"/>
            <a:ext cx="3490813" cy="548640"/>
          </a:xfrm>
          <a:prstGeom prst="rect">
            <a:avLst/>
          </a:prstGeom>
          <a:solidFill>
            <a:srgbClr val="37503B"/>
          </a:solidFill>
          <a:ln w="19050">
            <a:solidFill>
              <a:srgbClr val="F6F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893" y="5212080"/>
            <a:ext cx="2945373" cy="548640"/>
          </a:xfrm>
          <a:prstGeom prst="rect">
            <a:avLst/>
          </a:prstGeom>
          <a:solidFill>
            <a:srgbClr val="C57B3C"/>
          </a:solidFill>
          <a:ln w="19050">
            <a:solidFill>
              <a:srgbClr val="F6F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6267" y="5212080"/>
            <a:ext cx="2181758" cy="548640"/>
          </a:xfrm>
          <a:prstGeom prst="rect">
            <a:avLst/>
          </a:prstGeom>
          <a:solidFill>
            <a:srgbClr val="646F5C"/>
          </a:solidFill>
          <a:ln w="19050">
            <a:solidFill>
              <a:srgbClr val="F6F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8025" y="5212080"/>
            <a:ext cx="1527230" cy="548640"/>
          </a:xfrm>
          <a:prstGeom prst="rect">
            <a:avLst/>
          </a:prstGeom>
          <a:solidFill>
            <a:srgbClr val="D9A441"/>
          </a:solidFill>
          <a:ln w="19050">
            <a:solidFill>
              <a:srgbClr val="F6F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00" b="1" i="0">
                <a:solidFill>
                  <a:srgbClr val="22321F"/>
                </a:solidFill>
                <a:latin typeface="Inter"/>
                <a:cs typeface="Inter"/>
              </a:rPr>
              <a:t>14%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85256" y="5212080"/>
            <a:ext cx="763615" cy="548640"/>
          </a:xfrm>
          <a:prstGeom prst="rect">
            <a:avLst/>
          </a:prstGeom>
          <a:solidFill>
            <a:srgbClr val="517354"/>
          </a:solidFill>
          <a:ln w="19050">
            <a:solidFill>
              <a:srgbClr val="F6F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98932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37503B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5943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Channel, Trade &amp; Influencer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598932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C57B3C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63824" y="5943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Demand Generation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98932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646F5C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943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Agency fee (20%)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598932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5943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ATL / Brand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15783" y="598932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517354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3527" y="5943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C2620"/>
                </a:solidFill>
                <a:latin typeface="Inter"/>
                <a:cs typeface="Inter"/>
              </a:rPr>
              <a:t>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877056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07   BUDGET — BY CHANNEL &amp;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Working-media allocation (80%); agency fee is a flat 20% of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321F"/>
                </a:solidFill>
                <a:latin typeface="Glacial Indifference"/>
                <a:cs typeface="Glacial Indifference"/>
              </a:rPr>
              <a:t>Working media by channel — Balanced (₹ 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98648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Digital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26080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2926080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92624" y="289864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80283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ATL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207715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3207715"/>
            <a:ext cx="2514600" cy="201168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3180283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61918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489350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28800" y="3489350"/>
            <a:ext cx="1737360" cy="201168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346191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43553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Content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3770985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0" y="3770985"/>
            <a:ext cx="1371600" cy="201168"/>
          </a:xfrm>
          <a:prstGeom prst="roundRect">
            <a:avLst>
              <a:gd name="adj" fmla="val 4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92624" y="3743553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25188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Meets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052620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8800" y="4052620"/>
            <a:ext cx="1280160" cy="201168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92624" y="40251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06823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Visibility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334255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28800" y="4334255"/>
            <a:ext cx="1051560" cy="201168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2624" y="4306823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88459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Loyalty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615891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28800" y="4615891"/>
            <a:ext cx="1005840" cy="201168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2624" y="4588459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70094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Exhibition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4897526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828800" y="4897526"/>
            <a:ext cx="777240" cy="201168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92624" y="487009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51729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Experience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28800" y="5179161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828800" y="5179161"/>
            <a:ext cx="731519" cy="201168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92624" y="5151729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433364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Samples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5460796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28800" y="5460796"/>
            <a:ext cx="594359" cy="201168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92624" y="543336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714999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C2620"/>
                </a:solidFill>
                <a:latin typeface="Inter"/>
                <a:cs typeface="Inter"/>
              </a:rPr>
              <a:t>Collaterals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5742431"/>
            <a:ext cx="3108960" cy="201168"/>
          </a:xfrm>
          <a:prstGeom prst="roundRect">
            <a:avLst>
              <a:gd name="adj" fmla="val 4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828800" y="5742431"/>
            <a:ext cx="411480" cy="201168"/>
          </a:xfrm>
          <a:prstGeom prst="roundRect">
            <a:avLst>
              <a:gd name="adj" fmla="val 4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92624" y="5714999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2321F"/>
                </a:solidFill>
                <a:latin typeface="Inter"/>
                <a:cs typeface="Inter"/>
              </a:rPr>
              <a:t>9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5989320" y="2286000"/>
          <a:ext cx="555955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88136"/>
                <a:gridCol w="1097280"/>
                <a:gridCol w="1088136"/>
              </a:tblGrid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Category (media)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Aggr.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Bal.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Cons.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ATL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120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55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12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Digital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111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68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39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Performance Mktg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64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38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19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Content / Videos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54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30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13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Exhibition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30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17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9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Visibility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38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23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13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Meets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43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28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18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Loyalty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34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22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12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Collaterals/Merch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15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9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5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Samples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21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13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8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Experience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34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16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–</a:t>
                      </a:r>
                    </a:p>
                  </a:txBody>
                  <a:tcPr marT="5486" marB="5486">
                    <a:solidFill>
                      <a:srgbClr val="FFFFF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Brand Ambassador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C2620"/>
                          </a:solidFill>
                          <a:latin typeface="Inter"/>
                          <a:cs typeface="Inter"/>
                        </a:rPr>
                        <a:t>68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2321F"/>
                          </a:solidFill>
                          <a:latin typeface="Inter"/>
                          <a:cs typeface="Inter"/>
                        </a:rPr>
                        <a:t>–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46F5C"/>
                          </a:solidFill>
                          <a:latin typeface="Inter"/>
                          <a:cs typeface="Inter"/>
                        </a:rPr>
                        <a:t>–</a:t>
                      </a:r>
                    </a:p>
                  </a:txBody>
                  <a:tcPr marT="5486" marB="5486">
                    <a:solidFill>
                      <a:srgbClr val="F6F3E2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Working media (₹L)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632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E8B27A"/>
                          </a:solidFill>
                          <a:latin typeface="Inter"/>
                          <a:cs typeface="Inter"/>
                        </a:rPr>
                        <a:t>319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148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</a:tr>
              <a:tr h="24860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Agency fee — 20%</a:t>
                      </a:r>
                    </a:p>
                  </a:txBody>
                  <a:tcPr marT="5486" marB="5486">
                    <a:solidFill>
                      <a:srgbClr val="EF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158</a:t>
                      </a:r>
                    </a:p>
                  </a:txBody>
                  <a:tcPr marT="5486" marB="5486">
                    <a:solidFill>
                      <a:srgbClr val="EF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80</a:t>
                      </a:r>
                    </a:p>
                  </a:txBody>
                  <a:tcPr marT="5486" marB="5486">
                    <a:solidFill>
                      <a:srgbClr val="EF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A85F2B"/>
                          </a:solidFill>
                          <a:latin typeface="Inter"/>
                          <a:cs typeface="Inter"/>
                        </a:rPr>
                        <a:t>37</a:t>
                      </a:r>
                    </a:p>
                  </a:txBody>
                  <a:tcPr marT="5486" marB="5486">
                    <a:solidFill>
                      <a:srgbClr val="EFEBD6"/>
                    </a:solidFill>
                  </a:tcPr>
                </a:tc>
              </a:tr>
              <a:tr h="248609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Total (₹ Cr)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7.90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E8B27A"/>
                          </a:solidFill>
                          <a:latin typeface="Inter"/>
                          <a:cs typeface="Inter"/>
                        </a:rPr>
                        <a:t>3.99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DFBEE"/>
                          </a:solidFill>
                          <a:latin typeface="Inter"/>
                          <a:cs typeface="Inter"/>
                        </a:rPr>
                        <a:t>1.85</a:t>
                      </a:r>
                    </a:p>
                  </a:txBody>
                  <a:tcPr marT="5486" marB="5486">
                    <a:solidFill>
                      <a:srgbClr val="22321F"/>
                    </a:solidFill>
                  </a:tcPr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679545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07   THE THREE SCENARIOS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By strategic bucket (₹ Lakhs).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Channel &amp; influencer spend scales hardest from Conservative → Aggressive; the agency fee stays a flat 20%.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090879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3291840"/>
            <a:ext cx="457200" cy="2194560"/>
          </a:xfrm>
          <a:prstGeom prst="roundRect">
            <a:avLst>
              <a:gd name="adj" fmla="val 12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054096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283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6543" y="4493807"/>
            <a:ext cx="457200" cy="992592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9384" y="4256063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128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4982349"/>
            <a:ext cx="457200" cy="504050"/>
          </a:xfrm>
          <a:prstGeom prst="roundRect">
            <a:avLst>
              <a:gd name="adj" fmla="val 12000"/>
            </a:avLst>
          </a:prstGeom>
          <a:solidFill>
            <a:srgbClr val="EFEBD6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4744605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595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321F"/>
                </a:solidFill>
                <a:latin typeface="Inter"/>
                <a:cs typeface="Inter"/>
              </a:rPr>
              <a:t>Channel &amp;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321F"/>
                </a:solidFill>
                <a:latin typeface="Inter"/>
                <a:cs typeface="Inter"/>
              </a:rPr>
              <a:t>Influencer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4129339"/>
            <a:ext cx="457200" cy="1357060"/>
          </a:xfrm>
          <a:prstGeom prst="roundRect">
            <a:avLst>
              <a:gd name="adj" fmla="val 12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891595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175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23944" y="4664409"/>
            <a:ext cx="457200" cy="821990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6783" y="4426665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106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008" y="5036631"/>
            <a:ext cx="457200" cy="449768"/>
          </a:xfrm>
          <a:prstGeom prst="roundRect">
            <a:avLst>
              <a:gd name="adj" fmla="val 12000"/>
            </a:avLst>
          </a:prstGeom>
          <a:solidFill>
            <a:srgbClr val="EFEBD6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798887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5595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321F"/>
                </a:solidFill>
                <a:latin typeface="Inter"/>
                <a:cs typeface="Inter"/>
              </a:rPr>
              <a:t>Demand Gen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4261168"/>
            <a:ext cx="457200" cy="1225231"/>
          </a:xfrm>
          <a:prstGeom prst="roundRect">
            <a:avLst>
              <a:gd name="adj" fmla="val 12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40234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158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4866029"/>
            <a:ext cx="457200" cy="620370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4183" y="4628285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3408" y="5199478"/>
            <a:ext cx="457200" cy="286921"/>
          </a:xfrm>
          <a:prstGeom prst="roundRect">
            <a:avLst>
              <a:gd name="adj" fmla="val 12000"/>
            </a:avLst>
          </a:prstGeom>
          <a:solidFill>
            <a:srgbClr val="EFEBD6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96173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5595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321F"/>
                </a:solidFill>
                <a:latin typeface="Inter"/>
                <a:cs typeface="Inter"/>
              </a:rPr>
              <a:t>Agency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321F"/>
                </a:solidFill>
                <a:latin typeface="Inter"/>
                <a:cs typeface="Inter"/>
              </a:rPr>
              <a:t>(20%)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4555844"/>
            <a:ext cx="457200" cy="930555"/>
          </a:xfrm>
          <a:prstGeom prst="roundRect">
            <a:avLst>
              <a:gd name="adj" fmla="val 12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43181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120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38744" y="5059895"/>
            <a:ext cx="457200" cy="426504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3" y="4822151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55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0808" y="5393344"/>
            <a:ext cx="457200" cy="93055"/>
          </a:xfrm>
          <a:prstGeom prst="roundRect">
            <a:avLst>
              <a:gd name="adj" fmla="val 12000"/>
            </a:avLst>
          </a:prstGeom>
          <a:solidFill>
            <a:srgbClr val="EFEBD6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51556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5595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321F"/>
                </a:solidFill>
                <a:latin typeface="Inter"/>
                <a:cs typeface="Inter"/>
              </a:rPr>
              <a:t>ATL / Brand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067650"/>
            <a:ext cx="457200" cy="418749"/>
          </a:xfrm>
          <a:prstGeom prst="roundRect">
            <a:avLst>
              <a:gd name="adj" fmla="val 12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19" y="4829906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54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96144" y="5253761"/>
            <a:ext cx="457200" cy="232638"/>
          </a:xfrm>
          <a:prstGeom prst="roundRect">
            <a:avLst>
              <a:gd name="adj" fmla="val 12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8984" y="5016017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30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08208" y="5385589"/>
            <a:ext cx="457200" cy="100810"/>
          </a:xfrm>
          <a:prstGeom prst="roundRect">
            <a:avLst>
              <a:gd name="adj" fmla="val 12000"/>
            </a:avLst>
          </a:prstGeom>
          <a:solidFill>
            <a:srgbClr val="EFEBD6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71048" y="5147845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321F"/>
                </a:solidFill>
                <a:latin typeface="Inter"/>
                <a:cs typeface="Inter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5595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321F"/>
                </a:solidFill>
                <a:latin typeface="Inter"/>
                <a:cs typeface="Inter"/>
              </a:rPr>
              <a:t>Content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85F2B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9232" y="59618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Aggressive · ₹7.90 Cr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7503B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50992" y="59618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Balanced · ₹3.99 Cr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FEBD6"/>
          </a:solidFill>
          <a:ln w="9525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59618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Conservative · ₹1.85 Cr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2790748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08   RETURN ON THE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Demand created and revenue enabled — not impressions.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646F5C"/>
                </a:solidFill>
                <a:latin typeface="Inter"/>
                <a:cs typeface="Inter"/>
              </a:rPr>
              <a:t>A transparent, conservative model. Every input can be adjusted with Echon's actual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2321F"/>
                </a:solidFill>
                <a:latin typeface="Glacial Indifference"/>
                <a:cs typeface="Glacial Indifference"/>
              </a:rPr>
              <a:t>The Year-1 demand funnel</a:t>
            </a:r>
          </a:p>
        </p:txBody>
      </p:sp>
      <p:sp>
        <p:nvSpPr>
          <p:cNvPr id="8" name="Trapezoid 7"/>
          <p:cNvSpPr/>
          <p:nvPr/>
        </p:nvSpPr>
        <p:spPr>
          <a:xfrm rot="10800000">
            <a:off x="411479" y="3154680"/>
            <a:ext cx="5669280" cy="566928"/>
          </a:xfrm>
          <a:prstGeom prst="trapezoid">
            <a:avLst/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20954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12,000–18,000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465576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DFBEE"/>
                </a:solidFill>
                <a:latin typeface="Inter"/>
                <a:cs typeface="Inter"/>
              </a:rPr>
              <a:t>Leads generated · paid + digital</a:t>
            </a:r>
          </a:p>
        </p:txBody>
      </p:sp>
      <p:sp>
        <p:nvSpPr>
          <p:cNvPr id="11" name="Trapezoid 10"/>
          <p:cNvSpPr/>
          <p:nvPr/>
        </p:nvSpPr>
        <p:spPr>
          <a:xfrm rot="10800000">
            <a:off x="960119" y="3813048"/>
            <a:ext cx="4572000" cy="566928"/>
          </a:xfrm>
          <a:prstGeom prst="trapezoid">
            <a:avLst/>
          </a:prstGeom>
          <a:solidFill>
            <a:srgbClr val="517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386791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~2,000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123944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DFBEE"/>
                </a:solidFill>
                <a:latin typeface="Inter"/>
                <a:cs typeface="Inter"/>
              </a:rPr>
              <a:t>Qualified enquiries routed to sales</a:t>
            </a:r>
          </a:p>
        </p:txBody>
      </p:sp>
      <p:sp>
        <p:nvSpPr>
          <p:cNvPr id="14" name="Trapezoid 13"/>
          <p:cNvSpPr/>
          <p:nvPr/>
        </p:nvSpPr>
        <p:spPr>
          <a:xfrm rot="10800000">
            <a:off x="1508760" y="4471416"/>
            <a:ext cx="3474720" cy="566928"/>
          </a:xfrm>
          <a:prstGeom prst="trapezoid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526279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~250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78231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DFBEE"/>
                </a:solidFill>
                <a:latin typeface="Inter"/>
                <a:cs typeface="Inter"/>
              </a:rPr>
              <a:t>Project / retail orders · ~₹4 L avg</a:t>
            </a:r>
          </a:p>
        </p:txBody>
      </p:sp>
      <p:sp>
        <p:nvSpPr>
          <p:cNvPr id="17" name="Trapezoid 16"/>
          <p:cNvSpPr/>
          <p:nvPr/>
        </p:nvSpPr>
        <p:spPr>
          <a:xfrm rot="10800000">
            <a:off x="2057400" y="5129783"/>
            <a:ext cx="2377440" cy="566928"/>
          </a:xfrm>
          <a:prstGeom prst="trapezoid">
            <a:avLst/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518464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~₹70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40679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DFBEE"/>
                </a:solidFill>
                <a:latin typeface="Inter"/>
                <a:cs typeface="Inter"/>
              </a:rPr>
              <a:t>Revenue enabled · channel + direct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200400"/>
            <a:ext cx="4754880" cy="713232"/>
          </a:xfrm>
          <a:prstGeom prst="roundRect">
            <a:avLst>
              <a:gd name="adj" fmla="val 10000"/>
            </a:avLst>
          </a:prstGeom>
          <a:solidFill>
            <a:srgbClr val="F6F3E2"/>
          </a:solidFill>
          <a:ln w="12700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19272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5F2B"/>
                </a:solidFill>
                <a:latin typeface="Glacial Indifference"/>
                <a:cs typeface="Glacial Indifference"/>
              </a:rPr>
              <a:t>₹60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31927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6F5C"/>
                </a:solidFill>
                <a:latin typeface="Inter"/>
                <a:cs typeface="Inter"/>
              </a:rPr>
              <a:t>400 dealers @ ~₹15 L ramped offtake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4023360"/>
            <a:ext cx="4754880" cy="713232"/>
          </a:xfrm>
          <a:prstGeom prst="roundRect">
            <a:avLst>
              <a:gd name="adj" fmla="val 10000"/>
            </a:avLst>
          </a:prstGeom>
          <a:solidFill>
            <a:srgbClr val="F6F3E2"/>
          </a:solidFill>
          <a:ln w="12700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4142232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5F2B"/>
                </a:solidFill>
                <a:latin typeface="Glacial Indifference"/>
                <a:cs typeface="Glacial Indifference"/>
              </a:rPr>
              <a:t>₹10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14223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6F5C"/>
                </a:solidFill>
                <a:latin typeface="Inter"/>
                <a:cs typeface="Inter"/>
              </a:rPr>
              <a:t>~250 project/retail orders @ ~₹4 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4846320"/>
            <a:ext cx="4754880" cy="713232"/>
          </a:xfrm>
          <a:prstGeom prst="roundRect">
            <a:avLst>
              <a:gd name="adj" fmla="val 10000"/>
            </a:avLst>
          </a:prstGeom>
          <a:solidFill>
            <a:srgbClr val="F6F3E2"/>
          </a:solidFill>
          <a:ln w="12700">
            <a:solidFill>
              <a:srgbClr val="D9D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965192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5F2B"/>
                </a:solidFill>
                <a:latin typeface="Glacial Indifference"/>
                <a:cs typeface="Glacial Indifference"/>
              </a:rPr>
              <a:t>~₹21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6519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6F5C"/>
                </a:solidFill>
                <a:latin typeface="Inter"/>
                <a:cs typeface="Inter"/>
              </a:rPr>
              <a:t>Gross profit at ~30%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21F"/>
                </a:solidFill>
                <a:latin typeface="Glacial Indifference"/>
                <a:cs typeface="Glacial Indifference"/>
              </a:rPr>
              <a:t>Cost per outcome (Balanced)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52160"/>
            <a:ext cx="21488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907024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₹150–250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39" y="5907024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6F5C"/>
                </a:solidFill>
                <a:latin typeface="Inter"/>
                <a:cs typeface="Inter"/>
              </a:rPr>
              <a:t>per lead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52928" y="5852160"/>
            <a:ext cx="21488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62656" y="5907024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~₹2,000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4487" y="5907024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6F5C"/>
                </a:solidFill>
                <a:latin typeface="Inter"/>
                <a:cs typeface="Inter"/>
              </a:rPr>
              <a:t>per qualified enquiry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65776" y="5852160"/>
            <a:ext cx="21488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5907024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~₹32,000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17336" y="5907024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6F5C"/>
                </a:solidFill>
                <a:latin typeface="Inter"/>
                <a:cs typeface="Inter"/>
              </a:rPr>
              <a:t>per dealer armed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78624" y="5852160"/>
            <a:ext cx="21488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8352" y="5907024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~₹375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3" y="5907024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6F5C"/>
                </a:solidFill>
                <a:latin typeface="Inter"/>
                <a:cs typeface="Inter"/>
              </a:rPr>
              <a:t>per carpenter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91472" y="5852160"/>
            <a:ext cx="21488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199" y="5907024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~5.7%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43032" y="5907024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6F5C"/>
                </a:solidFill>
                <a:latin typeface="Inter"/>
                <a:cs typeface="Inter"/>
              </a:rPr>
              <a:t>of revenue enabled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383279" cy="365760"/>
          </a:xfrm>
          <a:prstGeom prst="roundRect">
            <a:avLst>
              <a:gd name="adj" fmla="val 50000"/>
            </a:avLst>
          </a:prstGeom>
          <a:solidFill>
            <a:srgbClr val="2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E8B27A"/>
                </a:solidFill>
                <a:latin typeface="Inter"/>
                <a:cs typeface="Inter"/>
              </a:rPr>
              <a:t>08   REVENUE ENABLED VS.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~₹70 Cr enabled against ₹3.99 Cr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5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spc="-3">
                <a:solidFill>
                  <a:srgbClr val="EFEBD6"/>
                </a:solidFill>
                <a:latin typeface="Inter"/>
                <a:cs typeface="Inter"/>
              </a:rPr>
              <a:t>Two engines: 400 new dealers (≈ ₹60 Cr) and ~250 direct project/retail orders (≈ ₹10 Cr).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350885"/>
            <a:ext cx="1005840" cy="135514"/>
          </a:xfrm>
          <a:prstGeom prst="roundRect">
            <a:avLst>
              <a:gd name="adj" fmla="val 10000"/>
            </a:avLst>
          </a:prstGeom>
          <a:solidFill>
            <a:srgbClr val="E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3998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₹3.99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FEBD6"/>
                </a:solidFill>
                <a:latin typeface="Inter"/>
                <a:cs typeface="Inter"/>
              </a:rPr>
              <a:t>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4773168"/>
            <a:ext cx="1005840" cy="713232"/>
          </a:xfrm>
          <a:prstGeom prst="roundRect">
            <a:avLst>
              <a:gd name="adj" fmla="val 10000"/>
            </a:avLst>
          </a:prstGeom>
          <a:solidFill>
            <a:srgbClr val="517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4622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₹21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FEBD6"/>
                </a:solidFill>
                <a:latin typeface="Inter"/>
                <a:cs typeface="Inter"/>
              </a:rPr>
              <a:t>Gross 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3108960"/>
            <a:ext cx="1005840" cy="2377440"/>
          </a:xfrm>
          <a:prstGeom prst="roundRect">
            <a:avLst>
              <a:gd name="adj" fmla="val 1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7980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₹70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FEBD6"/>
                </a:solidFill>
                <a:latin typeface="Inter"/>
                <a:cs typeface="Inter"/>
              </a:rPr>
              <a:t>Revenue enabled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834640"/>
            <a:ext cx="4892040" cy="3108960"/>
          </a:xfrm>
          <a:prstGeom prst="roundRect">
            <a:avLst>
              <a:gd name="adj" fmla="val 8000"/>
            </a:avLst>
          </a:prstGeom>
          <a:solidFill>
            <a:srgbClr val="2C3A2E"/>
          </a:solidFill>
          <a:ln w="12700">
            <a:solidFill>
              <a:srgbClr val="456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06324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C57B3C"/>
                </a:solidFill>
                <a:latin typeface="Glacial Indifference"/>
                <a:cs typeface="Glacial Indifference"/>
              </a:rPr>
              <a:t>17.5×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DFBEE"/>
                </a:solidFill>
                <a:latin typeface="Inter"/>
                <a:cs typeface="Inter"/>
              </a:rPr>
              <a:t>revenue enabled per ₹1 spent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983480"/>
            <a:ext cx="3794760" cy="384048"/>
          </a:xfrm>
          <a:prstGeom prst="roundRect">
            <a:avLst>
              <a:gd name="adj" fmla="val 50000"/>
            </a:avLst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050" b="1" i="0">
                <a:solidFill>
                  <a:srgbClr val="FDFBEE"/>
                </a:solidFill>
                <a:latin typeface="Inter"/>
                <a:cs typeface="Inter"/>
              </a:rPr>
              <a:t>~5.7% of revenue (build-year)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5440680"/>
            <a:ext cx="3794760" cy="384048"/>
          </a:xfrm>
          <a:prstGeom prst="roundRect">
            <a:avLst>
              <a:gd name="adj" fmla="val 50000"/>
            </a:avLst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050" b="1" i="0">
                <a:solidFill>
                  <a:srgbClr val="FDFBEE"/>
                </a:solidFill>
                <a:latin typeface="Inter"/>
                <a:cs typeface="Inter"/>
              </a:rPr>
              <a:t>Matures to 2–3% as the channel compounds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EFEBD6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EFEBD6"/>
                </a:solidFill>
                <a:latin typeface="Inter"/>
                <a:cs typeface="Inter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185769" cy="365760"/>
          </a:xfrm>
          <a:prstGeom prst="roundRect">
            <a:avLst>
              <a:gd name="adj" fmla="val 50000"/>
            </a:avLst>
          </a:prstGeom>
          <a:solidFill>
            <a:srgbClr val="F6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ctr"/>
            <a:r>
              <a:rPr sz="1100" b="1" i="0">
                <a:solidFill>
                  <a:srgbClr val="A85F2B"/>
                </a:solidFill>
                <a:latin typeface="Inter"/>
                <a:cs typeface="Inter"/>
              </a:rPr>
              <a:t>09   GOVERNANCE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22321F"/>
                </a:solidFill>
                <a:latin typeface="Glacial Indifference"/>
                <a:cs typeface="Glacial Indifference"/>
              </a:rPr>
              <a:t>Reported monthly against sales facilitation — not vanity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2103120" cy="82296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Leads, CPL, qualified dealer / project / consumer enquiries routed to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224028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52928" y="2240280"/>
            <a:ext cx="2103120" cy="82296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468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8346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Dealers onboarded vs target, outlets branded, sell-through, repeat orders.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24028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65776" y="2240280"/>
            <a:ext cx="2103120" cy="82296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468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Influencers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8346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Carpenters &amp; AID engaged / enrolled, loyalty active rate, specifications.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224028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8624" y="2240280"/>
            <a:ext cx="2103120" cy="82296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2468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Brand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28346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Reach, followers, engagement, recall in anchor markets.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224028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91472" y="2240280"/>
            <a:ext cx="2103120" cy="82296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1" y="2468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1" y="28346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Cost per lead, per dealer, per carpenter; revenue enabled vs spend.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2321F"/>
                </a:solidFill>
                <a:latin typeface="Glacial Indifference"/>
                <a:cs typeface="Glacial Indifference"/>
              </a:rPr>
              <a:t>Next Steps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177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6F3E2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823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8B27A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76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Lock the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778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Confirm the budget scenario and lock the state → city → dealer rollout with Echon's sales leadership.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6177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6F3E2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7823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8B27A"/>
                </a:solidFill>
                <a:latin typeface="Glacial Indifference"/>
                <a:cs typeface="Glacial Indifference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276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Kick-off (M1)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5778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Brand toolkit, website + visualizer, loyalty portal, and the channel onboarding kit.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59" y="46177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6F3E2"/>
          </a:solidFill>
          <a:ln w="12700">
            <a:solidFill>
              <a:srgbClr val="D9DBCB"/>
            </a:solidFill>
          </a:ln>
          <a:effectLst/>
          <a:effectLst>
            <a:outerShdw blurRad="120000" dist="40000" dir="5400000" rotWithShape="0">
              <a:srgbClr val="2232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59" y="47823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8B27A"/>
                </a:solidFill>
                <a:latin typeface="Glacial Indifference"/>
                <a:cs typeface="Glacial Indifference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5276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21F"/>
                </a:solidFill>
                <a:latin typeface="Glacial Indifference"/>
                <a:cs typeface="Glacial Indifference"/>
              </a:rPr>
              <a:t>Go live (M2)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9" y="55778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6F5C"/>
                </a:solidFill>
                <a:latin typeface="Inter"/>
                <a:cs typeface="Inter"/>
              </a:rPr>
              <a:t>Activate anchor states (RJ/GJ/MH) — first leads, meets and dealer onboarding in motion.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SÀGE MEDIA · Confidential — Echon (Kumar Arch Tech Ltd) Annual Marketing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556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6F5C"/>
                </a:solidFill>
                <a:latin typeface="Inter"/>
                <a:cs typeface="Inter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8696556800"/>
          </a:xfrm>
          <a:prstGeom prst="rect">
            <a:avLst/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828800" cy="146304"/>
          </a:xfrm>
          <a:prstGeom prst="roundRect">
            <a:avLst>
              <a:gd name="adj" fmla="val 30000"/>
            </a:avLst>
          </a:prstGeom>
          <a:solidFill>
            <a:srgbClr val="37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313432"/>
            <a:ext cx="1828800" cy="146304"/>
          </a:xfrm>
          <a:prstGeom prst="roundRect">
            <a:avLst>
              <a:gd name="adj" fmla="val 30000"/>
            </a:avLst>
          </a:prstGeom>
          <a:solidFill>
            <a:srgbClr val="456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523744"/>
            <a:ext cx="1828800" cy="146304"/>
          </a:xfrm>
          <a:prstGeom prst="roundRect">
            <a:avLst>
              <a:gd name="adj" fmla="val 30000"/>
            </a:avLst>
          </a:prstGeom>
          <a:solidFill>
            <a:srgbClr val="A85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34056"/>
            <a:ext cx="1828800" cy="146304"/>
          </a:xfrm>
          <a:prstGeom prst="roundRect">
            <a:avLst>
              <a:gd name="adj" fmla="val 30000"/>
            </a:avLst>
          </a:prstGeom>
          <a:solidFill>
            <a:srgbClr val="C5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944368"/>
            <a:ext cx="1828800" cy="146304"/>
          </a:xfrm>
          <a:prstGeom prst="roundRect">
            <a:avLst>
              <a:gd name="adj" fmla="val 3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Win the carpenter,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arm the counter,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build the brand.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440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B27A"/>
                </a:solidFill>
                <a:latin typeface="Inter"/>
                <a:cs typeface="Inter"/>
              </a:rPr>
              <a:t>A sales-facilitation engine, reported monthly — every rupee tied to an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97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business@sagemedia.in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5449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FEBD6"/>
                </a:solidFill>
                <a:latin typeface="Inter"/>
                <a:cs typeface="Inter"/>
              </a:rPr>
              <a:t>Sage Media · Jaipur · Mumbai · Dubai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00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8B27A"/>
                </a:solidFill>
                <a:latin typeface="Glacial Indifference"/>
                <a:cs typeface="Glacial Indifference"/>
              </a:rPr>
              <a:t>Echon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23444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FEBD6"/>
                </a:solidFill>
                <a:latin typeface="Inter"/>
                <a:cs typeface="Inter"/>
              </a:rPr>
              <a:t>Annual Marketing Plan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FEBD6"/>
                </a:solidFill>
                <a:latin typeface="Inter"/>
                <a:cs typeface="Inter"/>
              </a:rPr>
              <a:t>Budget &amp; Return · Year 1 ·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