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embeddedFontLst>
    <p:embeddedFont>
      <p:font typeface="Glacial Indifference"/>
      <p:regular r:id="rIdFontReg"/>
      <p:bold r:id="rIdFontBold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FontReg" Type="http://schemas.openxmlformats.org/officeDocument/2006/relationships/font" Target="fonts/font1.fntdata"/><Relationship Id="rIdFontBold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2709552000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8120" y="0"/>
            <a:ext cx="4370832" cy="397763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81C24"/>
              </a:gs>
              <a:gs pos="100000">
                <a:srgbClr val="5FA80E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01784" y="1687067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30384" y="191566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19288" y="3465575"/>
            <a:ext cx="905255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PRODUCT HERO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977639"/>
            <a:ext cx="4370832" cy="288036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2B5BFF"/>
              </a:gs>
              <a:gs pos="100000">
                <a:srgbClr val="181C24"/>
              </a:gs>
            </a:gsLst>
            <a:lin ang="2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01784" y="511606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30384" y="53446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9288" y="6345936"/>
            <a:ext cx="117957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STRENGTH ·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00">
                <a:solidFill>
                  <a:srgbClr val="A6D93B"/>
                </a:solidFill>
                <a:latin typeface="Inter"/>
                <a:cs typeface="Inter"/>
              </a:rPr>
              <a:t>GO-TO-MARKET &amp; GROWTH PLAN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002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400" b="1" i="0" spc="-55">
                <a:solidFill>
                  <a:srgbClr val="FFFFFF"/>
                </a:solidFill>
                <a:latin typeface="Glacial Indifference"/>
                <a:cs typeface="Glacial Indifference"/>
              </a:rPr>
              <a:t>Mach Five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971800"/>
            <a:ext cx="822960" cy="82296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6309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A9AEA0"/>
                </a:solidFill>
                <a:latin typeface="Inter"/>
                <a:cs typeface="Inter"/>
              </a:rPr>
              <a:t>Creatine · Vitamin C · functional energy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A9AEA0"/>
                </a:solidFill>
                <a:latin typeface="Inter"/>
                <a:cs typeface="Inter"/>
              </a:rPr>
              <a:t>for strength, recovery and a sharper mind.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30">
                <a:solidFill>
                  <a:srgbClr val="6B7168"/>
                </a:solidFill>
                <a:latin typeface="Inter"/>
                <a:cs typeface="Inter"/>
              </a:rPr>
              <a:t>Prepared for  ·  Aryaman Singh Shaktawat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Glacial Indifference"/>
                <a:cs typeface="Glacial Indifference"/>
              </a:rPr>
              <a:t>Prepared by Sage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20">
                <a:solidFill>
                  <a:srgbClr val="6B7168"/>
                </a:solidFill>
                <a:latin typeface="Inter"/>
                <a:cs typeface="Inter"/>
              </a:rPr>
              <a:t>Jaipur · Mumbai · Dubai  ·  business@sagemedia.in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A launch built on four compounding tailwinds.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B7168"/>
                </a:solidFill>
                <a:latin typeface="Inter"/>
                <a:cs typeface="Inter"/>
              </a:rPr>
              <a:t>Mach Five enters at the intersection of India's supplement boom and the global creatine + brain-health surge. This is a D2C-first plan: build the brand, prove the funnel, then reinvest behind what sells.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7315200" cy="10972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60">
                <a:solidFill>
                  <a:srgbClr val="5FA80E"/>
                </a:solidFill>
                <a:latin typeface="Inter"/>
                <a:cs typeface="Inter"/>
              </a:rPr>
              <a:t>RECOMMENDED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743200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216"/>
                </a:solidFill>
                <a:latin typeface="Inter"/>
                <a:cs typeface="Inter"/>
              </a:rPr>
              <a:t>D2C-first (own store) → marketplaces → quick-commerce → offline, sequenced to sales.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822191"/>
            <a:ext cx="7315200" cy="10972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64992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60">
                <a:solidFill>
                  <a:srgbClr val="5FA80E"/>
                </a:solidFill>
                <a:latin typeface="Inter"/>
                <a:cs typeface="Inter"/>
              </a:rPr>
              <a:t>MARKETING 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364992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216"/>
                </a:solidFill>
                <a:latin typeface="Inter"/>
                <a:cs typeface="Inter"/>
              </a:rPr>
              <a:t>₹3–11 L / month (ramped) + one-time brand &amp; store build; scaled behind proven ROAS.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43984"/>
            <a:ext cx="7315200" cy="10972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60">
                <a:solidFill>
                  <a:srgbClr val="5FA80E"/>
                </a:solidFill>
                <a:latin typeface="Inter"/>
                <a:cs typeface="Inter"/>
              </a:rPr>
              <a:t>TURNAROUND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986784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216"/>
                </a:solidFill>
                <a:latin typeface="Inter"/>
                <a:cs typeface="Inter"/>
              </a:rPr>
              <a:t>First traction by Month 3 · contribution breakeven ~Month 6 · profitable scale by Month 9–12.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065776"/>
            <a:ext cx="7315200" cy="10972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60">
                <a:solidFill>
                  <a:srgbClr val="5FA80E"/>
                </a:solidFill>
                <a:latin typeface="Inter"/>
                <a:cs typeface="Inter"/>
              </a:rPr>
              <a:t>YEAR-1 AMBITION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608576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216"/>
                </a:solidFill>
                <a:latin typeface="Inter"/>
                <a:cs typeface="Inter"/>
              </a:rPr>
              <a:t>Build to a ₹40 L+ monthly run-rate; ~₹4–5 Cr Year-1 revenue enabled (illustrative).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687568"/>
            <a:ext cx="7315200" cy="10972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30368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60">
                <a:solidFill>
                  <a:srgbClr val="5FA80E"/>
                </a:solidFill>
                <a:latin typeface="Inter"/>
                <a:cs typeface="Inter"/>
              </a:rPr>
              <a:t>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230368"/>
            <a:ext cx="4846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F1216"/>
                </a:solidFill>
                <a:latin typeface="Inter"/>
                <a:cs typeface="Inter"/>
              </a:rPr>
              <a:t>Monthly — against CAC, ROAS, repeat rate and run-rate, not vanity metrics.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651760"/>
            <a:ext cx="3063240" cy="3291840"/>
          </a:xfrm>
          <a:prstGeom prst="roundRect">
            <a:avLst>
              <a:gd name="adj" fmla="val 6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292608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A6D93B"/>
                </a:solidFill>
                <a:latin typeface="Inter"/>
                <a:cs typeface="Inter"/>
              </a:rPr>
              <a:t>THE CATEGORY, COMPOUNDING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291840"/>
            <a:ext cx="2560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343400"/>
            <a:ext cx="2514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A9AEA0"/>
                </a:solidFill>
                <a:latin typeface="Inter"/>
                <a:cs typeface="Inter"/>
              </a:rPr>
              <a:t>global creatine-supplement CAGR — the fastest-growing corner of a booming market.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5440680"/>
            <a:ext cx="2514600" cy="402336"/>
          </a:xfrm>
          <a:prstGeom prst="roundRect">
            <a:avLst>
              <a:gd name="adj" fmla="val 40000"/>
            </a:avLst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41080" y="5440680"/>
            <a:ext cx="1810512" cy="402336"/>
          </a:xfrm>
          <a:prstGeom prst="roundRect">
            <a:avLst>
              <a:gd name="adj" fmla="val 4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5468112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India, still early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-640080"/>
            <a:ext cx="54864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i="0" spc="-60">
                <a:solidFill>
                  <a:srgbClr val="262B35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0"/>
            <a:ext cx="201168" cy="62709552000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20">
                <a:solidFill>
                  <a:srgbClr val="A6D93B"/>
                </a:solidFill>
                <a:latin typeface="Inter"/>
                <a:cs typeface="Inter"/>
              </a:rPr>
              <a:t>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78608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The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8006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A9AEA0"/>
                </a:solidFill>
                <a:latin typeface="Inter"/>
                <a:cs typeface="Inter"/>
              </a:rPr>
              <a:t>Market size, growth and the white space Mach Five can 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A9AEA0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A9AEA0"/>
                </a:solidFill>
                <a:latin typeface="Inter"/>
                <a:cs typeface="Inter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THE MARKET · 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Mach Five rides the fastest-growing categories in nutrition.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5-year CAGR by category — the brand sits where growth is compounding hardest.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77440"/>
            <a:ext cx="685800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1216"/>
                </a:solidFill>
                <a:latin typeface="Glacial Indifference"/>
                <a:cs typeface="Glacial Indifference"/>
              </a:rPr>
              <a:t>Category growth · CAGR to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36392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Inter"/>
                <a:cs typeface="Inter"/>
              </a:rPr>
              <a:t>Creatine (global)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154680"/>
            <a:ext cx="3108960" cy="310896"/>
          </a:xfrm>
          <a:prstGeom prst="roundRect">
            <a:avLst>
              <a:gd name="adj" fmla="val 40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3154680"/>
            <a:ext cx="3108960" cy="310896"/>
          </a:xfrm>
          <a:prstGeom prst="roundRect">
            <a:avLst>
              <a:gd name="adj" fmla="val 4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19" y="3136392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Glacial Indifference"/>
                <a:cs typeface="Glacial Indifference"/>
              </a:rPr>
              <a:t>25.0%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66744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Inter"/>
                <a:cs typeface="Inter"/>
              </a:rPr>
              <a:t>Nootropics (global)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3685032"/>
            <a:ext cx="3108960" cy="310896"/>
          </a:xfrm>
          <a:prstGeom prst="roundRect">
            <a:avLst>
              <a:gd name="adj" fmla="val 40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3685032"/>
            <a:ext cx="1828068" cy="310896"/>
          </a:xfrm>
          <a:prstGeom prst="roundRect">
            <a:avLst>
              <a:gd name="adj" fmla="val 40000"/>
            </a:avLst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5628" y="3666744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Glacial Indifference"/>
                <a:cs typeface="Glacial Indifference"/>
              </a:rPr>
              <a:t>14.7%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6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Inter"/>
                <a:cs typeface="Inter"/>
              </a:rPr>
              <a:t>Brain-health supp.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215384"/>
            <a:ext cx="3108960" cy="310896"/>
          </a:xfrm>
          <a:prstGeom prst="roundRect">
            <a:avLst>
              <a:gd name="adj" fmla="val 40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46120" y="4215384"/>
            <a:ext cx="1703710" cy="310896"/>
          </a:xfrm>
          <a:prstGeom prst="roundRect">
            <a:avLst>
              <a:gd name="adj" fmla="val 40000"/>
            </a:avLst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1270" y="4197096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Glacial Indifference"/>
                <a:cs typeface="Glacial Indifference"/>
              </a:rPr>
              <a:t>13.7%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27448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Inter"/>
                <a:cs typeface="Inter"/>
              </a:rPr>
              <a:t>India supplements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4745736"/>
            <a:ext cx="3108960" cy="310896"/>
          </a:xfrm>
          <a:prstGeom prst="roundRect">
            <a:avLst>
              <a:gd name="adj" fmla="val 40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4745736"/>
            <a:ext cx="1629095" cy="310896"/>
          </a:xfrm>
          <a:prstGeom prst="roundRect">
            <a:avLst>
              <a:gd name="adj" fmla="val 4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6655" y="4727448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Glacial Indifference"/>
                <a:cs typeface="Glacial Indifference"/>
              </a:rPr>
              <a:t>13.1%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57800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Inter"/>
                <a:cs typeface="Inter"/>
              </a:rPr>
              <a:t>India functional drinks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5276088"/>
            <a:ext cx="3108960" cy="310896"/>
          </a:xfrm>
          <a:prstGeom prst="roundRect">
            <a:avLst>
              <a:gd name="adj" fmla="val 40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46120" y="5276088"/>
            <a:ext cx="1454993" cy="310896"/>
          </a:xfrm>
          <a:prstGeom prst="roundRect">
            <a:avLst>
              <a:gd name="adj" fmla="val 4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2553" y="525780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1216"/>
                </a:solidFill>
                <a:latin typeface="Glacial Indifference"/>
                <a:cs typeface="Glacial Indifference"/>
              </a:rPr>
              <a:t>11.7%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09560" y="2377440"/>
            <a:ext cx="3520440" cy="1097280"/>
          </a:xfrm>
          <a:prstGeom prst="roundRect">
            <a:avLst>
              <a:gd name="adj" fmla="val 9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9560" y="2377440"/>
            <a:ext cx="91440" cy="109728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5054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$5.2B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980944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India dietary-supplements market (2024) — growing 13% a year.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3593592"/>
            <a:ext cx="3520440" cy="1097280"/>
          </a:xfrm>
          <a:prstGeom prst="roundRect">
            <a:avLst>
              <a:gd name="adj" fmla="val 9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09560" y="3593592"/>
            <a:ext cx="91440" cy="1097280"/>
          </a:xfrm>
          <a:prstGeom prst="rect">
            <a:avLst/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7216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$3.8B → $7.4B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4197096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India functional-drinks market, 2024 → 2030.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4809744"/>
            <a:ext cx="3520440" cy="1097280"/>
          </a:xfrm>
          <a:prstGeom prst="roundRect">
            <a:avLst>
              <a:gd name="adj" fmla="val 9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9560" y="4809744"/>
            <a:ext cx="91440" cy="1097280"/>
          </a:xfrm>
          <a:prstGeom prst="rect">
            <a:avLst/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4937759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$1.4B → $4.2B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54132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Global creatine supplements, 2025 → 2030.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THE MARKET ·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India's supplement market roughly doubles by 2030.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India dietary-supplements market, USD billion — a rising tide Mach Five launches into.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0634472" cy="3657600"/>
          </a:xfrm>
          <a:prstGeom prst="roundRect">
            <a:avLst>
              <a:gd name="adj" fmla="val 5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4028439"/>
            <a:ext cx="749808" cy="1320800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754119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5.2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850639"/>
            <a:ext cx="749808" cy="1498600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39" y="3576319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5.9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672840"/>
            <a:ext cx="749808" cy="1676399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79" y="3398520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6.6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79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444240"/>
            <a:ext cx="749808" cy="1904999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169920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7.5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3190239"/>
            <a:ext cx="749808" cy="2159000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59" y="2915920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8.5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2936239"/>
            <a:ext cx="749808" cy="2413000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199" y="2661920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9.5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19" y="2606039"/>
            <a:ext cx="749808" cy="2743200"/>
          </a:xfrm>
          <a:prstGeom prst="roundRect">
            <a:avLst>
              <a:gd name="adj" fmla="val 14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39" y="2331719"/>
            <a:ext cx="11155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F1216"/>
                </a:solidFill>
                <a:latin typeface="Glacial Indifference"/>
                <a:cs typeface="Glacial Indifference"/>
              </a:rPr>
              <a:t>10.8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39" y="5404103"/>
            <a:ext cx="1115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168"/>
                </a:solidFill>
                <a:latin typeface="Inter"/>
                <a:cs typeface="Inter"/>
              </a:rPr>
              <a:t>2030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7432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40">
                <a:solidFill>
                  <a:srgbClr val="6B7168"/>
                </a:solidFill>
                <a:latin typeface="Inter"/>
                <a:cs typeface="Inter"/>
              </a:rPr>
              <a:t>USD billion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306324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2918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 spc="-25">
                <a:solidFill>
                  <a:srgbClr val="A6D93B"/>
                </a:solidFill>
                <a:latin typeface="Glacial Indifference"/>
                <a:cs typeface="Glacial Indifference"/>
              </a:rPr>
              <a:t>13.1%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1148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40">
                <a:solidFill>
                  <a:srgbClr val="A9AEA0"/>
                </a:solidFill>
                <a:latin typeface="Inter"/>
                <a:cs typeface="Inter"/>
              </a:rPr>
              <a:t>CAGR · 2025–2030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1264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B7168"/>
                </a:solidFill>
                <a:latin typeface="Inter"/>
                <a:cs typeface="Inter"/>
              </a:rPr>
              <a:t>Sources: Grand View Research; MarketsandData; Market.us. Figures illustrative and directional.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THE MARKET ·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Where Mach Five plays — and what it can win.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03120"/>
            <a:ext cx="5120640" cy="3840480"/>
          </a:xfrm>
          <a:prstGeom prst="ellipse">
            <a:avLst/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2674620"/>
            <a:ext cx="3566160" cy="2697480"/>
          </a:xfrm>
          <a:prstGeom prst="ellipse">
            <a:avLst/>
          </a:prstGeom>
          <a:solidFill>
            <a:srgbClr val="A6D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60320" y="3268980"/>
            <a:ext cx="2011680" cy="1508760"/>
          </a:xfrm>
          <a:prstGeom prst="ellipse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2402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80">
                <a:solidFill>
                  <a:srgbClr val="6B7168"/>
                </a:solidFill>
                <a:latin typeface="Inter"/>
                <a:cs typeface="Inter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8862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60">
                <a:solidFill>
                  <a:srgbClr val="FFFFFF"/>
                </a:solidFill>
                <a:latin typeface="Inter"/>
                <a:cs typeface="Inter"/>
              </a:rPr>
              <a:t>SOM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4688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DED9C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96912" y="24231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216"/>
                </a:solidFill>
                <a:latin typeface="Glacial Indifference"/>
                <a:cs typeface="Glacial Indifference"/>
              </a:rPr>
              <a:t>TAM · ₹75,000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6912" y="285292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India supplements + functional beverages — the total 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6118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A6D93B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35661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216"/>
                </a:solidFill>
                <a:latin typeface="Glacial Indifference"/>
                <a:cs typeface="Glacial Indifference"/>
              </a:rPr>
              <a:t>SAM · ₹5,000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99592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Premium, online-first performance &amp; cognition nutrition (est.).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754880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5FA80E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47091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216"/>
                </a:solidFill>
                <a:latin typeface="Glacial Indifference"/>
                <a:cs typeface="Glacial Indifference"/>
              </a:rPr>
              <a:t>SOM · ₹15–20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513892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Mach Five's realistic 3-year D2C capture (est.).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80644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FA80E"/>
                </a:solidFill>
                <a:latin typeface="Inter"/>
                <a:cs typeface="Inter"/>
              </a:rPr>
              <a:t>The wedge: win a focused, winnable slice online first — then expand the addressable market channel by channel.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-640080"/>
            <a:ext cx="54864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i="0" spc="-60">
                <a:solidFill>
                  <a:srgbClr val="262B35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0"/>
            <a:ext cx="201168" cy="62709552000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20">
                <a:solidFill>
                  <a:srgbClr val="A6D93B"/>
                </a:solidFill>
                <a:latin typeface="Inter"/>
                <a:cs typeface="Inter"/>
              </a:rPr>
              <a:t>BRAND &amp; 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78608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The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8006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A9AEA0"/>
                </a:solidFill>
                <a:latin typeface="Inter"/>
                <a:cs typeface="Inter"/>
              </a:rPr>
              <a:t>How Mach Five shows up, who it's for, and what it looks 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A9AEA0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A9AEA0"/>
                </a:solidFill>
                <a:latin typeface="Inter"/>
                <a:cs typeface="Inter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BRAND ·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One drink, four jobs.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Mach Five is the functional daily fuel for people who train hard and think harder.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6151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2615184" cy="9144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83464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ED9C7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749039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216"/>
                </a:solidFill>
                <a:latin typeface="Glacial Indifference"/>
                <a:cs typeface="Glacial Indifference"/>
              </a:rPr>
              <a:t>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297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168"/>
                </a:solidFill>
                <a:latin typeface="Inter"/>
                <a:cs typeface="Inter"/>
              </a:rPr>
              <a:t>Clean, sustained energy — no crash.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2514600"/>
            <a:ext cx="26151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3592" y="2514600"/>
            <a:ext cx="2615184" cy="9144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283464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ED9C7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3749039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216"/>
                </a:solidFill>
                <a:latin typeface="Glacial Indifference"/>
                <a:cs typeface="Glacial Indifference"/>
              </a:rPr>
              <a:t>Strength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4297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168"/>
                </a:solidFill>
                <a:latin typeface="Inter"/>
                <a:cs typeface="Inter"/>
              </a:rPr>
              <a:t>Creatine-led performance &amp; power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2514600"/>
            <a:ext cx="26151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9944" y="2514600"/>
            <a:ext cx="2615184" cy="91440"/>
          </a:xfrm>
          <a:prstGeom prst="rect">
            <a:avLst/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283464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ED9C7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3749039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216"/>
                </a:solidFill>
                <a:latin typeface="Glacial Indifference"/>
                <a:cs typeface="Glacial Indifference"/>
              </a:rPr>
              <a:t>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4297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168"/>
                </a:solidFill>
                <a:latin typeface="Inter"/>
                <a:cs typeface="Inter"/>
              </a:rPr>
              <a:t>Vitamin C + actives for faster bounce-back.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26296" y="2514600"/>
            <a:ext cx="2615184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6296" y="2514600"/>
            <a:ext cx="2615184" cy="91440"/>
          </a:xfrm>
          <a:prstGeom prst="rect">
            <a:avLst/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283464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DED9C7"/>
                </a:solidFill>
                <a:latin typeface="Glacial Indifference"/>
                <a:cs typeface="Glacial Indifferenc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3749039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F1216"/>
                </a:solidFill>
                <a:latin typeface="Glacial Indifference"/>
                <a:cs typeface="Glacial Indifference"/>
              </a:rPr>
              <a:t>Brain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429768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168"/>
                </a:solidFill>
                <a:latin typeface="Inter"/>
                <a:cs typeface="Inter"/>
              </a:rPr>
              <a:t>Focus and cognition for work and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FA80E"/>
                </a:solidFill>
                <a:latin typeface="Inter"/>
                <a:cs typeface="Inter"/>
              </a:rPr>
              <a:t>Positioning line:  “Fuel for the fast — energy, strength, recovery and focus in one clean daily hit.”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BRAND ·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A clear gap: premium, brain-and-body, made for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468880"/>
            <a:ext cx="6583680" cy="3383280"/>
          </a:xfrm>
          <a:prstGeom prst="roundRect">
            <a:avLst>
              <a:gd name="adj" fmla="val 4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4160520"/>
            <a:ext cx="6583680" cy="10972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2468880"/>
            <a:ext cx="10972" cy="3383280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17627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6B7168"/>
                </a:solidFill>
                <a:latin typeface="Inter"/>
                <a:cs typeface="Inter"/>
              </a:rPr>
              <a:t>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59070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80">
                <a:solidFill>
                  <a:srgbClr val="6B7168"/>
                </a:solidFill>
                <a:latin typeface="Inter"/>
                <a:cs typeface="Inter"/>
              </a:rPr>
              <a:t>MASS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23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6B7168"/>
                </a:solidFill>
                <a:latin typeface="Inter"/>
                <a:cs typeface="Inter"/>
              </a:rPr>
              <a:t>BODY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40233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6B7168"/>
                </a:solidFill>
                <a:latin typeface="Inter"/>
                <a:cs typeface="Inter"/>
              </a:rPr>
              <a:t>BODY + BRAIN</a:t>
            </a:r>
          </a:p>
        </p:txBody>
      </p:sp>
      <p:sp>
        <p:nvSpPr>
          <p:cNvPr id="13" name="Oval 12"/>
          <p:cNvSpPr/>
          <p:nvPr/>
        </p:nvSpPr>
        <p:spPr>
          <a:xfrm>
            <a:off x="2569464" y="4855464"/>
            <a:ext cx="164592" cy="164592"/>
          </a:xfrm>
          <a:prstGeom prst="ellipse">
            <a:avLst/>
          </a:prstGeom>
          <a:solidFill>
            <a:srgbClr val="A9A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4" y="480974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Legacy protein</a:t>
            </a:r>
          </a:p>
        </p:txBody>
      </p:sp>
      <p:sp>
        <p:nvSpPr>
          <p:cNvPr id="15" name="Oval 14"/>
          <p:cNvSpPr/>
          <p:nvPr/>
        </p:nvSpPr>
        <p:spPr>
          <a:xfrm>
            <a:off x="3118104" y="5129784"/>
            <a:ext cx="164592" cy="164592"/>
          </a:xfrm>
          <a:prstGeom prst="ellipse">
            <a:avLst/>
          </a:prstGeom>
          <a:solidFill>
            <a:srgbClr val="A9A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6704" y="50840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Energy drinks</a:t>
            </a:r>
          </a:p>
        </p:txBody>
      </p:sp>
      <p:sp>
        <p:nvSpPr>
          <p:cNvPr id="17" name="Oval 16"/>
          <p:cNvSpPr/>
          <p:nvPr/>
        </p:nvSpPr>
        <p:spPr>
          <a:xfrm>
            <a:off x="3575304" y="3392424"/>
            <a:ext cx="164592" cy="164592"/>
          </a:xfrm>
          <a:prstGeom prst="ellipse">
            <a:avLst/>
          </a:prstGeom>
          <a:solidFill>
            <a:srgbClr val="A9A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3904" y="334670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Global creatine</a:t>
            </a:r>
          </a:p>
        </p:txBody>
      </p:sp>
      <p:sp>
        <p:nvSpPr>
          <p:cNvPr id="19" name="Oval 18"/>
          <p:cNvSpPr/>
          <p:nvPr/>
        </p:nvSpPr>
        <p:spPr>
          <a:xfrm>
            <a:off x="6318504" y="3758184"/>
            <a:ext cx="164592" cy="164592"/>
          </a:xfrm>
          <a:prstGeom prst="ellipse">
            <a:avLst/>
          </a:prstGeom>
          <a:solidFill>
            <a:srgbClr val="A9A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7124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Nootropic startups</a:t>
            </a:r>
          </a:p>
        </p:txBody>
      </p:sp>
      <p:sp>
        <p:nvSpPr>
          <p:cNvPr id="21" name="Oval 20"/>
          <p:cNvSpPr/>
          <p:nvPr/>
        </p:nvSpPr>
        <p:spPr>
          <a:xfrm>
            <a:off x="6437375" y="3191256"/>
            <a:ext cx="292608" cy="292608"/>
          </a:xfrm>
          <a:prstGeom prst="ellipse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3154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FA80E"/>
                </a:solidFill>
                <a:latin typeface="Glacial Indifference"/>
                <a:cs typeface="Glacial Indifference"/>
              </a:rPr>
              <a:t>MACH FIVE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2468880"/>
            <a:ext cx="3063240" cy="3383280"/>
          </a:xfrm>
          <a:prstGeom prst="roundRect">
            <a:avLst>
              <a:gd name="adj" fmla="val 6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697480"/>
            <a:ext cx="2560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A6D93B"/>
                </a:solidFill>
                <a:latin typeface="Inter"/>
                <a:cs typeface="Inter"/>
              </a:rPr>
              <a:t>THE WHITE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2004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Inter"/>
                <a:cs typeface="Inter"/>
              </a:rPr>
              <a:t>—  Premium, not mass.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76732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Inter"/>
                <a:cs typeface="Inter"/>
              </a:rPr>
              <a:t>—  Body + brain in 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334256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Inter"/>
                <a:cs typeface="Inter"/>
              </a:rPr>
              <a:t>—  Made for Indian routines &amp; taste.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901183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FFFF"/>
                </a:solidFill>
                <a:latin typeface="Inter"/>
                <a:cs typeface="Inter"/>
              </a:rPr>
              <a:t>—  D2C storytelling, not shelf clutter.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BRAND ·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Three people we build for.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33271" y="2651760"/>
            <a:ext cx="3017520" cy="13716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81C24"/>
              </a:gs>
              <a:gs pos="100000">
                <a:srgbClr val="5FA80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0279" y="303580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68879" y="326440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39" y="3511296"/>
            <a:ext cx="56235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PERSONA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16052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216"/>
                </a:solidFill>
                <a:latin typeface="Glacial Indifference"/>
                <a:cs typeface="Glacial Indifference"/>
              </a:rPr>
              <a:t>The Lifter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9028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5FA80E"/>
                </a:solidFill>
                <a:latin typeface="Inter"/>
                <a:cs typeface="Inter"/>
              </a:rPr>
              <a:t>22–32 · GYM 4–6×/WK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19472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168"/>
                </a:solidFill>
                <a:latin typeface="Inter"/>
                <a:cs typeface="Inter"/>
              </a:rPr>
              <a:t>Wants clean creatine &amp; recovery that actually works. Reads labels, follows fitness creators.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237744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64024" y="2651760"/>
            <a:ext cx="3017520" cy="13716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81C24"/>
              </a:gs>
              <a:gs pos="100000">
                <a:srgbClr val="2B5BFF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71031" y="303580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99631" y="326440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65192" y="3511296"/>
            <a:ext cx="56235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PERSONA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416052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216"/>
                </a:solidFill>
                <a:latin typeface="Glacial Indifference"/>
                <a:cs typeface="Glacial Indifference"/>
              </a:rPr>
              <a:t>The Grinder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459028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2B5BFF"/>
                </a:solidFill>
                <a:latin typeface="Inter"/>
                <a:cs typeface="Inter"/>
              </a:rPr>
              <a:t>24–35 · FOUNDER / KNOWLEDGE WORKER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4919472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168"/>
                </a:solidFill>
                <a:latin typeface="Inter"/>
                <a:cs typeface="Inter"/>
              </a:rPr>
              <a:t>Needs energy + focus without the crash. Buys into performance &amp; brain health.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38744" y="2377440"/>
            <a:ext cx="3529584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94776" y="2651760"/>
            <a:ext cx="3017520" cy="137160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81C24"/>
              </a:gs>
              <a:gs pos="100000">
                <a:srgbClr val="F2A100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1784" y="303580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30384" y="326440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95944" y="3511296"/>
            <a:ext cx="56235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PERSONA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3064" y="416052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216"/>
                </a:solidFill>
                <a:latin typeface="Glacial Indifference"/>
                <a:cs typeface="Glacial Indifference"/>
              </a:rPr>
              <a:t>The Optimiser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459028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40">
                <a:solidFill>
                  <a:srgbClr val="F2A100"/>
                </a:solidFill>
                <a:latin typeface="Inter"/>
                <a:cs typeface="Inter"/>
              </a:rPr>
              <a:t>20–30 · STUDENT / EARLY-CAREER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4" y="4919472"/>
            <a:ext cx="29809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168"/>
                </a:solidFill>
                <a:latin typeface="Inter"/>
                <a:cs typeface="Inter"/>
              </a:rPr>
              <a:t>Health-curious, values-driven, discovers brands on Reels; wants aspirational + affordable.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A6D93B"/>
                </a:solidFill>
                <a:latin typeface="Inter"/>
                <a:cs typeface="Inter"/>
              </a:rPr>
              <a:t>BRAND · VISUAL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Mood board &amp; art direction.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2395728" cy="1600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181C24"/>
              </a:gs>
              <a:gs pos="100000">
                <a:srgbClr val="5FA80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28142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01952" y="251002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2871216"/>
            <a:ext cx="905255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PRODUCT HERO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783080"/>
            <a:ext cx="2395728" cy="1600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181C24"/>
              </a:gs>
              <a:gs pos="100000">
                <a:srgbClr val="2B5BFF"/>
              </a:gs>
            </a:gsLst>
            <a:lin ang="33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15384" y="228142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43984" y="251002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2871216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STRENGTH / GYM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61304" y="1783080"/>
            <a:ext cx="2395728" cy="1600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181C24"/>
              </a:gs>
              <a:gs pos="100000">
                <a:srgbClr val="F2A100"/>
              </a:gs>
            </a:gsLst>
            <a:lin ang="3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57416" y="228142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86016" y="251002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62472" y="2871216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CITRUS / VIT-C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03336" y="1783080"/>
            <a:ext cx="2395728" cy="1600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2B5BFF"/>
              </a:gs>
              <a:gs pos="100000">
                <a:srgbClr val="0F1216"/>
              </a:gs>
            </a:gsLst>
            <a:lin ang="45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99448" y="2281428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28048" y="251002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04504" y="2871216"/>
            <a:ext cx="97383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BRAIN / FOCUS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29584"/>
            <a:ext cx="2395728" cy="1600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181C24"/>
              </a:gs>
              <a:gs pos="100000">
                <a:srgbClr val="5FA80E"/>
              </a:gs>
            </a:gsLst>
            <a:lin ang="5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73352" y="4027931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01952" y="4256531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8408" y="4617719"/>
            <a:ext cx="1110996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RECOVERY / CALM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9272" y="3529584"/>
            <a:ext cx="2395728" cy="1600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181C24"/>
              </a:gs>
              <a:gs pos="100000">
                <a:srgbClr val="F2A100"/>
              </a:gs>
            </a:gsLst>
            <a:lin ang="5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215384" y="4027931"/>
            <a:ext cx="603504" cy="603504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43984" y="4256531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20440" y="4617719"/>
            <a:ext cx="699515" cy="310896"/>
          </a:xfrm>
          <a:prstGeom prst="roundRect">
            <a:avLst>
              <a:gd name="adj" fmla="val 50000"/>
            </a:avLst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800" b="1" i="0" spc="40">
                <a:solidFill>
                  <a:srgbClr val="FFFFFF"/>
                </a:solidFill>
                <a:latin typeface="Inter"/>
                <a:cs typeface="Inter"/>
              </a:rPr>
              <a:t>LIFESTYLE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529584"/>
            <a:ext cx="5742432" cy="160020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7307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20">
                <a:solidFill>
                  <a:srgbClr val="A9AEA0"/>
                </a:solidFill>
                <a:latin typeface="Inter"/>
                <a:cs typeface="Inter"/>
              </a:rPr>
              <a:t>PALETTE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4032504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5FA80E"/>
          </a:solidFill>
          <a:ln w="12700">
            <a:solidFill>
              <a:srgbClr val="262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5312" y="455371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A9AEA0"/>
                </a:solidFill>
                <a:latin typeface="Inter"/>
                <a:cs typeface="Inter"/>
              </a:rPr>
              <a:t>Volt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47104" y="4032504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2B5BFF"/>
          </a:solidFill>
          <a:ln w="12700">
            <a:solidFill>
              <a:srgbClr val="262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455371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A9AEA0"/>
                </a:solidFill>
                <a:latin typeface="Inter"/>
                <a:cs typeface="Inter"/>
              </a:rPr>
              <a:t>Focus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50608" y="4032504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F2A100"/>
          </a:solidFill>
          <a:ln w="12700">
            <a:solidFill>
              <a:srgbClr val="262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55371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A9AEA0"/>
                </a:solidFill>
                <a:latin typeface="Inter"/>
                <a:cs typeface="Inter"/>
              </a:rPr>
              <a:t>Vit-C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4032504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0F1216"/>
          </a:solidFill>
          <a:ln w="12700">
            <a:solidFill>
              <a:srgbClr val="262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35824" y="455371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A9AEA0"/>
                </a:solidFill>
                <a:latin typeface="Inter"/>
                <a:cs typeface="Inter"/>
              </a:rPr>
              <a:t>Ink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57616" y="4032504"/>
            <a:ext cx="475488" cy="475488"/>
          </a:xfrm>
          <a:prstGeom prst="roundRect">
            <a:avLst>
              <a:gd name="adj" fmla="val 16000"/>
            </a:avLst>
          </a:prstGeom>
          <a:solidFill>
            <a:srgbClr val="F3F1E8"/>
          </a:solidFill>
          <a:ln w="12700">
            <a:solidFill>
              <a:srgbClr val="262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8" y="455371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A9AEA0"/>
                </a:solidFill>
                <a:latin typeface="Inter"/>
                <a:cs typeface="Inter"/>
              </a:rPr>
              <a:t>Paper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7307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60">
                <a:solidFill>
                  <a:srgbClr val="A9AEA0"/>
                </a:solidFill>
                <a:latin typeface="Inter"/>
                <a:cs typeface="Inter"/>
              </a:rPr>
              <a:t>TYPE  ·  Glacial Indifference / Inter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986783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Glacial Indifference"/>
                <a:cs typeface="Glacial Indifference"/>
              </a:rPr>
              <a:t>Aa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187952"/>
            <a:ext cx="1188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A9AEA0"/>
                </a:solidFill>
                <a:latin typeface="Inter"/>
                <a:cs typeface="Inter"/>
              </a:rPr>
              <a:t>bold display · clean body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AEA0"/>
                </a:solidFill>
                <a:latin typeface="Inter"/>
                <a:cs typeface="Inter"/>
              </a:rPr>
              <a:t>Direction: matte-black + volt-green, high-contrast studio product shots, real Indian athletes, science-forward brain motifs, citrus macro pops. Full AI-image prompts in the appendix.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A9AEA0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A9AEA0"/>
                </a:solidFill>
                <a:latin typeface="Inter"/>
                <a:cs typeface="Inter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-640080"/>
            <a:ext cx="54864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i="0" spc="-60">
                <a:solidFill>
                  <a:srgbClr val="262B35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0"/>
            <a:ext cx="201168" cy="62709552000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20">
                <a:solidFill>
                  <a:srgbClr val="A6D93B"/>
                </a:solidFill>
                <a:latin typeface="Inter"/>
                <a:cs typeface="Inter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78608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Market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8006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A9AEA0"/>
                </a:solidFill>
                <a:latin typeface="Inter"/>
                <a:cs typeface="Inter"/>
              </a:rPr>
              <a:t>The wedge, the channels and the 12-month roadmap.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A9AEA0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A9AEA0"/>
                </a:solidFill>
                <a:latin typeface="Inter"/>
                <a:cs typeface="Inter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GO-TO-MARKET · THE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Enter narrow, expand by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Win D2C first with a hero SKU, then unlock each channel as sales prove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61518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78892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5FA80E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566160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216"/>
                </a:solidFill>
                <a:latin typeface="Glacial Indifference"/>
                <a:cs typeface="Glacial Indifference"/>
              </a:rPr>
              <a:t>D2C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9959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5FA80E"/>
                </a:solidFill>
                <a:latin typeface="Inter"/>
                <a:cs typeface="Inter"/>
              </a:rPr>
              <a:t>OWN THE STORY &amp; MARGINS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34340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Shopify hero-SKU launch, content + creators, performance 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36576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ED9C7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514600"/>
            <a:ext cx="261518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278892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B5BFF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9624" y="3566160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216"/>
                </a:solidFill>
                <a:latin typeface="Glacial Indifference"/>
                <a:cs typeface="Glacial Indifference"/>
              </a:rPr>
              <a:t>Marketplaces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39959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2B5BFF"/>
                </a:solidFill>
                <a:latin typeface="Inter"/>
                <a:cs typeface="Inter"/>
              </a:rPr>
              <a:t>CAPTURE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434340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Amazon &amp; Flipkart once reviews &amp; ROAS are proven.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6576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ED9C7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9944" y="2514600"/>
            <a:ext cx="261518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278892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2A100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3566160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216"/>
                </a:solidFill>
                <a:latin typeface="Glacial Indifference"/>
                <a:cs typeface="Glacial Indifference"/>
              </a:rPr>
              <a:t>Quick-commerce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39959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F2A100"/>
                </a:solidFill>
                <a:latin typeface="Inter"/>
                <a:cs typeface="Inter"/>
              </a:rPr>
              <a:t>WIN IMPULSE &amp; 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434340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Blinkit / Zepto / Instamart in metros at scale.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6576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ED9C7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2514600"/>
            <a:ext cx="261518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2788920"/>
            <a:ext cx="2157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5FA80E"/>
                </a:solidFill>
                <a:latin typeface="Glacial Indifference"/>
                <a:cs typeface="Glacial Indifference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566160"/>
            <a:ext cx="21579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F1216"/>
                </a:solidFill>
                <a:latin typeface="Glacial Indifference"/>
                <a:cs typeface="Glacial Indifference"/>
              </a:rPr>
              <a:t>Offline &amp; gyms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995928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5FA80E"/>
                </a:solidFill>
                <a:latin typeface="Inter"/>
                <a:cs typeface="Inter"/>
              </a:rPr>
              <a:t>TRUST &amp;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434340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Gym tie-ups and select retail as the brand compounds.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GO-TO-MARKET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A phased 12-month launch — with a clear turnaround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2615184" cy="3657600"/>
          </a:xfrm>
          <a:prstGeom prst="roundRect">
            <a:avLst>
              <a:gd name="adj" fmla="val 5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5FA80E"/>
                </a:solidFill>
                <a:latin typeface="Inter"/>
                <a:cs typeface="Inter"/>
              </a:rPr>
              <a:t>Q1 · M1–3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44368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216"/>
                </a:solidFill>
                <a:latin typeface="Glacial Indifference"/>
                <a:cs typeface="Glacial Indifference"/>
              </a:rPr>
              <a:t>Build &amp;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66160"/>
            <a:ext cx="206654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Brand, Shopify store, hero SKU launch, seed content, micro-influencers, creative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00" b="1" i="0">
                <a:solidFill>
                  <a:srgbClr val="0F1216"/>
                </a:solidFill>
                <a:latin typeface="Inter"/>
                <a:cs typeface="Inter"/>
              </a:rPr>
              <a:t>→ First ₹5 L 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2286000"/>
            <a:ext cx="2615184" cy="3657600"/>
          </a:xfrm>
          <a:prstGeom prst="roundRect">
            <a:avLst>
              <a:gd name="adj" fmla="val 5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2" y="2606040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A6D93B"/>
                </a:solidFill>
                <a:latin typeface="Inter"/>
                <a:cs typeface="Inter"/>
              </a:rPr>
              <a:t>Q2 · M4–6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2" y="2944368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Glacial Indifference"/>
                <a:cs typeface="Glacial Indifference"/>
              </a:rPr>
              <a:t>Traction &amp; Breakeven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3566160"/>
            <a:ext cx="206654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9AEA0"/>
                </a:solidFill>
                <a:latin typeface="Inter"/>
                <a:cs typeface="Inter"/>
              </a:rPr>
              <a:t>Scale winning ads, Amazon launch, subscriptions, UGC engine. Contribution breakeven ~M6.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67912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67912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  <a:cs typeface="Inter"/>
              </a:rPr>
              <a:t>→ ₹15 L MRR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9944" y="2286000"/>
            <a:ext cx="2615184" cy="3657600"/>
          </a:xfrm>
          <a:prstGeom prst="roundRect">
            <a:avLst>
              <a:gd name="adj" fmla="val 5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4264" y="2606040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F2A100"/>
                </a:solidFill>
                <a:latin typeface="Inter"/>
                <a:cs typeface="Inter"/>
              </a:rPr>
              <a:t>Q3 · M7–9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2944368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216"/>
                </a:solidFill>
                <a:latin typeface="Glacial Indifference"/>
                <a:cs typeface="Glacial Indifference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4264" y="3566160"/>
            <a:ext cx="206654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Quick-commerce, SKU 2, brand ambassador, PR push, retention flows.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84264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84264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00" b="1" i="0">
                <a:solidFill>
                  <a:srgbClr val="0F1216"/>
                </a:solidFill>
                <a:latin typeface="Inter"/>
                <a:cs typeface="Inter"/>
              </a:rPr>
              <a:t>→ ₹30 L MRR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26296" y="2286000"/>
            <a:ext cx="2615184" cy="3657600"/>
          </a:xfrm>
          <a:prstGeom prst="roundRect">
            <a:avLst>
              <a:gd name="adj" fmla="val 5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0616" y="2606040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5FA80E"/>
                </a:solidFill>
                <a:latin typeface="Inter"/>
                <a:cs typeface="Inter"/>
              </a:rPr>
              <a:t>Q4 · M10–12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2944368"/>
            <a:ext cx="20665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1216"/>
                </a:solidFill>
                <a:latin typeface="Glacial Indifference"/>
                <a:cs typeface="Glacial Indifference"/>
              </a:rPr>
              <a:t>Expand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3566160"/>
            <a:ext cx="206654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Offline &amp; gym pilots, SKU 3, category push, always-on performance.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0616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0616" y="5166360"/>
            <a:ext cx="2066543" cy="502920"/>
          </a:xfrm>
          <a:prstGeom prst="roundRect">
            <a:avLst>
              <a:gd name="adj" fmla="val 30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100" b="1" i="0">
                <a:solidFill>
                  <a:srgbClr val="0F1216"/>
                </a:solidFill>
                <a:latin typeface="Inter"/>
                <a:cs typeface="Inter"/>
              </a:rPr>
              <a:t>→ ₹40 L+ MRR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-640080"/>
            <a:ext cx="54864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i="0" spc="-60">
                <a:solidFill>
                  <a:srgbClr val="262B35"/>
                </a:solidFill>
                <a:latin typeface="Glacial Indifference"/>
                <a:cs typeface="Glacial Indifference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0"/>
            <a:ext cx="201168" cy="62709552000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20">
                <a:solidFill>
                  <a:srgbClr val="A6D93B"/>
                </a:solidFill>
                <a:latin typeface="Inter"/>
                <a:cs typeface="Inter"/>
              </a:rPr>
              <a:t>BUDGET &amp;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78608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The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5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800600"/>
            <a:ext cx="6949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A9AEA0"/>
                </a:solidFill>
                <a:latin typeface="Inter"/>
                <a:cs typeface="Inter"/>
              </a:rPr>
              <a:t>Where the money goes, the milestone ladder, and the payback.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262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A9AEA0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A9AEA0"/>
                </a:solidFill>
                <a:latin typeface="Inter"/>
                <a:cs typeface="Inter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BUDGET · MONTHLY 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Where the marketing budget goes at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Illustrative monthly marketing mix once the engine is proven (~₹11 L). Media-led, content-fuelled.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4785512" cy="640080"/>
          </a:xfrm>
          <a:prstGeom prst="rect">
            <a:avLst/>
          </a:prstGeom>
          <a:solidFill>
            <a:srgbClr val="5FA80E"/>
          </a:solidFill>
          <a:ln w="19050">
            <a:solidFill>
              <a:srgbClr val="F3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562752" y="2514600"/>
            <a:ext cx="1914204" cy="640080"/>
          </a:xfrm>
          <a:prstGeom prst="rect">
            <a:avLst/>
          </a:prstGeom>
          <a:solidFill>
            <a:srgbClr val="2B5BFF"/>
          </a:solidFill>
          <a:ln w="19050">
            <a:solidFill>
              <a:srgbClr val="F3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18%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76957" y="2514600"/>
            <a:ext cx="1488826" cy="640080"/>
          </a:xfrm>
          <a:prstGeom prst="rect">
            <a:avLst/>
          </a:prstGeom>
          <a:solidFill>
            <a:srgbClr val="F2A100"/>
          </a:solidFill>
          <a:ln w="19050">
            <a:solidFill>
              <a:srgbClr val="F3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0F1216"/>
                </a:solidFill>
                <a:latin typeface="Inter"/>
                <a:cs typeface="Inter"/>
              </a:rPr>
              <a:t>14%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5783" y="2514600"/>
            <a:ext cx="1063447" cy="640080"/>
          </a:xfrm>
          <a:prstGeom prst="rect">
            <a:avLst/>
          </a:prstGeom>
          <a:solidFill>
            <a:srgbClr val="181C24"/>
          </a:solidFill>
          <a:ln w="19050">
            <a:solidFill>
              <a:srgbClr val="F3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29230" y="2514600"/>
            <a:ext cx="531723" cy="640080"/>
          </a:xfrm>
          <a:prstGeom prst="rect">
            <a:avLst/>
          </a:prstGeom>
          <a:solidFill>
            <a:srgbClr val="A9AEA0"/>
          </a:solidFill>
          <a:ln w="19050">
            <a:solidFill>
              <a:srgbClr val="F3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0F1216"/>
                </a:solidFill>
                <a:latin typeface="Inter"/>
                <a:cs typeface="Inter"/>
              </a:rPr>
              <a:t>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60954" y="2514600"/>
            <a:ext cx="850757" cy="640080"/>
          </a:xfrm>
          <a:prstGeom prst="rect">
            <a:avLst/>
          </a:prstGeom>
          <a:solidFill>
            <a:srgbClr val="DED9C7"/>
          </a:solidFill>
          <a:ln w="19050">
            <a:solidFill>
              <a:srgbClr val="F3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1200" b="1" i="0">
                <a:solidFill>
                  <a:srgbClr val="0F1216"/>
                </a:solidFill>
                <a:latin typeface="Inter"/>
                <a:cs typeface="Inter"/>
              </a:rPr>
              <a:t>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FA80E"/>
          </a:solidFill>
          <a:ln w="9525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F1216"/>
                </a:solidFill>
                <a:latin typeface="Inter"/>
                <a:cs typeface="Inter"/>
              </a:rPr>
              <a:t>Performance 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83179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2B5BFF"/>
          </a:solidFill>
          <a:ln w="9525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9211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F1216"/>
                </a:solidFill>
                <a:latin typeface="Inter"/>
                <a:cs typeface="Inter"/>
              </a:rPr>
              <a:t>Content &amp; 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4860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2A100"/>
          </a:solidFill>
          <a:ln w="9525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0892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F1216"/>
                </a:solidFill>
                <a:latin typeface="Inter"/>
                <a:cs typeface="Inter"/>
              </a:rPr>
              <a:t>Influencer &amp; UGC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2220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81C24"/>
          </a:solidFill>
          <a:ln w="9525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8252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F1216"/>
                </a:solidFill>
                <a:latin typeface="Inter"/>
                <a:cs typeface="Inter"/>
              </a:rPr>
              <a:t>Founder branding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9580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9AEA0"/>
          </a:solidFill>
          <a:ln w="9525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5612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F1216"/>
                </a:solidFill>
                <a:latin typeface="Inter"/>
                <a:cs typeface="Inter"/>
              </a:rPr>
              <a:t>PR &amp; earned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ED9C7"/>
          </a:solidFill>
          <a:ln w="9525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0F1216"/>
                </a:solidFill>
                <a:latin typeface="Inter"/>
                <a:cs typeface="Inter"/>
              </a:rPr>
              <a:t>Retainer &amp;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97680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448056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₹50 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5010912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168"/>
                </a:solidFill>
                <a:latin typeface="Inter"/>
                <a:cs typeface="Inter"/>
              </a:rPr>
              <a:t>One-time · Branding &amp; identity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93592" y="4297680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448056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₹60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9624" y="5010912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168"/>
                </a:solidFill>
                <a:latin typeface="Inter"/>
                <a:cs typeface="Inter"/>
              </a:rPr>
              <a:t>One-time · Shopify store build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9944" y="4297680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5976" y="448056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₹3 → 11 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6" y="5010912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168"/>
                </a:solidFill>
                <a:latin typeface="Inter"/>
                <a:cs typeface="Inter"/>
              </a:rPr>
              <a:t>Monthly marketing, ramped by proof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6296" y="4297680"/>
            <a:ext cx="2615184" cy="123444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4480560"/>
            <a:ext cx="21579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45%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5010912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168"/>
                </a:solidFill>
                <a:latin typeface="Inter"/>
                <a:cs typeface="Inter"/>
              </a:rPr>
              <a:t>Goes to performance media at 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B7168"/>
                </a:solidFill>
                <a:latin typeface="Inter"/>
                <a:cs typeface="Inter"/>
              </a:rPr>
              <a:t>Excludes Shopify/app subscriptions, shoot actuals (models, travel, food, studio) and GST — billed per the deliverables proposal.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GROWTH · MILESTONE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What we do after each sales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A reinvestment ladder — every rupee of new revenue unlocks the next channel and lever.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572000"/>
            <a:ext cx="2514600" cy="1280160"/>
          </a:xfrm>
          <a:prstGeom prst="roundRect">
            <a:avLst>
              <a:gd name="adj" fmla="val 5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572000"/>
            <a:ext cx="2514600" cy="82296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79145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FA80E"/>
                </a:solidFill>
                <a:latin typeface="Glacial Indifference"/>
                <a:cs typeface="Glacial Indifference"/>
              </a:rPr>
              <a:t>LAUNCH → ₹5 L MRR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524865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6B7168"/>
                </a:solidFill>
                <a:latin typeface="Inter"/>
                <a:cs typeface="Inter"/>
              </a:rPr>
              <a:t>PROVE THE 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5559552"/>
            <a:ext cx="2103120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168"/>
                </a:solidFill>
                <a:latin typeface="Inter"/>
                <a:cs typeface="Inter"/>
              </a:rPr>
              <a:t>Hero SKU · D2C store · micro-influencers · creative testing · seed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3703320"/>
            <a:ext cx="2514600" cy="2148839"/>
          </a:xfrm>
          <a:prstGeom prst="roundRect">
            <a:avLst>
              <a:gd name="adj" fmla="val 5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39312" y="3703320"/>
            <a:ext cx="2514600" cy="82296"/>
          </a:xfrm>
          <a:prstGeom prst="rect">
            <a:avLst/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392277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B5BFF"/>
                </a:solidFill>
                <a:latin typeface="Glacial Indifference"/>
                <a:cs typeface="Glacial Indifference"/>
              </a:rPr>
              <a:t>₹5 L → ₹15 L MRR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43799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6B7168"/>
                </a:solidFill>
                <a:latin typeface="Inter"/>
                <a:cs typeface="Inter"/>
              </a:rPr>
              <a:t>SCALE WHAT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690872"/>
            <a:ext cx="210312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168"/>
                </a:solidFill>
                <a:latin typeface="Inter"/>
                <a:cs typeface="Inter"/>
              </a:rPr>
              <a:t>Scale winning ads · Amazon + Flipkart · subscriptions · UGC engine.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2834640"/>
            <a:ext cx="2514600" cy="3017520"/>
          </a:xfrm>
          <a:prstGeom prst="roundRect">
            <a:avLst>
              <a:gd name="adj" fmla="val 5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9944" y="2834640"/>
            <a:ext cx="2514600" cy="82296"/>
          </a:xfrm>
          <a:prstGeom prst="rect">
            <a:avLst/>
          </a:prstGeom>
          <a:solidFill>
            <a:srgbClr val="F2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5409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6D93B"/>
                </a:solidFill>
                <a:latin typeface="Glacial Indifference"/>
                <a:cs typeface="Glacial Indifference"/>
              </a:rPr>
              <a:t>₹15 L → ₹40 L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1129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A9AEA0"/>
                </a:solidFill>
                <a:latin typeface="Inter"/>
                <a:cs typeface="Inter"/>
              </a:rPr>
              <a:t>ADD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822192"/>
            <a:ext cx="2103120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Quick-commerce (Blinkit/Zepto) · SKU 2–3 · brand ambassador · PR.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1965960"/>
            <a:ext cx="2514600" cy="3886200"/>
          </a:xfrm>
          <a:prstGeom prst="roundRect">
            <a:avLst>
              <a:gd name="adj" fmla="val 5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0576" y="1965960"/>
            <a:ext cx="2514600" cy="82296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218541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6D93B"/>
                </a:solidFill>
                <a:latin typeface="Glacial Indifference"/>
                <a:cs typeface="Glacial Indifference"/>
              </a:rPr>
              <a:t>₹40 L+ MRR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426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50">
                <a:solidFill>
                  <a:srgbClr val="A9AEA0"/>
                </a:solidFill>
                <a:latin typeface="Inter"/>
                <a:cs typeface="Inter"/>
              </a:rPr>
              <a:t>GO OMNICHANNEL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2953512"/>
            <a:ext cx="21031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Offline &amp; gym retail · category expansion · always-on performance.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RETURN · 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Revenue ramps; contribution turns positive by Month 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91056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B7168"/>
                </a:solidFill>
                <a:latin typeface="Inter"/>
                <a:cs typeface="Inter"/>
              </a:rPr>
              <a:t>Illustrative monthly revenue (₹ Lakh). Every input is tuned to Mach Five's real numbers at kickoff.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73152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5312664"/>
            <a:ext cx="457200" cy="82296"/>
          </a:xfrm>
          <a:prstGeom prst="roundRect">
            <a:avLst>
              <a:gd name="adj" fmla="val 12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368" y="5230368"/>
            <a:ext cx="457200" cy="164592"/>
          </a:xfrm>
          <a:prstGeom prst="roundRect">
            <a:avLst>
              <a:gd name="adj" fmla="val 12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9928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68296" y="5120640"/>
            <a:ext cx="457200" cy="274320"/>
          </a:xfrm>
          <a:prstGeom prst="roundRect">
            <a:avLst>
              <a:gd name="adj" fmla="val 12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6856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35224" y="4983480"/>
            <a:ext cx="457200" cy="411480"/>
          </a:xfrm>
          <a:prstGeom prst="roundRect">
            <a:avLst>
              <a:gd name="adj" fmla="val 12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3784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4791456"/>
            <a:ext cx="457200" cy="603504"/>
          </a:xfrm>
          <a:prstGeom prst="roundRect">
            <a:avLst>
              <a:gd name="adj" fmla="val 12000"/>
            </a:avLst>
          </a:prstGeom>
          <a:solidFill>
            <a:srgbClr val="DED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4572000"/>
            <a:ext cx="457200" cy="822960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4352544"/>
            <a:ext cx="457200" cy="1042416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2936" y="4105656"/>
            <a:ext cx="457200" cy="1289304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9864" y="3858768"/>
            <a:ext cx="457200" cy="1536192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8424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3584448"/>
            <a:ext cx="457200" cy="1810512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255264"/>
            <a:ext cx="457200" cy="2139696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M11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0648" y="2926080"/>
            <a:ext cx="457200" cy="2468880"/>
          </a:xfrm>
          <a:prstGeom prst="roundRect">
            <a:avLst>
              <a:gd name="adj" fmla="val 12000"/>
            </a:avLst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8" y="5449824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168"/>
                </a:solidFill>
                <a:latin typeface="Inter"/>
                <a:cs typeface="Inter"/>
              </a:rPr>
              <a:t>M12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14216" y="2697480"/>
            <a:ext cx="10972" cy="2697480"/>
          </a:xfrm>
          <a:prstGeom prst="rect">
            <a:avLst/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28416" y="2468880"/>
            <a:ext cx="1554480" cy="384048"/>
          </a:xfrm>
          <a:prstGeom prst="roundRect">
            <a:avLst>
              <a:gd name="adj" fmla="val 40000"/>
            </a:avLst>
          </a:prstGeom>
          <a:solidFill>
            <a:srgbClr val="2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Breakeven · M6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6060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168"/>
                </a:solidFill>
                <a:latin typeface="Inter"/>
                <a:cs typeface="Inter"/>
              </a:rPr>
              <a:t>₹ Lakh / month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24688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258775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~₹4–5 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971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Year-1 revenue enabled (illustrative)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66760" y="33832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350215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Month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886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Contribution breakeven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42976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41655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3–4×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00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Target blended ROAS at scale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6760" y="5212080"/>
            <a:ext cx="3063240" cy="8229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5330952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spc="-20">
                <a:solidFill>
                  <a:srgbClr val="0F1216"/>
                </a:solidFill>
                <a:latin typeface="Glacial Indifference"/>
                <a:cs typeface="Glacial Indifference"/>
              </a:rPr>
              <a:t>&gt; 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5715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168"/>
                </a:solidFill>
                <a:latin typeface="Inter"/>
                <a:cs typeface="Inter"/>
              </a:rPr>
              <a:t>Repeat-purchase rate goal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E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Reported monthly — against sales, not vanity.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883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CAC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1821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Cost to acquire a customer, by channel &amp; creative.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24688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9624" y="26883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ROAS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31821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Blended &amp; channel return on ad spend.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9944" y="24688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5976" y="26883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Repeat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5976" y="31821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Repeat-purchase &amp; subscription rate — the D2C flywheel.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24688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6883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Run-rate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31821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Monthly revenue &amp; MRR vs the milestone ladder.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69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42885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AOV / LTV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7823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Basket size and lifetime value vs CAC.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93592" y="4069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42885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Reach &amp; saves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47823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Content performance feeding the funnel.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9944" y="4069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65976" y="42885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47823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Rating volume &amp; sentiment — trust that compounds.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6296" y="4069080"/>
            <a:ext cx="2615184" cy="1417320"/>
          </a:xfrm>
          <a:prstGeom prst="roundRect">
            <a:avLst>
              <a:gd name="adj" fmla="val 8000"/>
            </a:avLst>
          </a:prstGeom>
          <a:solidFill>
            <a:srgbClr val="F3F1E8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4288536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5FA80E"/>
                </a:solidFill>
                <a:latin typeface="Glacial Indifference"/>
                <a:cs typeface="Glacial Indifference"/>
              </a:rPr>
              <a:t>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4782312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168"/>
                </a:solidFill>
                <a:latin typeface="Inter"/>
                <a:cs typeface="Inter"/>
              </a:rPr>
              <a:t>Unit economics &amp; path to profit.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5FA80E"/>
                </a:solidFill>
                <a:latin typeface="Inter"/>
                <a:cs typeface="Inter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24128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spc="-30">
                <a:solidFill>
                  <a:srgbClr val="0F1216"/>
                </a:solidFill>
                <a:latin typeface="Glacial Indifference"/>
                <a:cs typeface="Glacial Indifference"/>
              </a:rPr>
              <a:t>From plan to launch.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3529584" cy="17373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4203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D93B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089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216"/>
                </a:solidFill>
                <a:latin typeface="Glacial Indifference"/>
                <a:cs typeface="Glacial Indifference"/>
              </a:rPr>
              <a:t>Lock scope &amp;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9300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Confirm the deliverables proposal, marketing budget and the go-to-market sequence.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2377440"/>
            <a:ext cx="3529584" cy="17373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54203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D93B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1089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216"/>
                </a:solidFill>
                <a:latin typeface="Glacial Indifference"/>
                <a:cs typeface="Glacial Indifference"/>
              </a:rPr>
              <a:t>Build the brand &amp;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49300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Identity, packaging, Shopify store and the launch content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2377440"/>
            <a:ext cx="3529584" cy="1737360"/>
          </a:xfrm>
          <a:prstGeom prst="roundRect">
            <a:avLst>
              <a:gd name="adj" fmla="val 8000"/>
            </a:avLst>
          </a:prstGeom>
          <a:solidFill>
            <a:srgbClr val="E9E5D7"/>
          </a:solidFill>
          <a:ln w="12700">
            <a:solidFill>
              <a:srgbClr val="D5D0C1"/>
            </a:solidFill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13064" y="254203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A6D93B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310896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F1216"/>
                </a:solidFill>
                <a:latin typeface="Glacial Indifference"/>
                <a:cs typeface="Glacial Indifference"/>
              </a:rPr>
              <a:t>Launch &amp; reinvest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3493008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168"/>
                </a:solidFill>
                <a:latin typeface="Inter"/>
                <a:cs typeface="Inter"/>
              </a:rPr>
              <a:t>Go live on D2C, prove the funnel, and climb the milestone ladder.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434840"/>
            <a:ext cx="10634472" cy="1600200"/>
          </a:xfrm>
          <a:prstGeom prst="roundRect">
            <a:avLst>
              <a:gd name="adj" fmla="val 8000"/>
            </a:avLst>
          </a:prstGeom>
          <a:solidFill>
            <a:srgbClr val="0F1216"/>
          </a:solidFill>
          <a:ln>
            <a:noFill/>
          </a:ln>
          <a:effectLst/>
          <a:effectLst>
            <a:outerShdw blurRad="150000" dist="50000" dir="5400000" rotWithShape="0">
              <a:srgbClr val="0F121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7091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Let's give Mach Five its launch velocity.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532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6D93B"/>
                </a:solidFill>
                <a:latin typeface="Glacial Indifference"/>
                <a:cs typeface="Glacial Indifference"/>
              </a:rPr>
              <a:t>business@sagemedia.in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5778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 spc="20">
                <a:solidFill>
                  <a:srgbClr val="A9AEA0"/>
                </a:solidFill>
                <a:latin typeface="Inter"/>
                <a:cs typeface="Inter"/>
              </a:rPr>
              <a:t>Sage Media · Jaipur · Mumbai · Dubai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20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00335283200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A6D93B"/>
                </a:solidFill>
                <a:latin typeface="Inter"/>
                <a:cs typeface="Inter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spc="-30">
                <a:solidFill>
                  <a:srgbClr val="FFFFFF"/>
                </a:solidFill>
                <a:latin typeface="Glacial Indifference"/>
                <a:cs typeface="Glacial Indifference"/>
              </a:rPr>
              <a:t>AI image prompts — mood 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9AEA0"/>
                </a:solidFill>
                <a:latin typeface="Inter"/>
                <a:cs typeface="Inter"/>
              </a:rPr>
              <a:t>Copy-paste into Midjourney / Firefly / DALL·E to generate the real photography for the board above.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3529584" cy="64008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258568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60">
                <a:solidFill>
                  <a:srgbClr val="A6D93B"/>
                </a:solidFill>
                <a:latin typeface="Inter"/>
                <a:cs typeface="Inter"/>
              </a:rPr>
              <a:t>PRODUCT 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06040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“Matte-black Mach Five creatine + vitamin-C drink can on seamless studio background, volt-green rim light, condensation, dramatic hero product photography, high contrast, minimal, editorial, 4k.”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05740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2057400"/>
            <a:ext cx="3529584" cy="64008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45736" y="2258568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60">
                <a:solidFill>
                  <a:srgbClr val="A6D93B"/>
                </a:solidFill>
                <a:latin typeface="Inter"/>
                <a:cs typeface="Inter"/>
              </a:rPr>
              <a:t>STRENGTH / GYM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606040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“Young Indian male athlete mid-explosive lift, sweat and chalk, moody gym lighting with volt-green accent, motion energy, cinematic, 85mm.”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205740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38744" y="2057400"/>
            <a:ext cx="3529584" cy="64008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2258568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60">
                <a:solidFill>
                  <a:srgbClr val="A6D93B"/>
                </a:solidFill>
                <a:latin typeface="Inter"/>
                <a:cs typeface="Inter"/>
              </a:rPr>
              <a:t>CITRUS / VIT-C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606040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“Extreme macro of fresh citrus and effervescent bubbles, water splash, vibrant, clean studio, amber + green palette, science-forward.”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2336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023360"/>
            <a:ext cx="3529584" cy="64008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4224528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60">
                <a:solidFill>
                  <a:srgbClr val="A6D93B"/>
                </a:solidFill>
                <a:latin typeface="Inter"/>
                <a:cs typeface="Inter"/>
              </a:rPr>
              <a:t>BRAIN /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4572000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“Abstract glowing neural network, green-blue synapse lines over deep black, macro, futuristic, clean, cognition energy.”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07992" y="402336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07992" y="4023360"/>
            <a:ext cx="3529584" cy="64008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45736" y="4224528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60">
                <a:solidFill>
                  <a:srgbClr val="A6D93B"/>
                </a:solidFill>
                <a:latin typeface="Inter"/>
                <a:cs typeface="Inter"/>
              </a:rPr>
              <a:t>RECOVERY / CALM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4572000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“Post-workout Indian athlete resting with towel and drink, soft natural window light, warm authentic lifestyle, calm.”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402336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1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38744" y="4023360"/>
            <a:ext cx="3529584" cy="64008"/>
          </a:xfrm>
          <a:prstGeom prst="rect">
            <a:avLst/>
          </a:prstGeom>
          <a:solidFill>
            <a:srgbClr val="5FA8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4224528"/>
            <a:ext cx="3072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60">
                <a:solidFill>
                  <a:srgbClr val="A6D93B"/>
                </a:solidFill>
                <a:latin typeface="Inter"/>
                <a:cs typeface="Inter"/>
              </a:rPr>
              <a:t>LIFESTYLE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572000"/>
            <a:ext cx="307238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A9AEA0"/>
                </a:solidFill>
                <a:latin typeface="Inter"/>
                <a:cs typeface="Inter"/>
              </a:rPr>
              <a:t>“Diverse young Indians laughing after a run, urban rooftop at golden hour, candid, energetic, aspirational, cinematic.”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6428232"/>
            <a:ext cx="10634472" cy="12801"/>
          </a:xfrm>
          <a:prstGeom prst="rect">
            <a:avLst/>
          </a:prstGeom>
          <a:solidFill>
            <a:srgbClr val="D5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00">
                <a:solidFill>
                  <a:srgbClr val="6B7168"/>
                </a:solidFill>
                <a:latin typeface="Inter"/>
                <a:cs typeface="Inter"/>
              </a:rPr>
              <a:t>SAGE MEDIA  ·  MACH FIVE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6B7168"/>
                </a:solidFill>
                <a:latin typeface="Inter"/>
                <a:cs typeface="Inter"/>
              </a:rPr>
              <a:t>21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