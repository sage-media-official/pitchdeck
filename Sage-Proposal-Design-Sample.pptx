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embeddedFontLst>
    <p:embeddedFont>
      <p:font typeface="Glacial Indifference"/>
      <p:regular r:id="rIdFontReg"/>
      <p:bold r:id="rIdFontBold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FontReg" Type="http://schemas.openxmlformats.org/officeDocument/2006/relationships/font" Target="fonts/font1.fntdata"/><Relationship Id="rIdFontBold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270955200000"/>
          </a:xfrm>
          <a:prstGeom prst="rect">
            <a:avLst/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18120" y="0"/>
            <a:ext cx="4370832" cy="416052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16171C"/>
              </a:gs>
              <a:gs pos="100000">
                <a:srgbClr val="FF5A30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74352" y="1751076"/>
            <a:ext cx="658368" cy="658368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199796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4152" y="3593591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6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ctr"/>
            <a:r>
              <a:rPr sz="850" b="1" i="0" spc="60">
                <a:solidFill>
                  <a:srgbClr val="FFFFFF"/>
                </a:solidFill>
                <a:latin typeface="Inter"/>
                <a:cs typeface="Inter"/>
              </a:rPr>
              <a:t>BRAND IMAGERY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160520"/>
            <a:ext cx="4370832" cy="269748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FF5A30"/>
              </a:gs>
              <a:gs pos="100000">
                <a:srgbClr val="22242C"/>
              </a:gs>
            </a:gsLst>
            <a:lin ang="2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74352" y="5180076"/>
            <a:ext cx="658368" cy="658368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21240" y="542696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4152" y="629107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6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ctr"/>
            <a:r>
              <a:rPr sz="850" b="1" i="0" spc="60">
                <a:solidFill>
                  <a:srgbClr val="FFFFFF"/>
                </a:solidFill>
                <a:latin typeface="Inter"/>
                <a:cs typeface="Inter"/>
              </a:rPr>
              <a:t>LIFESTYLE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FF5A30"/>
                </a:solidFill>
                <a:latin typeface="Inter"/>
                <a:cs typeface="Inter"/>
              </a:rPr>
              <a:t>BUSINESS PROPOSAL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371600"/>
            <a:ext cx="7315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600" b="1" i="0" spc="-60">
                <a:solidFill>
                  <a:srgbClr val="16171C"/>
                </a:solidFill>
                <a:latin typeface="Glacial Indifference"/>
                <a:cs typeface="Glacial Indifference"/>
              </a:rPr>
              <a:t>Aurora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2788920"/>
            <a:ext cx="822960" cy="82296"/>
          </a:xfrm>
          <a:prstGeom prst="rect">
            <a:avLst/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08960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E313B"/>
                </a:solidFill>
                <a:latin typeface="Inter"/>
                <a:cs typeface="Inter"/>
              </a:rPr>
              <a:t>A brand growth &amp; marketing proposal 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2E313B"/>
                </a:solidFill>
                <a:latin typeface="Inter"/>
                <a:cs typeface="Inter"/>
              </a:rPr>
              <a:t>strategy, creative and a measurable plan of 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40">
                <a:solidFill>
                  <a:srgbClr val="7C7566"/>
                </a:solidFill>
                <a:latin typeface="Inter"/>
                <a:cs typeface="Inter"/>
              </a:rPr>
              <a:t>Prepared for  ·  [ Client Name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171C"/>
                </a:solidFill>
                <a:latin typeface="Glacial Indifference"/>
                <a:cs typeface="Glacial Indifference"/>
              </a:rPr>
              <a:t>Prepared by Sage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 spc="30">
                <a:solidFill>
                  <a:srgbClr val="7C7566"/>
                </a:solidFill>
                <a:latin typeface="Inter"/>
                <a:cs typeface="Inter"/>
              </a:rPr>
              <a:t>Jaipur · Mumbai · Dubai  ·  business@sagemedia.in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06640" y="-548640"/>
            <a:ext cx="5486400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0" b="1" i="0" spc="-60">
                <a:solidFill>
                  <a:srgbClr val="2E313B"/>
                </a:solidFill>
                <a:latin typeface="Glacial Indifference"/>
                <a:cs typeface="Glacial Indifference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0"/>
            <a:ext cx="201168" cy="6270955200000"/>
          </a:xfrm>
          <a:prstGeom prst="rect">
            <a:avLst/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2148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220">
                <a:solidFill>
                  <a:srgbClr val="E9A94A"/>
                </a:solidFill>
                <a:latin typeface="Inter"/>
                <a:cs typeface="Inter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7315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The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892040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B7AF9E"/>
                </a:solidFill>
                <a:latin typeface="Inter"/>
                <a:cs typeface="Inter"/>
              </a:rPr>
              <a:t>Where the brand is today, the gap in the market, and the moment to move.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419088"/>
            <a:ext cx="10634472" cy="12801"/>
          </a:xfrm>
          <a:prstGeom prst="rect">
            <a:avLst/>
          </a:prstGeom>
          <a:solidFill>
            <a:srgbClr val="2E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20">
                <a:solidFill>
                  <a:srgbClr val="B7AF9E"/>
                </a:solidFill>
                <a:latin typeface="Inter"/>
                <a:cs typeface="Inter"/>
              </a:rPr>
              <a:t>SAGE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B7AF9E"/>
                </a:solidFill>
                <a:latin typeface="Inter"/>
                <a:cs typeface="Inter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FF5A30"/>
                </a:solidFill>
                <a:latin typeface="Inter"/>
                <a:cs typeface="Inter"/>
              </a:rPr>
              <a:t>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7772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spc="-30">
                <a:solidFill>
                  <a:srgbClr val="16171C"/>
                </a:solidFill>
                <a:latin typeface="Glacial Indifference"/>
                <a:cs typeface="Glacial Indifference"/>
              </a:rPr>
              <a:t>A brand with momentum 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spc="-30">
                <a:solidFill>
                  <a:srgbClr val="16171C"/>
                </a:solidFill>
                <a:latin typeface="Glacial Indifference"/>
                <a:cs typeface="Glacial Indifference"/>
              </a:rPr>
              <a:t>and room to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E313B"/>
                </a:solidFill>
                <a:latin typeface="Inter"/>
                <a:cs typeface="Inter"/>
              </a:rPr>
              <a:t>A short, editorial framing paragraph goes here — two lines that set up the numbers below and give the reader the story before the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560" y="1005840"/>
            <a:ext cx="2359152" cy="274320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22242C"/>
              </a:gs>
              <a:gs pos="100000">
                <a:srgbClr val="FF5A30"/>
              </a:gs>
            </a:gsLst>
            <a:lin ang="30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2952" y="2048256"/>
            <a:ext cx="658368" cy="658368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229514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08592" y="3182111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6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ctr"/>
            <a:r>
              <a:rPr sz="850" b="1" i="0" spc="60">
                <a:solidFill>
                  <a:srgbClr val="FFFFFF"/>
                </a:solidFill>
                <a:latin typeface="Inter"/>
                <a:cs typeface="Inter"/>
              </a:rPr>
              <a:t>HERO 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spc="-30">
                <a:solidFill>
                  <a:srgbClr val="FF5A30"/>
                </a:solidFill>
                <a:latin typeface="Glacial Indifference"/>
                <a:cs typeface="Glacial Indifference"/>
              </a:rPr>
              <a:t>3.2×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7C7566"/>
                </a:solidFill>
                <a:latin typeface="Inter"/>
                <a:cs typeface="Inter"/>
              </a:rPr>
              <a:t>PROJECTED ROI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4251959"/>
            <a:ext cx="12801" cy="1051560"/>
          </a:xfrm>
          <a:prstGeom prst="rect">
            <a:avLst/>
          </a:prstGeom>
          <a:solidFill>
            <a:srgbClr val="D9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16052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spc="-30">
                <a:solidFill>
                  <a:srgbClr val="FF5A30"/>
                </a:solidFill>
                <a:latin typeface="Glacial Indifference"/>
                <a:cs typeface="Glacial Indifference"/>
              </a:rPr>
              <a:t>+48%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029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7C7566"/>
                </a:solidFill>
                <a:latin typeface="Inter"/>
                <a:cs typeface="Inter"/>
              </a:rPr>
              <a:t>AUDIENCE GROWTH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24728" y="4251959"/>
            <a:ext cx="12801" cy="1051560"/>
          </a:xfrm>
          <a:prstGeom prst="rect">
            <a:avLst/>
          </a:prstGeom>
          <a:solidFill>
            <a:srgbClr val="D9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416052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spc="-30">
                <a:solidFill>
                  <a:srgbClr val="FF5A30"/>
                </a:solidFill>
                <a:latin typeface="Glacial Indifference"/>
                <a:cs typeface="Glacial Indifference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5029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7C7566"/>
                </a:solidFill>
                <a:latin typeface="Inter"/>
                <a:cs typeface="Inter"/>
              </a:rPr>
              <a:t>MARKETS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30768" y="4251959"/>
            <a:ext cx="12801" cy="1051560"/>
          </a:xfrm>
          <a:prstGeom prst="rect">
            <a:avLst/>
          </a:prstGeom>
          <a:solidFill>
            <a:srgbClr val="D9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416052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spc="-30">
                <a:solidFill>
                  <a:srgbClr val="FF5A30"/>
                </a:solidFill>
                <a:latin typeface="Glacial Indifference"/>
                <a:cs typeface="Glacial Indifference"/>
              </a:rPr>
              <a:t>₹—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02920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80">
                <a:solidFill>
                  <a:srgbClr val="7C7566"/>
                </a:solidFill>
                <a:latin typeface="Inter"/>
                <a:cs typeface="Inter"/>
              </a:rPr>
              <a:t>YOUR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7C7566"/>
                </a:solidFill>
                <a:latin typeface="Inter"/>
                <a:cs typeface="Inter"/>
              </a:rPr>
              <a:t>Every figure is illustrative — swapped for the brand's real data at kickoff.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419088"/>
            <a:ext cx="10634472" cy="12801"/>
          </a:xfrm>
          <a:prstGeom prst="rect">
            <a:avLst/>
          </a:prstGeom>
          <a:solidFill>
            <a:srgbClr val="D9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20">
                <a:solidFill>
                  <a:srgbClr val="7C7566"/>
                </a:solidFill>
                <a:latin typeface="Inter"/>
                <a:cs typeface="Inter"/>
              </a:rPr>
              <a:t>SAGE MEDIA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7C7566"/>
                </a:solidFill>
                <a:latin typeface="Inter"/>
                <a:cs typeface="Inter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FF5A30"/>
                </a:solidFill>
                <a:latin typeface="Inter"/>
                <a:cs typeface="Inter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spc="-30">
                <a:solidFill>
                  <a:srgbClr val="16171C"/>
                </a:solidFill>
                <a:latin typeface="Glacial Indifference"/>
                <a:cs typeface="Glacial Indifference"/>
              </a:rPr>
              <a:t>Three moves, 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spc="-30">
                <a:solidFill>
                  <a:srgbClr val="16171C"/>
                </a:solidFill>
                <a:latin typeface="Glacial Indifference"/>
                <a:cs typeface="Glacial Indifference"/>
              </a:rPr>
              <a:t>direction of travel.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5A30"/>
                </a:solidFill>
                <a:latin typeface="Glacial Indifference"/>
                <a:cs typeface="Glacial Indifferenc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8072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171C"/>
                </a:solidFill>
                <a:latin typeface="Glacial Indifference"/>
                <a:cs typeface="Glacial Indifference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320954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E313B"/>
                </a:solidFill>
                <a:latin typeface="Inter"/>
                <a:cs typeface="Inter"/>
              </a:rPr>
              <a:t>Audit the brand, audience and category — find the sharpest angle to 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3813048"/>
            <a:ext cx="4572000" cy="10972"/>
          </a:xfrm>
          <a:prstGeom prst="rect">
            <a:avLst/>
          </a:prstGeom>
          <a:solidFill>
            <a:srgbClr val="D9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959352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5A30"/>
                </a:solidFill>
                <a:latin typeface="Glacial Indifference"/>
                <a:cs typeface="Glacial Indifferenc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9776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171C"/>
                </a:solidFill>
                <a:latin typeface="Glacial Indifference"/>
                <a:cs typeface="Glacial Indifference"/>
              </a:rPr>
              <a:t>Create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3799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E313B"/>
                </a:solidFill>
                <a:latin typeface="Inter"/>
                <a:cs typeface="Inter"/>
              </a:rPr>
              <a:t>Build a distinctive system: identity, messaging and a content engine that scales.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4983480"/>
            <a:ext cx="4572000" cy="10972"/>
          </a:xfrm>
          <a:prstGeom prst="rect">
            <a:avLst/>
          </a:prstGeom>
          <a:solidFill>
            <a:srgbClr val="D9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29784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5A30"/>
                </a:solidFill>
                <a:latin typeface="Glacial Indifference"/>
                <a:cs typeface="Glacial Indifferenc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148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6171C"/>
                </a:solidFill>
                <a:latin typeface="Glacial Indifference"/>
                <a:cs typeface="Glacial Indifference"/>
              </a:rPr>
              <a:t>Grow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55040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E313B"/>
                </a:solidFill>
                <a:latin typeface="Inter"/>
                <a:cs typeface="Inter"/>
              </a:rPr>
              <a:t>Launch, measure and optimise against outcomes — not vanity metrics.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051560"/>
            <a:ext cx="3657600" cy="4892040"/>
          </a:xfrm>
          <a:prstGeom prst="roundRect">
            <a:avLst>
              <a:gd name="adj" fmla="val 6000"/>
            </a:avLst>
          </a:prstGeom>
          <a:gradFill>
            <a:gsLst>
              <a:gs pos="0">
                <a:srgbClr val="FF5A30"/>
              </a:gs>
              <a:gs pos="100000">
                <a:srgbClr val="16171C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72016" y="3168396"/>
            <a:ext cx="658368" cy="658368"/>
          </a:xfrm>
          <a:prstGeom prst="ellipse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18904" y="341528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8431" y="5376672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6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36576" bIns="36576"/>
          <a:lstStyle/>
          <a:p>
            <a:pPr algn="ctr"/>
            <a:r>
              <a:rPr sz="850" b="1" i="0" spc="60">
                <a:solidFill>
                  <a:srgbClr val="FFFFFF"/>
                </a:solidFill>
                <a:latin typeface="Inter"/>
                <a:cs typeface="Inter"/>
              </a:rPr>
              <a:t>APPROACH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6419088"/>
            <a:ext cx="10634472" cy="12801"/>
          </a:xfrm>
          <a:prstGeom prst="rect">
            <a:avLst/>
          </a:prstGeom>
          <a:solidFill>
            <a:srgbClr val="D9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20">
                <a:solidFill>
                  <a:srgbClr val="7C7566"/>
                </a:solidFill>
                <a:latin typeface="Inter"/>
                <a:cs typeface="Inter"/>
              </a:rPr>
              <a:t>SAGE 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7C7566"/>
                </a:solidFill>
                <a:latin typeface="Inter"/>
                <a:cs typeface="Inter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FF5A30"/>
                </a:solidFill>
                <a:latin typeface="Inter"/>
                <a:cs typeface="Inter"/>
              </a:rPr>
              <a:t>THE OPPORTUNITY IN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spc="-30">
                <a:solidFill>
                  <a:srgbClr val="16171C"/>
                </a:solidFill>
                <a:latin typeface="Glacial Indifference"/>
                <a:cs typeface="Glacial Indifference"/>
              </a:rPr>
              <a:t>The case, in one chart.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6400800" cy="3749039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12700">
            <a:solidFill>
              <a:srgbClr val="D9D1C0"/>
            </a:solidFill>
          </a:ln>
          <a:effectLst/>
          <a:effectLst>
            <a:outerShdw blurRad="140000" dist="50000" dir="5400000" rotWithShape="0">
              <a:srgbClr val="16171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171C"/>
                </a:solidFill>
                <a:latin typeface="Glacial Indifference"/>
                <a:cs typeface="Glacial Indifference"/>
              </a:rPr>
              <a:t>Channel contribution (illustrative)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99232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313B"/>
                </a:solidFill>
                <a:latin typeface="Inter"/>
                <a:cs typeface="Inter"/>
              </a:rPr>
              <a:t>Social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017520"/>
            <a:ext cx="4206240" cy="310896"/>
          </a:xfrm>
          <a:prstGeom prst="roundRect">
            <a:avLst>
              <a:gd name="adj" fmla="val 40000"/>
            </a:avLst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3017520"/>
            <a:ext cx="4206240" cy="310896"/>
          </a:xfrm>
          <a:prstGeom prst="roundRect">
            <a:avLst>
              <a:gd name="adj" fmla="val 40000"/>
            </a:avLst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999232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6171C"/>
                </a:solidFill>
                <a:latin typeface="Glacial Indifference"/>
                <a:cs typeface="Glacial Indifference"/>
              </a:rPr>
              <a:t>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93008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313B"/>
                </a:solidFill>
                <a:latin typeface="Inter"/>
                <a:cs typeface="Inter"/>
              </a:rPr>
              <a:t>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511296"/>
            <a:ext cx="4206240" cy="310896"/>
          </a:xfrm>
          <a:prstGeom prst="roundRect">
            <a:avLst>
              <a:gd name="adj" fmla="val 40000"/>
            </a:avLst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3511296"/>
            <a:ext cx="3200400" cy="310896"/>
          </a:xfrm>
          <a:prstGeom prst="roundRect">
            <a:avLst>
              <a:gd name="adj" fmla="val 40000"/>
            </a:avLst>
          </a:prstGeom>
          <a:solidFill>
            <a:srgbClr val="22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3493008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6171C"/>
                </a:solidFill>
                <a:latin typeface="Glacial Indifference"/>
                <a:cs typeface="Glacial Indifference"/>
              </a:rPr>
              <a:t>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986784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313B"/>
                </a:solidFill>
                <a:latin typeface="Inter"/>
                <a:cs typeface="Inter"/>
              </a:rPr>
              <a:t>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005072"/>
            <a:ext cx="4206240" cy="310896"/>
          </a:xfrm>
          <a:prstGeom prst="roundRect">
            <a:avLst>
              <a:gd name="adj" fmla="val 40000"/>
            </a:avLst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86000" y="4005072"/>
            <a:ext cx="2651759" cy="310896"/>
          </a:xfrm>
          <a:prstGeom prst="roundRect">
            <a:avLst>
              <a:gd name="adj" fmla="val 40000"/>
            </a:avLst>
          </a:prstGeom>
          <a:solidFill>
            <a:srgbClr val="22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199" y="3986784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6171C"/>
                </a:solidFill>
                <a:latin typeface="Glacial Indifference"/>
                <a:cs typeface="Glacial Indifference"/>
              </a:rPr>
              <a:t>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313B"/>
                </a:solidFill>
                <a:latin typeface="Inter"/>
                <a:cs typeface="Inter"/>
              </a:rPr>
              <a:t>Influencer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498848"/>
            <a:ext cx="4206240" cy="310896"/>
          </a:xfrm>
          <a:prstGeom prst="roundRect">
            <a:avLst>
              <a:gd name="adj" fmla="val 40000"/>
            </a:avLst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86000" y="4498848"/>
            <a:ext cx="2011679" cy="310896"/>
          </a:xfrm>
          <a:prstGeom prst="roundRect">
            <a:avLst>
              <a:gd name="adj" fmla="val 40000"/>
            </a:avLst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19" y="4480560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6171C"/>
                </a:solidFill>
                <a:latin typeface="Glacial Indifference"/>
                <a:cs typeface="Glacial Indifference"/>
              </a:rPr>
              <a:t>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74336"/>
            <a:ext cx="10972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E313B"/>
                </a:solidFill>
                <a:latin typeface="Inter"/>
                <a:cs typeface="Inter"/>
              </a:rPr>
              <a:t>Email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4992624"/>
            <a:ext cx="4206240" cy="310896"/>
          </a:xfrm>
          <a:prstGeom prst="roundRect">
            <a:avLst>
              <a:gd name="adj" fmla="val 40000"/>
            </a:avLst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86000" y="4992624"/>
            <a:ext cx="1371600" cy="310896"/>
          </a:xfrm>
          <a:prstGeom prst="roundRect">
            <a:avLst>
              <a:gd name="adj" fmla="val 40000"/>
            </a:avLst>
          </a:prstGeom>
          <a:solidFill>
            <a:srgbClr val="22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4974336"/>
            <a:ext cx="548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6171C"/>
                </a:solidFill>
                <a:latin typeface="Glacial Indifference"/>
                <a:cs typeface="Glacial Indifference"/>
              </a:rPr>
              <a:t>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2148840"/>
            <a:ext cx="4023360" cy="3749039"/>
          </a:xfrm>
          <a:prstGeom prst="roundRect">
            <a:avLst>
              <a:gd name="adj" fmla="val 5000"/>
            </a:avLst>
          </a:prstGeom>
          <a:solidFill>
            <a:srgbClr val="16171C"/>
          </a:solidFill>
          <a:ln>
            <a:noFill/>
          </a:ln>
          <a:effectLst/>
          <a:effectLst>
            <a:outerShdw blurRad="140000" dist="50000" dir="5400000" rotWithShape="0">
              <a:srgbClr val="16171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246888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spc="180">
                <a:solidFill>
                  <a:srgbClr val="E9A94A"/>
                </a:solidFill>
                <a:latin typeface="Inter"/>
                <a:cs typeface="Inter"/>
              </a:rPr>
              <a:t>HEADLINE METRIC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88036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3.2×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43434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B7AF9E"/>
                </a:solidFill>
                <a:latin typeface="Inter"/>
                <a:cs typeface="Inter"/>
              </a:rPr>
              <a:t>return on marketing spend,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B7AF9E"/>
                </a:solidFill>
                <a:latin typeface="Inter"/>
                <a:cs typeface="Inter"/>
              </a:rPr>
              <a:t>modelled conservatively.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5257800"/>
            <a:ext cx="3291840" cy="457200"/>
          </a:xfrm>
          <a:prstGeom prst="roundRect">
            <a:avLst>
              <a:gd name="adj" fmla="val 40000"/>
            </a:avLst>
          </a:prstGeom>
          <a:solidFill>
            <a:srgbClr val="2E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5257800"/>
            <a:ext cx="2040940" cy="457200"/>
          </a:xfrm>
          <a:prstGeom prst="roundRect">
            <a:avLst>
              <a:gd name="adj" fmla="val 40000"/>
            </a:avLst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5294376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Inter"/>
              </a:rPr>
              <a:t>62% to target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6419088"/>
            <a:ext cx="10634472" cy="12801"/>
          </a:xfrm>
          <a:prstGeom prst="rect">
            <a:avLst/>
          </a:prstGeom>
          <a:solidFill>
            <a:srgbClr val="D9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20">
                <a:solidFill>
                  <a:srgbClr val="7C7566"/>
                </a:solidFill>
                <a:latin typeface="Inter"/>
                <a:cs typeface="Inter"/>
              </a:rPr>
              <a:t>SAGE MEDIA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7C7566"/>
                </a:solidFill>
                <a:latin typeface="Inter"/>
                <a:cs typeface="Inter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200">
                <a:solidFill>
                  <a:srgbClr val="FF5A30"/>
                </a:solidFill>
                <a:latin typeface="Inter"/>
                <a:cs typeface="Inter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spc="-30">
                <a:solidFill>
                  <a:srgbClr val="16171C"/>
                </a:solidFill>
                <a:latin typeface="Glacial Indifference"/>
                <a:cs typeface="Glacial Indifference"/>
              </a:rPr>
              <a:t>A phased 90-day rollout.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3456432" cy="347472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12700">
            <a:solidFill>
              <a:srgbClr val="D9D1C0"/>
            </a:solidFill>
          </a:ln>
          <a:effectLst/>
          <a:effectLst>
            <a:outerShdw blurRad="140000" dist="50000" dir="5400000" rotWithShape="0">
              <a:srgbClr val="16171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816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40">
                <a:solidFill>
                  <a:srgbClr val="FF5A30"/>
                </a:solidFill>
                <a:latin typeface="Inter"/>
                <a:cs typeface="Inter"/>
              </a:rPr>
              <a:t>PHASE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971800"/>
            <a:ext cx="2816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>
                <a:solidFill>
                  <a:srgbClr val="E3DCCB"/>
                </a:solidFill>
                <a:latin typeface="Glacial Indifference"/>
                <a:cs typeface="Glacial Indifferenc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6171C"/>
                </a:solidFill>
                <a:latin typeface="Glacial Indifference"/>
                <a:cs typeface="Glacial Indifference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E313B"/>
                </a:solidFill>
                <a:latin typeface="Inter"/>
                <a:cs typeface="Inter"/>
              </a:rPr>
              <a:t>Brand system, messaging &amp;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E313B"/>
                </a:solidFill>
                <a:latin typeface="Inter"/>
                <a:cs typeface="Inter"/>
              </a:rPr>
              <a:t>channel setup.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678424"/>
            <a:ext cx="3456432" cy="82296"/>
          </a:xfrm>
          <a:prstGeom prst="rect">
            <a:avLst/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53127" y="2286000"/>
            <a:ext cx="3456432" cy="3474720"/>
          </a:xfrm>
          <a:prstGeom prst="roundRect">
            <a:avLst>
              <a:gd name="adj" fmla="val 5000"/>
            </a:avLst>
          </a:prstGeom>
          <a:solidFill>
            <a:srgbClr val="16171C"/>
          </a:solidFill>
          <a:ln>
            <a:noFill/>
          </a:ln>
          <a:effectLst/>
          <a:effectLst>
            <a:outerShdw blurRad="140000" dist="50000" dir="5400000" rotWithShape="0">
              <a:srgbClr val="16171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7" y="2651760"/>
            <a:ext cx="2816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40">
                <a:solidFill>
                  <a:srgbClr val="E9A94A"/>
                </a:solidFill>
                <a:latin typeface="Inter"/>
                <a:cs typeface="Inter"/>
              </a:rPr>
              <a:t>PHASE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971800"/>
            <a:ext cx="2816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>
                <a:solidFill>
                  <a:srgbClr val="2E313B"/>
                </a:solidFill>
                <a:latin typeface="Glacial Indifference"/>
                <a:cs typeface="Glacial Indifferenc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7" y="4114800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Glacial Indifference"/>
                <a:cs typeface="Glacial Indifference"/>
              </a:rPr>
              <a:t>Momentum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7" y="4663440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7AF9E"/>
                </a:solidFill>
                <a:latin typeface="Inter"/>
                <a:cs typeface="Inter"/>
              </a:rPr>
              <a:t>Always-on content, campaigns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B7AF9E"/>
                </a:solidFill>
                <a:latin typeface="Inter"/>
                <a:cs typeface="Inter"/>
              </a:rPr>
              <a:t>&amp; community building.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7" y="5678424"/>
            <a:ext cx="3456432" cy="82296"/>
          </a:xfrm>
          <a:prstGeom prst="rect">
            <a:avLst/>
          </a:prstGeom>
          <a:solidFill>
            <a:srgbClr val="E9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9015" y="2286000"/>
            <a:ext cx="3456432" cy="3474720"/>
          </a:xfrm>
          <a:prstGeom prst="roundRect">
            <a:avLst>
              <a:gd name="adj" fmla="val 5000"/>
            </a:avLst>
          </a:prstGeom>
          <a:solidFill>
            <a:srgbClr val="F4F1EA"/>
          </a:solidFill>
          <a:ln w="12700">
            <a:solidFill>
              <a:srgbClr val="D9D1C0"/>
            </a:solidFill>
          </a:ln>
          <a:effectLst/>
          <a:effectLst>
            <a:outerShdw blurRad="140000" dist="50000" dir="5400000" rotWithShape="0">
              <a:srgbClr val="16171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5" y="2651760"/>
            <a:ext cx="28163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40">
                <a:solidFill>
                  <a:srgbClr val="FF5A30"/>
                </a:solidFill>
                <a:latin typeface="Inter"/>
                <a:cs typeface="Inter"/>
              </a:rPr>
              <a:t>PHASE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971800"/>
            <a:ext cx="2816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>
                <a:solidFill>
                  <a:srgbClr val="E3DCCB"/>
                </a:solidFill>
                <a:latin typeface="Glacial Indifference"/>
                <a:cs typeface="Glacial Indifferenc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5" y="4114800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6171C"/>
                </a:solidFill>
                <a:latin typeface="Glacial Indifference"/>
                <a:cs typeface="Glacial Indifference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5" y="4663440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E313B"/>
                </a:solidFill>
                <a:latin typeface="Inter"/>
                <a:cs typeface="Inter"/>
              </a:rPr>
              <a:t>Performance, partnerships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E313B"/>
                </a:solidFill>
                <a:latin typeface="Inter"/>
                <a:cs typeface="Inter"/>
              </a:rPr>
              <a:t>&amp; optimisation to target.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5" y="5678424"/>
            <a:ext cx="3456432" cy="82296"/>
          </a:xfrm>
          <a:prstGeom prst="rect">
            <a:avLst/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6419088"/>
            <a:ext cx="10634472" cy="12801"/>
          </a:xfrm>
          <a:prstGeom prst="rect">
            <a:avLst/>
          </a:prstGeom>
          <a:solidFill>
            <a:srgbClr val="D9D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20">
                <a:solidFill>
                  <a:srgbClr val="7C7566"/>
                </a:solidFill>
                <a:latin typeface="Inter"/>
                <a:cs typeface="Inter"/>
              </a:rPr>
              <a:t>SAGE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9224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spc="80">
                <a:solidFill>
                  <a:srgbClr val="7C7566"/>
                </a:solidFill>
                <a:latin typeface="Inter"/>
                <a:cs typeface="Inter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0"/>
            <a:ext cx="201168" cy="6270955200000"/>
          </a:xfrm>
          <a:prstGeom prst="rect">
            <a:avLst/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868680"/>
            <a:ext cx="1371600" cy="118872"/>
          </a:xfrm>
          <a:prstGeom prst="roundRect">
            <a:avLst>
              <a:gd name="adj" fmla="val 30000"/>
            </a:avLst>
          </a:prstGeom>
          <a:solidFill>
            <a:srgbClr val="2E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0" y="1060704"/>
            <a:ext cx="1371600" cy="118872"/>
          </a:xfrm>
          <a:prstGeom prst="roundRect">
            <a:avLst>
              <a:gd name="adj" fmla="val 30000"/>
            </a:avLst>
          </a:prstGeom>
          <a:solidFill>
            <a:srgbClr val="2E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0" y="1252728"/>
            <a:ext cx="1371600" cy="118872"/>
          </a:xfrm>
          <a:prstGeom prst="roundRect">
            <a:avLst>
              <a:gd name="adj" fmla="val 30000"/>
            </a:avLst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0" y="1444752"/>
            <a:ext cx="1371600" cy="118872"/>
          </a:xfrm>
          <a:prstGeom prst="roundRect">
            <a:avLst>
              <a:gd name="adj" fmla="val 30000"/>
            </a:avLst>
          </a:prstGeom>
          <a:solidFill>
            <a:srgbClr val="E9A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31720"/>
            <a:ext cx="9692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Let's build a brand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200" b="1" i="0" spc="-40">
                <a:solidFill>
                  <a:srgbClr val="FFFFFF"/>
                </a:solidFill>
                <a:latin typeface="Glacial Indifference"/>
                <a:cs typeface="Glacial Indifference"/>
              </a:rPr>
              <a:t>worth remembering.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4343400"/>
            <a:ext cx="822960" cy="82296"/>
          </a:xfrm>
          <a:prstGeom prst="rect">
            <a:avLst/>
          </a:prstGeom>
          <a:solidFill>
            <a:srgbClr val="FF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8920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Glacial Indifference"/>
                <a:cs typeface="Glacial Indifference"/>
              </a:rPr>
              <a:t>business@sagemedia.in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440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 spc="30">
                <a:solidFill>
                  <a:srgbClr val="B7AF9E"/>
                </a:solidFill>
                <a:latin typeface="Inter"/>
                <a:cs typeface="Inter"/>
              </a:rPr>
              <a:t>Sage Media · Jaipur · Mumbai · Dubai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6172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spc="120">
                <a:solidFill>
                  <a:srgbClr val="2E313B"/>
                </a:solidFill>
                <a:latin typeface="Inter"/>
                <a:cs typeface="Inter"/>
              </a:rPr>
              <a:t>SAMPLE — DESIGN DIRECTION ONLY · PLACEHOLDER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