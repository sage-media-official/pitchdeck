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01</a:t>
            </a:r>
            <a:endParaRPr lang="en-US" sz="750" dirty="0"/>
          </a:p>
        </p:txBody>
      </p:sp>
      <p:pic>
        <p:nvPicPr>
          <p:cNvPr id="4" name="Image 0" descr="/tmp/claude-0/-home-user-Sage-portfolio/d05fecce-977e-5eab-9cf5-7c09b306c551/scratchpad/wrdeck/gen/day2/ivory.jpg">    </p:cNvPr>
          <p:cNvPicPr>
            <a:picLocks noChangeAspect="1"/>
          </p:cNvPicPr>
          <p:nvPr/>
        </p:nvPicPr>
        <p:blipFill>
          <a:blip r:embed="rId1"/>
          <a:srcRect l="0" r="0" t="0" b="0"/>
          <a:stretch/>
        </p:blipFill>
        <p:spPr>
          <a:xfrm>
            <a:off x="6400800" y="0"/>
            <a:ext cx="2880360" cy="3410712"/>
          </a:xfrm>
          <a:prstGeom prst="rect">
            <a:avLst/>
          </a:prstGeom>
        </p:spPr>
      </p:pic>
      <p:pic>
        <p:nvPicPr>
          <p:cNvPr id="5" name="Image 1" descr="/tmp/claude-0/-home-user-Sage-portfolio/d05fecce-977e-5eab-9cf5-7c09b306c551/scratchpad/wrdeck/gen/day2/mint.jpg">    </p:cNvPr>
          <p:cNvPicPr>
            <a:picLocks noChangeAspect="1"/>
          </p:cNvPicPr>
          <p:nvPr/>
        </p:nvPicPr>
        <p:blipFill>
          <a:blip r:embed="rId2"/>
          <a:srcRect l="0" r="0" t="0" b="0"/>
          <a:stretch/>
        </p:blipFill>
        <p:spPr>
          <a:xfrm>
            <a:off x="9308592" y="0"/>
            <a:ext cx="2880360" cy="3410712"/>
          </a:xfrm>
          <a:prstGeom prst="rect">
            <a:avLst/>
          </a:prstGeom>
        </p:spPr>
      </p:pic>
      <p:pic>
        <p:nvPicPr>
          <p:cNvPr id="6" name="Image 2" descr="/tmp/claude-0/-home-user-Sage-portfolio/d05fecce-977e-5eab-9cf5-7c09b306c551/scratchpad/wrdeck/gen/day2/cerulean.jpg">    </p:cNvPr>
          <p:cNvPicPr>
            <a:picLocks noChangeAspect="1"/>
          </p:cNvPicPr>
          <p:nvPr/>
        </p:nvPicPr>
        <p:blipFill>
          <a:blip r:embed="rId3"/>
          <a:srcRect l="0" r="0" t="0" b="0"/>
          <a:stretch/>
        </p:blipFill>
        <p:spPr>
          <a:xfrm>
            <a:off x="6400800" y="3447288"/>
            <a:ext cx="1901952" cy="3410712"/>
          </a:xfrm>
          <a:prstGeom prst="rect">
            <a:avLst/>
          </a:prstGeom>
        </p:spPr>
      </p:pic>
      <p:pic>
        <p:nvPicPr>
          <p:cNvPr id="7" name="Image 3" descr="/tmp/claude-0/-home-user-Sage-portfolio/d05fecce-977e-5eab-9cf5-7c09b306c551/scratchpad/wrdeck/gen/day2/tangerine.jpg">    </p:cNvPr>
          <p:cNvPicPr>
            <a:picLocks noChangeAspect="1"/>
          </p:cNvPicPr>
          <p:nvPr/>
        </p:nvPicPr>
        <p:blipFill>
          <a:blip r:embed="rId4"/>
          <a:srcRect l="0" r="0" t="0" b="0"/>
          <a:stretch/>
        </p:blipFill>
        <p:spPr>
          <a:xfrm>
            <a:off x="8339328" y="3447288"/>
            <a:ext cx="1901952" cy="3410712"/>
          </a:xfrm>
          <a:prstGeom prst="rect">
            <a:avLst/>
          </a:prstGeom>
        </p:spPr>
      </p:pic>
      <p:pic>
        <p:nvPicPr>
          <p:cNvPr id="8" name="Image 4" descr="/tmp/claude-0/-home-user-Sage-portfolio/d05fecce-977e-5eab-9cf5-7c09b306c551/scratchpad/wrdeck/gen/day2/crimson.jpg">    </p:cNvPr>
          <p:cNvPicPr>
            <a:picLocks noChangeAspect="1"/>
          </p:cNvPicPr>
          <p:nvPr/>
        </p:nvPicPr>
        <p:blipFill>
          <a:blip r:embed="rId5"/>
          <a:srcRect l="0" r="0" t="0" b="0"/>
          <a:stretch/>
        </p:blipFill>
        <p:spPr>
          <a:xfrm>
            <a:off x="10277856" y="3447288"/>
            <a:ext cx="1911096" cy="3410712"/>
          </a:xfrm>
          <a:prstGeom prst="rect">
            <a:avLst/>
          </a:prstGeom>
        </p:spPr>
      </p:pic>
      <p:sp>
        <p:nvSpPr>
          <p:cNvPr id="9" name="Text 2"/>
          <p:cNvSpPr txBox="1"/>
          <p:nvPr/>
        </p:nvSpPr>
        <p:spPr>
          <a:xfrm>
            <a:off x="548640" y="64008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WEALTH ROOTS  ·  DAY 2</a:t>
            </a:r>
            <a:endParaRPr lang="en-US" sz="900" dirty="0"/>
          </a:p>
        </p:txBody>
      </p:sp>
      <p:sp>
        <p:nvSpPr>
          <p:cNvPr id="10" name="Text 3"/>
          <p:cNvSpPr txBox="1"/>
          <p:nvPr/>
        </p:nvSpPr>
        <p:spPr>
          <a:xfrm>
            <a:off x="548640" y="1005840"/>
            <a:ext cx="5669280" cy="3200400"/>
          </a:xfrm>
          <a:prstGeom prst="rect">
            <a:avLst/>
          </a:prstGeom>
          <a:noFill/>
          <a:ln/>
        </p:spPr>
        <p:txBody>
          <a:bodyPr wrap="square" lIns="0" tIns="0" rIns="0" bIns="0" rtlCol="0" anchor="t"/>
          <a:lstStyle/>
          <a:p>
            <a:pPr indent="0" marL="0">
              <a:lnSpc>
                <a:spcPct val="90000"/>
              </a:lnSpc>
              <a:buNone/>
            </a:pPr>
            <a:r>
              <a:rPr lang="en-US" sz="5200" b="1" dirty="0">
                <a:solidFill>
                  <a:srgbClr val="F2EDE4"/>
                </a:solidFill>
                <a:latin typeface="Oswald" pitchFamily="34" charset="0"/>
                <a:ea typeface="Oswald" pitchFamily="34" charset="-122"/>
                <a:cs typeface="Oswald" pitchFamily="34" charset="-120"/>
              </a:rPr>
              <a:t>THE WATCH.</a:t>
            </a:r>
            <a:endParaRPr lang="en-US" sz="5200" dirty="0"/>
          </a:p>
          <a:p>
            <a:pPr indent="0" marL="0">
              <a:lnSpc>
                <a:spcPct val="90000"/>
              </a:lnSpc>
              <a:buNone/>
            </a:pPr>
            <a:r>
              <a:rPr lang="en-US" sz="5200" b="1" dirty="0">
                <a:solidFill>
                  <a:srgbClr val="F2EDE4"/>
                </a:solidFill>
                <a:latin typeface="Oswald" pitchFamily="34" charset="0"/>
                <a:ea typeface="Oswald" pitchFamily="34" charset="-122"/>
                <a:cs typeface="Oswald" pitchFamily="34" charset="-120"/>
              </a:rPr>
              <a:t>AND THE</a:t>
            </a:r>
            <a:endParaRPr lang="en-US" sz="5200" dirty="0"/>
          </a:p>
          <a:p>
            <a:pPr indent="0" marL="0">
              <a:lnSpc>
                <a:spcPct val="90000"/>
              </a:lnSpc>
              <a:buNone/>
            </a:pPr>
            <a:r>
              <a:rPr lang="en-US" sz="5200" b="1" dirty="0">
                <a:solidFill>
                  <a:srgbClr val="F2EDE4"/>
                </a:solidFill>
                <a:latin typeface="Oswald" pitchFamily="34" charset="0"/>
                <a:ea typeface="Oswald" pitchFamily="34" charset="-122"/>
                <a:cs typeface="Oswald" pitchFamily="34" charset="-120"/>
              </a:rPr>
              <a:t>WOMAN</a:t>
            </a:r>
            <a:endParaRPr lang="en-US" sz="5200" dirty="0"/>
          </a:p>
          <a:p>
            <a:pPr indent="0" marL="0">
              <a:lnSpc>
                <a:spcPct val="90000"/>
              </a:lnSpc>
              <a:buNone/>
            </a:pPr>
            <a:r>
              <a:rPr lang="en-US" sz="5200" b="1" dirty="0">
                <a:solidFill>
                  <a:srgbClr val="F2EDE4"/>
                </a:solidFill>
                <a:latin typeface="Oswald" pitchFamily="34" charset="0"/>
                <a:ea typeface="Oswald" pitchFamily="34" charset="-122"/>
                <a:cs typeface="Oswald" pitchFamily="34" charset="-120"/>
              </a:rPr>
              <a:t>BEHIND IT.</a:t>
            </a:r>
            <a:endParaRPr lang="en-US" sz="5200" dirty="0"/>
          </a:p>
        </p:txBody>
      </p:sp>
      <p:sp>
        <p:nvSpPr>
          <p:cNvPr id="11" name="Text 4"/>
          <p:cNvSpPr txBox="1"/>
          <p:nvPr/>
        </p:nvSpPr>
        <p:spPr>
          <a:xfrm>
            <a:off x="548640" y="4572000"/>
            <a:ext cx="5486400" cy="731520"/>
          </a:xfrm>
          <a:prstGeom prst="rect">
            <a:avLst/>
          </a:prstGeom>
          <a:noFill/>
          <a:ln/>
        </p:spPr>
        <p:txBody>
          <a:bodyPr wrap="square" lIns="0" tIns="0" rIns="0" bIns="0" rtlCol="0" anchor="t"/>
          <a:lstStyle/>
          <a:p>
            <a:pPr indent="0" marL="0">
              <a:buNone/>
            </a:pPr>
            <a:r>
              <a:rPr lang="en-US" sz="1300" dirty="0">
                <a:solidFill>
                  <a:srgbClr val="F2EDE4"/>
                </a:solidFill>
                <a:latin typeface="Inter" pitchFamily="34" charset="0"/>
                <a:ea typeface="Inter" pitchFamily="34" charset="-122"/>
                <a:cs typeface="Inter" pitchFamily="34" charset="-120"/>
              </a:rPr>
              <a:t>Morning: a half-day product shoot, five watches, six sets.</a:t>
            </a:r>
            <a:endParaRPr lang="en-US" sz="1300" dirty="0"/>
          </a:p>
          <a:p>
            <a:pPr indent="0" marL="0">
              <a:buNone/>
            </a:pPr>
            <a:r>
              <a:rPr lang="en-US" sz="1300" dirty="0">
                <a:solidFill>
                  <a:srgbClr val="F2EDE4"/>
                </a:solidFill>
                <a:latin typeface="Inter" pitchFamily="34" charset="0"/>
                <a:ea typeface="Inter" pitchFamily="34" charset="-122"/>
                <a:cs typeface="Inter" pitchFamily="34" charset="-120"/>
              </a:rPr>
              <a:t>Afternoon: Neetu's founder film and five "in her words" reels.</a:t>
            </a:r>
            <a:endParaRPr lang="en-US" sz="1300" dirty="0"/>
          </a:p>
        </p:txBody>
      </p:sp>
      <p:sp>
        <p:nvSpPr>
          <p:cNvPr id="12" name="Shape 5"/>
          <p:cNvSpPr/>
          <p:nvPr/>
        </p:nvSpPr>
        <p:spPr>
          <a:xfrm>
            <a:off x="548640" y="5440680"/>
            <a:ext cx="548640" cy="36576"/>
          </a:xfrm>
          <a:prstGeom prst="rect">
            <a:avLst/>
          </a:prstGeom>
          <a:solidFill>
            <a:srgbClr val="C9A45C"/>
          </a:solidFill>
          <a:ln w="12700">
            <a:solidFill>
              <a:srgbClr val="C9A45C"/>
            </a:solidFill>
            <a:prstDash val="solid"/>
          </a:ln>
        </p:spPr>
      </p:sp>
      <p:sp>
        <p:nvSpPr>
          <p:cNvPr id="13" name="Text 6"/>
          <p:cNvSpPr txBox="1"/>
          <p:nvPr/>
        </p:nvSpPr>
        <p:spPr>
          <a:xfrm>
            <a:off x="548640" y="5577840"/>
            <a:ext cx="5486400" cy="54864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Product mood board · founder scripts · schedule · kit</a:t>
            </a:r>
            <a:endParaRPr lang="en-US" sz="1000" dirty="0"/>
          </a:p>
          <a:p>
            <a:pPr indent="0" marL="0">
              <a:buNone/>
            </a:pPr>
            <a:r>
              <a:rPr lang="en-US" sz="1000" dirty="0">
                <a:solidFill>
                  <a:srgbClr val="9C978E"/>
                </a:solidFill>
                <a:latin typeface="Inter" pitchFamily="34" charset="0"/>
                <a:ea typeface="Inter" pitchFamily="34" charset="-122"/>
                <a:cs typeface="Inter" pitchFamily="34" charset="-120"/>
              </a:rPr>
              <a:t>Prepared by Sage Media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SCHEDULE</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02</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DAY 2  ·  ONE DAY, TWO HALVES</a:t>
            </a:r>
            <a:endParaRPr lang="en-US" sz="900" dirty="0"/>
          </a:p>
        </p:txBody>
      </p:sp>
      <p:sp>
        <p:nvSpPr>
          <p:cNvPr id="5" name="Text 3"/>
          <p:cNvSpPr txBox="1"/>
          <p:nvPr/>
        </p:nvSpPr>
        <p:spPr>
          <a:xfrm>
            <a:off x="548640" y="777240"/>
            <a:ext cx="10972800" cy="498764"/>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PRODUCT BY LUNCH. FOUNDER BY SUNSET.</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143000"/>
                <a:gridCol w="1737360"/>
                <a:gridCol w="6172200"/>
                <a:gridCol w="2011680"/>
              </a:tblGrid>
              <a:tr h="38404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TIME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SET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WHAT WE CAPTURE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FOR</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07:30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Call</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Crew call · five sets pre-lit the night before · watches checked out, cleaned, film peeled</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08:00–09:00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1 · Colour heroes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Each watch upright on an acrylic stand on its own colour seamless · front / 3/4 / crown side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Launch, ads, website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09:00–10:45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2 · Material worlds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One world per watch (next five pages) · 3 hero frames each</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Hero posts, ads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10:45–11:30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3 · Macro</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Focus-stacked details: 8 screws · WR monogram · waffle dial · crown · caseback crest · strap · clasp</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Detail carousels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11:30–12:00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4 · Glow</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UV-charged lume in total black · one frame per watch + 10 s glow-up video</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Glow posts, reels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12:00–12:45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5 · Motion</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360° turntable loop · Cerulean water splash · light sweep across dials · strap flex</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Reels, website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12:45–13:15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6 · Packaging</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Box, magnetic lid opening (record the sound), 001/500 card, unboxing hands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Unboxing reel</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13:15–14:15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Lunch</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Founder set dressed (studio/office) · Neetu hair &amp; make-up</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14:15–15:30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Founder · film</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Brand film to camera, two cameras (A 50 mm, B 85 mm side)</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Founder film</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15:30–16:45</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Founder · reels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Five segments, the watch in her hands, one per watch</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5 reels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384048">
                <a:tc>
                  <a:txBody>
                    <a:bodyPr/>
                    <a:lstStyle/>
                    <a:p>
                      <a:pPr indent="0" marL="0">
                        <a:buNone/>
                      </a:pPr>
                      <a:r>
                        <a:rPr lang="en-US" sz="900" dirty="0">
                          <a:solidFill>
                            <a:srgbClr val="C9A45C"/>
                          </a:solidFill>
                          <a:latin typeface="Inter" pitchFamily="34" charset="0"/>
                          <a:ea typeface="Inter" pitchFamily="34" charset="-122"/>
                          <a:cs typeface="Inter" pitchFamily="34" charset="-120"/>
                        </a:rPr>
                        <a:t>16:45–17:30</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Founder · B-roll</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Sketching, loupe on a dial, strap check, team at the table, numbering cards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00" dirty="0">
                          <a:solidFill>
                            <a:srgbClr val="F2EDE4"/>
                          </a:solidFill>
                          <a:latin typeface="Inter" pitchFamily="34" charset="0"/>
                          <a:ea typeface="Inter" pitchFamily="34" charset="-122"/>
                          <a:cs typeface="Inter" pitchFamily="34" charset="-120"/>
                        </a:rPr>
                        <a:t>All founder edits</a:t>
                      </a:r>
                      <a:endParaRPr lang="en-US" sz="9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MOOD BOARD</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03</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PRODUCT LOOK  ·  RULES FOR EVERY FRAME</a:t>
            </a:r>
            <a:endParaRPr lang="en-US" sz="900" dirty="0"/>
          </a:p>
        </p:txBody>
      </p:sp>
      <p:sp>
        <p:nvSpPr>
          <p:cNvPr id="5" name="Text 3"/>
          <p:cNvSpPr txBox="1"/>
          <p:nvPr/>
        </p:nvSpPr>
        <p:spPr>
          <a:xfrm>
            <a:off x="548640" y="777240"/>
            <a:ext cx="10972800" cy="498764"/>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QUIET LUXURY. LOUD COLOUR.</a:t>
            </a:r>
            <a:endParaRPr lang="en-US" sz="3000" dirty="0"/>
          </a:p>
        </p:txBody>
      </p:sp>
      <p:sp>
        <p:nvSpPr>
          <p:cNvPr id="6" name="Shape 4"/>
          <p:cNvSpPr/>
          <p:nvPr/>
        </p:nvSpPr>
        <p:spPr>
          <a:xfrm>
            <a:off x="548640" y="1600200"/>
            <a:ext cx="3566160" cy="1280160"/>
          </a:xfrm>
          <a:prstGeom prst="rect">
            <a:avLst/>
          </a:prstGeom>
          <a:solidFill>
            <a:srgbClr val="151513"/>
          </a:solidFill>
          <a:ln w="12700">
            <a:solidFill>
              <a:srgbClr val="151513"/>
            </a:solidFill>
            <a:prstDash val="solid"/>
          </a:ln>
        </p:spPr>
      </p:sp>
      <p:sp>
        <p:nvSpPr>
          <p:cNvPr id="7" name="Shape 5"/>
          <p:cNvSpPr/>
          <p:nvPr/>
        </p:nvSpPr>
        <p:spPr>
          <a:xfrm>
            <a:off x="548640" y="1600200"/>
            <a:ext cx="54864" cy="1280160"/>
          </a:xfrm>
          <a:prstGeom prst="rect">
            <a:avLst/>
          </a:prstGeom>
          <a:solidFill>
            <a:srgbClr val="C9A45C"/>
          </a:solidFill>
          <a:ln w="12700">
            <a:solidFill>
              <a:srgbClr val="C9A45C"/>
            </a:solidFill>
            <a:prstDash val="solid"/>
          </a:ln>
        </p:spPr>
      </p:sp>
      <p:sp>
        <p:nvSpPr>
          <p:cNvPr id="8" name="Text 6"/>
          <p:cNvSpPr txBox="1"/>
          <p:nvPr/>
        </p:nvSpPr>
        <p:spPr>
          <a:xfrm>
            <a:off x="777240" y="1764792"/>
            <a:ext cx="32004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THE WATCH STANDS</a:t>
            </a:r>
            <a:endParaRPr lang="en-US" sz="1400" dirty="0"/>
          </a:p>
        </p:txBody>
      </p:sp>
      <p:sp>
        <p:nvSpPr>
          <p:cNvPr id="9" name="Text 7"/>
          <p:cNvSpPr txBox="1"/>
          <p:nvPr/>
        </p:nvSpPr>
        <p:spPr>
          <a:xfrm>
            <a:off x="777240" y="2103120"/>
            <a:ext cx="3200400" cy="7315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Always upright on a stand, plinth or acrylic block, never lying flat. Same rule as the campaign.</a:t>
            </a:r>
            <a:endParaRPr lang="en-US" sz="1000" dirty="0"/>
          </a:p>
        </p:txBody>
      </p:sp>
      <p:sp>
        <p:nvSpPr>
          <p:cNvPr id="10" name="Shape 8"/>
          <p:cNvSpPr/>
          <p:nvPr/>
        </p:nvSpPr>
        <p:spPr>
          <a:xfrm>
            <a:off x="4297680" y="1600200"/>
            <a:ext cx="3566160" cy="1280160"/>
          </a:xfrm>
          <a:prstGeom prst="rect">
            <a:avLst/>
          </a:prstGeom>
          <a:solidFill>
            <a:srgbClr val="151513"/>
          </a:solidFill>
          <a:ln w="12700">
            <a:solidFill>
              <a:srgbClr val="151513"/>
            </a:solidFill>
            <a:prstDash val="solid"/>
          </a:ln>
        </p:spPr>
      </p:sp>
      <p:sp>
        <p:nvSpPr>
          <p:cNvPr id="11" name="Shape 9"/>
          <p:cNvSpPr/>
          <p:nvPr/>
        </p:nvSpPr>
        <p:spPr>
          <a:xfrm>
            <a:off x="4297680" y="1600200"/>
            <a:ext cx="54864" cy="1280160"/>
          </a:xfrm>
          <a:prstGeom prst="rect">
            <a:avLst/>
          </a:prstGeom>
          <a:solidFill>
            <a:srgbClr val="C9A45C"/>
          </a:solidFill>
          <a:ln w="12700">
            <a:solidFill>
              <a:srgbClr val="C9A45C"/>
            </a:solidFill>
            <a:prstDash val="solid"/>
          </a:ln>
        </p:spPr>
      </p:sp>
      <p:sp>
        <p:nvSpPr>
          <p:cNvPr id="12" name="Text 10"/>
          <p:cNvSpPr txBox="1"/>
          <p:nvPr/>
        </p:nvSpPr>
        <p:spPr>
          <a:xfrm>
            <a:off x="4526280" y="1764792"/>
            <a:ext cx="32004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ONE COLOUR WORLD EACH</a:t>
            </a:r>
            <a:endParaRPr lang="en-US" sz="1400" dirty="0"/>
          </a:p>
        </p:txBody>
      </p:sp>
      <p:sp>
        <p:nvSpPr>
          <p:cNvPr id="13" name="Text 11"/>
          <p:cNvSpPr txBox="1"/>
          <p:nvPr/>
        </p:nvSpPr>
        <p:spPr>
          <a:xfrm>
            <a:off x="4526280" y="2103120"/>
            <a:ext cx="3200400" cy="7315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Each watch only sits in its own palette and materials. No mixing on one set.</a:t>
            </a:r>
            <a:endParaRPr lang="en-US" sz="1000" dirty="0"/>
          </a:p>
        </p:txBody>
      </p:sp>
      <p:sp>
        <p:nvSpPr>
          <p:cNvPr id="14" name="Shape 12"/>
          <p:cNvSpPr/>
          <p:nvPr/>
        </p:nvSpPr>
        <p:spPr>
          <a:xfrm>
            <a:off x="8046720" y="1600200"/>
            <a:ext cx="3566160" cy="1280160"/>
          </a:xfrm>
          <a:prstGeom prst="rect">
            <a:avLst/>
          </a:prstGeom>
          <a:solidFill>
            <a:srgbClr val="151513"/>
          </a:solidFill>
          <a:ln w="12700">
            <a:solidFill>
              <a:srgbClr val="151513"/>
            </a:solidFill>
            <a:prstDash val="solid"/>
          </a:ln>
        </p:spPr>
      </p:sp>
      <p:sp>
        <p:nvSpPr>
          <p:cNvPr id="15" name="Shape 13"/>
          <p:cNvSpPr/>
          <p:nvPr/>
        </p:nvSpPr>
        <p:spPr>
          <a:xfrm>
            <a:off x="8046720" y="1600200"/>
            <a:ext cx="54864" cy="1280160"/>
          </a:xfrm>
          <a:prstGeom prst="rect">
            <a:avLst/>
          </a:prstGeom>
          <a:solidFill>
            <a:srgbClr val="C9A45C"/>
          </a:solidFill>
          <a:ln w="12700">
            <a:solidFill>
              <a:srgbClr val="C9A45C"/>
            </a:solidFill>
            <a:prstDash val="solid"/>
          </a:ln>
        </p:spPr>
      </p:sp>
      <p:sp>
        <p:nvSpPr>
          <p:cNvPr id="16" name="Text 14"/>
          <p:cNvSpPr txBox="1"/>
          <p:nvPr/>
        </p:nvSpPr>
        <p:spPr>
          <a:xfrm>
            <a:off x="8275320" y="1764792"/>
            <a:ext cx="32004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REAL MATERIALS</a:t>
            </a:r>
            <a:endParaRPr lang="en-US" sz="1400" dirty="0"/>
          </a:p>
        </p:txBody>
      </p:sp>
      <p:sp>
        <p:nvSpPr>
          <p:cNvPr id="17" name="Text 15"/>
          <p:cNvSpPr txBox="1"/>
          <p:nvPr/>
        </p:nvSpPr>
        <p:spPr>
          <a:xfrm>
            <a:off x="8275320" y="2103120"/>
            <a:ext cx="3200400" cy="7315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Stone, rubber, water, steel, leather, silk, all physical and in camera. No CGI backdrops.</a:t>
            </a:r>
            <a:endParaRPr lang="en-US" sz="1000" dirty="0"/>
          </a:p>
        </p:txBody>
      </p:sp>
      <p:sp>
        <p:nvSpPr>
          <p:cNvPr id="18" name="Shape 16"/>
          <p:cNvSpPr/>
          <p:nvPr/>
        </p:nvSpPr>
        <p:spPr>
          <a:xfrm>
            <a:off x="548640" y="3017520"/>
            <a:ext cx="3566160" cy="1280160"/>
          </a:xfrm>
          <a:prstGeom prst="rect">
            <a:avLst/>
          </a:prstGeom>
          <a:solidFill>
            <a:srgbClr val="151513"/>
          </a:solidFill>
          <a:ln w="12700">
            <a:solidFill>
              <a:srgbClr val="151513"/>
            </a:solidFill>
            <a:prstDash val="solid"/>
          </a:ln>
        </p:spPr>
      </p:sp>
      <p:sp>
        <p:nvSpPr>
          <p:cNvPr id="19" name="Shape 17"/>
          <p:cNvSpPr/>
          <p:nvPr/>
        </p:nvSpPr>
        <p:spPr>
          <a:xfrm>
            <a:off x="548640" y="3017520"/>
            <a:ext cx="54864" cy="1280160"/>
          </a:xfrm>
          <a:prstGeom prst="rect">
            <a:avLst/>
          </a:prstGeom>
          <a:solidFill>
            <a:srgbClr val="C9A45C"/>
          </a:solidFill>
          <a:ln w="12700">
            <a:solidFill>
              <a:srgbClr val="C9A45C"/>
            </a:solidFill>
            <a:prstDash val="solid"/>
          </a:ln>
        </p:spPr>
      </p:sp>
      <p:sp>
        <p:nvSpPr>
          <p:cNvPr id="20" name="Text 18"/>
          <p:cNvSpPr txBox="1"/>
          <p:nvPr/>
        </p:nvSpPr>
        <p:spPr>
          <a:xfrm>
            <a:off x="777240" y="3182112"/>
            <a:ext cx="32004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HARD KEY, DEEP SHADOW</a:t>
            </a:r>
            <a:endParaRPr lang="en-US" sz="1400" dirty="0"/>
          </a:p>
        </p:txBody>
      </p:sp>
      <p:sp>
        <p:nvSpPr>
          <p:cNvPr id="21" name="Text 19"/>
          <p:cNvSpPr txBox="1"/>
          <p:nvPr/>
        </p:nvSpPr>
        <p:spPr>
          <a:xfrm>
            <a:off x="777240" y="3520440"/>
            <a:ext cx="3200400" cy="7315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One hard light shapes the case; shadows stay rich. The dial is always readable.</a:t>
            </a:r>
            <a:endParaRPr lang="en-US" sz="1000" dirty="0"/>
          </a:p>
        </p:txBody>
      </p:sp>
      <p:sp>
        <p:nvSpPr>
          <p:cNvPr id="22" name="Shape 20"/>
          <p:cNvSpPr/>
          <p:nvPr/>
        </p:nvSpPr>
        <p:spPr>
          <a:xfrm>
            <a:off x="4297680" y="3017520"/>
            <a:ext cx="3566160" cy="1280160"/>
          </a:xfrm>
          <a:prstGeom prst="rect">
            <a:avLst/>
          </a:prstGeom>
          <a:solidFill>
            <a:srgbClr val="151513"/>
          </a:solidFill>
          <a:ln w="12700">
            <a:solidFill>
              <a:srgbClr val="151513"/>
            </a:solidFill>
            <a:prstDash val="solid"/>
          </a:ln>
        </p:spPr>
      </p:sp>
      <p:sp>
        <p:nvSpPr>
          <p:cNvPr id="23" name="Shape 21"/>
          <p:cNvSpPr/>
          <p:nvPr/>
        </p:nvSpPr>
        <p:spPr>
          <a:xfrm>
            <a:off x="4297680" y="3017520"/>
            <a:ext cx="54864" cy="1280160"/>
          </a:xfrm>
          <a:prstGeom prst="rect">
            <a:avLst/>
          </a:prstGeom>
          <a:solidFill>
            <a:srgbClr val="C9A45C"/>
          </a:solidFill>
          <a:ln w="12700">
            <a:solidFill>
              <a:srgbClr val="C9A45C"/>
            </a:solidFill>
            <a:prstDash val="solid"/>
          </a:ln>
        </p:spPr>
      </p:sp>
      <p:sp>
        <p:nvSpPr>
          <p:cNvPr id="24" name="Text 22"/>
          <p:cNvSpPr txBox="1"/>
          <p:nvPr/>
        </p:nvSpPr>
        <p:spPr>
          <a:xfrm>
            <a:off x="4526280" y="3182112"/>
            <a:ext cx="32004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DETAIL IS THE HERO</a:t>
            </a:r>
            <a:endParaRPr lang="en-US" sz="1400" dirty="0"/>
          </a:p>
        </p:txBody>
      </p:sp>
      <p:sp>
        <p:nvSpPr>
          <p:cNvPr id="25" name="Text 23"/>
          <p:cNvSpPr txBox="1"/>
          <p:nvPr/>
        </p:nvSpPr>
        <p:spPr>
          <a:xfrm>
            <a:off x="4526280" y="3520440"/>
            <a:ext cx="3200400" cy="7315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Every set ends on a macro: the screws, the waffle, the monogram. That's where six years show.</a:t>
            </a:r>
            <a:endParaRPr lang="en-US" sz="1000" dirty="0"/>
          </a:p>
        </p:txBody>
      </p:sp>
      <p:sp>
        <p:nvSpPr>
          <p:cNvPr id="26" name="Shape 24"/>
          <p:cNvSpPr/>
          <p:nvPr/>
        </p:nvSpPr>
        <p:spPr>
          <a:xfrm>
            <a:off x="8046720" y="3017520"/>
            <a:ext cx="3566160" cy="1280160"/>
          </a:xfrm>
          <a:prstGeom prst="rect">
            <a:avLst/>
          </a:prstGeom>
          <a:solidFill>
            <a:srgbClr val="151513"/>
          </a:solidFill>
          <a:ln w="12700">
            <a:solidFill>
              <a:srgbClr val="151513"/>
            </a:solidFill>
            <a:prstDash val="solid"/>
          </a:ln>
        </p:spPr>
      </p:sp>
      <p:sp>
        <p:nvSpPr>
          <p:cNvPr id="27" name="Shape 25"/>
          <p:cNvSpPr/>
          <p:nvPr/>
        </p:nvSpPr>
        <p:spPr>
          <a:xfrm>
            <a:off x="8046720" y="3017520"/>
            <a:ext cx="54864" cy="1280160"/>
          </a:xfrm>
          <a:prstGeom prst="rect">
            <a:avLst/>
          </a:prstGeom>
          <a:solidFill>
            <a:srgbClr val="C9A45C"/>
          </a:solidFill>
          <a:ln w="12700">
            <a:solidFill>
              <a:srgbClr val="C9A45C"/>
            </a:solidFill>
            <a:prstDash val="solid"/>
          </a:ln>
        </p:spPr>
      </p:sp>
      <p:sp>
        <p:nvSpPr>
          <p:cNvPr id="28" name="Text 26"/>
          <p:cNvSpPr txBox="1"/>
          <p:nvPr/>
        </p:nvSpPr>
        <p:spPr>
          <a:xfrm>
            <a:off x="8275320" y="3182112"/>
            <a:ext cx="3200400" cy="274320"/>
          </a:xfrm>
          <a:prstGeom prst="rect">
            <a:avLst/>
          </a:prstGeom>
          <a:noFill/>
          <a:ln/>
        </p:spPr>
        <p:txBody>
          <a:bodyPr wrap="square" lIns="0" tIns="0" rIns="0" bIns="0" rtlCol="0" anchor="t"/>
          <a:lstStyle/>
          <a:p>
            <a:pPr indent="0" marL="0">
              <a:buNone/>
            </a:pPr>
            <a:r>
              <a:rPr lang="en-US" sz="1400" b="1" dirty="0">
                <a:solidFill>
                  <a:srgbClr val="F2EDE4"/>
                </a:solidFill>
                <a:latin typeface="Oswald" pitchFamily="34" charset="0"/>
                <a:ea typeface="Oswald" pitchFamily="34" charset="-122"/>
                <a:cs typeface="Oswald" pitchFamily="34" charset="-120"/>
              </a:rPr>
              <a:t>TIME ON EVERY DIAL</a:t>
            </a:r>
            <a:endParaRPr lang="en-US" sz="1400" dirty="0"/>
          </a:p>
        </p:txBody>
      </p:sp>
      <p:sp>
        <p:nvSpPr>
          <p:cNvPr id="29" name="Text 27"/>
          <p:cNvSpPr txBox="1"/>
          <p:nvPr/>
        </p:nvSpPr>
        <p:spPr>
          <a:xfrm>
            <a:off x="8275320" y="3520440"/>
            <a:ext cx="3200400" cy="7315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Set all five to 10:08:37 for stills (classic), and 12:00 for the founder film.</a:t>
            </a:r>
            <a:endParaRPr lang="en-US" sz="1000" dirty="0"/>
          </a:p>
        </p:txBody>
      </p:sp>
      <p:sp>
        <p:nvSpPr>
          <p:cNvPr id="30" name="Text 28"/>
          <p:cNvSpPr txBox="1"/>
          <p:nvPr/>
        </p:nvSpPr>
        <p:spPr>
          <a:xfrm>
            <a:off x="548640" y="4572000"/>
            <a:ext cx="2743200" cy="201168"/>
          </a:xfrm>
          <a:prstGeom prst="rect">
            <a:avLst/>
          </a:prstGeom>
          <a:noFill/>
          <a:ln/>
        </p:spPr>
        <p:txBody>
          <a:bodyPr wrap="square" lIns="0" tIns="0" rIns="0" bIns="0" rtlCol="0" anchor="t"/>
          <a:lstStyle/>
          <a:p>
            <a:pPr indent="0" marL="0">
              <a:buNone/>
            </a:pPr>
            <a:r>
              <a:rPr lang="en-US" sz="750" b="1" spc="300" kern="0" dirty="0">
                <a:solidFill>
                  <a:srgbClr val="9C978E"/>
                </a:solidFill>
                <a:latin typeface="Inter" pitchFamily="34" charset="0"/>
                <a:ea typeface="Inter" pitchFamily="34" charset="-122"/>
                <a:cs typeface="Inter" pitchFamily="34" charset="-120"/>
              </a:rPr>
              <a:t>PALETTES</a:t>
            </a:r>
            <a:endParaRPr lang="en-US" sz="750" dirty="0"/>
          </a:p>
        </p:txBody>
      </p:sp>
      <p:sp>
        <p:nvSpPr>
          <p:cNvPr id="31" name="Shape 29"/>
          <p:cNvSpPr/>
          <p:nvPr/>
        </p:nvSpPr>
        <p:spPr>
          <a:xfrm>
            <a:off x="548640" y="4846320"/>
            <a:ext cx="1005840" cy="685800"/>
          </a:xfrm>
          <a:prstGeom prst="rect">
            <a:avLst/>
          </a:prstGeom>
          <a:solidFill>
            <a:srgbClr val="E8DFC8"/>
          </a:solidFill>
          <a:ln w="12700">
            <a:solidFill>
              <a:srgbClr val="E8DFC8"/>
            </a:solidFill>
            <a:prstDash val="solid"/>
          </a:ln>
        </p:spPr>
      </p:sp>
      <p:sp>
        <p:nvSpPr>
          <p:cNvPr id="32" name="Shape 30"/>
          <p:cNvSpPr/>
          <p:nvPr/>
        </p:nvSpPr>
        <p:spPr>
          <a:xfrm>
            <a:off x="1554480" y="4846320"/>
            <a:ext cx="1005840" cy="685800"/>
          </a:xfrm>
          <a:prstGeom prst="rect">
            <a:avLst/>
          </a:prstGeom>
          <a:solidFill>
            <a:srgbClr val="2F5D46"/>
          </a:solidFill>
          <a:ln w="12700">
            <a:solidFill>
              <a:srgbClr val="2F5D46"/>
            </a:solidFill>
            <a:prstDash val="solid"/>
          </a:ln>
        </p:spPr>
      </p:sp>
      <p:sp>
        <p:nvSpPr>
          <p:cNvPr id="33" name="Text 31"/>
          <p:cNvSpPr txBox="1"/>
          <p:nvPr/>
        </p:nvSpPr>
        <p:spPr>
          <a:xfrm>
            <a:off x="548640" y="5623560"/>
            <a:ext cx="2103120" cy="228600"/>
          </a:xfrm>
          <a:prstGeom prst="rect">
            <a:avLst/>
          </a:prstGeom>
          <a:noFill/>
          <a:ln/>
        </p:spPr>
        <p:txBody>
          <a:bodyPr wrap="square" lIns="0" tIns="0" rIns="0" bIns="0" rtlCol="0" anchor="t"/>
          <a:lstStyle/>
          <a:p>
            <a:pPr indent="0" marL="0">
              <a:buNone/>
            </a:pPr>
            <a:r>
              <a:rPr lang="en-US" sz="800" b="1" spc="200" kern="0" dirty="0">
                <a:solidFill>
                  <a:srgbClr val="F2EDE4"/>
                </a:solidFill>
                <a:latin typeface="Inter" pitchFamily="34" charset="0"/>
                <a:ea typeface="Inter" pitchFamily="34" charset="-122"/>
                <a:cs typeface="Inter" pitchFamily="34" charset="-120"/>
              </a:rPr>
              <a:t>FOREST IVORY</a:t>
            </a:r>
            <a:endParaRPr lang="en-US" sz="800" dirty="0"/>
          </a:p>
        </p:txBody>
      </p:sp>
      <p:sp>
        <p:nvSpPr>
          <p:cNvPr id="34" name="Text 32"/>
          <p:cNvSpPr txBox="1"/>
          <p:nvPr/>
        </p:nvSpPr>
        <p:spPr>
          <a:xfrm>
            <a:off x="548640" y="5852160"/>
            <a:ext cx="21031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#E8DFC8  ·  #2F5D46</a:t>
            </a:r>
            <a:endParaRPr lang="en-US" sz="750" dirty="0"/>
          </a:p>
        </p:txBody>
      </p:sp>
      <p:sp>
        <p:nvSpPr>
          <p:cNvPr id="35" name="Shape 33"/>
          <p:cNvSpPr/>
          <p:nvPr/>
        </p:nvSpPr>
        <p:spPr>
          <a:xfrm>
            <a:off x="2788920" y="4846320"/>
            <a:ext cx="1005840" cy="685800"/>
          </a:xfrm>
          <a:prstGeom prst="rect">
            <a:avLst/>
          </a:prstGeom>
          <a:solidFill>
            <a:srgbClr val="D7F25A"/>
          </a:solidFill>
          <a:ln w="12700">
            <a:solidFill>
              <a:srgbClr val="D7F25A"/>
            </a:solidFill>
            <a:prstDash val="solid"/>
          </a:ln>
        </p:spPr>
      </p:sp>
      <p:sp>
        <p:nvSpPr>
          <p:cNvPr id="36" name="Shape 34"/>
          <p:cNvSpPr/>
          <p:nvPr/>
        </p:nvSpPr>
        <p:spPr>
          <a:xfrm>
            <a:off x="3794760" y="4846320"/>
            <a:ext cx="1005840" cy="685800"/>
          </a:xfrm>
          <a:prstGeom prst="rect">
            <a:avLst/>
          </a:prstGeom>
          <a:solidFill>
            <a:srgbClr val="8FE3C3"/>
          </a:solidFill>
          <a:ln w="12700">
            <a:solidFill>
              <a:srgbClr val="8FE3C3"/>
            </a:solidFill>
            <a:prstDash val="solid"/>
          </a:ln>
        </p:spPr>
      </p:sp>
      <p:sp>
        <p:nvSpPr>
          <p:cNvPr id="37" name="Text 35"/>
          <p:cNvSpPr txBox="1"/>
          <p:nvPr/>
        </p:nvSpPr>
        <p:spPr>
          <a:xfrm>
            <a:off x="2788920" y="5623560"/>
            <a:ext cx="2103120" cy="228600"/>
          </a:xfrm>
          <a:prstGeom prst="rect">
            <a:avLst/>
          </a:prstGeom>
          <a:noFill/>
          <a:ln/>
        </p:spPr>
        <p:txBody>
          <a:bodyPr wrap="square" lIns="0" tIns="0" rIns="0" bIns="0" rtlCol="0" anchor="t"/>
          <a:lstStyle/>
          <a:p>
            <a:pPr indent="0" marL="0">
              <a:buNone/>
            </a:pPr>
            <a:r>
              <a:rPr lang="en-US" sz="800" b="1" spc="200" kern="0" dirty="0">
                <a:solidFill>
                  <a:srgbClr val="F2EDE4"/>
                </a:solidFill>
                <a:latin typeface="Inter" pitchFamily="34" charset="0"/>
                <a:ea typeface="Inter" pitchFamily="34" charset="-122"/>
                <a:cs typeface="Inter" pitchFamily="34" charset="-120"/>
              </a:rPr>
              <a:t>CITRUS MINT</a:t>
            </a:r>
            <a:endParaRPr lang="en-US" sz="800" dirty="0"/>
          </a:p>
        </p:txBody>
      </p:sp>
      <p:sp>
        <p:nvSpPr>
          <p:cNvPr id="38" name="Text 36"/>
          <p:cNvSpPr txBox="1"/>
          <p:nvPr/>
        </p:nvSpPr>
        <p:spPr>
          <a:xfrm>
            <a:off x="2788920" y="5852160"/>
            <a:ext cx="21031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#D7F25A  ·  #8FE3C3</a:t>
            </a:r>
            <a:endParaRPr lang="en-US" sz="750" dirty="0"/>
          </a:p>
        </p:txBody>
      </p:sp>
      <p:sp>
        <p:nvSpPr>
          <p:cNvPr id="39" name="Shape 37"/>
          <p:cNvSpPr/>
          <p:nvPr/>
        </p:nvSpPr>
        <p:spPr>
          <a:xfrm>
            <a:off x="5029200" y="4846320"/>
            <a:ext cx="1005840" cy="685800"/>
          </a:xfrm>
          <a:prstGeom prst="rect">
            <a:avLst/>
          </a:prstGeom>
          <a:solidFill>
            <a:srgbClr val="8EC9EE"/>
          </a:solidFill>
          <a:ln w="12700">
            <a:solidFill>
              <a:srgbClr val="8EC9EE"/>
            </a:solidFill>
            <a:prstDash val="solid"/>
          </a:ln>
        </p:spPr>
      </p:sp>
      <p:sp>
        <p:nvSpPr>
          <p:cNvPr id="40" name="Shape 38"/>
          <p:cNvSpPr/>
          <p:nvPr/>
        </p:nvSpPr>
        <p:spPr>
          <a:xfrm>
            <a:off x="6035040" y="4846320"/>
            <a:ext cx="1005840" cy="685800"/>
          </a:xfrm>
          <a:prstGeom prst="rect">
            <a:avLst/>
          </a:prstGeom>
          <a:solidFill>
            <a:srgbClr val="1E3A6B"/>
          </a:solidFill>
          <a:ln w="12700">
            <a:solidFill>
              <a:srgbClr val="1E3A6B"/>
            </a:solidFill>
            <a:prstDash val="solid"/>
          </a:ln>
        </p:spPr>
      </p:sp>
      <p:sp>
        <p:nvSpPr>
          <p:cNvPr id="41" name="Text 39"/>
          <p:cNvSpPr txBox="1"/>
          <p:nvPr/>
        </p:nvSpPr>
        <p:spPr>
          <a:xfrm>
            <a:off x="5029200" y="5623560"/>
            <a:ext cx="2103120" cy="228600"/>
          </a:xfrm>
          <a:prstGeom prst="rect">
            <a:avLst/>
          </a:prstGeom>
          <a:noFill/>
          <a:ln/>
        </p:spPr>
        <p:txBody>
          <a:bodyPr wrap="square" lIns="0" tIns="0" rIns="0" bIns="0" rtlCol="0" anchor="t"/>
          <a:lstStyle/>
          <a:p>
            <a:pPr indent="0" marL="0">
              <a:buNone/>
            </a:pPr>
            <a:r>
              <a:rPr lang="en-US" sz="800" b="1" spc="200" kern="0" dirty="0">
                <a:solidFill>
                  <a:srgbClr val="F2EDE4"/>
                </a:solidFill>
                <a:latin typeface="Inter" pitchFamily="34" charset="0"/>
                <a:ea typeface="Inter" pitchFamily="34" charset="-122"/>
                <a:cs typeface="Inter" pitchFamily="34" charset="-120"/>
              </a:rPr>
              <a:t>CERULEAN</a:t>
            </a:r>
            <a:endParaRPr lang="en-US" sz="800" dirty="0"/>
          </a:p>
        </p:txBody>
      </p:sp>
      <p:sp>
        <p:nvSpPr>
          <p:cNvPr id="42" name="Text 40"/>
          <p:cNvSpPr txBox="1"/>
          <p:nvPr/>
        </p:nvSpPr>
        <p:spPr>
          <a:xfrm>
            <a:off x="5029200" y="5852160"/>
            <a:ext cx="21031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#8EC9EE  ·  #1E3A6B</a:t>
            </a:r>
            <a:endParaRPr lang="en-US" sz="750" dirty="0"/>
          </a:p>
        </p:txBody>
      </p:sp>
      <p:sp>
        <p:nvSpPr>
          <p:cNvPr id="43" name="Shape 41"/>
          <p:cNvSpPr/>
          <p:nvPr/>
        </p:nvSpPr>
        <p:spPr>
          <a:xfrm>
            <a:off x="7269480" y="4846320"/>
            <a:ext cx="1005840" cy="685800"/>
          </a:xfrm>
          <a:prstGeom prst="rect">
            <a:avLst/>
          </a:prstGeom>
          <a:solidFill>
            <a:srgbClr val="F28C28"/>
          </a:solidFill>
          <a:ln w="12700">
            <a:solidFill>
              <a:srgbClr val="F28C28"/>
            </a:solidFill>
            <a:prstDash val="solid"/>
          </a:ln>
        </p:spPr>
      </p:sp>
      <p:sp>
        <p:nvSpPr>
          <p:cNvPr id="44" name="Shape 42"/>
          <p:cNvSpPr/>
          <p:nvPr/>
        </p:nvSpPr>
        <p:spPr>
          <a:xfrm>
            <a:off x="8275320" y="4846320"/>
            <a:ext cx="1005840" cy="685800"/>
          </a:xfrm>
          <a:prstGeom prst="rect">
            <a:avLst/>
          </a:prstGeom>
          <a:solidFill>
            <a:srgbClr val="2547A8"/>
          </a:solidFill>
          <a:ln w="12700">
            <a:solidFill>
              <a:srgbClr val="2547A8"/>
            </a:solidFill>
            <a:prstDash val="solid"/>
          </a:ln>
        </p:spPr>
      </p:sp>
      <p:sp>
        <p:nvSpPr>
          <p:cNvPr id="45" name="Text 43"/>
          <p:cNvSpPr txBox="1"/>
          <p:nvPr/>
        </p:nvSpPr>
        <p:spPr>
          <a:xfrm>
            <a:off x="7269480" y="5623560"/>
            <a:ext cx="2103120" cy="228600"/>
          </a:xfrm>
          <a:prstGeom prst="rect">
            <a:avLst/>
          </a:prstGeom>
          <a:noFill/>
          <a:ln/>
        </p:spPr>
        <p:txBody>
          <a:bodyPr wrap="square" lIns="0" tIns="0" rIns="0" bIns="0" rtlCol="0" anchor="t"/>
          <a:lstStyle/>
          <a:p>
            <a:pPr indent="0" marL="0">
              <a:buNone/>
            </a:pPr>
            <a:r>
              <a:rPr lang="en-US" sz="800" b="1" spc="200" kern="0" dirty="0">
                <a:solidFill>
                  <a:srgbClr val="F2EDE4"/>
                </a:solidFill>
                <a:latin typeface="Inter" pitchFamily="34" charset="0"/>
                <a:ea typeface="Inter" pitchFamily="34" charset="-122"/>
                <a:cs typeface="Inter" pitchFamily="34" charset="-120"/>
              </a:rPr>
              <a:t>ROYAL TANGERINE</a:t>
            </a:r>
            <a:endParaRPr lang="en-US" sz="800" dirty="0"/>
          </a:p>
        </p:txBody>
      </p:sp>
      <p:sp>
        <p:nvSpPr>
          <p:cNvPr id="46" name="Text 44"/>
          <p:cNvSpPr txBox="1"/>
          <p:nvPr/>
        </p:nvSpPr>
        <p:spPr>
          <a:xfrm>
            <a:off x="7269480" y="5852160"/>
            <a:ext cx="21031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#F28C28  ·  #2547A8</a:t>
            </a:r>
            <a:endParaRPr lang="en-US" sz="750" dirty="0"/>
          </a:p>
        </p:txBody>
      </p:sp>
      <p:sp>
        <p:nvSpPr>
          <p:cNvPr id="47" name="Shape 45"/>
          <p:cNvSpPr/>
          <p:nvPr/>
        </p:nvSpPr>
        <p:spPr>
          <a:xfrm>
            <a:off x="9509760" y="4846320"/>
            <a:ext cx="1005840" cy="685800"/>
          </a:xfrm>
          <a:prstGeom prst="rect">
            <a:avLst/>
          </a:prstGeom>
          <a:solidFill>
            <a:srgbClr val="D2283A"/>
          </a:solidFill>
          <a:ln w="12700">
            <a:solidFill>
              <a:srgbClr val="D2283A"/>
            </a:solidFill>
            <a:prstDash val="solid"/>
          </a:ln>
        </p:spPr>
      </p:sp>
      <p:sp>
        <p:nvSpPr>
          <p:cNvPr id="48" name="Shape 46"/>
          <p:cNvSpPr/>
          <p:nvPr/>
        </p:nvSpPr>
        <p:spPr>
          <a:xfrm>
            <a:off x="10515600" y="4846320"/>
            <a:ext cx="1005840" cy="685800"/>
          </a:xfrm>
          <a:prstGeom prst="rect">
            <a:avLst/>
          </a:prstGeom>
          <a:solidFill>
            <a:srgbClr val="1C2A55"/>
          </a:solidFill>
          <a:ln w="12700">
            <a:solidFill>
              <a:srgbClr val="1C2A55"/>
            </a:solidFill>
            <a:prstDash val="solid"/>
          </a:ln>
        </p:spPr>
      </p:sp>
      <p:sp>
        <p:nvSpPr>
          <p:cNvPr id="49" name="Text 47"/>
          <p:cNvSpPr txBox="1"/>
          <p:nvPr/>
        </p:nvSpPr>
        <p:spPr>
          <a:xfrm>
            <a:off x="9509760" y="5623560"/>
            <a:ext cx="2103120" cy="228600"/>
          </a:xfrm>
          <a:prstGeom prst="rect">
            <a:avLst/>
          </a:prstGeom>
          <a:noFill/>
          <a:ln/>
        </p:spPr>
        <p:txBody>
          <a:bodyPr wrap="square" lIns="0" tIns="0" rIns="0" bIns="0" rtlCol="0" anchor="t"/>
          <a:lstStyle/>
          <a:p>
            <a:pPr indent="0" marL="0">
              <a:buNone/>
            </a:pPr>
            <a:r>
              <a:rPr lang="en-US" sz="800" b="1" spc="200" kern="0" dirty="0">
                <a:solidFill>
                  <a:srgbClr val="F2EDE4"/>
                </a:solidFill>
                <a:latin typeface="Inter" pitchFamily="34" charset="0"/>
                <a:ea typeface="Inter" pitchFamily="34" charset="-122"/>
                <a:cs typeface="Inter" pitchFamily="34" charset="-120"/>
              </a:rPr>
              <a:t>CRIMSON NAVY</a:t>
            </a:r>
            <a:endParaRPr lang="en-US" sz="800" dirty="0"/>
          </a:p>
        </p:txBody>
      </p:sp>
      <p:sp>
        <p:nvSpPr>
          <p:cNvPr id="50" name="Text 48"/>
          <p:cNvSpPr txBox="1"/>
          <p:nvPr/>
        </p:nvSpPr>
        <p:spPr>
          <a:xfrm>
            <a:off x="9509760" y="5852160"/>
            <a:ext cx="2103120" cy="228600"/>
          </a:xfrm>
          <a:prstGeom prst="rect">
            <a:avLst/>
          </a:prstGeom>
          <a:noFill/>
          <a:ln/>
        </p:spPr>
        <p:txBody>
          <a:bodyPr wrap="square" lIns="0" tIns="0" rIns="0" bIns="0" rtlCol="0" anchor="t"/>
          <a:lstStyle/>
          <a:p>
            <a:pPr indent="0" marL="0">
              <a:buNone/>
            </a:pPr>
            <a:r>
              <a:rPr lang="en-US" sz="750" dirty="0">
                <a:solidFill>
                  <a:srgbClr val="9C978E"/>
                </a:solidFill>
                <a:latin typeface="Inter" pitchFamily="34" charset="0"/>
                <a:ea typeface="Inter" pitchFamily="34" charset="-122"/>
                <a:cs typeface="Inter" pitchFamily="34" charset="-120"/>
              </a:rPr>
              <a:t>#D2283A  ·  #1C2A55</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 1 · COLOUR HEROES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04</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SET 1  ·  08:00–09:00  ·  COLOUR HEROES</a:t>
            </a:r>
            <a:endParaRPr lang="en-US" sz="900" dirty="0"/>
          </a:p>
        </p:txBody>
      </p:sp>
      <p:sp>
        <p:nvSpPr>
          <p:cNvPr id="5" name="Text 3"/>
          <p:cNvSpPr txBox="1"/>
          <p:nvPr/>
        </p:nvSpPr>
        <p:spPr>
          <a:xfrm>
            <a:off x="548640" y="777240"/>
            <a:ext cx="10972800" cy="465513"/>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FIVE WATCHES. FIVE COLOURS. NOTHING ELSE.</a:t>
            </a:r>
            <a:endParaRPr lang="en-US" sz="2800" dirty="0"/>
          </a:p>
        </p:txBody>
      </p:sp>
      <p:sp>
        <p:nvSpPr>
          <p:cNvPr id="6" name="Shape 4"/>
          <p:cNvSpPr/>
          <p:nvPr/>
        </p:nvSpPr>
        <p:spPr>
          <a:xfrm>
            <a:off x="548640" y="1554480"/>
            <a:ext cx="2103120" cy="2926080"/>
          </a:xfrm>
          <a:prstGeom prst="rect">
            <a:avLst/>
          </a:prstGeom>
          <a:solidFill>
            <a:srgbClr val="2F5D46"/>
          </a:solidFill>
          <a:ln w="12700">
            <a:solidFill>
              <a:srgbClr val="2F5D46"/>
            </a:solidFill>
            <a:prstDash val="solid"/>
          </a:ln>
        </p:spPr>
      </p:sp>
      <p:pic>
        <p:nvPicPr>
          <p:cNvPr id="7" name="Image 0" descr="/tmp/claude-0/-home-user-Sage-portfolio/d05fecce-977e-5eab-9cf5-7c09b306c551/scratchpad/wrdeck/img/crop_green.jpg">    </p:cNvPr>
          <p:cNvPicPr>
            <a:picLocks noChangeAspect="1"/>
          </p:cNvPicPr>
          <p:nvPr/>
        </p:nvPicPr>
        <p:blipFill>
          <a:blip r:embed="rId1"/>
          <a:srcRect l="0" r="0" t="0" b="0"/>
          <a:stretch/>
        </p:blipFill>
        <p:spPr>
          <a:xfrm>
            <a:off x="731520" y="1737360"/>
            <a:ext cx="1737360" cy="2560320"/>
          </a:xfrm>
          <a:prstGeom prst="rect">
            <a:avLst/>
          </a:prstGeom>
        </p:spPr>
      </p:pic>
      <p:sp>
        <p:nvSpPr>
          <p:cNvPr id="8" name="Text 5"/>
          <p:cNvSpPr txBox="1"/>
          <p:nvPr/>
        </p:nvSpPr>
        <p:spPr>
          <a:xfrm>
            <a:off x="548640" y="4572000"/>
            <a:ext cx="210312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FOREST IVORY</a:t>
            </a:r>
            <a:endParaRPr lang="en-US" sz="1300" dirty="0"/>
          </a:p>
        </p:txBody>
      </p:sp>
      <p:sp>
        <p:nvSpPr>
          <p:cNvPr id="9" name="Text 6"/>
          <p:cNvSpPr txBox="1"/>
          <p:nvPr/>
        </p:nvSpPr>
        <p:spPr>
          <a:xfrm>
            <a:off x="548640" y="4864608"/>
            <a:ext cx="210312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Ivory seamless, bottle-green gel shadow</a:t>
            </a:r>
            <a:endParaRPr lang="en-US" sz="850" dirty="0"/>
          </a:p>
        </p:txBody>
      </p:sp>
      <p:sp>
        <p:nvSpPr>
          <p:cNvPr id="10" name="Shape 7"/>
          <p:cNvSpPr/>
          <p:nvPr/>
        </p:nvSpPr>
        <p:spPr>
          <a:xfrm>
            <a:off x="2788920" y="1554480"/>
            <a:ext cx="2103120" cy="2926080"/>
          </a:xfrm>
          <a:prstGeom prst="rect">
            <a:avLst/>
          </a:prstGeom>
          <a:solidFill>
            <a:srgbClr val="8FE3C3"/>
          </a:solidFill>
          <a:ln w="12700">
            <a:solidFill>
              <a:srgbClr val="8FE3C3"/>
            </a:solidFill>
            <a:prstDash val="solid"/>
          </a:ln>
        </p:spPr>
      </p:sp>
      <p:pic>
        <p:nvPicPr>
          <p:cNvPr id="11" name="Image 1" descr="/tmp/claude-0/-home-user-Sage-portfolio/d05fecce-977e-5eab-9cf5-7c09b306c551/scratchpad/wrdeck/img/crop_lime.jpg">    </p:cNvPr>
          <p:cNvPicPr>
            <a:picLocks noChangeAspect="1"/>
          </p:cNvPicPr>
          <p:nvPr/>
        </p:nvPicPr>
        <p:blipFill>
          <a:blip r:embed="rId2"/>
          <a:srcRect l="0" r="0" t="0" b="0"/>
          <a:stretch/>
        </p:blipFill>
        <p:spPr>
          <a:xfrm>
            <a:off x="2971800" y="1737360"/>
            <a:ext cx="1737360" cy="2560320"/>
          </a:xfrm>
          <a:prstGeom prst="rect">
            <a:avLst/>
          </a:prstGeom>
        </p:spPr>
      </p:pic>
      <p:sp>
        <p:nvSpPr>
          <p:cNvPr id="12" name="Text 8"/>
          <p:cNvSpPr txBox="1"/>
          <p:nvPr/>
        </p:nvSpPr>
        <p:spPr>
          <a:xfrm>
            <a:off x="2788920" y="4572000"/>
            <a:ext cx="210312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CITRUS MINT</a:t>
            </a:r>
            <a:endParaRPr lang="en-US" sz="1300" dirty="0"/>
          </a:p>
        </p:txBody>
      </p:sp>
      <p:sp>
        <p:nvSpPr>
          <p:cNvPr id="13" name="Text 9"/>
          <p:cNvSpPr txBox="1"/>
          <p:nvPr/>
        </p:nvSpPr>
        <p:spPr>
          <a:xfrm>
            <a:off x="2788920" y="4864608"/>
            <a:ext cx="210312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Lime seamless, mint gel rim</a:t>
            </a:r>
            <a:endParaRPr lang="en-US" sz="850" dirty="0"/>
          </a:p>
        </p:txBody>
      </p:sp>
      <p:sp>
        <p:nvSpPr>
          <p:cNvPr id="14" name="Shape 10"/>
          <p:cNvSpPr/>
          <p:nvPr/>
        </p:nvSpPr>
        <p:spPr>
          <a:xfrm>
            <a:off x="5029200" y="1554480"/>
            <a:ext cx="2103120" cy="2926080"/>
          </a:xfrm>
          <a:prstGeom prst="rect">
            <a:avLst/>
          </a:prstGeom>
          <a:solidFill>
            <a:srgbClr val="1E3A6B"/>
          </a:solidFill>
          <a:ln w="12700">
            <a:solidFill>
              <a:srgbClr val="1E3A6B"/>
            </a:solidFill>
            <a:prstDash val="solid"/>
          </a:ln>
        </p:spPr>
      </p:sp>
      <p:pic>
        <p:nvPicPr>
          <p:cNvPr id="15" name="Image 2" descr="/tmp/claude-0/-home-user-Sage-portfolio/d05fecce-977e-5eab-9cf5-7c09b306c551/scratchpad/wrdeck/img/crop_skyblue.jpg">    </p:cNvPr>
          <p:cNvPicPr>
            <a:picLocks noChangeAspect="1"/>
          </p:cNvPicPr>
          <p:nvPr/>
        </p:nvPicPr>
        <p:blipFill>
          <a:blip r:embed="rId3"/>
          <a:srcRect l="0" r="0" t="0" b="0"/>
          <a:stretch/>
        </p:blipFill>
        <p:spPr>
          <a:xfrm>
            <a:off x="5212080" y="1737360"/>
            <a:ext cx="1737360" cy="2560320"/>
          </a:xfrm>
          <a:prstGeom prst="rect">
            <a:avLst/>
          </a:prstGeom>
        </p:spPr>
      </p:pic>
      <p:sp>
        <p:nvSpPr>
          <p:cNvPr id="16" name="Text 11"/>
          <p:cNvSpPr txBox="1"/>
          <p:nvPr/>
        </p:nvSpPr>
        <p:spPr>
          <a:xfrm>
            <a:off x="5029200" y="4572000"/>
            <a:ext cx="210312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CERULEAN</a:t>
            </a:r>
            <a:endParaRPr lang="en-US" sz="1300" dirty="0"/>
          </a:p>
        </p:txBody>
      </p:sp>
      <p:sp>
        <p:nvSpPr>
          <p:cNvPr id="17" name="Text 12"/>
          <p:cNvSpPr txBox="1"/>
          <p:nvPr/>
        </p:nvSpPr>
        <p:spPr>
          <a:xfrm>
            <a:off x="5029200" y="4864608"/>
            <a:ext cx="210312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Sky-blue seamless, white cloud gradient</a:t>
            </a:r>
            <a:endParaRPr lang="en-US" sz="850" dirty="0"/>
          </a:p>
        </p:txBody>
      </p:sp>
      <p:sp>
        <p:nvSpPr>
          <p:cNvPr id="18" name="Shape 13"/>
          <p:cNvSpPr/>
          <p:nvPr/>
        </p:nvSpPr>
        <p:spPr>
          <a:xfrm>
            <a:off x="7269480" y="1554480"/>
            <a:ext cx="2103120" cy="2926080"/>
          </a:xfrm>
          <a:prstGeom prst="rect">
            <a:avLst/>
          </a:prstGeom>
          <a:solidFill>
            <a:srgbClr val="2547A8"/>
          </a:solidFill>
          <a:ln w="12700">
            <a:solidFill>
              <a:srgbClr val="2547A8"/>
            </a:solidFill>
            <a:prstDash val="solid"/>
          </a:ln>
        </p:spPr>
      </p:sp>
      <p:pic>
        <p:nvPicPr>
          <p:cNvPr id="19" name="Image 3" descr="/tmp/claude-0/-home-user-Sage-portfolio/d05fecce-977e-5eab-9cf5-7c09b306c551/scratchpad/wrdeck/img/crop_orange.jpg">    </p:cNvPr>
          <p:cNvPicPr>
            <a:picLocks noChangeAspect="1"/>
          </p:cNvPicPr>
          <p:nvPr/>
        </p:nvPicPr>
        <p:blipFill>
          <a:blip r:embed="rId4"/>
          <a:srcRect l="0" r="0" t="0" b="0"/>
          <a:stretch/>
        </p:blipFill>
        <p:spPr>
          <a:xfrm>
            <a:off x="7452360" y="1737360"/>
            <a:ext cx="1737360" cy="2560320"/>
          </a:xfrm>
          <a:prstGeom prst="rect">
            <a:avLst/>
          </a:prstGeom>
        </p:spPr>
      </p:pic>
      <p:sp>
        <p:nvSpPr>
          <p:cNvPr id="20" name="Text 14"/>
          <p:cNvSpPr txBox="1"/>
          <p:nvPr/>
        </p:nvSpPr>
        <p:spPr>
          <a:xfrm>
            <a:off x="7269480" y="4572000"/>
            <a:ext cx="210312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ROYAL TANGERINE</a:t>
            </a:r>
            <a:endParaRPr lang="en-US" sz="1300" dirty="0"/>
          </a:p>
        </p:txBody>
      </p:sp>
      <p:sp>
        <p:nvSpPr>
          <p:cNvPr id="21" name="Text 15"/>
          <p:cNvSpPr txBox="1"/>
          <p:nvPr/>
        </p:nvSpPr>
        <p:spPr>
          <a:xfrm>
            <a:off x="7269480" y="4864608"/>
            <a:ext cx="210312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Royal-blue seamless, orange gel slash</a:t>
            </a:r>
            <a:endParaRPr lang="en-US" sz="850" dirty="0"/>
          </a:p>
        </p:txBody>
      </p:sp>
      <p:sp>
        <p:nvSpPr>
          <p:cNvPr id="22" name="Shape 16"/>
          <p:cNvSpPr/>
          <p:nvPr/>
        </p:nvSpPr>
        <p:spPr>
          <a:xfrm>
            <a:off x="9509760" y="1554480"/>
            <a:ext cx="2103120" cy="2926080"/>
          </a:xfrm>
          <a:prstGeom prst="rect">
            <a:avLst/>
          </a:prstGeom>
          <a:solidFill>
            <a:srgbClr val="1C2A55"/>
          </a:solidFill>
          <a:ln w="12700">
            <a:solidFill>
              <a:srgbClr val="1C2A55"/>
            </a:solidFill>
            <a:prstDash val="solid"/>
          </a:ln>
        </p:spPr>
      </p:sp>
      <p:pic>
        <p:nvPicPr>
          <p:cNvPr id="23" name="Image 4" descr="/tmp/claude-0/-home-user-Sage-portfolio/d05fecce-977e-5eab-9cf5-7c09b306c551/scratchpad/wrdeck/img/crop_redblue.jpg">    </p:cNvPr>
          <p:cNvPicPr>
            <a:picLocks noChangeAspect="1"/>
          </p:cNvPicPr>
          <p:nvPr/>
        </p:nvPicPr>
        <p:blipFill>
          <a:blip r:embed="rId5"/>
          <a:srcRect l="0" r="0" t="0" b="0"/>
          <a:stretch/>
        </p:blipFill>
        <p:spPr>
          <a:xfrm>
            <a:off x="9692640" y="1737360"/>
            <a:ext cx="1737360" cy="2560320"/>
          </a:xfrm>
          <a:prstGeom prst="rect">
            <a:avLst/>
          </a:prstGeom>
        </p:spPr>
      </p:pic>
      <p:sp>
        <p:nvSpPr>
          <p:cNvPr id="24" name="Text 17"/>
          <p:cNvSpPr txBox="1"/>
          <p:nvPr/>
        </p:nvSpPr>
        <p:spPr>
          <a:xfrm>
            <a:off x="9509760" y="4572000"/>
            <a:ext cx="2103120" cy="274320"/>
          </a:xfrm>
          <a:prstGeom prst="rect">
            <a:avLst/>
          </a:prstGeom>
          <a:noFill/>
          <a:ln/>
        </p:spPr>
        <p:txBody>
          <a:bodyPr wrap="square" lIns="0" tIns="0" rIns="0" bIns="0" rtlCol="0" anchor="t"/>
          <a:lstStyle/>
          <a:p>
            <a:pPr indent="0" marL="0">
              <a:buNone/>
            </a:pPr>
            <a:r>
              <a:rPr lang="en-US" sz="1300" b="1" dirty="0">
                <a:solidFill>
                  <a:srgbClr val="F2EDE4"/>
                </a:solidFill>
                <a:latin typeface="Oswald" pitchFamily="34" charset="0"/>
                <a:ea typeface="Oswald" pitchFamily="34" charset="-122"/>
                <a:cs typeface="Oswald" pitchFamily="34" charset="-120"/>
              </a:rPr>
              <a:t>CRIMSON NAVY</a:t>
            </a:r>
            <a:endParaRPr lang="en-US" sz="1300" dirty="0"/>
          </a:p>
        </p:txBody>
      </p:sp>
      <p:sp>
        <p:nvSpPr>
          <p:cNvPr id="25" name="Text 18"/>
          <p:cNvSpPr txBox="1"/>
          <p:nvPr/>
        </p:nvSpPr>
        <p:spPr>
          <a:xfrm>
            <a:off x="9509760" y="4864608"/>
            <a:ext cx="2103120" cy="457200"/>
          </a:xfrm>
          <a:prstGeom prst="rect">
            <a:avLst/>
          </a:prstGeom>
          <a:noFill/>
          <a:ln/>
        </p:spPr>
        <p:txBody>
          <a:bodyPr wrap="square" lIns="0" tIns="0" rIns="0" bIns="0" rtlCol="0" anchor="t"/>
          <a:lstStyle/>
          <a:p>
            <a:pPr indent="0" marL="0">
              <a:buNone/>
            </a:pPr>
            <a:r>
              <a:rPr lang="en-US" sz="850" dirty="0">
                <a:solidFill>
                  <a:srgbClr val="9C978E"/>
                </a:solidFill>
                <a:latin typeface="Inter" pitchFamily="34" charset="0"/>
                <a:ea typeface="Inter" pitchFamily="34" charset="-122"/>
                <a:cs typeface="Inter" pitchFamily="34" charset="-120"/>
              </a:rPr>
              <a:t>Navy seamless, red rim light</a:t>
            </a:r>
            <a:endParaRPr lang="en-US" sz="850" dirty="0"/>
          </a:p>
        </p:txBody>
      </p:sp>
      <p:sp>
        <p:nvSpPr>
          <p:cNvPr id="26" name="Text 19"/>
          <p:cNvSpPr txBox="1"/>
          <p:nvPr/>
        </p:nvSpPr>
        <p:spPr>
          <a:xfrm>
            <a:off x="548640" y="5532120"/>
            <a:ext cx="11064240" cy="731520"/>
          </a:xfrm>
          <a:prstGeom prst="rect">
            <a:avLst/>
          </a:prstGeom>
          <a:noFill/>
          <a:ln/>
        </p:spPr>
        <p:txBody>
          <a:bodyPr wrap="square" lIns="0" tIns="0" rIns="0" bIns="0" rtlCol="0" anchor="t"/>
          <a:lstStyle/>
          <a:p>
            <a:pPr indent="0" marL="0">
              <a:buNone/>
            </a:pPr>
            <a:r>
              <a:rPr lang="en-US" sz="950" dirty="0">
                <a:solidFill>
                  <a:srgbClr val="F2EDE4"/>
                </a:solidFill>
                <a:latin typeface="Inter" pitchFamily="34" charset="0"/>
                <a:ea typeface="Inter" pitchFamily="34" charset="-122"/>
                <a:cs typeface="Inter" pitchFamily="34" charset="-120"/>
              </a:rPr>
              <a:t>Shot list per watch: front · 3/4 left · crown side · caseback · strap &amp; clasp · one hero with a soft gradient.  Light: big soft key overhead + strip rim each side; a black flag under the stand for a clean edge.  Lens: 100 mm macro, f/11, tethered.  (Frames above are your real watch photos, used here for colour and pose only.)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 2 · FOREST IVORY</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05</a:t>
            </a:r>
            <a:endParaRPr lang="en-US" sz="750" dirty="0"/>
          </a:p>
        </p:txBody>
      </p:sp>
      <p:pic>
        <p:nvPicPr>
          <p:cNvPr id="4" name="Image 0" descr="/tmp/claude-0/-home-user-Sage-portfolio/d05fecce-977e-5eab-9cf5-7c09b306c551/scratchpad/wrdeck/gen/day2/ivory.jpg">    </p:cNvPr>
          <p:cNvPicPr>
            <a:picLocks noChangeAspect="1"/>
          </p:cNvPicPr>
          <p:nvPr/>
        </p:nvPicPr>
        <p:blipFill>
          <a:blip r:embed="rId1"/>
          <a:srcRect l="0" r="0" t="0" b="0"/>
          <a:stretch/>
        </p:blipFill>
        <p:spPr>
          <a:xfrm>
            <a:off x="0" y="0"/>
            <a:ext cx="4937760" cy="6400800"/>
          </a:xfrm>
          <a:prstGeom prst="rect">
            <a:avLst/>
          </a:prstGeom>
        </p:spPr>
      </p:pic>
      <p:sp>
        <p:nvSpPr>
          <p:cNvPr id="5" name="Shape 2"/>
          <p:cNvSpPr/>
          <p:nvPr/>
        </p:nvSpPr>
        <p:spPr>
          <a:xfrm>
            <a:off x="0" y="6126480"/>
            <a:ext cx="4937760" cy="274320"/>
          </a:xfrm>
          <a:prstGeom prst="rect">
            <a:avLst/>
          </a:prstGeom>
          <a:solidFill>
            <a:srgbClr val="0B0B0A"/>
          </a:solidFill>
          <a:ln w="12700">
            <a:solidFill>
              <a:srgbClr val="0B0B0A"/>
            </a:solidFill>
            <a:prstDash val="solid"/>
          </a:ln>
        </p:spPr>
      </p:sp>
      <p:sp>
        <p:nvSpPr>
          <p:cNvPr id="6" name="Text 3"/>
          <p:cNvSpPr txBox="1"/>
          <p:nvPr/>
        </p:nvSpPr>
        <p:spPr>
          <a:xfrm>
            <a:off x="182880" y="6163056"/>
            <a:ext cx="4572000" cy="201168"/>
          </a:xfrm>
          <a:prstGeom prst="rect">
            <a:avLst/>
          </a:prstGeom>
          <a:noFill/>
          <a:ln/>
        </p:spPr>
        <p:txBody>
          <a:bodyPr wrap="square" lIns="0" tIns="0" rIns="0" bIns="0" rtlCol="0" anchor="t"/>
          <a:lstStyle/>
          <a:p>
            <a:pPr indent="0" marL="0">
              <a:buNone/>
            </a:pPr>
            <a:r>
              <a:rPr lang="en-US" sz="700" b="1" spc="200" kern="0" dirty="0">
                <a:solidFill>
                  <a:srgbClr val="9C978E"/>
                </a:solidFill>
                <a:latin typeface="Inter" pitchFamily="34" charset="0"/>
                <a:ea typeface="Inter" pitchFamily="34" charset="-122"/>
                <a:cs typeface="Inter" pitchFamily="34" charset="-120"/>
              </a:rPr>
              <a:t>AI MOOD FRAME · FOR LIGHT, MATERIAL AND COMPOSITION</a:t>
            </a:r>
            <a:endParaRPr lang="en-US" sz="700" dirty="0"/>
          </a:p>
        </p:txBody>
      </p:sp>
      <p:sp>
        <p:nvSpPr>
          <p:cNvPr id="7" name="Text 4"/>
          <p:cNvSpPr txBox="1"/>
          <p:nvPr/>
        </p:nvSpPr>
        <p:spPr>
          <a:xfrm>
            <a:off x="5394960" y="502920"/>
            <a:ext cx="7315200" cy="274320"/>
          </a:xfrm>
          <a:prstGeom prst="rect">
            <a:avLst/>
          </a:prstGeom>
          <a:noFill/>
          <a:ln/>
        </p:spPr>
        <p:txBody>
          <a:bodyPr wrap="square" lIns="0" tIns="0" rIns="0" bIns="0" rtlCol="0" anchor="t"/>
          <a:lstStyle/>
          <a:p>
            <a:pPr indent="0" marL="0">
              <a:buNone/>
            </a:pPr>
            <a:r>
              <a:rPr lang="en-US" sz="900" b="1" spc="400" kern="0" dirty="0">
                <a:solidFill>
                  <a:srgbClr val="E8DFC8"/>
                </a:solidFill>
                <a:latin typeface="Inter" pitchFamily="34" charset="0"/>
                <a:ea typeface="Inter" pitchFamily="34" charset="-122"/>
                <a:cs typeface="Inter" pitchFamily="34" charset="-120"/>
              </a:rPr>
              <a:t>SET 2  ·  MATERIAL WORLD  ·  01</a:t>
            </a:r>
            <a:endParaRPr lang="en-US" sz="900" dirty="0"/>
          </a:p>
        </p:txBody>
      </p:sp>
      <p:sp>
        <p:nvSpPr>
          <p:cNvPr id="8" name="Text 5"/>
          <p:cNvSpPr txBox="1"/>
          <p:nvPr/>
        </p:nvSpPr>
        <p:spPr>
          <a:xfrm>
            <a:off x="5394960" y="777240"/>
            <a:ext cx="64008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FOREST IVORY</a:t>
            </a:r>
            <a:endParaRPr lang="en-US" sz="3400" dirty="0"/>
          </a:p>
        </p:txBody>
      </p:sp>
      <p:sp>
        <p:nvSpPr>
          <p:cNvPr id="9" name="Text 6"/>
          <p:cNvSpPr txBox="1"/>
          <p:nvPr/>
        </p:nvSpPr>
        <p:spPr>
          <a:xfrm>
            <a:off x="5394960" y="1417320"/>
            <a:ext cx="6400800" cy="2743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Ivory case · white waffle dial · bottle-green strap</a:t>
            </a:r>
            <a:endParaRPr lang="en-US" sz="1000" dirty="0"/>
          </a:p>
        </p:txBody>
      </p:sp>
      <p:sp>
        <p:nvSpPr>
          <p:cNvPr id="10" name="Shape 7"/>
          <p:cNvSpPr/>
          <p:nvPr/>
        </p:nvSpPr>
        <p:spPr>
          <a:xfrm>
            <a:off x="5394960" y="1783080"/>
            <a:ext cx="457200" cy="45720"/>
          </a:xfrm>
          <a:prstGeom prst="rect">
            <a:avLst/>
          </a:prstGeom>
          <a:solidFill>
            <a:srgbClr val="E8DFC8"/>
          </a:solidFill>
          <a:ln w="12700">
            <a:solidFill>
              <a:srgbClr val="E8DFC8"/>
            </a:solidFill>
            <a:prstDash val="solid"/>
          </a:ln>
        </p:spPr>
      </p:sp>
      <p:sp>
        <p:nvSpPr>
          <p:cNvPr id="11" name="Text 8"/>
          <p:cNvSpPr txBox="1"/>
          <p:nvPr/>
        </p:nvSpPr>
        <p:spPr>
          <a:xfrm>
            <a:off x="5394960" y="201168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WORLD</a:t>
            </a:r>
            <a:endParaRPr lang="en-US" sz="750" dirty="0"/>
          </a:p>
        </p:txBody>
      </p:sp>
      <p:sp>
        <p:nvSpPr>
          <p:cNvPr id="12" name="Text 9"/>
          <p:cNvSpPr txBox="1"/>
          <p:nvPr/>
        </p:nvSpPr>
        <p:spPr>
          <a:xfrm>
            <a:off x="6675120" y="198424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Carved pink sandstone plinth · Rajasthani jaali screen throwing patterned sunlight</a:t>
            </a:r>
            <a:endParaRPr lang="en-US" sz="1050" dirty="0"/>
          </a:p>
        </p:txBody>
      </p:sp>
      <p:sp>
        <p:nvSpPr>
          <p:cNvPr id="13" name="Text 10"/>
          <p:cNvSpPr txBox="1"/>
          <p:nvPr/>
        </p:nvSpPr>
        <p:spPr>
          <a:xfrm>
            <a:off x="5394960" y="278892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LIGHT</a:t>
            </a:r>
            <a:endParaRPr lang="en-US" sz="750" dirty="0"/>
          </a:p>
        </p:txBody>
      </p:sp>
      <p:sp>
        <p:nvSpPr>
          <p:cNvPr id="14" name="Text 11"/>
          <p:cNvSpPr txBox="1"/>
          <p:nvPr/>
        </p:nvSpPr>
        <p:spPr>
          <a:xfrm>
            <a:off x="6675120" y="276148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Hard warm sun through the jaali (2 m behind) + soft bounce front. 3200–3800 K.</a:t>
            </a:r>
            <a:endParaRPr lang="en-US" sz="1050" dirty="0"/>
          </a:p>
        </p:txBody>
      </p:sp>
      <p:sp>
        <p:nvSpPr>
          <p:cNvPr id="15" name="Text 12"/>
          <p:cNvSpPr txBox="1"/>
          <p:nvPr/>
        </p:nvSpPr>
        <p:spPr>
          <a:xfrm>
            <a:off x="5394960" y="356616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PROPS</a:t>
            </a:r>
            <a:endParaRPr lang="en-US" sz="750" dirty="0"/>
          </a:p>
        </p:txBody>
      </p:sp>
      <p:sp>
        <p:nvSpPr>
          <p:cNvPr id="16" name="Text 13"/>
          <p:cNvSpPr txBox="1"/>
          <p:nvPr/>
        </p:nvSpPr>
        <p:spPr>
          <a:xfrm>
            <a:off x="6675120" y="353872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Sandstone block (antique market), jaali panel or laser-cut MDF jaali, a brass bowl out of focus</a:t>
            </a:r>
            <a:endParaRPr lang="en-US" sz="1050" dirty="0"/>
          </a:p>
        </p:txBody>
      </p:sp>
      <p:sp>
        <p:nvSpPr>
          <p:cNvPr id="17" name="Text 14"/>
          <p:cNvSpPr txBox="1"/>
          <p:nvPr/>
        </p:nvSpPr>
        <p:spPr>
          <a:xfrm>
            <a:off x="5394960" y="434340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ENDS ON</a:t>
            </a:r>
            <a:endParaRPr lang="en-US" sz="750" dirty="0"/>
          </a:p>
        </p:txBody>
      </p:sp>
      <p:sp>
        <p:nvSpPr>
          <p:cNvPr id="18" name="Text 15"/>
          <p:cNvSpPr txBox="1"/>
          <p:nvPr/>
        </p:nvSpPr>
        <p:spPr>
          <a:xfrm>
            <a:off x="6675120" y="431596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Here's to your roots. The frame should feel like the line.</a:t>
            </a:r>
            <a:endParaRPr lang="en-US" sz="1050" dirty="0"/>
          </a:p>
        </p:txBody>
      </p:sp>
      <p:sp>
        <p:nvSpPr>
          <p:cNvPr id="19" name="Text 16"/>
          <p:cNvSpPr txBox="1"/>
          <p:nvPr/>
        </p:nvSpPr>
        <p:spPr>
          <a:xfrm>
            <a:off x="5394960" y="516636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HERO FRAMES</a:t>
            </a:r>
            <a:endParaRPr lang="en-US" sz="750" dirty="0"/>
          </a:p>
        </p:txBody>
      </p:sp>
      <p:sp>
        <p:nvSpPr>
          <p:cNvPr id="20" name="Text 17"/>
          <p:cNvSpPr txBox="1"/>
          <p:nvPr/>
        </p:nvSpPr>
        <p:spPr>
          <a:xfrm>
            <a:off x="5394960" y="5440680"/>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1.  Hero 3/4 upright on the plinth, jaali shadow across dial</a:t>
            </a:r>
            <a:endParaRPr lang="en-US" sz="1000" dirty="0"/>
          </a:p>
        </p:txBody>
      </p:sp>
      <p:sp>
        <p:nvSpPr>
          <p:cNvPr id="21" name="Text 18"/>
          <p:cNvSpPr txBox="1"/>
          <p:nvPr/>
        </p:nvSpPr>
        <p:spPr>
          <a:xfrm>
            <a:off x="5394960" y="5733288"/>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2.  Front, shadow pattern crossing the strap</a:t>
            </a:r>
            <a:endParaRPr lang="en-US" sz="1000" dirty="0"/>
          </a:p>
        </p:txBody>
      </p:sp>
      <p:sp>
        <p:nvSpPr>
          <p:cNvPr id="22" name="Text 19"/>
          <p:cNvSpPr txBox="1"/>
          <p:nvPr/>
        </p:nvSpPr>
        <p:spPr>
          <a:xfrm>
            <a:off x="5394960" y="6025896"/>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3.  Low angle, plinth edge in the foreground, palace-warm bokeh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 2 · CITRUS MINT</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06</a:t>
            </a:r>
            <a:endParaRPr lang="en-US" sz="750" dirty="0"/>
          </a:p>
        </p:txBody>
      </p:sp>
      <p:pic>
        <p:nvPicPr>
          <p:cNvPr id="4" name="Image 0" descr="/tmp/claude-0/-home-user-Sage-portfolio/d05fecce-977e-5eab-9cf5-7c09b306c551/scratchpad/wrdeck/gen/day2/mint.jpg">    </p:cNvPr>
          <p:cNvPicPr>
            <a:picLocks noChangeAspect="1"/>
          </p:cNvPicPr>
          <p:nvPr/>
        </p:nvPicPr>
        <p:blipFill>
          <a:blip r:embed="rId1"/>
          <a:srcRect l="0" r="0" t="0" b="0"/>
          <a:stretch/>
        </p:blipFill>
        <p:spPr>
          <a:xfrm>
            <a:off x="0" y="0"/>
            <a:ext cx="4937760" cy="6400800"/>
          </a:xfrm>
          <a:prstGeom prst="rect">
            <a:avLst/>
          </a:prstGeom>
        </p:spPr>
      </p:pic>
      <p:sp>
        <p:nvSpPr>
          <p:cNvPr id="5" name="Shape 2"/>
          <p:cNvSpPr/>
          <p:nvPr/>
        </p:nvSpPr>
        <p:spPr>
          <a:xfrm>
            <a:off x="0" y="6126480"/>
            <a:ext cx="4937760" cy="274320"/>
          </a:xfrm>
          <a:prstGeom prst="rect">
            <a:avLst/>
          </a:prstGeom>
          <a:solidFill>
            <a:srgbClr val="0B0B0A"/>
          </a:solidFill>
          <a:ln w="12700">
            <a:solidFill>
              <a:srgbClr val="0B0B0A"/>
            </a:solidFill>
            <a:prstDash val="solid"/>
          </a:ln>
        </p:spPr>
      </p:sp>
      <p:sp>
        <p:nvSpPr>
          <p:cNvPr id="6" name="Text 3"/>
          <p:cNvSpPr txBox="1"/>
          <p:nvPr/>
        </p:nvSpPr>
        <p:spPr>
          <a:xfrm>
            <a:off x="182880" y="6163056"/>
            <a:ext cx="4572000" cy="201168"/>
          </a:xfrm>
          <a:prstGeom prst="rect">
            <a:avLst/>
          </a:prstGeom>
          <a:noFill/>
          <a:ln/>
        </p:spPr>
        <p:txBody>
          <a:bodyPr wrap="square" lIns="0" tIns="0" rIns="0" bIns="0" rtlCol="0" anchor="t"/>
          <a:lstStyle/>
          <a:p>
            <a:pPr indent="0" marL="0">
              <a:buNone/>
            </a:pPr>
            <a:r>
              <a:rPr lang="en-US" sz="700" b="1" spc="200" kern="0" dirty="0">
                <a:solidFill>
                  <a:srgbClr val="9C978E"/>
                </a:solidFill>
                <a:latin typeface="Inter" pitchFamily="34" charset="0"/>
                <a:ea typeface="Inter" pitchFamily="34" charset="-122"/>
                <a:cs typeface="Inter" pitchFamily="34" charset="-120"/>
              </a:rPr>
              <a:t>AI MOOD FRAME · FOR LIGHT, MATERIAL AND COMPOSITION</a:t>
            </a:r>
            <a:endParaRPr lang="en-US" sz="700" dirty="0"/>
          </a:p>
        </p:txBody>
      </p:sp>
      <p:sp>
        <p:nvSpPr>
          <p:cNvPr id="7" name="Text 4"/>
          <p:cNvSpPr txBox="1"/>
          <p:nvPr/>
        </p:nvSpPr>
        <p:spPr>
          <a:xfrm>
            <a:off x="5394960" y="502920"/>
            <a:ext cx="7315200" cy="274320"/>
          </a:xfrm>
          <a:prstGeom prst="rect">
            <a:avLst/>
          </a:prstGeom>
          <a:noFill/>
          <a:ln/>
        </p:spPr>
        <p:txBody>
          <a:bodyPr wrap="square" lIns="0" tIns="0" rIns="0" bIns="0" rtlCol="0" anchor="t"/>
          <a:lstStyle/>
          <a:p>
            <a:pPr indent="0" marL="0">
              <a:buNone/>
            </a:pPr>
            <a:r>
              <a:rPr lang="en-US" sz="900" b="1" spc="400" kern="0" dirty="0">
                <a:solidFill>
                  <a:srgbClr val="D7F25A"/>
                </a:solidFill>
                <a:latin typeface="Inter" pitchFamily="34" charset="0"/>
                <a:ea typeface="Inter" pitchFamily="34" charset="-122"/>
                <a:cs typeface="Inter" pitchFamily="34" charset="-120"/>
              </a:rPr>
              <a:t>SET 2  ·  MATERIAL WORLD  ·  02</a:t>
            </a:r>
            <a:endParaRPr lang="en-US" sz="900" dirty="0"/>
          </a:p>
        </p:txBody>
      </p:sp>
      <p:sp>
        <p:nvSpPr>
          <p:cNvPr id="8" name="Text 5"/>
          <p:cNvSpPr txBox="1"/>
          <p:nvPr/>
        </p:nvSpPr>
        <p:spPr>
          <a:xfrm>
            <a:off x="5394960" y="777240"/>
            <a:ext cx="64008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CITRUS MINT</a:t>
            </a:r>
            <a:endParaRPr lang="en-US" sz="3400" dirty="0"/>
          </a:p>
        </p:txBody>
      </p:sp>
      <p:sp>
        <p:nvSpPr>
          <p:cNvPr id="9" name="Text 6"/>
          <p:cNvSpPr txBox="1"/>
          <p:nvPr/>
        </p:nvSpPr>
        <p:spPr>
          <a:xfrm>
            <a:off x="5394960" y="1417320"/>
            <a:ext cx="6400800" cy="2743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Lime case · mint waffle dial · mint strap</a:t>
            </a:r>
            <a:endParaRPr lang="en-US" sz="1000" dirty="0"/>
          </a:p>
        </p:txBody>
      </p:sp>
      <p:sp>
        <p:nvSpPr>
          <p:cNvPr id="10" name="Shape 7"/>
          <p:cNvSpPr/>
          <p:nvPr/>
        </p:nvSpPr>
        <p:spPr>
          <a:xfrm>
            <a:off x="5394960" y="1783080"/>
            <a:ext cx="457200" cy="45720"/>
          </a:xfrm>
          <a:prstGeom prst="rect">
            <a:avLst/>
          </a:prstGeom>
          <a:solidFill>
            <a:srgbClr val="D7F25A"/>
          </a:solidFill>
          <a:ln w="12700">
            <a:solidFill>
              <a:srgbClr val="D7F25A"/>
            </a:solidFill>
            <a:prstDash val="solid"/>
          </a:ln>
        </p:spPr>
      </p:sp>
      <p:sp>
        <p:nvSpPr>
          <p:cNvPr id="11" name="Text 8"/>
          <p:cNvSpPr txBox="1"/>
          <p:nvPr/>
        </p:nvSpPr>
        <p:spPr>
          <a:xfrm>
            <a:off x="5394960" y="201168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WORLD</a:t>
            </a:r>
            <a:endParaRPr lang="en-US" sz="750" dirty="0"/>
          </a:p>
        </p:txBody>
      </p:sp>
      <p:sp>
        <p:nvSpPr>
          <p:cNvPr id="12" name="Text 9"/>
          <p:cNvSpPr txBox="1"/>
          <p:nvPr/>
        </p:nvSpPr>
        <p:spPr>
          <a:xfrm>
            <a:off x="6675120" y="198424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Matte black rubber gym flooring · water droplets on the case · a pinch of chalk dust in the air</a:t>
            </a:r>
            <a:endParaRPr lang="en-US" sz="1050" dirty="0"/>
          </a:p>
        </p:txBody>
      </p:sp>
      <p:sp>
        <p:nvSpPr>
          <p:cNvPr id="13" name="Text 10"/>
          <p:cNvSpPr txBox="1"/>
          <p:nvPr/>
        </p:nvSpPr>
        <p:spPr>
          <a:xfrm>
            <a:off x="5394960" y="278892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LIGHT</a:t>
            </a:r>
            <a:endParaRPr lang="en-US" sz="750" dirty="0"/>
          </a:p>
        </p:txBody>
      </p:sp>
      <p:sp>
        <p:nvSpPr>
          <p:cNvPr id="14" name="Text 11"/>
          <p:cNvSpPr txBox="1"/>
          <p:nvPr/>
        </p:nvSpPr>
        <p:spPr>
          <a:xfrm>
            <a:off x="6675120" y="276148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Hard top-light strip + crisp rim; droplets lit from behind so they sparkle. 5600 K.</a:t>
            </a:r>
            <a:endParaRPr lang="en-US" sz="1050" dirty="0"/>
          </a:p>
        </p:txBody>
      </p:sp>
      <p:sp>
        <p:nvSpPr>
          <p:cNvPr id="15" name="Text 12"/>
          <p:cNvSpPr txBox="1"/>
          <p:nvPr/>
        </p:nvSpPr>
        <p:spPr>
          <a:xfrm>
            <a:off x="5394960" y="356616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PROPS</a:t>
            </a:r>
            <a:endParaRPr lang="en-US" sz="750" dirty="0"/>
          </a:p>
        </p:txBody>
      </p:sp>
      <p:sp>
        <p:nvSpPr>
          <p:cNvPr id="16" name="Text 13"/>
          <p:cNvSpPr txBox="1"/>
          <p:nvPr/>
        </p:nvSpPr>
        <p:spPr>
          <a:xfrm>
            <a:off x="6675120" y="353872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Rubber gym tile, spray bottle (glycerine + water), climbing chalk, a dumbbell handle edge out of focus</a:t>
            </a:r>
            <a:endParaRPr lang="en-US" sz="1050" dirty="0"/>
          </a:p>
        </p:txBody>
      </p:sp>
      <p:sp>
        <p:nvSpPr>
          <p:cNvPr id="17" name="Text 14"/>
          <p:cNvSpPr txBox="1"/>
          <p:nvPr/>
        </p:nvSpPr>
        <p:spPr>
          <a:xfrm>
            <a:off x="5394960" y="434340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ENDS ON</a:t>
            </a:r>
            <a:endParaRPr lang="en-US" sz="750" dirty="0"/>
          </a:p>
        </p:txBody>
      </p:sp>
      <p:sp>
        <p:nvSpPr>
          <p:cNvPr id="18" name="Text 15"/>
          <p:cNvSpPr txBox="1"/>
          <p:nvPr/>
        </p:nvSpPr>
        <p:spPr>
          <a:xfrm>
            <a:off x="6675120" y="431596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Here's to your sweat. The frame should feel like the line.</a:t>
            </a:r>
            <a:endParaRPr lang="en-US" sz="1050" dirty="0"/>
          </a:p>
        </p:txBody>
      </p:sp>
      <p:sp>
        <p:nvSpPr>
          <p:cNvPr id="19" name="Text 16"/>
          <p:cNvSpPr txBox="1"/>
          <p:nvPr/>
        </p:nvSpPr>
        <p:spPr>
          <a:xfrm>
            <a:off x="5394960" y="516636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HERO FRAMES</a:t>
            </a:r>
            <a:endParaRPr lang="en-US" sz="750" dirty="0"/>
          </a:p>
        </p:txBody>
      </p:sp>
      <p:sp>
        <p:nvSpPr>
          <p:cNvPr id="20" name="Text 17"/>
          <p:cNvSpPr txBox="1"/>
          <p:nvPr/>
        </p:nvSpPr>
        <p:spPr>
          <a:xfrm>
            <a:off x="5394960" y="5440680"/>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1.  Hero upright on the rubber tile, droplets on the crystal</a:t>
            </a:r>
            <a:endParaRPr lang="en-US" sz="1000" dirty="0"/>
          </a:p>
        </p:txBody>
      </p:sp>
      <p:sp>
        <p:nvSpPr>
          <p:cNvPr id="21" name="Text 18"/>
          <p:cNvSpPr txBox="1"/>
          <p:nvPr/>
        </p:nvSpPr>
        <p:spPr>
          <a:xfrm>
            <a:off x="5394960" y="5733288"/>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2.  Chalk puff behind, 1/2000 s freeze</a:t>
            </a:r>
            <a:endParaRPr lang="en-US" sz="1000" dirty="0"/>
          </a:p>
        </p:txBody>
      </p:sp>
      <p:sp>
        <p:nvSpPr>
          <p:cNvPr id="22" name="Text 19"/>
          <p:cNvSpPr txBox="1"/>
          <p:nvPr/>
        </p:nvSpPr>
        <p:spPr>
          <a:xfrm>
            <a:off x="5394960" y="6025896"/>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3.  Macro: droplet sliding down the mint strap</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 2 · CERULEAN</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07</a:t>
            </a:r>
            <a:endParaRPr lang="en-US" sz="750" dirty="0"/>
          </a:p>
        </p:txBody>
      </p:sp>
      <p:pic>
        <p:nvPicPr>
          <p:cNvPr id="4" name="Image 0" descr="/tmp/claude-0/-home-user-Sage-portfolio/d05fecce-977e-5eab-9cf5-7c09b306c551/scratchpad/wrdeck/gen/day2/cerulean.jpg">    </p:cNvPr>
          <p:cNvPicPr>
            <a:picLocks noChangeAspect="1"/>
          </p:cNvPicPr>
          <p:nvPr/>
        </p:nvPicPr>
        <p:blipFill>
          <a:blip r:embed="rId1"/>
          <a:srcRect l="0" r="0" t="0" b="0"/>
          <a:stretch/>
        </p:blipFill>
        <p:spPr>
          <a:xfrm>
            <a:off x="0" y="0"/>
            <a:ext cx="4937760" cy="6400800"/>
          </a:xfrm>
          <a:prstGeom prst="rect">
            <a:avLst/>
          </a:prstGeom>
        </p:spPr>
      </p:pic>
      <p:sp>
        <p:nvSpPr>
          <p:cNvPr id="5" name="Shape 2"/>
          <p:cNvSpPr/>
          <p:nvPr/>
        </p:nvSpPr>
        <p:spPr>
          <a:xfrm>
            <a:off x="0" y="6126480"/>
            <a:ext cx="4937760" cy="274320"/>
          </a:xfrm>
          <a:prstGeom prst="rect">
            <a:avLst/>
          </a:prstGeom>
          <a:solidFill>
            <a:srgbClr val="0B0B0A"/>
          </a:solidFill>
          <a:ln w="12700">
            <a:solidFill>
              <a:srgbClr val="0B0B0A"/>
            </a:solidFill>
            <a:prstDash val="solid"/>
          </a:ln>
        </p:spPr>
      </p:sp>
      <p:sp>
        <p:nvSpPr>
          <p:cNvPr id="6" name="Text 3"/>
          <p:cNvSpPr txBox="1"/>
          <p:nvPr/>
        </p:nvSpPr>
        <p:spPr>
          <a:xfrm>
            <a:off x="182880" y="6163056"/>
            <a:ext cx="4572000" cy="201168"/>
          </a:xfrm>
          <a:prstGeom prst="rect">
            <a:avLst/>
          </a:prstGeom>
          <a:noFill/>
          <a:ln/>
        </p:spPr>
        <p:txBody>
          <a:bodyPr wrap="square" lIns="0" tIns="0" rIns="0" bIns="0" rtlCol="0" anchor="t"/>
          <a:lstStyle/>
          <a:p>
            <a:pPr indent="0" marL="0">
              <a:buNone/>
            </a:pPr>
            <a:r>
              <a:rPr lang="en-US" sz="700" b="1" spc="200" kern="0" dirty="0">
                <a:solidFill>
                  <a:srgbClr val="9C978E"/>
                </a:solidFill>
                <a:latin typeface="Inter" pitchFamily="34" charset="0"/>
                <a:ea typeface="Inter" pitchFamily="34" charset="-122"/>
                <a:cs typeface="Inter" pitchFamily="34" charset="-120"/>
              </a:rPr>
              <a:t>AI MOOD FRAME · FOR LIGHT, MATERIAL AND COMPOSITION</a:t>
            </a:r>
            <a:endParaRPr lang="en-US" sz="700" dirty="0"/>
          </a:p>
        </p:txBody>
      </p:sp>
      <p:sp>
        <p:nvSpPr>
          <p:cNvPr id="7" name="Text 4"/>
          <p:cNvSpPr txBox="1"/>
          <p:nvPr/>
        </p:nvSpPr>
        <p:spPr>
          <a:xfrm>
            <a:off x="5394960" y="502920"/>
            <a:ext cx="7315200" cy="274320"/>
          </a:xfrm>
          <a:prstGeom prst="rect">
            <a:avLst/>
          </a:prstGeom>
          <a:noFill/>
          <a:ln/>
        </p:spPr>
        <p:txBody>
          <a:bodyPr wrap="square" lIns="0" tIns="0" rIns="0" bIns="0" rtlCol="0" anchor="t"/>
          <a:lstStyle/>
          <a:p>
            <a:pPr indent="0" marL="0">
              <a:buNone/>
            </a:pPr>
            <a:r>
              <a:rPr lang="en-US" sz="900" b="1" spc="400" kern="0" dirty="0">
                <a:solidFill>
                  <a:srgbClr val="8EC9EE"/>
                </a:solidFill>
                <a:latin typeface="Inter" pitchFamily="34" charset="0"/>
                <a:ea typeface="Inter" pitchFamily="34" charset="-122"/>
                <a:cs typeface="Inter" pitchFamily="34" charset="-120"/>
              </a:rPr>
              <a:t>SET 2  ·  MATERIAL WORLD  ·  03</a:t>
            </a:r>
            <a:endParaRPr lang="en-US" sz="900" dirty="0"/>
          </a:p>
        </p:txBody>
      </p:sp>
      <p:sp>
        <p:nvSpPr>
          <p:cNvPr id="8" name="Text 5"/>
          <p:cNvSpPr txBox="1"/>
          <p:nvPr/>
        </p:nvSpPr>
        <p:spPr>
          <a:xfrm>
            <a:off x="5394960" y="777240"/>
            <a:ext cx="64008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CERULEAN</a:t>
            </a:r>
            <a:endParaRPr lang="en-US" sz="3400" dirty="0"/>
          </a:p>
        </p:txBody>
      </p:sp>
      <p:sp>
        <p:nvSpPr>
          <p:cNvPr id="9" name="Text 6"/>
          <p:cNvSpPr txBox="1"/>
          <p:nvPr/>
        </p:nvSpPr>
        <p:spPr>
          <a:xfrm>
            <a:off x="5394960" y="1417320"/>
            <a:ext cx="6400800" cy="2743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Sky-blue case · white waffle dial · navy strap</a:t>
            </a:r>
            <a:endParaRPr lang="en-US" sz="1000" dirty="0"/>
          </a:p>
        </p:txBody>
      </p:sp>
      <p:sp>
        <p:nvSpPr>
          <p:cNvPr id="10" name="Shape 7"/>
          <p:cNvSpPr/>
          <p:nvPr/>
        </p:nvSpPr>
        <p:spPr>
          <a:xfrm>
            <a:off x="5394960" y="1783080"/>
            <a:ext cx="457200" cy="45720"/>
          </a:xfrm>
          <a:prstGeom prst="rect">
            <a:avLst/>
          </a:prstGeom>
          <a:solidFill>
            <a:srgbClr val="8EC9EE"/>
          </a:solidFill>
          <a:ln w="12700">
            <a:solidFill>
              <a:srgbClr val="8EC9EE"/>
            </a:solidFill>
            <a:prstDash val="solid"/>
          </a:ln>
        </p:spPr>
      </p:sp>
      <p:sp>
        <p:nvSpPr>
          <p:cNvPr id="11" name="Text 8"/>
          <p:cNvSpPr txBox="1"/>
          <p:nvPr/>
        </p:nvSpPr>
        <p:spPr>
          <a:xfrm>
            <a:off x="5394960" y="201168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WORLD</a:t>
            </a:r>
            <a:endParaRPr lang="en-US" sz="750" dirty="0"/>
          </a:p>
        </p:txBody>
      </p:sp>
      <p:sp>
        <p:nvSpPr>
          <p:cNvPr id="12" name="Text 9"/>
          <p:cNvSpPr txBox="1"/>
          <p:nvPr/>
        </p:nvSpPr>
        <p:spPr>
          <a:xfrm>
            <a:off x="6675120" y="198424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Clear acrylic stand standing in shallow water · rippling caustic light · a white sky behind</a:t>
            </a:r>
            <a:endParaRPr lang="en-US" sz="1050" dirty="0"/>
          </a:p>
        </p:txBody>
      </p:sp>
      <p:sp>
        <p:nvSpPr>
          <p:cNvPr id="13" name="Text 10"/>
          <p:cNvSpPr txBox="1"/>
          <p:nvPr/>
        </p:nvSpPr>
        <p:spPr>
          <a:xfrm>
            <a:off x="5394960" y="278892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LIGHT</a:t>
            </a:r>
            <a:endParaRPr lang="en-US" sz="750" dirty="0"/>
          </a:p>
        </p:txBody>
      </p:sp>
      <p:sp>
        <p:nvSpPr>
          <p:cNvPr id="14" name="Text 11"/>
          <p:cNvSpPr txBox="1"/>
          <p:nvPr/>
        </p:nvSpPr>
        <p:spPr>
          <a:xfrm>
            <a:off x="6675120" y="276148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Hard light through a water tray above = moving caustics; soft white backlight for the sky. 6000 K.</a:t>
            </a:r>
            <a:endParaRPr lang="en-US" sz="1050" dirty="0"/>
          </a:p>
        </p:txBody>
      </p:sp>
      <p:sp>
        <p:nvSpPr>
          <p:cNvPr id="15" name="Text 12"/>
          <p:cNvSpPr txBox="1"/>
          <p:nvPr/>
        </p:nvSpPr>
        <p:spPr>
          <a:xfrm>
            <a:off x="5394960" y="356616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PROPS</a:t>
            </a:r>
            <a:endParaRPr lang="en-US" sz="750" dirty="0"/>
          </a:p>
        </p:txBody>
      </p:sp>
      <p:sp>
        <p:nvSpPr>
          <p:cNvPr id="16" name="Text 13"/>
          <p:cNvSpPr txBox="1"/>
          <p:nvPr/>
        </p:nvSpPr>
        <p:spPr>
          <a:xfrm>
            <a:off x="6675120" y="353872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Glass tray with 2 cm water, clear acrylic block, small pump or hand ripple, white sweep</a:t>
            </a:r>
            <a:endParaRPr lang="en-US" sz="1050" dirty="0"/>
          </a:p>
        </p:txBody>
      </p:sp>
      <p:sp>
        <p:nvSpPr>
          <p:cNvPr id="17" name="Text 14"/>
          <p:cNvSpPr txBox="1"/>
          <p:nvPr/>
        </p:nvSpPr>
        <p:spPr>
          <a:xfrm>
            <a:off x="5394960" y="434340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ENDS ON</a:t>
            </a:r>
            <a:endParaRPr lang="en-US" sz="750" dirty="0"/>
          </a:p>
        </p:txBody>
      </p:sp>
      <p:sp>
        <p:nvSpPr>
          <p:cNvPr id="18" name="Text 15"/>
          <p:cNvSpPr txBox="1"/>
          <p:nvPr/>
        </p:nvSpPr>
        <p:spPr>
          <a:xfrm>
            <a:off x="6675120" y="431596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Here's to your freedom. The frame should feel like the line.</a:t>
            </a:r>
            <a:endParaRPr lang="en-US" sz="1050" dirty="0"/>
          </a:p>
        </p:txBody>
      </p:sp>
      <p:sp>
        <p:nvSpPr>
          <p:cNvPr id="19" name="Text 16"/>
          <p:cNvSpPr txBox="1"/>
          <p:nvPr/>
        </p:nvSpPr>
        <p:spPr>
          <a:xfrm>
            <a:off x="5394960" y="516636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HERO FRAMES</a:t>
            </a:r>
            <a:endParaRPr lang="en-US" sz="750" dirty="0"/>
          </a:p>
        </p:txBody>
      </p:sp>
      <p:sp>
        <p:nvSpPr>
          <p:cNvPr id="20" name="Text 17"/>
          <p:cNvSpPr txBox="1"/>
          <p:nvPr/>
        </p:nvSpPr>
        <p:spPr>
          <a:xfrm>
            <a:off x="5394960" y="5440680"/>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1.  Hero upright in the water, caustics across the dial</a:t>
            </a:r>
            <a:endParaRPr lang="en-US" sz="1000" dirty="0"/>
          </a:p>
        </p:txBody>
      </p:sp>
      <p:sp>
        <p:nvSpPr>
          <p:cNvPr id="21" name="Text 18"/>
          <p:cNvSpPr txBox="1"/>
          <p:nvPr/>
        </p:nvSpPr>
        <p:spPr>
          <a:xfrm>
            <a:off x="5394960" y="5733288"/>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2.  Splash crown frozen at 1/4000 s (watch rated?)</a:t>
            </a:r>
            <a:endParaRPr lang="en-US" sz="1000" dirty="0"/>
          </a:p>
        </p:txBody>
      </p:sp>
      <p:sp>
        <p:nvSpPr>
          <p:cNvPr id="22" name="Text 19"/>
          <p:cNvSpPr txBox="1"/>
          <p:nvPr/>
        </p:nvSpPr>
        <p:spPr>
          <a:xfrm>
            <a:off x="5394960" y="6025896"/>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3.  Top-down: watch above ripples, sky reflected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 2 · ROYAL TANGERINE</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08</a:t>
            </a:r>
            <a:endParaRPr lang="en-US" sz="750" dirty="0"/>
          </a:p>
        </p:txBody>
      </p:sp>
      <p:pic>
        <p:nvPicPr>
          <p:cNvPr id="4" name="Image 0" descr="/tmp/claude-0/-home-user-Sage-portfolio/d05fecce-977e-5eab-9cf5-7c09b306c551/scratchpad/wrdeck/gen/day2/tangerine.jpg">    </p:cNvPr>
          <p:cNvPicPr>
            <a:picLocks noChangeAspect="1"/>
          </p:cNvPicPr>
          <p:nvPr/>
        </p:nvPicPr>
        <p:blipFill>
          <a:blip r:embed="rId1"/>
          <a:srcRect l="0" r="0" t="0" b="0"/>
          <a:stretch/>
        </p:blipFill>
        <p:spPr>
          <a:xfrm>
            <a:off x="0" y="0"/>
            <a:ext cx="4937760" cy="6400800"/>
          </a:xfrm>
          <a:prstGeom prst="rect">
            <a:avLst/>
          </a:prstGeom>
        </p:spPr>
      </p:pic>
      <p:sp>
        <p:nvSpPr>
          <p:cNvPr id="5" name="Shape 2"/>
          <p:cNvSpPr/>
          <p:nvPr/>
        </p:nvSpPr>
        <p:spPr>
          <a:xfrm>
            <a:off x="0" y="6126480"/>
            <a:ext cx="4937760" cy="274320"/>
          </a:xfrm>
          <a:prstGeom prst="rect">
            <a:avLst/>
          </a:prstGeom>
          <a:solidFill>
            <a:srgbClr val="0B0B0A"/>
          </a:solidFill>
          <a:ln w="12700">
            <a:solidFill>
              <a:srgbClr val="0B0B0A"/>
            </a:solidFill>
            <a:prstDash val="solid"/>
          </a:ln>
        </p:spPr>
      </p:sp>
      <p:sp>
        <p:nvSpPr>
          <p:cNvPr id="6" name="Text 3"/>
          <p:cNvSpPr txBox="1"/>
          <p:nvPr/>
        </p:nvSpPr>
        <p:spPr>
          <a:xfrm>
            <a:off x="182880" y="6163056"/>
            <a:ext cx="4572000" cy="201168"/>
          </a:xfrm>
          <a:prstGeom prst="rect">
            <a:avLst/>
          </a:prstGeom>
          <a:noFill/>
          <a:ln/>
        </p:spPr>
        <p:txBody>
          <a:bodyPr wrap="square" lIns="0" tIns="0" rIns="0" bIns="0" rtlCol="0" anchor="t"/>
          <a:lstStyle/>
          <a:p>
            <a:pPr indent="0" marL="0">
              <a:buNone/>
            </a:pPr>
            <a:r>
              <a:rPr lang="en-US" sz="700" b="1" spc="200" kern="0" dirty="0">
                <a:solidFill>
                  <a:srgbClr val="9C978E"/>
                </a:solidFill>
                <a:latin typeface="Inter" pitchFamily="34" charset="0"/>
                <a:ea typeface="Inter" pitchFamily="34" charset="-122"/>
                <a:cs typeface="Inter" pitchFamily="34" charset="-120"/>
              </a:rPr>
              <a:t>AI MOOD FRAME · FOR LIGHT, MATERIAL AND COMPOSITION</a:t>
            </a:r>
            <a:endParaRPr lang="en-US" sz="700" dirty="0"/>
          </a:p>
        </p:txBody>
      </p:sp>
      <p:sp>
        <p:nvSpPr>
          <p:cNvPr id="7" name="Text 4"/>
          <p:cNvSpPr txBox="1"/>
          <p:nvPr/>
        </p:nvSpPr>
        <p:spPr>
          <a:xfrm>
            <a:off x="5394960" y="502920"/>
            <a:ext cx="7315200" cy="274320"/>
          </a:xfrm>
          <a:prstGeom prst="rect">
            <a:avLst/>
          </a:prstGeom>
          <a:noFill/>
          <a:ln/>
        </p:spPr>
        <p:txBody>
          <a:bodyPr wrap="square" lIns="0" tIns="0" rIns="0" bIns="0" rtlCol="0" anchor="t"/>
          <a:lstStyle/>
          <a:p>
            <a:pPr indent="0" marL="0">
              <a:buNone/>
            </a:pPr>
            <a:r>
              <a:rPr lang="en-US" sz="900" b="1" spc="400" kern="0" dirty="0">
                <a:solidFill>
                  <a:srgbClr val="F28C28"/>
                </a:solidFill>
                <a:latin typeface="Inter" pitchFamily="34" charset="0"/>
                <a:ea typeface="Inter" pitchFamily="34" charset="-122"/>
                <a:cs typeface="Inter" pitchFamily="34" charset="-120"/>
              </a:rPr>
              <a:t>SET 2  ·  MATERIAL WORLD  ·  04</a:t>
            </a:r>
            <a:endParaRPr lang="en-US" sz="900" dirty="0"/>
          </a:p>
        </p:txBody>
      </p:sp>
      <p:sp>
        <p:nvSpPr>
          <p:cNvPr id="8" name="Text 5"/>
          <p:cNvSpPr txBox="1"/>
          <p:nvPr/>
        </p:nvSpPr>
        <p:spPr>
          <a:xfrm>
            <a:off x="5394960" y="777240"/>
            <a:ext cx="64008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ROYAL TANGERINE</a:t>
            </a:r>
            <a:endParaRPr lang="en-US" sz="3400" dirty="0"/>
          </a:p>
        </p:txBody>
      </p:sp>
      <p:sp>
        <p:nvSpPr>
          <p:cNvPr id="9" name="Text 6"/>
          <p:cNvSpPr txBox="1"/>
          <p:nvPr/>
        </p:nvSpPr>
        <p:spPr>
          <a:xfrm>
            <a:off x="5394960" y="1417320"/>
            <a:ext cx="6400800" cy="2743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Royal-blue case · orange striped dial · orange strap</a:t>
            </a:r>
            <a:endParaRPr lang="en-US" sz="1000" dirty="0"/>
          </a:p>
        </p:txBody>
      </p:sp>
      <p:sp>
        <p:nvSpPr>
          <p:cNvPr id="10" name="Shape 7"/>
          <p:cNvSpPr/>
          <p:nvPr/>
        </p:nvSpPr>
        <p:spPr>
          <a:xfrm>
            <a:off x="5394960" y="1783080"/>
            <a:ext cx="457200" cy="45720"/>
          </a:xfrm>
          <a:prstGeom prst="rect">
            <a:avLst/>
          </a:prstGeom>
          <a:solidFill>
            <a:srgbClr val="F28C28"/>
          </a:solidFill>
          <a:ln w="12700">
            <a:solidFill>
              <a:srgbClr val="F28C28"/>
            </a:solidFill>
            <a:prstDash val="solid"/>
          </a:ln>
        </p:spPr>
      </p:sp>
      <p:sp>
        <p:nvSpPr>
          <p:cNvPr id="11" name="Text 8"/>
          <p:cNvSpPr txBox="1"/>
          <p:nvPr/>
        </p:nvSpPr>
        <p:spPr>
          <a:xfrm>
            <a:off x="5394960" y="201168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WORLD</a:t>
            </a:r>
            <a:endParaRPr lang="en-US" sz="750" dirty="0"/>
          </a:p>
        </p:txBody>
      </p:sp>
      <p:sp>
        <p:nvSpPr>
          <p:cNvPr id="12" name="Text 9"/>
          <p:cNvSpPr txBox="1"/>
          <p:nvPr/>
        </p:nvSpPr>
        <p:spPr>
          <a:xfrm>
            <a:off x="6675120" y="198424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Brushed steel and concrete steps · a hard orange light slash · architectural lines</a:t>
            </a:r>
            <a:endParaRPr lang="en-US" sz="1050" dirty="0"/>
          </a:p>
        </p:txBody>
      </p:sp>
      <p:sp>
        <p:nvSpPr>
          <p:cNvPr id="13" name="Text 10"/>
          <p:cNvSpPr txBox="1"/>
          <p:nvPr/>
        </p:nvSpPr>
        <p:spPr>
          <a:xfrm>
            <a:off x="5394960" y="278892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LIGHT</a:t>
            </a:r>
            <a:endParaRPr lang="en-US" sz="750" dirty="0"/>
          </a:p>
        </p:txBody>
      </p:sp>
      <p:sp>
        <p:nvSpPr>
          <p:cNvPr id="14" name="Text 11"/>
          <p:cNvSpPr txBox="1"/>
          <p:nvPr/>
        </p:nvSpPr>
        <p:spPr>
          <a:xfrm>
            <a:off x="6675120" y="276148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One hard orange-gelled slash (snoot/blind) across a royal-blue scene; cool steel fill. Mixed 3200 K / 5600 K.</a:t>
            </a:r>
            <a:endParaRPr lang="en-US" sz="1050" dirty="0"/>
          </a:p>
        </p:txBody>
      </p:sp>
      <p:sp>
        <p:nvSpPr>
          <p:cNvPr id="15" name="Text 12"/>
          <p:cNvSpPr txBox="1"/>
          <p:nvPr/>
        </p:nvSpPr>
        <p:spPr>
          <a:xfrm>
            <a:off x="5394960" y="356616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PROPS</a:t>
            </a:r>
            <a:endParaRPr lang="en-US" sz="750" dirty="0"/>
          </a:p>
        </p:txBody>
      </p:sp>
      <p:sp>
        <p:nvSpPr>
          <p:cNvPr id="16" name="Text 13"/>
          <p:cNvSpPr txBox="1"/>
          <p:nvPr/>
        </p:nvSpPr>
        <p:spPr>
          <a:xfrm>
            <a:off x="6675120" y="353872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Brushed-steel sheet, 2 concrete blocks as steps, venetian-blind gobo, orange CTO gel</a:t>
            </a:r>
            <a:endParaRPr lang="en-US" sz="1050" dirty="0"/>
          </a:p>
        </p:txBody>
      </p:sp>
      <p:sp>
        <p:nvSpPr>
          <p:cNvPr id="17" name="Text 14"/>
          <p:cNvSpPr txBox="1"/>
          <p:nvPr/>
        </p:nvSpPr>
        <p:spPr>
          <a:xfrm>
            <a:off x="5394960" y="434340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ENDS ON</a:t>
            </a:r>
            <a:endParaRPr lang="en-US" sz="750" dirty="0"/>
          </a:p>
        </p:txBody>
      </p:sp>
      <p:sp>
        <p:nvSpPr>
          <p:cNvPr id="18" name="Text 15"/>
          <p:cNvSpPr txBox="1"/>
          <p:nvPr/>
        </p:nvSpPr>
        <p:spPr>
          <a:xfrm>
            <a:off x="6675120" y="431596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Here's to your journey. The frame should feel like the line.</a:t>
            </a:r>
            <a:endParaRPr lang="en-US" sz="1050" dirty="0"/>
          </a:p>
        </p:txBody>
      </p:sp>
      <p:sp>
        <p:nvSpPr>
          <p:cNvPr id="19" name="Text 16"/>
          <p:cNvSpPr txBox="1"/>
          <p:nvPr/>
        </p:nvSpPr>
        <p:spPr>
          <a:xfrm>
            <a:off x="5394960" y="516636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HERO FRAMES</a:t>
            </a:r>
            <a:endParaRPr lang="en-US" sz="750" dirty="0"/>
          </a:p>
        </p:txBody>
      </p:sp>
      <p:sp>
        <p:nvSpPr>
          <p:cNvPr id="20" name="Text 17"/>
          <p:cNvSpPr txBox="1"/>
          <p:nvPr/>
        </p:nvSpPr>
        <p:spPr>
          <a:xfrm>
            <a:off x="5394960" y="5440680"/>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1.  Hero upright on the top step, orange slash across the dial</a:t>
            </a:r>
            <a:endParaRPr lang="en-US" sz="1000" dirty="0"/>
          </a:p>
        </p:txBody>
      </p:sp>
      <p:sp>
        <p:nvSpPr>
          <p:cNvPr id="21" name="Text 18"/>
          <p:cNvSpPr txBox="1"/>
          <p:nvPr/>
        </p:nvSpPr>
        <p:spPr>
          <a:xfrm>
            <a:off x="5394960" y="5733288"/>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2.  Low angle "climbing" composition up the steps</a:t>
            </a:r>
            <a:endParaRPr lang="en-US" sz="1000" dirty="0"/>
          </a:p>
        </p:txBody>
      </p:sp>
      <p:sp>
        <p:nvSpPr>
          <p:cNvPr id="22" name="Text 19"/>
          <p:cNvSpPr txBox="1"/>
          <p:nvPr/>
        </p:nvSpPr>
        <p:spPr>
          <a:xfrm>
            <a:off x="5394960" y="6025896"/>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3.  Macro: stripes of the dial echoing the blind shadows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 2 · CRIMSON NAVY</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09</a:t>
            </a:r>
            <a:endParaRPr lang="en-US" sz="750" dirty="0"/>
          </a:p>
        </p:txBody>
      </p:sp>
      <p:pic>
        <p:nvPicPr>
          <p:cNvPr id="4" name="Image 0" descr="/tmp/claude-0/-home-user-Sage-portfolio/d05fecce-977e-5eab-9cf5-7c09b306c551/scratchpad/wrdeck/gen/day2/crimson.jpg">    </p:cNvPr>
          <p:cNvPicPr>
            <a:picLocks noChangeAspect="1"/>
          </p:cNvPicPr>
          <p:nvPr/>
        </p:nvPicPr>
        <p:blipFill>
          <a:blip r:embed="rId1"/>
          <a:srcRect l="0" r="0" t="0" b="0"/>
          <a:stretch/>
        </p:blipFill>
        <p:spPr>
          <a:xfrm>
            <a:off x="0" y="0"/>
            <a:ext cx="4937760" cy="6400800"/>
          </a:xfrm>
          <a:prstGeom prst="rect">
            <a:avLst/>
          </a:prstGeom>
        </p:spPr>
      </p:pic>
      <p:sp>
        <p:nvSpPr>
          <p:cNvPr id="5" name="Shape 2"/>
          <p:cNvSpPr/>
          <p:nvPr/>
        </p:nvSpPr>
        <p:spPr>
          <a:xfrm>
            <a:off x="0" y="6126480"/>
            <a:ext cx="4937760" cy="274320"/>
          </a:xfrm>
          <a:prstGeom prst="rect">
            <a:avLst/>
          </a:prstGeom>
          <a:solidFill>
            <a:srgbClr val="0B0B0A"/>
          </a:solidFill>
          <a:ln w="12700">
            <a:solidFill>
              <a:srgbClr val="0B0B0A"/>
            </a:solidFill>
            <a:prstDash val="solid"/>
          </a:ln>
        </p:spPr>
      </p:sp>
      <p:sp>
        <p:nvSpPr>
          <p:cNvPr id="6" name="Text 3"/>
          <p:cNvSpPr txBox="1"/>
          <p:nvPr/>
        </p:nvSpPr>
        <p:spPr>
          <a:xfrm>
            <a:off x="182880" y="6163056"/>
            <a:ext cx="4572000" cy="201168"/>
          </a:xfrm>
          <a:prstGeom prst="rect">
            <a:avLst/>
          </a:prstGeom>
          <a:noFill/>
          <a:ln/>
        </p:spPr>
        <p:txBody>
          <a:bodyPr wrap="square" lIns="0" tIns="0" rIns="0" bIns="0" rtlCol="0" anchor="t"/>
          <a:lstStyle/>
          <a:p>
            <a:pPr indent="0" marL="0">
              <a:buNone/>
            </a:pPr>
            <a:r>
              <a:rPr lang="en-US" sz="700" b="1" spc="200" kern="0" dirty="0">
                <a:solidFill>
                  <a:srgbClr val="9C978E"/>
                </a:solidFill>
                <a:latin typeface="Inter" pitchFamily="34" charset="0"/>
                <a:ea typeface="Inter" pitchFamily="34" charset="-122"/>
                <a:cs typeface="Inter" pitchFamily="34" charset="-120"/>
              </a:rPr>
              <a:t>AI MOOD FRAME · FOR LIGHT, MATERIAL AND COMPOSITION</a:t>
            </a:r>
            <a:endParaRPr lang="en-US" sz="700" dirty="0"/>
          </a:p>
        </p:txBody>
      </p:sp>
      <p:sp>
        <p:nvSpPr>
          <p:cNvPr id="7" name="Text 4"/>
          <p:cNvSpPr txBox="1"/>
          <p:nvPr/>
        </p:nvSpPr>
        <p:spPr>
          <a:xfrm>
            <a:off x="5394960" y="502920"/>
            <a:ext cx="7315200" cy="274320"/>
          </a:xfrm>
          <a:prstGeom prst="rect">
            <a:avLst/>
          </a:prstGeom>
          <a:noFill/>
          <a:ln/>
        </p:spPr>
        <p:txBody>
          <a:bodyPr wrap="square" lIns="0" tIns="0" rIns="0" bIns="0" rtlCol="0" anchor="t"/>
          <a:lstStyle/>
          <a:p>
            <a:pPr indent="0" marL="0">
              <a:buNone/>
            </a:pPr>
            <a:r>
              <a:rPr lang="en-US" sz="900" b="1" spc="400" kern="0" dirty="0">
                <a:solidFill>
                  <a:srgbClr val="D2283A"/>
                </a:solidFill>
                <a:latin typeface="Inter" pitchFamily="34" charset="0"/>
                <a:ea typeface="Inter" pitchFamily="34" charset="-122"/>
                <a:cs typeface="Inter" pitchFamily="34" charset="-120"/>
              </a:rPr>
              <a:t>SET 2  ·  MATERIAL WORLD  ·  05</a:t>
            </a:r>
            <a:endParaRPr lang="en-US" sz="900" dirty="0"/>
          </a:p>
        </p:txBody>
      </p:sp>
      <p:sp>
        <p:nvSpPr>
          <p:cNvPr id="8" name="Text 5"/>
          <p:cNvSpPr txBox="1"/>
          <p:nvPr/>
        </p:nvSpPr>
        <p:spPr>
          <a:xfrm>
            <a:off x="5394960" y="777240"/>
            <a:ext cx="64008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CRIMSON NAVY</a:t>
            </a:r>
            <a:endParaRPr lang="en-US" sz="3400" dirty="0"/>
          </a:p>
        </p:txBody>
      </p:sp>
      <p:sp>
        <p:nvSpPr>
          <p:cNvPr id="9" name="Text 6"/>
          <p:cNvSpPr txBox="1"/>
          <p:nvPr/>
        </p:nvSpPr>
        <p:spPr>
          <a:xfrm>
            <a:off x="5394960" y="1417320"/>
            <a:ext cx="6400800" cy="274320"/>
          </a:xfrm>
          <a:prstGeom prst="rect">
            <a:avLst/>
          </a:prstGeom>
          <a:noFill/>
          <a:ln/>
        </p:spPr>
        <p:txBody>
          <a:bodyPr wrap="square" lIns="0" tIns="0" rIns="0" bIns="0" rtlCol="0" anchor="t"/>
          <a:lstStyle/>
          <a:p>
            <a:pPr indent="0" marL="0">
              <a:buNone/>
            </a:pPr>
            <a:r>
              <a:rPr lang="en-US" sz="1000" dirty="0">
                <a:solidFill>
                  <a:srgbClr val="9C978E"/>
                </a:solidFill>
                <a:latin typeface="Inter" pitchFamily="34" charset="0"/>
                <a:ea typeface="Inter" pitchFamily="34" charset="-122"/>
                <a:cs typeface="Inter" pitchFamily="34" charset="-120"/>
              </a:rPr>
              <a:t>Navy case · red textured dial · red strap · rose-gold hands</a:t>
            </a:r>
            <a:endParaRPr lang="en-US" sz="1000" dirty="0"/>
          </a:p>
        </p:txBody>
      </p:sp>
      <p:sp>
        <p:nvSpPr>
          <p:cNvPr id="10" name="Shape 7"/>
          <p:cNvSpPr/>
          <p:nvPr/>
        </p:nvSpPr>
        <p:spPr>
          <a:xfrm>
            <a:off x="5394960" y="1783080"/>
            <a:ext cx="457200" cy="45720"/>
          </a:xfrm>
          <a:prstGeom prst="rect">
            <a:avLst/>
          </a:prstGeom>
          <a:solidFill>
            <a:srgbClr val="D2283A"/>
          </a:solidFill>
          <a:ln w="12700">
            <a:solidFill>
              <a:srgbClr val="D2283A"/>
            </a:solidFill>
            <a:prstDash val="solid"/>
          </a:ln>
        </p:spPr>
      </p:sp>
      <p:sp>
        <p:nvSpPr>
          <p:cNvPr id="11" name="Text 8"/>
          <p:cNvSpPr txBox="1"/>
          <p:nvPr/>
        </p:nvSpPr>
        <p:spPr>
          <a:xfrm>
            <a:off x="5394960" y="201168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WORLD</a:t>
            </a:r>
            <a:endParaRPr lang="en-US" sz="750" dirty="0"/>
          </a:p>
        </p:txBody>
      </p:sp>
      <p:sp>
        <p:nvSpPr>
          <p:cNvPr id="12" name="Text 9"/>
          <p:cNvSpPr txBox="1"/>
          <p:nvPr/>
        </p:nvSpPr>
        <p:spPr>
          <a:xfrm>
            <a:off x="6675120" y="198424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Black leather + a fold of red silk · night · a single hard spot</a:t>
            </a:r>
            <a:endParaRPr lang="en-US" sz="1050" dirty="0"/>
          </a:p>
        </p:txBody>
      </p:sp>
      <p:sp>
        <p:nvSpPr>
          <p:cNvPr id="13" name="Text 10"/>
          <p:cNvSpPr txBox="1"/>
          <p:nvPr/>
        </p:nvSpPr>
        <p:spPr>
          <a:xfrm>
            <a:off x="5394960" y="278892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LIGHT</a:t>
            </a:r>
            <a:endParaRPr lang="en-US" sz="750" dirty="0"/>
          </a:p>
        </p:txBody>
      </p:sp>
      <p:sp>
        <p:nvSpPr>
          <p:cNvPr id="14" name="Text 11"/>
          <p:cNvSpPr txBox="1"/>
          <p:nvPr/>
        </p:nvSpPr>
        <p:spPr>
          <a:xfrm>
            <a:off x="6675120" y="276148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Single hard spot (fresnel) from high side, deep shadow, red edge light. Low key.</a:t>
            </a:r>
            <a:endParaRPr lang="en-US" sz="1050" dirty="0"/>
          </a:p>
        </p:txBody>
      </p:sp>
      <p:sp>
        <p:nvSpPr>
          <p:cNvPr id="15" name="Text 12"/>
          <p:cNvSpPr txBox="1"/>
          <p:nvPr/>
        </p:nvSpPr>
        <p:spPr>
          <a:xfrm>
            <a:off x="5394960" y="356616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PROPS</a:t>
            </a:r>
            <a:endParaRPr lang="en-US" sz="750" dirty="0"/>
          </a:p>
        </p:txBody>
      </p:sp>
      <p:sp>
        <p:nvSpPr>
          <p:cNvPr id="16" name="Text 13"/>
          <p:cNvSpPr txBox="1"/>
          <p:nvPr/>
        </p:nvSpPr>
        <p:spPr>
          <a:xfrm>
            <a:off x="6675120" y="353872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Black leather swatch (car-seat grain), red silk, black acrylic for reflections, smoke (optional)</a:t>
            </a:r>
            <a:endParaRPr lang="en-US" sz="1050" dirty="0"/>
          </a:p>
        </p:txBody>
      </p:sp>
      <p:sp>
        <p:nvSpPr>
          <p:cNvPr id="17" name="Text 14"/>
          <p:cNvSpPr txBox="1"/>
          <p:nvPr/>
        </p:nvSpPr>
        <p:spPr>
          <a:xfrm>
            <a:off x="5394960" y="4343400"/>
            <a:ext cx="18288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ENDS ON</a:t>
            </a:r>
            <a:endParaRPr lang="en-US" sz="750" dirty="0"/>
          </a:p>
        </p:txBody>
      </p:sp>
      <p:sp>
        <p:nvSpPr>
          <p:cNvPr id="18" name="Text 15"/>
          <p:cNvSpPr txBox="1"/>
          <p:nvPr/>
        </p:nvSpPr>
        <p:spPr>
          <a:xfrm>
            <a:off x="6675120" y="4315968"/>
            <a:ext cx="4937760" cy="731520"/>
          </a:xfrm>
          <a:prstGeom prst="rect">
            <a:avLst/>
          </a:prstGeom>
          <a:noFill/>
          <a:ln/>
        </p:spPr>
        <p:txBody>
          <a:bodyPr wrap="square" lIns="0" tIns="0" rIns="0" bIns="0" rtlCol="0" anchor="t"/>
          <a:lstStyle/>
          <a:p>
            <a:pPr indent="0" marL="0">
              <a:buNone/>
            </a:pPr>
            <a:r>
              <a:rPr lang="en-US" sz="1050" dirty="0">
                <a:solidFill>
                  <a:srgbClr val="F2EDE4"/>
                </a:solidFill>
                <a:latin typeface="Inter" pitchFamily="34" charset="0"/>
                <a:ea typeface="Inter" pitchFamily="34" charset="-122"/>
                <a:cs typeface="Inter" pitchFamily="34" charset="-120"/>
              </a:rPr>
              <a:t>Here's to your power. The frame should feel like the line.</a:t>
            </a:r>
            <a:endParaRPr lang="en-US" sz="1050" dirty="0"/>
          </a:p>
        </p:txBody>
      </p:sp>
      <p:sp>
        <p:nvSpPr>
          <p:cNvPr id="19" name="Text 16"/>
          <p:cNvSpPr txBox="1"/>
          <p:nvPr/>
        </p:nvSpPr>
        <p:spPr>
          <a:xfrm>
            <a:off x="5394960" y="5166360"/>
            <a:ext cx="27432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HERO FRAMES</a:t>
            </a:r>
            <a:endParaRPr lang="en-US" sz="750" dirty="0"/>
          </a:p>
        </p:txBody>
      </p:sp>
      <p:sp>
        <p:nvSpPr>
          <p:cNvPr id="20" name="Text 17"/>
          <p:cNvSpPr txBox="1"/>
          <p:nvPr/>
        </p:nvSpPr>
        <p:spPr>
          <a:xfrm>
            <a:off x="5394960" y="5440680"/>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1.  Hero upright on black leather, red silk falling behind</a:t>
            </a:r>
            <a:endParaRPr lang="en-US" sz="1000" dirty="0"/>
          </a:p>
        </p:txBody>
      </p:sp>
      <p:sp>
        <p:nvSpPr>
          <p:cNvPr id="21" name="Text 18"/>
          <p:cNvSpPr txBox="1"/>
          <p:nvPr/>
        </p:nvSpPr>
        <p:spPr>
          <a:xfrm>
            <a:off x="5394960" y="5733288"/>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2.  Reflection on black acrylic, spot only</a:t>
            </a:r>
            <a:endParaRPr lang="en-US" sz="1000" dirty="0"/>
          </a:p>
        </p:txBody>
      </p:sp>
      <p:sp>
        <p:nvSpPr>
          <p:cNvPr id="22" name="Text 19"/>
          <p:cNvSpPr txBox="1"/>
          <p:nvPr/>
        </p:nvSpPr>
        <p:spPr>
          <a:xfrm>
            <a:off x="5394960" y="6025896"/>
            <a:ext cx="6217920" cy="27432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3.  Glow transition: lights off, case lume takes over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SETS 3 &amp; 4 · MACRO AND GLOW</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10</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SET 3  ·  10:45–11:30  ·  MACRO</a:t>
            </a:r>
            <a:endParaRPr lang="en-US" sz="900" dirty="0"/>
          </a:p>
        </p:txBody>
      </p:sp>
      <p:sp>
        <p:nvSpPr>
          <p:cNvPr id="5" name="Text 3"/>
          <p:cNvSpPr txBox="1"/>
          <p:nvPr/>
        </p:nvSpPr>
        <p:spPr>
          <a:xfrm>
            <a:off x="548640" y="777240"/>
            <a:ext cx="5486400" cy="465513"/>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WHERE SIX YEARS SHOW.</a:t>
            </a:r>
            <a:endParaRPr lang="en-US" sz="2800" dirty="0"/>
          </a:p>
        </p:txBody>
      </p:sp>
      <p:pic>
        <p:nvPicPr>
          <p:cNvPr id="6" name="Image 0" descr="/tmp/claude-0/-home-user-Sage-portfolio/d05fecce-977e-5eab-9cf5-7c09b306c551/scratchpad/wrdeck/img/crop_caseback.jpg">    </p:cNvPr>
          <p:cNvPicPr>
            <a:picLocks noChangeAspect="1"/>
          </p:cNvPicPr>
          <p:nvPr/>
        </p:nvPicPr>
        <p:blipFill>
          <a:blip r:embed="rId1"/>
          <a:srcRect l="0" r="0" t="0" b="0"/>
          <a:stretch/>
        </p:blipFill>
        <p:spPr>
          <a:xfrm>
            <a:off x="548640" y="1508760"/>
            <a:ext cx="2651760" cy="3017520"/>
          </a:xfrm>
          <a:prstGeom prst="rect">
            <a:avLst/>
          </a:prstGeom>
        </p:spPr>
      </p:pic>
      <p:pic>
        <p:nvPicPr>
          <p:cNvPr id="7" name="Image 1" descr="/tmp/claude-0/-home-user-Sage-portfolio/d05fecce-977e-5eab-9cf5-7c09b306c551/scratchpad/wrdeck/img/crop_green.jpg">    </p:cNvPr>
          <p:cNvPicPr>
            <a:picLocks noChangeAspect="1"/>
          </p:cNvPicPr>
          <p:nvPr/>
        </p:nvPicPr>
        <p:blipFill>
          <a:blip r:embed="rId2"/>
          <a:srcRect l="0" r="0" t="0" b="0"/>
          <a:stretch/>
        </p:blipFill>
        <p:spPr>
          <a:xfrm>
            <a:off x="3291840" y="1508760"/>
            <a:ext cx="2651760" cy="3017520"/>
          </a:xfrm>
          <a:prstGeom prst="rect">
            <a:avLst/>
          </a:prstGeom>
        </p:spPr>
      </p:pic>
      <p:sp>
        <p:nvSpPr>
          <p:cNvPr id="8" name="Text 4"/>
          <p:cNvSpPr txBox="1"/>
          <p:nvPr/>
        </p:nvSpPr>
        <p:spPr>
          <a:xfrm>
            <a:off x="548640" y="4663440"/>
            <a:ext cx="5394960" cy="1554480"/>
          </a:xfrm>
          <a:prstGeom prst="rect">
            <a:avLst/>
          </a:prstGeom>
          <a:noFill/>
          <a:ln/>
        </p:spPr>
        <p:txBody>
          <a:bodyPr wrap="square" lIns="0" tIns="0" rIns="0" bIns="0" rtlCol="0" anchor="t"/>
          <a:lstStyle/>
          <a:p>
            <a:pPr indent="0" marL="0">
              <a:spcAft>
                <a:spcPts val="200"/>
              </a:spcAft>
              <a:buNone/>
            </a:pPr>
            <a:r>
              <a:rPr lang="en-US" sz="1000" dirty="0">
                <a:solidFill>
                  <a:srgbClr val="F2EDE4"/>
                </a:solidFill>
                <a:latin typeface="Inter" pitchFamily="34" charset="0"/>
                <a:ea typeface="Inter" pitchFamily="34" charset="-122"/>
                <a:cs typeface="Inter" pitchFamily="34" charset="-120"/>
              </a:rPr>
              <a:t>1.  Eight screws, one by one, same light</a:t>
            </a:r>
            <a:endParaRPr lang="en-US" sz="1000" dirty="0"/>
          </a:p>
          <a:p>
            <a:pPr indent="0" marL="0">
              <a:spcAft>
                <a:spcPts val="200"/>
              </a:spcAft>
              <a:buNone/>
            </a:pPr>
            <a:r>
              <a:rPr lang="en-US" sz="1000" dirty="0">
                <a:solidFill>
                  <a:srgbClr val="F2EDE4"/>
                </a:solidFill>
                <a:latin typeface="Inter" pitchFamily="34" charset="0"/>
                <a:ea typeface="Inter" pitchFamily="34" charset="-122"/>
                <a:cs typeface="Inter" pitchFamily="34" charset="-120"/>
              </a:rPr>
              <a:t>2.  WR monogram on the dial</a:t>
            </a:r>
            <a:endParaRPr lang="en-US" sz="1000" dirty="0"/>
          </a:p>
          <a:p>
            <a:pPr indent="0" marL="0">
              <a:spcAft>
                <a:spcPts val="200"/>
              </a:spcAft>
              <a:buNone/>
            </a:pPr>
            <a:r>
              <a:rPr lang="en-US" sz="1000" dirty="0">
                <a:solidFill>
                  <a:srgbClr val="F2EDE4"/>
                </a:solidFill>
                <a:latin typeface="Inter" pitchFamily="34" charset="0"/>
                <a:ea typeface="Inter" pitchFamily="34" charset="-122"/>
                <a:cs typeface="Inter" pitchFamily="34" charset="-120"/>
              </a:rPr>
              <a:t>3.  Waffle texture raking light at 10°</a:t>
            </a:r>
            <a:endParaRPr lang="en-US" sz="1000" dirty="0"/>
          </a:p>
          <a:p>
            <a:pPr indent="0" marL="0">
              <a:spcAft>
                <a:spcPts val="200"/>
              </a:spcAft>
              <a:buNone/>
            </a:pPr>
            <a:r>
              <a:rPr lang="en-US" sz="1000" dirty="0">
                <a:solidFill>
                  <a:srgbClr val="F2EDE4"/>
                </a:solidFill>
                <a:latin typeface="Inter" pitchFamily="34" charset="0"/>
                <a:ea typeface="Inter" pitchFamily="34" charset="-122"/>
                <a:cs typeface="Inter" pitchFamily="34" charset="-120"/>
              </a:rPr>
              <a:t>4.  Crown with its knurling</a:t>
            </a:r>
            <a:endParaRPr lang="en-US" sz="1000" dirty="0"/>
          </a:p>
          <a:p>
            <a:pPr indent="0" marL="0">
              <a:spcAft>
                <a:spcPts val="200"/>
              </a:spcAft>
              <a:buNone/>
            </a:pPr>
            <a:r>
              <a:rPr lang="en-US" sz="1000" dirty="0">
                <a:solidFill>
                  <a:srgbClr val="F2EDE4"/>
                </a:solidFill>
                <a:latin typeface="Inter" pitchFamily="34" charset="0"/>
                <a:ea typeface="Inter" pitchFamily="34" charset="-122"/>
                <a:cs typeface="Inter" pitchFamily="34" charset="-120"/>
              </a:rPr>
              <a:t>5.  Caseback crest + 001/500 engraving</a:t>
            </a:r>
            <a:endParaRPr lang="en-US" sz="1000" dirty="0"/>
          </a:p>
          <a:p>
            <a:pPr indent="0" marL="0">
              <a:spcAft>
                <a:spcPts val="200"/>
              </a:spcAft>
              <a:buNone/>
            </a:pPr>
            <a:r>
              <a:rPr lang="en-US" sz="1000" dirty="0">
                <a:solidFill>
                  <a:srgbClr val="F2EDE4"/>
                </a:solidFill>
                <a:latin typeface="Inter" pitchFamily="34" charset="0"/>
                <a:ea typeface="Inter" pitchFamily="34" charset="-122"/>
                <a:cs typeface="Inter" pitchFamily="34" charset="-120"/>
              </a:rPr>
              <a:t>6.  Strap grain and stitching, clasp closing</a:t>
            </a:r>
            <a:endParaRPr lang="en-US" sz="1000" dirty="0"/>
          </a:p>
        </p:txBody>
      </p:sp>
      <p:sp>
        <p:nvSpPr>
          <p:cNvPr id="9" name="Text 5"/>
          <p:cNvSpPr txBox="1"/>
          <p:nvPr/>
        </p:nvSpPr>
        <p:spPr>
          <a:xfrm>
            <a:off x="6400800" y="502920"/>
            <a:ext cx="7315200" cy="274320"/>
          </a:xfrm>
          <a:prstGeom prst="rect">
            <a:avLst/>
          </a:prstGeom>
          <a:noFill/>
          <a:ln/>
        </p:spPr>
        <p:txBody>
          <a:bodyPr wrap="square" lIns="0" tIns="0" rIns="0" bIns="0" rtlCol="0" anchor="t"/>
          <a:lstStyle/>
          <a:p>
            <a:pPr indent="0" marL="0">
              <a:buNone/>
            </a:pPr>
            <a:r>
              <a:rPr lang="en-US" sz="900" b="1" spc="400" kern="0" dirty="0">
                <a:solidFill>
                  <a:srgbClr val="5CFF7A"/>
                </a:solidFill>
                <a:latin typeface="Inter" pitchFamily="34" charset="0"/>
                <a:ea typeface="Inter" pitchFamily="34" charset="-122"/>
                <a:cs typeface="Inter" pitchFamily="34" charset="-120"/>
              </a:rPr>
              <a:t>SET 4  ·  11:30–12:00  ·  GLOW</a:t>
            </a:r>
            <a:endParaRPr lang="en-US" sz="900" dirty="0"/>
          </a:p>
        </p:txBody>
      </p:sp>
      <p:sp>
        <p:nvSpPr>
          <p:cNvPr id="10" name="Text 6"/>
          <p:cNvSpPr txBox="1"/>
          <p:nvPr/>
        </p:nvSpPr>
        <p:spPr>
          <a:xfrm>
            <a:off x="6400800" y="777240"/>
            <a:ext cx="5486400" cy="465513"/>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LIGHTS OFF. IT TAKES OVER.</a:t>
            </a:r>
            <a:endParaRPr lang="en-US" sz="2800" dirty="0"/>
          </a:p>
        </p:txBody>
      </p:sp>
      <p:pic>
        <p:nvPicPr>
          <p:cNvPr id="11" name="Image 2" descr="/tmp/claude-0/-home-user-Sage-portfolio/d05fecce-977e-5eab-9cf5-7c09b306c551/scratchpad/wrdeck/img/crop_glow.jpg">    </p:cNvPr>
          <p:cNvPicPr>
            <a:picLocks noChangeAspect="1"/>
          </p:cNvPicPr>
          <p:nvPr/>
        </p:nvPicPr>
        <p:blipFill>
          <a:blip r:embed="rId3"/>
          <a:srcRect l="0" r="0" t="0" b="0"/>
          <a:stretch/>
        </p:blipFill>
        <p:spPr>
          <a:xfrm>
            <a:off x="6400800" y="1508760"/>
            <a:ext cx="2651760" cy="3017520"/>
          </a:xfrm>
          <a:prstGeom prst="rect">
            <a:avLst/>
          </a:prstGeom>
        </p:spPr>
      </p:pic>
      <p:pic>
        <p:nvPicPr>
          <p:cNvPr id="12" name="Image 3" descr="/tmp/claude-0/-home-user-Sage-portfolio/d05fecce-977e-5eab-9cf5-7c09b306c551/scratchpad/wrdeck/img/ai_orange_glow.jpg">    </p:cNvPr>
          <p:cNvPicPr>
            <a:picLocks noChangeAspect="1"/>
          </p:cNvPicPr>
          <p:nvPr/>
        </p:nvPicPr>
        <p:blipFill>
          <a:blip r:embed="rId4"/>
          <a:srcRect l="0" r="0" t="0" b="0"/>
          <a:stretch/>
        </p:blipFill>
        <p:spPr>
          <a:xfrm>
            <a:off x="9144000" y="1508760"/>
            <a:ext cx="2651760" cy="3017520"/>
          </a:xfrm>
          <a:prstGeom prst="rect">
            <a:avLst/>
          </a:prstGeom>
        </p:spPr>
      </p:pic>
      <p:sp>
        <p:nvSpPr>
          <p:cNvPr id="13" name="Text 7"/>
          <p:cNvSpPr txBox="1"/>
          <p:nvPr/>
        </p:nvSpPr>
        <p:spPr>
          <a:xfrm>
            <a:off x="6400800" y="4663440"/>
            <a:ext cx="5394960" cy="1554480"/>
          </a:xfrm>
          <a:prstGeom prst="rect">
            <a:avLst/>
          </a:prstGeom>
          <a:noFill/>
          <a:ln/>
        </p:spPr>
        <p:txBody>
          <a:bodyPr wrap="square" lIns="0" tIns="0" rIns="0" bIns="0" rtlCol="0" anchor="t"/>
          <a:lstStyle/>
          <a:p>
            <a:pPr indent="0" marL="0">
              <a:buNone/>
            </a:pPr>
            <a:r>
              <a:rPr lang="en-US" sz="1000" dirty="0">
                <a:solidFill>
                  <a:srgbClr val="F2EDE4"/>
                </a:solidFill>
                <a:latin typeface="Inter" pitchFamily="34" charset="0"/>
                <a:ea typeface="Inter" pitchFamily="34" charset="-122"/>
                <a:cs typeface="Inter" pitchFamily="34" charset="-120"/>
              </a:rPr>
              <a:t>Charge each watch 60 s with a UV torch, kill every light, shoot at 2–4 s exposures on a tripod. Then one video: lights on → lights off, the case glows up. One frame per watch + the glow-up reel.</a:t>
            </a:r>
            <a:endParaRPr lang="en-US" sz="1000" dirty="0"/>
          </a:p>
          <a:p>
            <a:pPr indent="0" marL="0">
              <a:buNone/>
            </a:pPr>
            <a:endParaRPr lang="en-US" sz="1000" dirty="0"/>
          </a:p>
          <a:p>
            <a:pPr indent="0" marL="0">
              <a:buNone/>
            </a:pPr>
            <a:r>
              <a:rPr lang="en-US" sz="1000" dirty="0">
                <a:solidFill>
                  <a:srgbClr val="F2EDE4"/>
                </a:solidFill>
                <a:latin typeface="Inter" pitchFamily="34" charset="0"/>
                <a:ea typeface="Inter" pitchFamily="34" charset="-122"/>
                <a:cs typeface="Inter" pitchFamily="34" charset="-120"/>
              </a:rPr>
              <a:t>Check which of the five glow full-case (we know one does) and match the plan to that.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SETS 5 &amp; 6 · MOTION, PACKAGING, KIT</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11</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SET 5  ·  MOTION   ·   SET 6  ·  PACKAGING</a:t>
            </a:r>
            <a:endParaRPr lang="en-US" sz="900" dirty="0"/>
          </a:p>
        </p:txBody>
      </p:sp>
      <p:sp>
        <p:nvSpPr>
          <p:cNvPr id="5" name="Text 3"/>
          <p:cNvSpPr txBox="1"/>
          <p:nvPr/>
        </p:nvSpPr>
        <p:spPr>
          <a:xfrm>
            <a:off x="548640" y="777240"/>
            <a:ext cx="10972800" cy="465513"/>
          </a:xfrm>
          <a:prstGeom prst="rect">
            <a:avLst/>
          </a:prstGeom>
          <a:noFill/>
          <a:ln/>
        </p:spPr>
        <p:txBody>
          <a:bodyPr wrap="square" lIns="0" tIns="0" rIns="0" bIns="0" rtlCol="0" anchor="t"/>
          <a:lstStyle/>
          <a:p>
            <a:pPr indent="0" marL="0">
              <a:buNone/>
            </a:pPr>
            <a:r>
              <a:rPr lang="en-US" sz="2800" b="1" spc="100" kern="0" dirty="0">
                <a:solidFill>
                  <a:srgbClr val="F2EDE4"/>
                </a:solidFill>
                <a:latin typeface="Oswald" pitchFamily="34" charset="0"/>
                <a:ea typeface="Oswald" pitchFamily="34" charset="-122"/>
                <a:cs typeface="Oswald" pitchFamily="34" charset="-120"/>
              </a:rPr>
              <a:t>MAKE IT MOVE. MAKE IT ARRIVE.</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766560" cy="914400"/>
        </p:xfrm>
        <a:graphic>
          <a:graphicData uri="http://schemas.openxmlformats.org/drawingml/2006/table">
            <a:tbl>
              <a:tblPr/>
              <a:tblGrid>
                <a:gridCol w="1463040"/>
                <a:gridCol w="3657600"/>
                <a:gridCol w="1645920"/>
              </a:tblGrid>
              <a:tr h="502920">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SHOT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HOW</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USE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502920">
                <a:tc>
                  <a:txBody>
                    <a:bodyPr/>
                    <a:lstStyle/>
                    <a:p>
                      <a:pPr indent="0" marL="0">
                        <a:buNone/>
                      </a:pPr>
                      <a:r>
                        <a:rPr lang="en-US" sz="950" dirty="0">
                          <a:solidFill>
                            <a:srgbClr val="C9A45C"/>
                          </a:solidFill>
                          <a:latin typeface="Inter" pitchFamily="34" charset="0"/>
                          <a:ea typeface="Inter" pitchFamily="34" charset="-122"/>
                          <a:cs typeface="Inter" pitchFamily="34" charset="-120"/>
                        </a:rPr>
                        <a:t>360° turntable</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Watch upright on a motorised turntable, 10 s loop, each colour seamless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Website, reel openers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02920">
                <a:tc>
                  <a:txBody>
                    <a:bodyPr/>
                    <a:lstStyle/>
                    <a:p>
                      <a:pPr indent="0" marL="0">
                        <a:buNone/>
                      </a:pPr>
                      <a:r>
                        <a:rPr lang="en-US" sz="950" dirty="0">
                          <a:solidFill>
                            <a:srgbClr val="C9A45C"/>
                          </a:solidFill>
                          <a:latin typeface="Inter" pitchFamily="34" charset="0"/>
                          <a:ea typeface="Inter" pitchFamily="34" charset="-122"/>
                          <a:cs typeface="Inter" pitchFamily="34" charset="-120"/>
                        </a:rPr>
                        <a:t>Light sweep</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A strip light passes across the dial on a slider; the waffle lights up line by line</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Reel transitions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02920">
                <a:tc>
                  <a:txBody>
                    <a:bodyPr/>
                    <a:lstStyle/>
                    <a:p>
                      <a:pPr indent="0" marL="0">
                        <a:buNone/>
                      </a:pPr>
                      <a:r>
                        <a:rPr lang="en-US" sz="950" dirty="0">
                          <a:solidFill>
                            <a:srgbClr val="C9A45C"/>
                          </a:solidFill>
                          <a:latin typeface="Inter" pitchFamily="34" charset="0"/>
                          <a:ea typeface="Inter" pitchFamily="34" charset="-122"/>
                          <a:cs typeface="Inter" pitchFamily="34" charset="-120"/>
                        </a:rPr>
                        <a:t>Cerulean splash</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Water splash crown frozen at 1/4000 s; only if the rating is confirmed</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Cerulean hero</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02920">
                <a:tc>
                  <a:txBody>
                    <a:bodyPr/>
                    <a:lstStyle/>
                    <a:p>
                      <a:pPr indent="0" marL="0">
                        <a:buNone/>
                      </a:pPr>
                      <a:r>
                        <a:rPr lang="en-US" sz="950" dirty="0">
                          <a:solidFill>
                            <a:srgbClr val="C9A45C"/>
                          </a:solidFill>
                          <a:latin typeface="Inter" pitchFamily="34" charset="0"/>
                          <a:ea typeface="Inter" pitchFamily="34" charset="-122"/>
                          <a:cs typeface="Inter" pitchFamily="34" charset="-120"/>
                        </a:rPr>
                        <a:t>Strap flex</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Hands bend the strap slowly, macro on the grain</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Quality story</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02920">
                <a:tc>
                  <a:txBody>
                    <a:bodyPr/>
                    <a:lstStyle/>
                    <a:p>
                      <a:pPr indent="0" marL="0">
                        <a:buNone/>
                      </a:pPr>
                      <a:r>
                        <a:rPr lang="en-US" sz="950" dirty="0">
                          <a:solidFill>
                            <a:srgbClr val="C9A45C"/>
                          </a:solidFill>
                          <a:latin typeface="Inter" pitchFamily="34" charset="0"/>
                          <a:ea typeface="Inter" pitchFamily="34" charset="-122"/>
                          <a:cs typeface="Inter" pitchFamily="34" charset="-120"/>
                        </a:rPr>
                        <a:t>Unboxing</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Magnetic lid opening (record the "thock"), watch lifted, the 001/500 card turned</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Unboxing reel, launch</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7" name="Text 4"/>
          <p:cNvSpPr txBox="1"/>
          <p:nvPr/>
        </p:nvSpPr>
        <p:spPr>
          <a:xfrm>
            <a:off x="7680960" y="1508760"/>
            <a:ext cx="3657600" cy="201168"/>
          </a:xfrm>
          <a:prstGeom prst="rect">
            <a:avLst/>
          </a:prstGeom>
          <a:noFill/>
          <a:ln/>
        </p:spPr>
        <p:txBody>
          <a:bodyPr wrap="square" lIns="0" tIns="0" rIns="0" bIns="0" rtlCol="0" anchor="t"/>
          <a:lstStyle/>
          <a:p>
            <a:pPr indent="0" marL="0">
              <a:buNone/>
            </a:pPr>
            <a:r>
              <a:rPr lang="en-US" sz="750" b="1" spc="300" kern="0" dirty="0">
                <a:solidFill>
                  <a:srgbClr val="C9A45C"/>
                </a:solidFill>
                <a:latin typeface="Inter" pitchFamily="34" charset="0"/>
                <a:ea typeface="Inter" pitchFamily="34" charset="-122"/>
                <a:cs typeface="Inter" pitchFamily="34" charset="-120"/>
              </a:rPr>
              <a:t>KIT FOR THE HALF DAY</a:t>
            </a:r>
            <a:endParaRPr lang="en-US" sz="750" dirty="0"/>
          </a:p>
        </p:txBody>
      </p:sp>
      <p:sp>
        <p:nvSpPr>
          <p:cNvPr id="8" name="Text 5"/>
          <p:cNvSpPr txBox="1"/>
          <p:nvPr/>
        </p:nvSpPr>
        <p:spPr>
          <a:xfrm>
            <a:off x="7680960" y="1783080"/>
            <a:ext cx="4023360" cy="4206240"/>
          </a:xfrm>
          <a:prstGeom prst="rect">
            <a:avLst/>
          </a:prstGeom>
          <a:noFill/>
          <a:ln/>
        </p:spPr>
        <p:txBody>
          <a:bodyPr wrap="square" lIns="0" tIns="0" rIns="0" bIns="0" rtlCol="0" anchor="t"/>
          <a:lstStyle/>
          <a:p>
            <a:pPr indent="0" marL="0">
              <a:spcAft>
                <a:spcPts val="300"/>
              </a:spcAft>
              <a:buNone/>
            </a:pPr>
            <a:r>
              <a:rPr lang="en-US" sz="1000" dirty="0">
                <a:solidFill>
                  <a:srgbClr val="F2EDE4"/>
                </a:solidFill>
                <a:latin typeface="Inter" pitchFamily="34" charset="0"/>
                <a:ea typeface="Inter" pitchFamily="34" charset="-122"/>
                <a:cs typeface="Inter" pitchFamily="34" charset="-120"/>
              </a:rPr>
              <a:t>·  Camera + 100 mm macro + 50 mm, tethered laptop</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2 strobes, 1 fresnel spot, 2 strip softboxes, snoot, gels (CTO, green, blue, red)</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Focus-stacking rail</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Motorised turntable</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Acrylic stands ×5, sandstone, rubber tile, steel sheet, leather, silk, water tray</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Seamless paper: ivory, lime, sky, royal blue, navy</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UV torch, glycerine spray, chalk, blower, gloves, lint-free cloths</a:t>
            </a:r>
            <a:endParaRPr lang="en-US" sz="1000" dirty="0"/>
          </a:p>
          <a:p>
            <a:pPr indent="0" marL="0">
              <a:spcAft>
                <a:spcPts val="300"/>
              </a:spcAft>
              <a:buNone/>
            </a:pPr>
            <a:r>
              <a:rPr lang="en-US" sz="1000" dirty="0">
                <a:solidFill>
                  <a:srgbClr val="F2EDE4"/>
                </a:solidFill>
                <a:latin typeface="Inter" pitchFamily="34" charset="0"/>
                <a:ea typeface="Inter" pitchFamily="34" charset="-122"/>
                <a:cs typeface="Inter" pitchFamily="34" charset="-120"/>
              </a:rPr>
              <a:t>·  Hand model (glow + unboxing)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FILM</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12</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FOUNDER FILM  ·  NEETU TO CAMERA  ·  ~80 S</a:t>
            </a:r>
            <a:endParaRPr lang="en-US" sz="900" dirty="0"/>
          </a:p>
        </p:txBody>
      </p:sp>
      <p:sp>
        <p:nvSpPr>
          <p:cNvPr id="5" name="Text 3"/>
          <p:cNvSpPr txBox="1"/>
          <p:nvPr/>
        </p:nvSpPr>
        <p:spPr>
          <a:xfrm>
            <a:off x="548640" y="777240"/>
            <a:ext cx="10972800" cy="498764"/>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SIX YEARS FOR FIVE WATCHES.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640080"/>
                <a:gridCol w="6309360"/>
                <a:gridCol w="4114800"/>
              </a:tblGrid>
              <a:tr h="56692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TIME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NEETU SAYS (TO CAMERA)</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WE SEE (B-ROLL)</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0:00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"People ask me why a watch takes so long to make. Ours took six years."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Her face, then the caseback crest in macro</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0:08</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"It started in 2020. The world had stopped, and suddenly all of us were looking at time differently. That's when I started drawing this."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Old sketchbook pages, the first rectangle case drawn in pencil</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0:20</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"Since then, my team and I have argued over things most people will never notice. The depth of a screw. The weight of the crown. How a strap feels at eleven at night, after a sixteen-hour day."</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The team at a table, loupe on a dial, a screw turned under a lamp</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0:36</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"Our straps are made to the same standard as the world's most expensive watch houses."  [If confirmed and cleared: "the same standard as Jacob &amp; Co."]</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Strap flex macro, stitching, clasp closing</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0:46</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"Every case, every dial, every number on the back is checked by hand. If it wasn't right, we started again. We once rejected an entire packaging run because the lid closed too fast."</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Hands checking each watch, a box lid closing slowly, the 001/500 card</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1:02</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"Because the people who wear this built everything they have themselves. They deserve something made with the same obsession."</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The five watches upright in a row on their colours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566928">
                <a:tc>
                  <a:txBody>
                    <a:bodyPr/>
                    <a:lstStyle/>
                    <a:p>
                      <a:pPr indent="0" marL="0">
                        <a:buNone/>
                      </a:pPr>
                      <a:r>
                        <a:rPr lang="en-US" sz="950" dirty="0">
                          <a:solidFill>
                            <a:srgbClr val="C9A45C"/>
                          </a:solidFill>
                          <a:latin typeface="Inter" pitchFamily="34" charset="0"/>
                          <a:ea typeface="Inter" pitchFamily="34" charset="-122"/>
                          <a:cs typeface="Inter" pitchFamily="34" charset="-120"/>
                        </a:rPr>
                        <a:t>1:14</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"Six years. Five watches. Five hundred pieces. This is Wealth Roots."  (beat)  "Wear what's yours."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950" dirty="0">
                          <a:solidFill>
                            <a:srgbClr val="F2EDE4"/>
                          </a:solidFill>
                          <a:latin typeface="Inter" pitchFamily="34" charset="0"/>
                          <a:ea typeface="Inter" pitchFamily="34" charset="-122"/>
                          <a:cs typeface="Inter" pitchFamily="34" charset="-120"/>
                        </a:rPr>
                        <a:t>Her smile; end card: WEALTH ROOTS · WHERE LEGACY BEGINS</a:t>
                      </a:r>
                      <a:endParaRPr lang="en-US" sz="95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REEL · FOREST IVORY</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13</a:t>
            </a:r>
            <a:endParaRPr lang="en-US" sz="750" dirty="0"/>
          </a:p>
        </p:txBody>
      </p:sp>
      <p:pic>
        <p:nvPicPr>
          <p:cNvPr id="4" name="Image 0" descr="/tmp/claude-0/-home-user-Sage-portfolio/d05fecce-977e-5eab-9cf5-7c09b306c551/scratchpad/wrdeck/gen/day2/ivory.jpg">    </p:cNvPr>
          <p:cNvPicPr>
            <a:picLocks noChangeAspect="1"/>
          </p:cNvPicPr>
          <p:nvPr/>
        </p:nvPicPr>
        <p:blipFill>
          <a:blip r:embed="rId1"/>
          <a:srcRect l="0" r="0" t="0" b="0"/>
          <a:stretch/>
        </p:blipFill>
        <p:spPr>
          <a:xfrm>
            <a:off x="8595360" y="0"/>
            <a:ext cx="3593592" cy="6400800"/>
          </a:xfrm>
          <a:prstGeom prst="rect">
            <a:avLst/>
          </a:prstGeom>
        </p:spPr>
      </p:pic>
      <p:sp>
        <p:nvSpPr>
          <p:cNvPr id="5" name="Shape 2"/>
          <p:cNvSpPr/>
          <p:nvPr/>
        </p:nvSpPr>
        <p:spPr>
          <a:xfrm>
            <a:off x="8595360" y="0"/>
            <a:ext cx="54864" cy="6400800"/>
          </a:xfrm>
          <a:prstGeom prst="rect">
            <a:avLst/>
          </a:prstGeom>
          <a:solidFill>
            <a:srgbClr val="E8DFC8"/>
          </a:solidFill>
          <a:ln w="12700">
            <a:solidFill>
              <a:srgbClr val="E8DFC8"/>
            </a:solidFill>
            <a:prstDash val="solid"/>
          </a:ln>
        </p:spPr>
      </p:sp>
      <p:sp>
        <p:nvSpPr>
          <p:cNvPr id="6" name="Text 3"/>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E8DFC8"/>
                </a:solidFill>
                <a:latin typeface="Inter" pitchFamily="34" charset="0"/>
                <a:ea typeface="Inter" pitchFamily="34" charset="-122"/>
                <a:cs typeface="Inter" pitchFamily="34" charset="-120"/>
              </a:rPr>
              <a:t>FOUNDER REEL 01  ·  "IN HER WORDS"  ·  ~30 S  ·  9:16</a:t>
            </a:r>
            <a:endParaRPr lang="en-US" sz="900" dirty="0"/>
          </a:p>
        </p:txBody>
      </p:sp>
      <p:sp>
        <p:nvSpPr>
          <p:cNvPr id="7" name="Text 4"/>
          <p:cNvSpPr txBox="1"/>
          <p:nvPr/>
        </p:nvSpPr>
        <p:spPr>
          <a:xfrm>
            <a:off x="548640" y="777240"/>
            <a:ext cx="77724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FOREST IVORY</a:t>
            </a:r>
            <a:endParaRPr lang="en-US" sz="3400" dirty="0"/>
          </a:p>
        </p:txBody>
      </p:sp>
      <p:sp>
        <p:nvSpPr>
          <p:cNvPr id="8" name="Text 5"/>
          <p:cNvSpPr txBox="1"/>
          <p:nvPr/>
        </p:nvSpPr>
        <p:spPr>
          <a:xfrm>
            <a:off x="548640" y="1417320"/>
            <a:ext cx="7772400" cy="320040"/>
          </a:xfrm>
          <a:prstGeom prst="rect">
            <a:avLst/>
          </a:prstGeom>
          <a:noFill/>
          <a:ln/>
        </p:spPr>
        <p:txBody>
          <a:bodyPr wrap="square" lIns="0" tIns="0" rIns="0" bIns="0" rtlCol="0" anchor="t"/>
          <a:lstStyle/>
          <a:p>
            <a:pPr indent="0" marL="0">
              <a:buNone/>
            </a:pPr>
            <a:r>
              <a:rPr lang="en-US" sz="1300" i="1" dirty="0">
                <a:solidFill>
                  <a:srgbClr val="9C978E"/>
                </a:solidFill>
                <a:latin typeface="Inter" pitchFamily="34" charset="0"/>
                <a:ea typeface="Inter" pitchFamily="34" charset="-122"/>
                <a:cs typeface="Inter" pitchFamily="34" charset="-120"/>
              </a:rPr>
              <a:t>The first one had to be about where we come from.</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772400" cy="914400"/>
        </p:xfrm>
        <a:graphic>
          <a:graphicData uri="http://schemas.openxmlformats.org/drawingml/2006/table">
            <a:tbl>
              <a:tblPr/>
              <a:tblGrid>
                <a:gridCol w="365760"/>
                <a:gridCol w="4480560"/>
                <a:gridCol w="2926080"/>
              </a:tblGrid>
              <a:tr h="65836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NEETU SAYS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WE SEE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E8DFC8"/>
                          </a:solidFill>
                          <a:latin typeface="Inter" pitchFamily="34" charset="0"/>
                          <a:ea typeface="Inter" pitchFamily="34" charset="-122"/>
                          <a:cs typeface="Inter" pitchFamily="34" charset="-120"/>
                        </a:rPr>
                        <a:t>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first one had to be about where we come from."</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Neetu holds Forest Ivory up to the light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E8DFC8"/>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"Ivory, like the stone of Jaipur's palaces. And a deep bottle green, the colour of things that last."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Macro: ivory case edge, then the green strap</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E8DFC8"/>
                          </a:solidFill>
                          <a:latin typeface="Inter" pitchFamily="34" charset="0"/>
                          <a:ea typeface="Inter" pitchFamily="34" charset="-122"/>
                          <a:cs typeface="Inter" pitchFamily="34" charset="-120"/>
                        </a:rPr>
                        <a:t>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 wanted a dial you only notice when the light moves, so we gave it this waffle texture."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Light sweep across the waffle dial</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E8DFC8"/>
                          </a:solidFill>
                          <a:latin typeface="Inter" pitchFamily="34" charset="0"/>
                          <a:ea typeface="Inter" pitchFamily="34" charset="-122"/>
                          <a:cs typeface="Inter" pitchFamily="34" charset="-120"/>
                        </a:rPr>
                        <a:t>4</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"And eight screws, all visible. I didn't want to hide how it's built."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Focus pull across the screws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E8DFC8"/>
                          </a:solidFill>
                          <a:latin typeface="Inter" pitchFamily="34" charset="0"/>
                          <a:ea typeface="Inter" pitchFamily="34" charset="-122"/>
                          <a:cs typeface="Inter" pitchFamily="34" charset="-120"/>
                        </a:rPr>
                        <a:t>5</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"This one is for the person who has gone very far and never forgot where they started. Here's to your roots."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Her to camera; the watch on its sandstone plinth</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10" name="Text 6"/>
          <p:cNvSpPr txBox="1"/>
          <p:nvPr/>
        </p:nvSpPr>
        <p:spPr>
          <a:xfrm>
            <a:off x="548640" y="5715000"/>
            <a:ext cx="7772400" cy="27432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On screen at the end: the watch on its colour  ·  "FOREST IVORY"  ·  WEAR WHAT'S YOURS.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REEL · CITRUS MINT</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14</a:t>
            </a:r>
            <a:endParaRPr lang="en-US" sz="750" dirty="0"/>
          </a:p>
        </p:txBody>
      </p:sp>
      <p:pic>
        <p:nvPicPr>
          <p:cNvPr id="4" name="Image 0" descr="/tmp/claude-0/-home-user-Sage-portfolio/d05fecce-977e-5eab-9cf5-7c09b306c551/scratchpad/wrdeck/gen/day2/mint.jpg">    </p:cNvPr>
          <p:cNvPicPr>
            <a:picLocks noChangeAspect="1"/>
          </p:cNvPicPr>
          <p:nvPr/>
        </p:nvPicPr>
        <p:blipFill>
          <a:blip r:embed="rId1"/>
          <a:srcRect l="0" r="0" t="0" b="0"/>
          <a:stretch/>
        </p:blipFill>
        <p:spPr>
          <a:xfrm>
            <a:off x="8595360" y="0"/>
            <a:ext cx="3593592" cy="6400800"/>
          </a:xfrm>
          <a:prstGeom prst="rect">
            <a:avLst/>
          </a:prstGeom>
        </p:spPr>
      </p:pic>
      <p:sp>
        <p:nvSpPr>
          <p:cNvPr id="5" name="Shape 2"/>
          <p:cNvSpPr/>
          <p:nvPr/>
        </p:nvSpPr>
        <p:spPr>
          <a:xfrm>
            <a:off x="8595360" y="0"/>
            <a:ext cx="54864" cy="6400800"/>
          </a:xfrm>
          <a:prstGeom prst="rect">
            <a:avLst/>
          </a:prstGeom>
          <a:solidFill>
            <a:srgbClr val="D7F25A"/>
          </a:solidFill>
          <a:ln w="12700">
            <a:solidFill>
              <a:srgbClr val="D7F25A"/>
            </a:solidFill>
            <a:prstDash val="solid"/>
          </a:ln>
        </p:spPr>
      </p:sp>
      <p:sp>
        <p:nvSpPr>
          <p:cNvPr id="6" name="Text 3"/>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D7F25A"/>
                </a:solidFill>
                <a:latin typeface="Inter" pitchFamily="34" charset="0"/>
                <a:ea typeface="Inter" pitchFamily="34" charset="-122"/>
                <a:cs typeface="Inter" pitchFamily="34" charset="-120"/>
              </a:rPr>
              <a:t>FOUNDER REEL 02  ·  "IN HER WORDS"  ·  ~30 S  ·  9:16</a:t>
            </a:r>
            <a:endParaRPr lang="en-US" sz="900" dirty="0"/>
          </a:p>
        </p:txBody>
      </p:sp>
      <p:sp>
        <p:nvSpPr>
          <p:cNvPr id="7" name="Text 4"/>
          <p:cNvSpPr txBox="1"/>
          <p:nvPr/>
        </p:nvSpPr>
        <p:spPr>
          <a:xfrm>
            <a:off x="548640" y="777240"/>
            <a:ext cx="77724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CITRUS MINT</a:t>
            </a:r>
            <a:endParaRPr lang="en-US" sz="3400" dirty="0"/>
          </a:p>
        </p:txBody>
      </p:sp>
      <p:sp>
        <p:nvSpPr>
          <p:cNvPr id="8" name="Text 5"/>
          <p:cNvSpPr txBox="1"/>
          <p:nvPr/>
        </p:nvSpPr>
        <p:spPr>
          <a:xfrm>
            <a:off x="548640" y="1417320"/>
            <a:ext cx="7772400" cy="320040"/>
          </a:xfrm>
          <a:prstGeom prst="rect">
            <a:avLst/>
          </a:prstGeom>
          <a:noFill/>
          <a:ln/>
        </p:spPr>
        <p:txBody>
          <a:bodyPr wrap="square" lIns="0" tIns="0" rIns="0" bIns="0" rtlCol="0" anchor="t"/>
          <a:lstStyle/>
          <a:p>
            <a:pPr indent="0" marL="0">
              <a:buNone/>
            </a:pPr>
            <a:r>
              <a:rPr lang="en-US" sz="1300" i="1" dirty="0">
                <a:solidFill>
                  <a:srgbClr val="9C978E"/>
                </a:solidFill>
                <a:latin typeface="Inter" pitchFamily="34" charset="0"/>
                <a:ea typeface="Inter" pitchFamily="34" charset="-122"/>
                <a:cs typeface="Inter" pitchFamily="34" charset="-120"/>
              </a:rPr>
              <a:t>I designed this one for the five a.m. people.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772400" cy="914400"/>
        </p:xfrm>
        <a:graphic>
          <a:graphicData uri="http://schemas.openxmlformats.org/drawingml/2006/table">
            <a:tbl>
              <a:tblPr/>
              <a:tblGrid>
                <a:gridCol w="365760"/>
                <a:gridCol w="4480560"/>
                <a:gridCol w="2926080"/>
              </a:tblGrid>
              <a:tr h="65836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NEETU SAYS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WE SEE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7F25A"/>
                          </a:solidFill>
                          <a:latin typeface="Inter" pitchFamily="34" charset="0"/>
                          <a:ea typeface="Inter" pitchFamily="34" charset="-122"/>
                          <a:cs typeface="Inter" pitchFamily="34" charset="-120"/>
                        </a:rPr>
                        <a:t>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 designed this one for the five a.m. people."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Neetu turns the watch in her hands, morning light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7F25A"/>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"Lime and mint, colours that look like energy, even before your coffee."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Lime case macro, mint dial</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7F25A"/>
                          </a:solidFill>
                          <a:latin typeface="Inter" pitchFamily="34" charset="0"/>
                          <a:ea typeface="Inter" pitchFamily="34" charset="-122"/>
                          <a:cs typeface="Inter" pitchFamily="34" charset="-120"/>
                        </a:rPr>
                        <a:t>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strap had to survive sweat, rain and a hundred bad days. We tested it more than any other."</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Strap flex, water droplets on the case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7F25A"/>
                          </a:solidFill>
                          <a:latin typeface="Inter" pitchFamily="34" charset="0"/>
                          <a:ea typeface="Inter" pitchFamily="34" charset="-122"/>
                          <a:cs typeface="Inter" pitchFamily="34" charset="-120"/>
                        </a:rPr>
                        <a:t>4</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"Light enough to forget, until you look down and remember why you're doing this."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Watch upright on the rubber tile, chalk in the air</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7F25A"/>
                          </a:solidFill>
                          <a:latin typeface="Inter" pitchFamily="34" charset="0"/>
                          <a:ea typeface="Inter" pitchFamily="34" charset="-122"/>
                          <a:cs typeface="Inter" pitchFamily="34" charset="-120"/>
                        </a:rPr>
                        <a:t>5</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"For everyone who shows up when nobody's watching. Here's to your sweat."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Her to camera</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10" name="Text 6"/>
          <p:cNvSpPr txBox="1"/>
          <p:nvPr/>
        </p:nvSpPr>
        <p:spPr>
          <a:xfrm>
            <a:off x="548640" y="5715000"/>
            <a:ext cx="7772400" cy="27432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On screen at the end: the watch on its colour  ·  "CITRUS MINT"  ·  WEAR WHAT'S YOURS.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REEL · CERULEAN</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15</a:t>
            </a:r>
            <a:endParaRPr lang="en-US" sz="750" dirty="0"/>
          </a:p>
        </p:txBody>
      </p:sp>
      <p:pic>
        <p:nvPicPr>
          <p:cNvPr id="4" name="Image 0" descr="/tmp/claude-0/-home-user-Sage-portfolio/d05fecce-977e-5eab-9cf5-7c09b306c551/scratchpad/wrdeck/gen/day2/cerulean.jpg">    </p:cNvPr>
          <p:cNvPicPr>
            <a:picLocks noChangeAspect="1"/>
          </p:cNvPicPr>
          <p:nvPr/>
        </p:nvPicPr>
        <p:blipFill>
          <a:blip r:embed="rId1"/>
          <a:srcRect l="0" r="0" t="0" b="0"/>
          <a:stretch/>
        </p:blipFill>
        <p:spPr>
          <a:xfrm>
            <a:off x="8595360" y="0"/>
            <a:ext cx="3593592" cy="6400800"/>
          </a:xfrm>
          <a:prstGeom prst="rect">
            <a:avLst/>
          </a:prstGeom>
        </p:spPr>
      </p:pic>
      <p:sp>
        <p:nvSpPr>
          <p:cNvPr id="5" name="Shape 2"/>
          <p:cNvSpPr/>
          <p:nvPr/>
        </p:nvSpPr>
        <p:spPr>
          <a:xfrm>
            <a:off x="8595360" y="0"/>
            <a:ext cx="54864" cy="6400800"/>
          </a:xfrm>
          <a:prstGeom prst="rect">
            <a:avLst/>
          </a:prstGeom>
          <a:solidFill>
            <a:srgbClr val="8EC9EE"/>
          </a:solidFill>
          <a:ln w="12700">
            <a:solidFill>
              <a:srgbClr val="8EC9EE"/>
            </a:solidFill>
            <a:prstDash val="solid"/>
          </a:ln>
        </p:spPr>
      </p:sp>
      <p:sp>
        <p:nvSpPr>
          <p:cNvPr id="6" name="Text 3"/>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8EC9EE"/>
                </a:solidFill>
                <a:latin typeface="Inter" pitchFamily="34" charset="0"/>
                <a:ea typeface="Inter" pitchFamily="34" charset="-122"/>
                <a:cs typeface="Inter" pitchFamily="34" charset="-120"/>
              </a:rPr>
              <a:t>FOUNDER REEL 03  ·  "IN HER WORDS"  ·  ~30 S  ·  9:16</a:t>
            </a:r>
            <a:endParaRPr lang="en-US" sz="900" dirty="0"/>
          </a:p>
        </p:txBody>
      </p:sp>
      <p:sp>
        <p:nvSpPr>
          <p:cNvPr id="7" name="Text 4"/>
          <p:cNvSpPr txBox="1"/>
          <p:nvPr/>
        </p:nvSpPr>
        <p:spPr>
          <a:xfrm>
            <a:off x="548640" y="777240"/>
            <a:ext cx="77724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CERULEAN</a:t>
            </a:r>
            <a:endParaRPr lang="en-US" sz="3400" dirty="0"/>
          </a:p>
        </p:txBody>
      </p:sp>
      <p:sp>
        <p:nvSpPr>
          <p:cNvPr id="8" name="Text 5"/>
          <p:cNvSpPr txBox="1"/>
          <p:nvPr/>
        </p:nvSpPr>
        <p:spPr>
          <a:xfrm>
            <a:off x="548640" y="1417320"/>
            <a:ext cx="7772400" cy="320040"/>
          </a:xfrm>
          <a:prstGeom prst="rect">
            <a:avLst/>
          </a:prstGeom>
          <a:noFill/>
          <a:ln/>
        </p:spPr>
        <p:txBody>
          <a:bodyPr wrap="square" lIns="0" tIns="0" rIns="0" bIns="0" rtlCol="0" anchor="t"/>
          <a:lstStyle/>
          <a:p>
            <a:pPr indent="0" marL="0">
              <a:buNone/>
            </a:pPr>
            <a:r>
              <a:rPr lang="en-US" sz="1300" i="1" dirty="0">
                <a:solidFill>
                  <a:srgbClr val="9C978E"/>
                </a:solidFill>
                <a:latin typeface="Inter" pitchFamily="34" charset="0"/>
                <a:ea typeface="Inter" pitchFamily="34" charset="-122"/>
                <a:cs typeface="Inter" pitchFamily="34" charset="-120"/>
              </a:rPr>
              <a:t>I drew this one on a day I badly needed a holiday.</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772400" cy="914400"/>
        </p:xfrm>
        <a:graphic>
          <a:graphicData uri="http://schemas.openxmlformats.org/drawingml/2006/table">
            <a:tbl>
              <a:tblPr/>
              <a:tblGrid>
                <a:gridCol w="365760"/>
                <a:gridCol w="4480560"/>
                <a:gridCol w="2926080"/>
              </a:tblGrid>
              <a:tr h="65836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NEETU SAYS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WE SEE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8EC9EE"/>
                          </a:solidFill>
                          <a:latin typeface="Inter" pitchFamily="34" charset="0"/>
                          <a:ea typeface="Inter" pitchFamily="34" charset="-122"/>
                          <a:cs typeface="Inter" pitchFamily="34" charset="-120"/>
                        </a:rPr>
                        <a:t>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 drew this one on a day I badly needed a holiday."</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Neetu smiles, the watch in her palm</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8EC9EE"/>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"Sky on the case. Clouds on the dial. Deep water on the strap."</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Three macros: case, dial, strap</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8EC9EE"/>
                          </a:solidFill>
                          <a:latin typeface="Inter" pitchFamily="34" charset="0"/>
                          <a:ea typeface="Inter" pitchFamily="34" charset="-122"/>
                          <a:cs typeface="Inter" pitchFamily="34" charset="-120"/>
                        </a:rPr>
                        <a:t>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"Every watch you own tells you where you're supposed to be. I wanted one that reminds you where you could be."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Caustic light rippling over the dial</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8EC9EE"/>
                          </a:solidFill>
                          <a:latin typeface="Inter" pitchFamily="34" charset="0"/>
                          <a:ea typeface="Inter" pitchFamily="34" charset="-122"/>
                          <a:cs typeface="Inter" pitchFamily="34" charset="-120"/>
                        </a:rPr>
                        <a:t>4</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"Made to go wherever you go, even into the water."  [only if the rating is confirmed]</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splash crown frozen mid-air</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8EC9EE"/>
                          </a:solidFill>
                          <a:latin typeface="Inter" pitchFamily="34" charset="0"/>
                          <a:ea typeface="Inter" pitchFamily="34" charset="-122"/>
                          <a:cs typeface="Inter" pitchFamily="34" charset="-120"/>
                        </a:rPr>
                        <a:t>5</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"For the ones who've earned the right to disappear for a while. Here's to your freedom."</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Her to camera</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10" name="Text 6"/>
          <p:cNvSpPr txBox="1"/>
          <p:nvPr/>
        </p:nvSpPr>
        <p:spPr>
          <a:xfrm>
            <a:off x="548640" y="5715000"/>
            <a:ext cx="7772400" cy="27432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On screen at the end: the watch on its colour  ·  "CERULEAN"  ·  WEAR WHAT'S YOURS.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REEL · ROYAL TANGERINE</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16</a:t>
            </a:r>
            <a:endParaRPr lang="en-US" sz="750" dirty="0"/>
          </a:p>
        </p:txBody>
      </p:sp>
      <p:pic>
        <p:nvPicPr>
          <p:cNvPr id="4" name="Image 0" descr="/tmp/claude-0/-home-user-Sage-portfolio/d05fecce-977e-5eab-9cf5-7c09b306c551/scratchpad/wrdeck/gen/day2/tangerine.jpg">    </p:cNvPr>
          <p:cNvPicPr>
            <a:picLocks noChangeAspect="1"/>
          </p:cNvPicPr>
          <p:nvPr/>
        </p:nvPicPr>
        <p:blipFill>
          <a:blip r:embed="rId1"/>
          <a:srcRect l="0" r="0" t="0" b="0"/>
          <a:stretch/>
        </p:blipFill>
        <p:spPr>
          <a:xfrm>
            <a:off x="8595360" y="0"/>
            <a:ext cx="3593592" cy="6400800"/>
          </a:xfrm>
          <a:prstGeom prst="rect">
            <a:avLst/>
          </a:prstGeom>
        </p:spPr>
      </p:pic>
      <p:sp>
        <p:nvSpPr>
          <p:cNvPr id="5" name="Shape 2"/>
          <p:cNvSpPr/>
          <p:nvPr/>
        </p:nvSpPr>
        <p:spPr>
          <a:xfrm>
            <a:off x="8595360" y="0"/>
            <a:ext cx="54864" cy="6400800"/>
          </a:xfrm>
          <a:prstGeom prst="rect">
            <a:avLst/>
          </a:prstGeom>
          <a:solidFill>
            <a:srgbClr val="F28C28"/>
          </a:solidFill>
          <a:ln w="12700">
            <a:solidFill>
              <a:srgbClr val="F28C28"/>
            </a:solidFill>
            <a:prstDash val="solid"/>
          </a:ln>
        </p:spPr>
      </p:sp>
      <p:sp>
        <p:nvSpPr>
          <p:cNvPr id="6" name="Text 3"/>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F28C28"/>
                </a:solidFill>
                <a:latin typeface="Inter" pitchFamily="34" charset="0"/>
                <a:ea typeface="Inter" pitchFamily="34" charset="-122"/>
                <a:cs typeface="Inter" pitchFamily="34" charset="-120"/>
              </a:rPr>
              <a:t>FOUNDER REEL 04  ·  "IN HER WORDS"  ·  ~30 S  ·  9:16</a:t>
            </a:r>
            <a:endParaRPr lang="en-US" sz="900" dirty="0"/>
          </a:p>
        </p:txBody>
      </p:sp>
      <p:sp>
        <p:nvSpPr>
          <p:cNvPr id="7" name="Text 4"/>
          <p:cNvSpPr txBox="1"/>
          <p:nvPr/>
        </p:nvSpPr>
        <p:spPr>
          <a:xfrm>
            <a:off x="548640" y="777240"/>
            <a:ext cx="77724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ROYAL TANGERINE</a:t>
            </a:r>
            <a:endParaRPr lang="en-US" sz="3400" dirty="0"/>
          </a:p>
        </p:txBody>
      </p:sp>
      <p:sp>
        <p:nvSpPr>
          <p:cNvPr id="8" name="Text 5"/>
          <p:cNvSpPr txBox="1"/>
          <p:nvPr/>
        </p:nvSpPr>
        <p:spPr>
          <a:xfrm>
            <a:off x="548640" y="1417320"/>
            <a:ext cx="7772400" cy="320040"/>
          </a:xfrm>
          <a:prstGeom prst="rect">
            <a:avLst/>
          </a:prstGeom>
          <a:noFill/>
          <a:ln/>
        </p:spPr>
        <p:txBody>
          <a:bodyPr wrap="square" lIns="0" tIns="0" rIns="0" bIns="0" rtlCol="0" anchor="t"/>
          <a:lstStyle/>
          <a:p>
            <a:pPr indent="0" marL="0">
              <a:buNone/>
            </a:pPr>
            <a:r>
              <a:rPr lang="en-US" sz="1300" i="1" dirty="0">
                <a:solidFill>
                  <a:srgbClr val="9C978E"/>
                </a:solidFill>
                <a:latin typeface="Inter" pitchFamily="34" charset="0"/>
                <a:ea typeface="Inter" pitchFamily="34" charset="-122"/>
                <a:cs typeface="Inter" pitchFamily="34" charset="-120"/>
              </a:rPr>
              <a:t>Orange is the hunger. Royal blue is the arrival.</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772400" cy="914400"/>
        </p:xfrm>
        <a:graphic>
          <a:graphicData uri="http://schemas.openxmlformats.org/drawingml/2006/table">
            <a:tbl>
              <a:tblPr/>
              <a:tblGrid>
                <a:gridCol w="365760"/>
                <a:gridCol w="4480560"/>
                <a:gridCol w="2926080"/>
              </a:tblGrid>
              <a:tr h="65836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NEETU SAYS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WE SEE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F28C28"/>
                          </a:solidFill>
                          <a:latin typeface="Inter" pitchFamily="34" charset="0"/>
                          <a:ea typeface="Inter" pitchFamily="34" charset="-122"/>
                          <a:cs typeface="Inter" pitchFamily="34" charset="-120"/>
                        </a:rPr>
                        <a:t>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"Orange is the hunger. Royal blue is the arrival."</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Neetu holds it against a royal-blue background</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F28C28"/>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"Nobody hands you either. You build the climb yourself."</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orange light slash crossing the case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F28C28"/>
                          </a:solidFill>
                          <a:latin typeface="Inter" pitchFamily="34" charset="0"/>
                          <a:ea typeface="Inter" pitchFamily="34" charset="-122"/>
                          <a:cs typeface="Inter" pitchFamily="34" charset="-120"/>
                        </a:rPr>
                        <a:t>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"The stripes on the dial are the steps. Every line is a day you didn't quit."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Macro along the striped dial</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F28C28"/>
                          </a:solidFill>
                          <a:latin typeface="Inter" pitchFamily="34" charset="0"/>
                          <a:ea typeface="Inter" pitchFamily="34" charset="-122"/>
                          <a:cs typeface="Inter" pitchFamily="34" charset="-120"/>
                        </a:rPr>
                        <a:t>4</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"It's the boldest one we made, because the people who wear it never asked for permission."</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Watch on the top concrete step</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F28C28"/>
                          </a:solidFill>
                          <a:latin typeface="Inter" pitchFamily="34" charset="0"/>
                          <a:ea typeface="Inter" pitchFamily="34" charset="-122"/>
                          <a:cs typeface="Inter" pitchFamily="34" charset="-120"/>
                        </a:rPr>
                        <a:t>5</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"For the self-made. Here's to your journey."</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Her to camera</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10" name="Text 6"/>
          <p:cNvSpPr txBox="1"/>
          <p:nvPr/>
        </p:nvSpPr>
        <p:spPr>
          <a:xfrm>
            <a:off x="548640" y="5715000"/>
            <a:ext cx="7772400" cy="27432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On screen at the end: the watch on its colour  ·  "ROYAL TANGERINE"  ·  WEAR WHAT'S YOURS.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REEL · CRIMSON NAVY</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17</a:t>
            </a:r>
            <a:endParaRPr lang="en-US" sz="750" dirty="0"/>
          </a:p>
        </p:txBody>
      </p:sp>
      <p:pic>
        <p:nvPicPr>
          <p:cNvPr id="4" name="Image 0" descr="/tmp/claude-0/-home-user-Sage-portfolio/d05fecce-977e-5eab-9cf5-7c09b306c551/scratchpad/wrdeck/gen/day2/crimson.jpg">    </p:cNvPr>
          <p:cNvPicPr>
            <a:picLocks noChangeAspect="1"/>
          </p:cNvPicPr>
          <p:nvPr/>
        </p:nvPicPr>
        <p:blipFill>
          <a:blip r:embed="rId1"/>
          <a:srcRect l="0" r="0" t="0" b="0"/>
          <a:stretch/>
        </p:blipFill>
        <p:spPr>
          <a:xfrm>
            <a:off x="8595360" y="0"/>
            <a:ext cx="3593592" cy="6400800"/>
          </a:xfrm>
          <a:prstGeom prst="rect">
            <a:avLst/>
          </a:prstGeom>
        </p:spPr>
      </p:pic>
      <p:sp>
        <p:nvSpPr>
          <p:cNvPr id="5" name="Shape 2"/>
          <p:cNvSpPr/>
          <p:nvPr/>
        </p:nvSpPr>
        <p:spPr>
          <a:xfrm>
            <a:off x="8595360" y="0"/>
            <a:ext cx="54864" cy="6400800"/>
          </a:xfrm>
          <a:prstGeom prst="rect">
            <a:avLst/>
          </a:prstGeom>
          <a:solidFill>
            <a:srgbClr val="D2283A"/>
          </a:solidFill>
          <a:ln w="12700">
            <a:solidFill>
              <a:srgbClr val="D2283A"/>
            </a:solidFill>
            <a:prstDash val="solid"/>
          </a:ln>
        </p:spPr>
      </p:sp>
      <p:sp>
        <p:nvSpPr>
          <p:cNvPr id="6" name="Text 3"/>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D2283A"/>
                </a:solidFill>
                <a:latin typeface="Inter" pitchFamily="34" charset="0"/>
                <a:ea typeface="Inter" pitchFamily="34" charset="-122"/>
                <a:cs typeface="Inter" pitchFamily="34" charset="-120"/>
              </a:rPr>
              <a:t>FOUNDER REEL 05  ·  "IN HER WORDS"  ·  ~30 S  ·  9:16</a:t>
            </a:r>
            <a:endParaRPr lang="en-US" sz="900" dirty="0"/>
          </a:p>
        </p:txBody>
      </p:sp>
      <p:sp>
        <p:nvSpPr>
          <p:cNvPr id="7" name="Text 4"/>
          <p:cNvSpPr txBox="1"/>
          <p:nvPr/>
        </p:nvSpPr>
        <p:spPr>
          <a:xfrm>
            <a:off x="548640" y="777240"/>
            <a:ext cx="7772400" cy="565265"/>
          </a:xfrm>
          <a:prstGeom prst="rect">
            <a:avLst/>
          </a:prstGeom>
          <a:noFill/>
          <a:ln/>
        </p:spPr>
        <p:txBody>
          <a:bodyPr wrap="square" lIns="0" tIns="0" rIns="0" bIns="0" rtlCol="0" anchor="t"/>
          <a:lstStyle/>
          <a:p>
            <a:pPr indent="0" marL="0">
              <a:buNone/>
            </a:pPr>
            <a:r>
              <a:rPr lang="en-US" sz="3400" b="1" spc="100" kern="0" dirty="0">
                <a:solidFill>
                  <a:srgbClr val="F2EDE4"/>
                </a:solidFill>
                <a:latin typeface="Oswald" pitchFamily="34" charset="0"/>
                <a:ea typeface="Oswald" pitchFamily="34" charset="-122"/>
                <a:cs typeface="Oswald" pitchFamily="34" charset="-120"/>
              </a:rPr>
              <a:t>CRIMSON NAVY</a:t>
            </a:r>
            <a:endParaRPr lang="en-US" sz="3400" dirty="0"/>
          </a:p>
        </p:txBody>
      </p:sp>
      <p:sp>
        <p:nvSpPr>
          <p:cNvPr id="8" name="Text 5"/>
          <p:cNvSpPr txBox="1"/>
          <p:nvPr/>
        </p:nvSpPr>
        <p:spPr>
          <a:xfrm>
            <a:off x="548640" y="1417320"/>
            <a:ext cx="7772400" cy="320040"/>
          </a:xfrm>
          <a:prstGeom prst="rect">
            <a:avLst/>
          </a:prstGeom>
          <a:noFill/>
          <a:ln/>
        </p:spPr>
        <p:txBody>
          <a:bodyPr wrap="square" lIns="0" tIns="0" rIns="0" bIns="0" rtlCol="0" anchor="t"/>
          <a:lstStyle/>
          <a:p>
            <a:pPr indent="0" marL="0">
              <a:buNone/>
            </a:pPr>
            <a:r>
              <a:rPr lang="en-US" sz="1300" i="1" dirty="0">
                <a:solidFill>
                  <a:srgbClr val="9C978E"/>
                </a:solidFill>
                <a:latin typeface="Inter" pitchFamily="34" charset="0"/>
                <a:ea typeface="Inter" pitchFamily="34" charset="-122"/>
                <a:cs typeface="Inter" pitchFamily="34" charset="-120"/>
              </a:rPr>
              <a:t>Red isn't a colour you wear by accident.</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7772400" cy="914400"/>
        </p:xfrm>
        <a:graphic>
          <a:graphicData uri="http://schemas.openxmlformats.org/drawingml/2006/table">
            <a:tbl>
              <a:tblPr/>
              <a:tblGrid>
                <a:gridCol w="365760"/>
                <a:gridCol w="4480560"/>
                <a:gridCol w="2926080"/>
              </a:tblGrid>
              <a:tr h="658368">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NEETU SAYS</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750" b="1" spc="200" kern="0" dirty="0">
                          <a:solidFill>
                            <a:srgbClr val="C9A45C"/>
                          </a:solidFill>
                          <a:latin typeface="Inter" pitchFamily="34" charset="0"/>
                          <a:ea typeface="Inter" pitchFamily="34" charset="-122"/>
                          <a:cs typeface="Inter" pitchFamily="34" charset="-120"/>
                        </a:rPr>
                        <a:t>WE SEE</a:t>
                      </a:r>
                      <a:endParaRPr lang="en-US" sz="750" dirty="0">
                        <a:latin typeface="Inter" charset="0"/>
                        <a:ea typeface="Inter" charset="0"/>
                        <a:cs typeface="Inter" charset="0"/>
                      </a:endParaRPr>
                    </a:p>
                  </a:txBody>
                  <a:tcPr marL="0" marR="76200" marT="50800" marB="50800">
                    <a:lnL w="0" cap="flat" cmpd="sng" algn="ctr">
                      <a:noFill/>
                    </a:lnL>
                    <a:lnR w="0" cap="flat" cmpd="sng" algn="ctr">
                      <a:noFill/>
                    </a:lnR>
                    <a:lnT w="0" cap="flat" cmpd="sng" algn="ctr">
                      <a:noFill/>
                    </a:lnT>
                    <a:lnB w="9525"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2283A"/>
                          </a:solidFill>
                          <a:latin typeface="Inter" pitchFamily="34" charset="0"/>
                          <a:ea typeface="Inter" pitchFamily="34" charset="-122"/>
                          <a:cs typeface="Inter" pitchFamily="34" charset="-120"/>
                        </a:rPr>
                        <a:t>1</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"Red isn't a colour you wear by accident. It's a decision."</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Neetu, low-key light, the red dial in her fingers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2283A"/>
                          </a:solidFill>
                          <a:latin typeface="Inter" pitchFamily="34" charset="0"/>
                          <a:ea typeface="Inter" pitchFamily="34" charset="-122"/>
                          <a:cs typeface="Inter" pitchFamily="34" charset="-120"/>
                        </a:rPr>
                        <a:t>2</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"Navy case, red textured dial, rose-gold hands. Nothing loud, and still it's the first thing anyone sees."</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Macro: rose-gold hands over the red texture</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2283A"/>
                          </a:solidFill>
                          <a:latin typeface="Inter" pitchFamily="34" charset="0"/>
                          <a:ea typeface="Inter" pitchFamily="34" charset="-122"/>
                          <a:cs typeface="Inter" pitchFamily="34" charset="-120"/>
                        </a:rPr>
                        <a:t>3</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"And when the lights go out, the whole case glows. Power doesn't need daylight."</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Lights off: the case glows up</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2283A"/>
                          </a:solidFill>
                          <a:latin typeface="Inter" pitchFamily="34" charset="0"/>
                          <a:ea typeface="Inter" pitchFamily="34" charset="-122"/>
                          <a:cs typeface="Inter" pitchFamily="34" charset="-120"/>
                        </a:rPr>
                        <a:t>4</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"I made this one for the man the room adjusts to."</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Watch upright on black leather, red silk behind</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r h="658368">
                <a:tc>
                  <a:txBody>
                    <a:bodyPr/>
                    <a:lstStyle/>
                    <a:p>
                      <a:pPr indent="0" marL="0">
                        <a:buNone/>
                      </a:pPr>
                      <a:r>
                        <a:rPr lang="en-US" sz="1000" dirty="0">
                          <a:solidFill>
                            <a:srgbClr val="D2283A"/>
                          </a:solidFill>
                          <a:latin typeface="Inter" pitchFamily="34" charset="0"/>
                          <a:ea typeface="Inter" pitchFamily="34" charset="-122"/>
                          <a:cs typeface="Inter" pitchFamily="34" charset="-120"/>
                        </a:rPr>
                        <a:t>5</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"Here's to your power."</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c>
                  <a:txBody>
                    <a:bodyPr/>
                    <a:lstStyle/>
                    <a:p>
                      <a:pPr indent="0" marL="0">
                        <a:buNone/>
                      </a:pPr>
                      <a:r>
                        <a:rPr lang="en-US" sz="1000" dirty="0">
                          <a:solidFill>
                            <a:srgbClr val="F2EDE4"/>
                          </a:solidFill>
                          <a:latin typeface="Inter" pitchFamily="34" charset="0"/>
                          <a:ea typeface="Inter" pitchFamily="34" charset="-122"/>
                          <a:cs typeface="Inter" pitchFamily="34" charset="-120"/>
                        </a:rPr>
                        <a:t>Her to camera, half in shadow</a:t>
                      </a:r>
                      <a:endParaRPr lang="en-US" sz="1000" dirty="0">
                        <a:latin typeface="Inter" charset="0"/>
                        <a:ea typeface="Inter" charset="0"/>
                        <a:cs typeface="Inter" charset="0"/>
                      </a:endParaRPr>
                    </a:p>
                  </a:txBody>
                  <a:tcPr marL="0" marR="76200" marT="50800" marB="50800" anchor="t">
                    <a:lnL w="0" cap="flat" cmpd="sng" algn="ctr">
                      <a:noFill/>
                    </a:lnL>
                    <a:lnR w="0" cap="flat" cmpd="sng" algn="ctr">
                      <a:noFill/>
                    </a:lnR>
                    <a:lnT w="0" cap="flat" cmpd="sng" algn="ctr">
                      <a:noFill/>
                    </a:lnT>
                    <a:lnB w="6350" cap="flat" cmpd="sng" algn="ctr">
                      <a:solidFill>
                        <a:srgbClr val="2B2A26"/>
                      </a:solidFill>
                      <a:prstDash val="solid"/>
                      <a:round/>
                      <a:headEnd type="none" w="med" len="med"/>
                      <a:tailEnd type="none" w="med" len="med"/>
                    </a:lnB>
                    <a:solidFill>
                      <a:srgbClr val="0B0B0A"/>
                    </a:solidFill>
                  </a:tcPr>
                </a:tc>
              </a:tr>
            </a:tbl>
          </a:graphicData>
        </a:graphic>
      </p:graphicFrame>
      <p:sp>
        <p:nvSpPr>
          <p:cNvPr id="10" name="Text 6"/>
          <p:cNvSpPr txBox="1"/>
          <p:nvPr/>
        </p:nvSpPr>
        <p:spPr>
          <a:xfrm>
            <a:off x="548640" y="5715000"/>
            <a:ext cx="7772400" cy="274320"/>
          </a:xfrm>
          <a:prstGeom prst="rect">
            <a:avLst/>
          </a:prstGeom>
          <a:noFill/>
          <a:ln/>
        </p:spPr>
        <p:txBody>
          <a:bodyPr wrap="square" lIns="0" tIns="0" rIns="0" bIns="0" rtlCol="0" anchor="t"/>
          <a:lstStyle/>
          <a:p>
            <a:pPr indent="0" marL="0">
              <a:buNone/>
            </a:pPr>
            <a:r>
              <a:rPr lang="en-US" sz="900" dirty="0">
                <a:solidFill>
                  <a:srgbClr val="9C978E"/>
                </a:solidFill>
                <a:latin typeface="Inter" pitchFamily="34" charset="0"/>
                <a:ea typeface="Inter" pitchFamily="34" charset="-122"/>
                <a:cs typeface="Inter" pitchFamily="34" charset="-120"/>
              </a:rPr>
              <a:t>On screen at the end: the watch on its colour  ·  "CRIMSON NAVY"  ·  WEAR WHAT'S YOURS.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A"/>
        </a:solidFill>
      </p:bgPr>
    </p:bg>
    <p:spTree>
      <p:nvGrpSpPr>
        <p:cNvPr id="1" name=""/>
        <p:cNvGrpSpPr/>
        <p:nvPr/>
      </p:nvGrpSpPr>
      <p:grpSpPr>
        <a:xfrm>
          <a:off x="0" y="0"/>
          <a:ext cx="0" cy="0"/>
          <a:chOff x="0" y="0"/>
          <a:chExt cx="0" cy="0"/>
        </a:xfrm>
      </p:grpSpPr>
      <p:sp>
        <p:nvSpPr>
          <p:cNvPr id="2" name="Text 0"/>
          <p:cNvSpPr txBox="1"/>
          <p:nvPr/>
        </p:nvSpPr>
        <p:spPr>
          <a:xfrm>
            <a:off x="457200" y="6473952"/>
            <a:ext cx="8229600" cy="228600"/>
          </a:xfrm>
          <a:prstGeom prst="rect">
            <a:avLst/>
          </a:prstGeom>
          <a:noFill/>
          <a:ln/>
        </p:spPr>
        <p:txBody>
          <a:bodyPr wrap="square" lIns="0" tIns="0" rIns="0" bIns="0" rtlCol="0" anchor="ctr"/>
          <a:lstStyle/>
          <a:p>
            <a:pPr indent="0" marL="0">
              <a:buNone/>
            </a:pPr>
            <a:r>
              <a:rPr lang="en-US" sz="750" spc="200" kern="0" dirty="0">
                <a:solidFill>
                  <a:srgbClr val="9C978E"/>
                </a:solidFill>
                <a:latin typeface="Inter" pitchFamily="34" charset="0"/>
                <a:ea typeface="Inter" pitchFamily="34" charset="-122"/>
                <a:cs typeface="Inter" pitchFamily="34" charset="-120"/>
              </a:rPr>
              <a:t>WEALTH ROOTS  ·  DAY 2  ·  FOUNDER · NOTES</a:t>
            </a:r>
            <a:endParaRPr lang="en-US" sz="750" dirty="0"/>
          </a:p>
        </p:txBody>
      </p:sp>
      <p:sp>
        <p:nvSpPr>
          <p:cNvPr id="3" name="Text 1"/>
          <p:cNvSpPr txBox="1"/>
          <p:nvPr/>
        </p:nvSpPr>
        <p:spPr>
          <a:xfrm>
            <a:off x="11274552" y="6473952"/>
            <a:ext cx="457200" cy="228600"/>
          </a:xfrm>
          <a:prstGeom prst="rect">
            <a:avLst/>
          </a:prstGeom>
          <a:noFill/>
          <a:ln/>
        </p:spPr>
        <p:txBody>
          <a:bodyPr wrap="square" lIns="0" tIns="0" rIns="0" bIns="0" rtlCol="0" anchor="ctr"/>
          <a:lstStyle/>
          <a:p>
            <a:pPr algn="r" indent="0" marL="0">
              <a:buNone/>
            </a:pPr>
            <a:r>
              <a:rPr lang="en-US" sz="750" dirty="0">
                <a:solidFill>
                  <a:srgbClr val="9C978E"/>
                </a:solidFill>
                <a:latin typeface="Inter" pitchFamily="34" charset="0"/>
                <a:ea typeface="Inter" pitchFamily="34" charset="-122"/>
                <a:cs typeface="Inter" pitchFamily="34" charset="-120"/>
              </a:rPr>
              <a:t>18</a:t>
            </a:r>
            <a:endParaRPr lang="en-US" sz="750" dirty="0"/>
          </a:p>
        </p:txBody>
      </p:sp>
      <p:sp>
        <p:nvSpPr>
          <p:cNvPr id="4" name="Text 2"/>
          <p:cNvSpPr txBox="1"/>
          <p:nvPr/>
        </p:nvSpPr>
        <p:spPr>
          <a:xfrm>
            <a:off x="548640" y="502920"/>
            <a:ext cx="7315200" cy="274320"/>
          </a:xfrm>
          <a:prstGeom prst="rect">
            <a:avLst/>
          </a:prstGeom>
          <a:noFill/>
          <a:ln/>
        </p:spPr>
        <p:txBody>
          <a:bodyPr wrap="square" lIns="0" tIns="0" rIns="0" bIns="0" rtlCol="0" anchor="t"/>
          <a:lstStyle/>
          <a:p>
            <a:pPr indent="0" marL="0">
              <a:buNone/>
            </a:pPr>
            <a:r>
              <a:rPr lang="en-US" sz="900" b="1" spc="400" kern="0" dirty="0">
                <a:solidFill>
                  <a:srgbClr val="C9A45C"/>
                </a:solidFill>
                <a:latin typeface="Inter" pitchFamily="34" charset="0"/>
                <a:ea typeface="Inter" pitchFamily="34" charset="-122"/>
                <a:cs typeface="Inter" pitchFamily="34" charset="-120"/>
              </a:rPr>
              <a:t>FOUNDER SHOOT  ·  HOW WE GET IT NATURAL</a:t>
            </a:r>
            <a:endParaRPr lang="en-US" sz="900" dirty="0"/>
          </a:p>
        </p:txBody>
      </p:sp>
      <p:sp>
        <p:nvSpPr>
          <p:cNvPr id="5" name="Text 3"/>
          <p:cNvSpPr txBox="1"/>
          <p:nvPr/>
        </p:nvSpPr>
        <p:spPr>
          <a:xfrm>
            <a:off x="548640" y="777240"/>
            <a:ext cx="10972800" cy="498764"/>
          </a:xfrm>
          <a:prstGeom prst="rect">
            <a:avLst/>
          </a:prstGeom>
          <a:noFill/>
          <a:ln/>
        </p:spPr>
        <p:txBody>
          <a:bodyPr wrap="square" lIns="0" tIns="0" rIns="0" bIns="0" rtlCol="0" anchor="t"/>
          <a:lstStyle/>
          <a:p>
            <a:pPr indent="0" marL="0">
              <a:buNone/>
            </a:pPr>
            <a:r>
              <a:rPr lang="en-US" sz="3000" b="1" spc="100" kern="0" dirty="0">
                <a:solidFill>
                  <a:srgbClr val="F2EDE4"/>
                </a:solidFill>
                <a:latin typeface="Oswald" pitchFamily="34" charset="0"/>
                <a:ea typeface="Oswald" pitchFamily="34" charset="-122"/>
                <a:cs typeface="Oswald" pitchFamily="34" charset="-120"/>
              </a:rPr>
              <a:t>INTERVIEW FIRST. LINES SECOND.</a:t>
            </a:r>
            <a:endParaRPr lang="en-US" sz="3000" dirty="0"/>
          </a:p>
        </p:txBody>
      </p:sp>
      <p:sp>
        <p:nvSpPr>
          <p:cNvPr id="6" name="Text 4"/>
          <p:cNvSpPr txBox="1"/>
          <p:nvPr/>
        </p:nvSpPr>
        <p:spPr>
          <a:xfrm>
            <a:off x="548640" y="1554480"/>
            <a:ext cx="5486400" cy="3291840"/>
          </a:xfrm>
          <a:prstGeom prst="rect">
            <a:avLst/>
          </a:prstGeom>
          <a:noFill/>
          <a:ln/>
        </p:spPr>
        <p:txBody>
          <a:bodyPr wrap="square" lIns="0" tIns="0" rIns="0" bIns="0" rtlCol="0" anchor="t"/>
          <a:lstStyle/>
          <a:p>
            <a:pPr indent="0" marL="0">
              <a:spcAft>
                <a:spcPts val="600"/>
              </a:spcAft>
              <a:buNone/>
            </a:pPr>
            <a:r>
              <a:rPr lang="en-US" sz="1100" dirty="0">
                <a:solidFill>
                  <a:srgbClr val="F2EDE4"/>
                </a:solidFill>
                <a:latin typeface="Inter" pitchFamily="34" charset="0"/>
                <a:ea typeface="Inter" pitchFamily="34" charset="-122"/>
                <a:cs typeface="Inter" pitchFamily="34" charset="-120"/>
              </a:rPr>
              <a:t>·  Ask questions, don't make her recite. The lines above are the target; she can say them in her own words, English or Hinglish.</a:t>
            </a:r>
            <a:endParaRPr lang="en-US" sz="1100" dirty="0"/>
          </a:p>
          <a:p>
            <a:pPr indent="0" marL="0">
              <a:spcAft>
                <a:spcPts val="600"/>
              </a:spcAft>
              <a:buNone/>
            </a:pPr>
            <a:r>
              <a:rPr lang="en-US" sz="1100" dirty="0">
                <a:solidFill>
                  <a:srgbClr val="F2EDE4"/>
                </a:solidFill>
                <a:latin typeface="Inter" pitchFamily="34" charset="0"/>
                <a:ea typeface="Inter" pitchFamily="34" charset="-122"/>
                <a:cs typeface="Inter" pitchFamily="34" charset="-120"/>
              </a:rPr>
              <a:t>·  Two cameras: A at 50 mm straight on, B at 85 mm side. Eyeline just off lens for the film, into lens for the reels.</a:t>
            </a:r>
            <a:endParaRPr lang="en-US" sz="1100" dirty="0"/>
          </a:p>
          <a:p>
            <a:pPr indent="0" marL="0">
              <a:spcAft>
                <a:spcPts val="600"/>
              </a:spcAft>
              <a:buNone/>
            </a:pPr>
            <a:r>
              <a:rPr lang="en-US" sz="1100" dirty="0">
                <a:solidFill>
                  <a:srgbClr val="F2EDE4"/>
                </a:solidFill>
                <a:latin typeface="Inter" pitchFamily="34" charset="0"/>
                <a:ea typeface="Inter" pitchFamily="34" charset="-122"/>
                <a:cs typeface="Inter" pitchFamily="34" charset="-120"/>
              </a:rPr>
              <a:t>·  For each watch, hand her the watch and ask: "What were you thinking the day you drew this one?" Roll until she smiles.</a:t>
            </a:r>
            <a:endParaRPr lang="en-US" sz="1100" dirty="0"/>
          </a:p>
          <a:p>
            <a:pPr indent="0" marL="0">
              <a:spcAft>
                <a:spcPts val="600"/>
              </a:spcAft>
              <a:buNone/>
            </a:pPr>
            <a:r>
              <a:rPr lang="en-US" sz="1100" dirty="0">
                <a:solidFill>
                  <a:srgbClr val="F2EDE4"/>
                </a:solidFill>
                <a:latin typeface="Inter" pitchFamily="34" charset="0"/>
                <a:ea typeface="Inter" pitchFamily="34" charset="-122"/>
                <a:cs typeface="Inter" pitchFamily="34" charset="-120"/>
              </a:rPr>
              <a:t>·  Record 30 s of room tone and every product sound: the lid, the clasp, the crown clicking.</a:t>
            </a:r>
            <a:endParaRPr lang="en-US" sz="1100" dirty="0"/>
          </a:p>
        </p:txBody>
      </p:sp>
      <p:sp>
        <p:nvSpPr>
          <p:cNvPr id="7" name="Shape 5"/>
          <p:cNvSpPr/>
          <p:nvPr/>
        </p:nvSpPr>
        <p:spPr>
          <a:xfrm>
            <a:off x="6400800" y="1554480"/>
            <a:ext cx="5212080" cy="4206240"/>
          </a:xfrm>
          <a:prstGeom prst="rect">
            <a:avLst/>
          </a:prstGeom>
          <a:solidFill>
            <a:srgbClr val="151513"/>
          </a:solidFill>
          <a:ln w="12700">
            <a:solidFill>
              <a:srgbClr val="151513"/>
            </a:solidFill>
            <a:prstDash val="solid"/>
          </a:ln>
        </p:spPr>
      </p:sp>
      <p:sp>
        <p:nvSpPr>
          <p:cNvPr id="8" name="Shape 6"/>
          <p:cNvSpPr/>
          <p:nvPr/>
        </p:nvSpPr>
        <p:spPr>
          <a:xfrm>
            <a:off x="6400800" y="1554480"/>
            <a:ext cx="54864" cy="4206240"/>
          </a:xfrm>
          <a:prstGeom prst="rect">
            <a:avLst/>
          </a:prstGeom>
          <a:solidFill>
            <a:srgbClr val="D2283A"/>
          </a:solidFill>
          <a:ln w="12700">
            <a:solidFill>
              <a:srgbClr val="D2283A"/>
            </a:solidFill>
            <a:prstDash val="solid"/>
          </a:ln>
        </p:spPr>
      </p:sp>
      <p:sp>
        <p:nvSpPr>
          <p:cNvPr id="9" name="Text 7"/>
          <p:cNvSpPr txBox="1"/>
          <p:nvPr/>
        </p:nvSpPr>
        <p:spPr>
          <a:xfrm>
            <a:off x="6675120" y="1737360"/>
            <a:ext cx="4572000" cy="201168"/>
          </a:xfrm>
          <a:prstGeom prst="rect">
            <a:avLst/>
          </a:prstGeom>
          <a:noFill/>
          <a:ln/>
        </p:spPr>
        <p:txBody>
          <a:bodyPr wrap="square" lIns="0" tIns="0" rIns="0" bIns="0" rtlCol="0" anchor="t"/>
          <a:lstStyle/>
          <a:p>
            <a:pPr indent="0" marL="0">
              <a:buNone/>
            </a:pPr>
            <a:r>
              <a:rPr lang="en-US" sz="750" b="1" spc="300" kern="0" dirty="0">
                <a:solidFill>
                  <a:srgbClr val="D2283A"/>
                </a:solidFill>
                <a:latin typeface="Inter" pitchFamily="34" charset="0"/>
                <a:ea typeface="Inter" pitchFamily="34" charset="-122"/>
                <a:cs typeface="Inter" pitchFamily="34" charset="-120"/>
              </a:rPr>
              <a:t>TO CONFIRM BEFORE THE SHOOT</a:t>
            </a:r>
            <a:endParaRPr lang="en-US" sz="750" dirty="0"/>
          </a:p>
        </p:txBody>
      </p:sp>
      <p:sp>
        <p:nvSpPr>
          <p:cNvPr id="10" name="Text 8"/>
          <p:cNvSpPr txBox="1"/>
          <p:nvPr/>
        </p:nvSpPr>
        <p:spPr>
          <a:xfrm>
            <a:off x="6675120" y="2057400"/>
            <a:ext cx="4754880" cy="3657600"/>
          </a:xfrm>
          <a:prstGeom prst="rect">
            <a:avLst/>
          </a:prstGeom>
          <a:noFill/>
          <a:ln/>
        </p:spPr>
        <p:txBody>
          <a:bodyPr wrap="square" lIns="0" tIns="0" rIns="0" bIns="0" rtlCol="0" anchor="t"/>
          <a:lstStyle/>
          <a:p>
            <a:pPr indent="0" marL="0">
              <a:spcAft>
                <a:spcPts val="400"/>
              </a:spcAft>
              <a:buNone/>
            </a:pPr>
            <a:r>
              <a:rPr lang="en-US" sz="1000" dirty="0">
                <a:solidFill>
                  <a:srgbClr val="F2EDE4"/>
                </a:solidFill>
                <a:latin typeface="Inter" pitchFamily="34" charset="0"/>
                <a:ea typeface="Inter" pitchFamily="34" charset="-122"/>
                <a:cs typeface="Inter" pitchFamily="34" charset="-120"/>
              </a:rPr>
              <a:t>1.  Jacob &amp; Co strap claim. Don't say the name on camera unless the supplier link is confirmed in writing and cleared. The safe line is in the script.</a:t>
            </a:r>
            <a:endParaRPr lang="en-US" sz="1000" dirty="0"/>
          </a:p>
          <a:p>
            <a:pPr indent="0" marL="0">
              <a:spcAft>
                <a:spcPts val="400"/>
              </a:spcAft>
              <a:buNone/>
            </a:pPr>
            <a:r>
              <a:rPr lang="en-US" sz="1000" dirty="0">
                <a:solidFill>
                  <a:srgbClr val="F2EDE4"/>
                </a:solidFill>
                <a:latin typeface="Inter" pitchFamily="34" charset="0"/>
                <a:ea typeface="Inter" pitchFamily="34" charset="-122"/>
                <a:cs typeface="Inter" pitchFamily="34" charset="-120"/>
              </a:rPr>
              <a:t>2.  Timeline. Started in 2020 = six years in 2026. If work began earlier, give us the year and we'll change "six years".</a:t>
            </a:r>
            <a:endParaRPr lang="en-US" sz="1000" dirty="0"/>
          </a:p>
          <a:p>
            <a:pPr indent="0" marL="0">
              <a:spcAft>
                <a:spcPts val="400"/>
              </a:spcAft>
              <a:buNone/>
            </a:pPr>
            <a:r>
              <a:rPr lang="en-US" sz="1000" dirty="0">
                <a:solidFill>
                  <a:srgbClr val="F2EDE4"/>
                </a:solidFill>
                <a:latin typeface="Inter" pitchFamily="34" charset="0"/>
                <a:ea typeface="Inter" pitchFamily="34" charset="-122"/>
                <a:cs typeface="Inter" pitchFamily="34" charset="-120"/>
              </a:rPr>
              <a:t>3.  Water resistance rating for Cerulean (splash shot + "into the water" line).</a:t>
            </a:r>
            <a:endParaRPr lang="en-US" sz="1000" dirty="0"/>
          </a:p>
          <a:p>
            <a:pPr indent="0" marL="0">
              <a:spcAft>
                <a:spcPts val="400"/>
              </a:spcAft>
              <a:buNone/>
            </a:pPr>
            <a:r>
              <a:rPr lang="en-US" sz="1000" dirty="0">
                <a:solidFill>
                  <a:srgbClr val="F2EDE4"/>
                </a:solidFill>
                <a:latin typeface="Inter" pitchFamily="34" charset="0"/>
                <a:ea typeface="Inter" pitchFamily="34" charset="-122"/>
                <a:cs typeface="Inter" pitchFamily="34" charset="-120"/>
              </a:rPr>
              <a:t>4.  Which watches have full-case lume.</a:t>
            </a:r>
            <a:endParaRPr lang="en-US" sz="1000" dirty="0"/>
          </a:p>
          <a:p>
            <a:pPr indent="0" marL="0">
              <a:spcAft>
                <a:spcPts val="400"/>
              </a:spcAft>
              <a:buNone/>
            </a:pPr>
            <a:r>
              <a:rPr lang="en-US" sz="1000" dirty="0">
                <a:solidFill>
                  <a:srgbClr val="F2EDE4"/>
                </a:solidFill>
                <a:latin typeface="Inter" pitchFamily="34" charset="0"/>
                <a:ea typeface="Inter" pitchFamily="34" charset="-122"/>
                <a:cs typeface="Inter" pitchFamily="34" charset="-120"/>
              </a:rPr>
              <a:t>5.  Founder name on screen: Neetu ___ (surname, title).</a:t>
            </a:r>
            <a:endParaRPr lang="en-US" sz="1000" dirty="0"/>
          </a:p>
          <a:p>
            <a:pPr indent="0" marL="0">
              <a:spcAft>
                <a:spcPts val="400"/>
              </a:spcAft>
              <a:buNone/>
            </a:pPr>
            <a:r>
              <a:rPr lang="en-US" sz="1000" dirty="0">
                <a:solidFill>
                  <a:srgbClr val="F2EDE4"/>
                </a:solidFill>
                <a:latin typeface="Inter" pitchFamily="34" charset="0"/>
                <a:ea typeface="Inter" pitchFamily="34" charset="-122"/>
                <a:cs typeface="Inter" pitchFamily="34" charset="-120"/>
              </a:rPr>
              <a:t>6.  "500 pieces": confirm it applies to all five watches.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Sage Media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 Roots · Day 2 · Product mood board + founder scripts</dc:title>
  <dc:subject>PptxGenJS Presentation</dc:subject>
  <dc:creator>Sage Media</dc:creator>
  <cp:lastModifiedBy>Sage Media</cp:lastModifiedBy>
  <cp:revision>1</cp:revision>
  <dcterms:created xsi:type="dcterms:W3CDTF">2026-10-21T18:01:32Z</dcterms:created>
  <dcterms:modified xsi:type="dcterms:W3CDTF">2026-10-21T18:01:32Z</dcterms:modified>
</cp:coreProperties>
</file>