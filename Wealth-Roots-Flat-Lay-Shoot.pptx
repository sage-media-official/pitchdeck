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iv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2926080" cy="3410712"/>
          </a:xfrm>
          <a:prstGeom prst="rect">
            <a:avLst/>
          </a:prstGeom>
        </p:spPr>
      </p:pic>
      <p:pic>
        <p:nvPicPr>
          <p:cNvPr id="5" name="Image 1" descr="/tmp/claude-0/-home-user-Sage-portfolio/d05fecce-977e-5eab-9cf5-7c09b306c551/scratchpad/wrdeck/gen/flat/mi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62872" y="0"/>
            <a:ext cx="2926080" cy="3410712"/>
          </a:xfrm>
          <a:prstGeom prst="rect">
            <a:avLst/>
          </a:prstGeom>
        </p:spPr>
      </p:pic>
      <p:pic>
        <p:nvPicPr>
          <p:cNvPr id="6" name="Image 2" descr="/tmp/claude-0/-home-user-Sage-portfolio/d05fecce-977e-5eab-9cf5-7c09b306c551/scratchpad/wrdeck/gen/flat/cerulea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3447288"/>
            <a:ext cx="1938528" cy="3410712"/>
          </a:xfrm>
          <a:prstGeom prst="rect">
            <a:avLst/>
          </a:prstGeom>
        </p:spPr>
      </p:pic>
      <p:pic>
        <p:nvPicPr>
          <p:cNvPr id="7" name="Image 3" descr="/tmp/claude-0/-home-user-Sage-portfolio/d05fecce-977e-5eab-9cf5-7c09b306c551/scratchpad/wrdeck/gen/flat/tangerin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75320" y="3447288"/>
            <a:ext cx="1938528" cy="3410712"/>
          </a:xfrm>
          <a:prstGeom prst="rect">
            <a:avLst/>
          </a:prstGeom>
        </p:spPr>
      </p:pic>
      <p:pic>
        <p:nvPicPr>
          <p:cNvPr id="8" name="Image 4" descr="/tmp/claude-0/-home-user-Sage-portfolio/d05fecce-977e-5eab-9cf5-7c09b306c551/scratchpad/wrdeck/gen/flat/crimso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41280" y="3447288"/>
            <a:ext cx="1947672" cy="3410712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PRODUCT SHOOT</a:t>
            </a:r>
            <a:endParaRPr lang="en-US" sz="90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100584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FIVE WATCHES.</a:t>
            </a:r>
            <a:endParaRPr lang="en-US" sz="5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FIVE WORLDS.</a:t>
            </a:r>
            <a:endParaRPr lang="en-US" sz="5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SHOT FROM</a:t>
            </a:r>
            <a:endParaRPr lang="en-US" sz="5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ABOVE.</a:t>
            </a:r>
            <a:endParaRPr lang="en-US" sz="50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45720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themed flat-lay set for every watch: the visual reference, the surface, the light, the layout, the shot list and the full props checklist.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548640" y="5440680"/>
            <a:ext cx="548640" cy="36576"/>
          </a:xfrm>
          <a:prstGeom prst="rect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 what’s yours.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Sage Media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OVERVIEW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15568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RIG. FIVE SETS. EACH WATCH GETS ITS WORLD.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371600"/>
                <a:gridCol w="1463040"/>
                <a:gridCol w="329184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WORLD ON THE TABLE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SURFACE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Forest Ivory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Heritage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Rajput heirloom drawer: key, sealed letter, coins, ittar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Ivory marble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Warm hard key through a jaali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Citrus Mint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Workout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6 a.m. gym floor: chalk, sweat, band, rope, lime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rubber gym tile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 top light, backlit droplets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Cerulean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Travel · Sky · Freedom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Packed for a trip with no return date: passport, linen, sea map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White linen + water dish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Cool daylight + water caustics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Royal Tangerine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Self-made · Energy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founder's desk at 1 a.m.: plans, circled dates, espresso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Royal-blue board + steel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Orange-gelled blind stripes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Crimson Navy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Power · Alpha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night the deal closes: leather, red silk, card, key, glass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pebbled leather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Low-key spot + red edge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is shot straight down (90°), same camera height and same lens, so the five sets read as one series on the grid.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FOREST IVORY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iv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20040"/>
            <a:ext cx="4824730" cy="5989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9341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·  HERITAGE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93410" y="685800"/>
            <a:ext cx="6038342" cy="56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FOREST IVORY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93410" y="1298448"/>
            <a:ext cx="60383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to your roots.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93410" y="1664208"/>
            <a:ext cx="6038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Ivory case · white waffle dial · bottle-green strap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693410" y="2011680"/>
            <a:ext cx="60383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Rajput heirloom drawer, opened for the first time in decades. Old keys, a sealed letter, coins, ittar. The watch sits among them as if it was always meant to be passed down.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9341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693410" y="3127248"/>
            <a:ext cx="292608" cy="292608"/>
          </a:xfrm>
          <a:prstGeom prst="rect">
            <a:avLst/>
          </a:prstGeom>
          <a:solidFill>
            <a:srgbClr val="F3EEE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917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Ivory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56450" y="3127248"/>
            <a:ext cx="292608" cy="292608"/>
          </a:xfrm>
          <a:prstGeom prst="rect">
            <a:avLst/>
          </a:prstGeom>
          <a:solidFill>
            <a:srgbClr val="2F5D46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2221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 green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19490" y="3127248"/>
            <a:ext cx="292608" cy="292608"/>
          </a:xfrm>
          <a:prstGeom prst="rect">
            <a:avLst/>
          </a:prstGeom>
          <a:solidFill>
            <a:srgbClr val="B08D57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8525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Antique gold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82530" y="3127248"/>
            <a:ext cx="292608" cy="292608"/>
          </a:xfrm>
          <a:prstGeom prst="rect">
            <a:avLst/>
          </a:prstGeom>
          <a:solidFill>
            <a:srgbClr val="D9B9A0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4829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Sandstone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93410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790690" y="3611880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/ ivory Makrana marble slab, 60 × 90 cm. Backup: marble-print matte vinyl on a foam board.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69341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790690" y="4233672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warm key (3200–4000 K) from the left, hard, through a jaali panel so the pattern falls across the set. White bounce on the right. No fill from above.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93410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790690" y="4855464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slightly diagonal, centre-right, strap open. Green silk folds along the top-left corner. Key lower-left pointing at the dial. Envelope tucked behind the strap.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693410" y="5522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LIST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6790690" y="5495544"/>
            <a:ext cx="49410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Hero, full set, jaali shadow crossing the dial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crop: dial + 8 screws, shadow pattern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Strap laid over the green silk (texture shot)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negative-space version for text (9:16 + 4:5)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FOREST IVORY · PROPS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iv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0" y="320040"/>
            <a:ext cx="2587752" cy="32123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·  FOREST IVORY  ·  PROPS CHECKLIST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2296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NEED ON SET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3657600"/>
                <a:gridCol w="25146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EXACTLY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TO GET 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Marble slab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White/ivory, matte, 60 × 90 cm (or marble vinyl)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Marble showroom, Kishangarh / Sitapura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Bottle-green silk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m raw silk or a safa, soft folds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Johari Bazaar / Bapu Bazaar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Antique brass key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large, aged, ornate bow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Chandpole antique shops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Jaali piece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 carved sandstone/marble tile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Stone carvers, Jaipur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Jaali gobo panel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Laser-cut MDF jaali, ~60 × 60 cm, for shadow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Laser-cutting shop (1 day)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Handmade envelope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Ivory Sanganeri paper, deckled edge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Sanganer paper units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 wax seal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 wax + WR crest stamp (or generic crest)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Amazon / custom stamp maker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 coins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3–5 replica mohur coins, aged gold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Johari Bazaar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Brass ittar bottle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small, ornate, with dauber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Ittar shops, Johari Bazaar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Kundan cufflinks, dried jasmine buds (few)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Bazaar / florist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189720" y="3703320"/>
            <a:ext cx="2587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for the stylist: keep every prop logo-free or logo-down. The watch is the only brand in frame.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CITRUS MINT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m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20040"/>
            <a:ext cx="4824730" cy="5989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9341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·  WORKOUT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93410" y="685800"/>
            <a:ext cx="6038342" cy="56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CITRUS MINT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93410" y="1298448"/>
            <a:ext cx="60383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to your sweat.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93410" y="1664208"/>
            <a:ext cx="6038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Lime case · mint waffle dial · mint strap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693410" y="2011680"/>
            <a:ext cx="60383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6 a.m. gym floor, mid-session. Chalk on the mat, sweat on the crystal, a lime cut for after. Energy, discipline, freshness.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9341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693410" y="3127248"/>
            <a:ext cx="292608" cy="292608"/>
          </a:xfrm>
          <a:prstGeom prst="rect">
            <a:avLst/>
          </a:prstGeom>
          <a:solidFill>
            <a:srgbClr val="111111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917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Rubber black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56450" y="3127248"/>
            <a:ext cx="292608" cy="292608"/>
          </a:xfrm>
          <a:prstGeom prst="rect">
            <a:avLst/>
          </a:prstGeom>
          <a:solidFill>
            <a:srgbClr val="D7F25A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2221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19490" y="3127248"/>
            <a:ext cx="292608" cy="292608"/>
          </a:xfrm>
          <a:prstGeom prst="rect">
            <a:avLst/>
          </a:prstGeom>
          <a:solidFill>
            <a:srgbClr val="8FE3C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8525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82530" y="3127248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4829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Chalk white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93410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790690" y="3611880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 black rubber gym tile with a fine grain, 60 × 90 cm (2 tiles side by side, seam hidden under a prop).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69341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790690" y="4233672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top light (strip box or bare head with grid), 5600 K. A small backlight from the top edge so water droplets sparkle. Crisp, high contrast.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93410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790690" y="4855464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upright through the centre, strap straight. Band coiled left, rope curling top-right, plate bottom-right, lime halves bottom-left, chalk streak cutting across the lower-left corner.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693410" y="5522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LIST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6790690" y="5495544"/>
            <a:ext cx="49410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Hero, full set, droplets on crystal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Macro: droplet on the mint waffle dial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Chalk streak motion: blow chalk across the mat, shoot burst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on the towel only, minimal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CITRUS MINT · PROPS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m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0" y="320040"/>
            <a:ext cx="2587752" cy="32123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·  CITRUS MINT  ·  PROPS CHECKLIST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2296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NEED ON SET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3657600"/>
                <a:gridCol w="25146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EXACTLY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TO GET 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Rubber gym tile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Matte black, fine grain, 2 pieces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Decathlon / gym-flooring dealer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Resistance loop band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Mint green, flat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Decathlon / Amazon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Microfibre towel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Lime / neon green, small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Decathlon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Skipping rope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speed rope, metal handles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Decathlon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Weight plate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 black 1.25–2.5 kg, clean logo-free side up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Decathlon / sports shop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Shaker bottle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Mint or translucent, no brand 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Amazon / Decathlon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Fresh limes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4–5 (cut fresh every 30 min)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market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Climbing chalk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 or powder (talc works too)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Decathlon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Spray mix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Water + glycerine 3:1, fine-mist bottle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Chemist + any spray bottle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White earbuds case, mint shoelaces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 hand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189720" y="3703320"/>
            <a:ext cx="2587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for the stylist: keep every prop logo-free or logo-down. The watch is the only brand in frame.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CERULEAN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ceru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20040"/>
            <a:ext cx="4824730" cy="5989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9341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·  TRAVEL · SKY · FREEDOM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93410" y="685800"/>
            <a:ext cx="6038342" cy="56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CERULEAN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93410" y="1298448"/>
            <a:ext cx="60383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to your freedom.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93410" y="1664208"/>
            <a:ext cx="6038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Sky-blue case · white waffle dial · navy strap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693410" y="2011680"/>
            <a:ext cx="60383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night before a trip with no return date. White linen, passport, sunglasses, a sea map, and light rippling like water. Calm, airy, free.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9341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693410" y="3127248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917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Linen white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56450" y="3127248"/>
            <a:ext cx="292608" cy="292608"/>
          </a:xfrm>
          <a:prstGeom prst="rect">
            <a:avLst/>
          </a:prstGeom>
          <a:solidFill>
            <a:srgbClr val="8EC9EE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2221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blue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19490" y="3127248"/>
            <a:ext cx="292608" cy="292608"/>
          </a:xfrm>
          <a:prstGeom prst="rect">
            <a:avLst/>
          </a:prstGeom>
          <a:solidFill>
            <a:srgbClr val="1E3A6B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8525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82530" y="3127248"/>
            <a:ext cx="292608" cy="292608"/>
          </a:xfrm>
          <a:prstGeom prst="rect">
            <a:avLst/>
          </a:prstGeom>
          <a:solidFill>
            <a:srgbClr val="CFE6EC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4829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 glass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93410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790690" y="3611880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Crisp white linen sheet, lightly crumpled, taped over a board. Alternative: white board + shallow glass dish of water for caustic light.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69341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790690" y="4233672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soft cool key (5600–6000 K) like window daylight. A hard spot through a glass dish of water from above-side for rippling caustics across the watch.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93410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790690" y="4855464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centre, strap running top to bottom. Passport top-left, sunglasses mid-left, shirt corner bottom-left, map bottom-right, sea glass + water dish right, striped towel top-right.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693410" y="5522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LIST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6790690" y="5495544"/>
            <a:ext cx="49410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Hero, full set, caustics across dial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on the open map (journey crop)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half-in a water dish (only if water rating confirmed)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Minimal: watch + sunglasses on linen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CERULEAN · PROPS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ceru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0" y="320040"/>
            <a:ext cx="2587752" cy="32123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·  CERULEAN  ·  PROPS CHECKLIST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2296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NEED ON SET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3657600"/>
                <a:gridCol w="25146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EXACTLY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TO GET 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White linen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 m sheet, crisp, light crumple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Fabric market / home linen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Passport + cover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Navy leather cover; dummy pages only, no real ID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Amazon (cover)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Boarding pass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Printed mock-up, “JAI → anywhere”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 design + 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Aviator sunglasses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 or silver frame, logo-free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Any optician / Amazon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Linen shirt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White, folded collar visible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Wardrobe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Vintage sea map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Printed on matte or kraft paper, A3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 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 glass + pebbles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Pale blue glass, smooth white pebbles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Amazon / aquarium shop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Glass dish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Shallow clear dish of water (caustics)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Kitchen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Striped towel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Navy + white, rolled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Home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plane, film camera, sky polaroid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Toy / at hand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189720" y="3703320"/>
            <a:ext cx="2587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for the stylist: keep every prop logo-free or logo-down. The watch is the only brand in frame.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ROYAL TANGERINE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tanger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20040"/>
            <a:ext cx="4824730" cy="5989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9341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·  SELF-MADE · ENERGY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93410" y="685800"/>
            <a:ext cx="6038342" cy="56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ROYAL TANGERINE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93410" y="1298448"/>
            <a:ext cx="60383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to your journey.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93410" y="1664208"/>
            <a:ext cx="6038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Royal-blue case · orange striped dial · orange strap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693410" y="2011680"/>
            <a:ext cx="60383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founder’s desk at 1 a.m. Plans in the notebook, dates circled, espresso half done. Late-afternoon sun slicing through the blinds. Built, not given.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9341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693410" y="3127248"/>
            <a:ext cx="292608" cy="292608"/>
          </a:xfrm>
          <a:prstGeom prst="rect">
            <a:avLst/>
          </a:prstGeom>
          <a:solidFill>
            <a:srgbClr val="2547A8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917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blue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56450" y="3127248"/>
            <a:ext cx="292608" cy="292608"/>
          </a:xfrm>
          <a:prstGeom prst="rect">
            <a:avLst/>
          </a:prstGeom>
          <a:solidFill>
            <a:srgbClr val="F28C28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2221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Tangerine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19490" y="3127248"/>
            <a:ext cx="292608" cy="292608"/>
          </a:xfrm>
          <a:prstGeom prst="rect">
            <a:avLst/>
          </a:prstGeom>
          <a:solidFill>
            <a:srgbClr val="B9BEC4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8525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Brushed steel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82530" y="3127248"/>
            <a:ext cx="292608" cy="292608"/>
          </a:xfrm>
          <a:prstGeom prst="rect">
            <a:avLst/>
          </a:prstGeom>
          <a:solidFill>
            <a:srgbClr val="111111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4829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black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93410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790690" y="3611880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 royal-blue paper or painted board (60 × 90 cm), with a strip of brushed-steel sheet along one side.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69341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790690" y="4233672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hard light through a venetian-blind gobo so stripes fall diagonally, warmed with an orange (CTO) gel. Cool fill to keep the blue rich.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93410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790690" y="4855464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centre on a diagonal, echoing the blind shadows. Notebook top-left, pen + highlighter left, calendar bottom-right, espresso top-right, key bottom-left, blueprint corner top-right.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693410" y="5522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LIST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6790690" y="5495544"/>
            <a:ext cx="49410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Hero, blind stripes across the set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Macro: dial stripes vs. shadow stripes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on the open notebook page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version: watch + espresso only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ROYAL TANGERINE · PROPS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tanger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0" y="320040"/>
            <a:ext cx="2587752" cy="32123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·  ROYAL TANGERINE  ·  PROPS CHECKLIST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2296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NEED ON SET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3657600"/>
                <a:gridCol w="25146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EXACTLY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TO GET 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Royal-blue base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Matte paper roll or painted MDF, 60 × 90 cm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 supply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Brushed steel sheet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 strip, ~20 × 90 cm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Hardware / sheet-metal shop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Notebook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hardcover, pages with handwritten plans + growth sketch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Stationery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Fountain pen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Black, logo-free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Stationery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Highlighter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Orange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Stationery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Desk calendar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Page with dates circled in orange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 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Blueprint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A3 print, blue, cropped into corner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 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Espresso cup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 black cup + saucer, real espresso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Café / kitchen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cards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 cards or blank cards, small stack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 key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Generic black fob (tape over any logo)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 hand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Blind gobo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Venetian blind or slatted card + orange CTO gel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Hardware / lighting rental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189720" y="3703320"/>
            <a:ext cx="2587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for the stylist: keep every prop logo-free or logo-down. The watch is the only brand in frame.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CRIMSON NAVY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crims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20040"/>
            <a:ext cx="4824730" cy="5989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9341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·  POWER · ALPHA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93410" y="685800"/>
            <a:ext cx="6038342" cy="56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CRIMSON NAVY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93410" y="1298448"/>
            <a:ext cx="60383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to your power.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93410" y="1664208"/>
            <a:ext cx="6038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 case · red textured dial · red strap · rose-gold hands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693410" y="2011680"/>
            <a:ext cx="60383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night after the deal closes. Black leather, red silk, the card, the key, a glass on ice. One light, deep shadows. Quiet dominance.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9341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693410" y="3127248"/>
            <a:ext cx="292608" cy="292608"/>
          </a:xfrm>
          <a:prstGeom prst="rect">
            <a:avLst/>
          </a:prstGeom>
          <a:solidFill>
            <a:srgbClr val="0B0B0B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917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56450" y="3127248"/>
            <a:ext cx="292608" cy="292608"/>
          </a:xfrm>
          <a:prstGeom prst="rect">
            <a:avLst/>
          </a:prstGeom>
          <a:solidFill>
            <a:srgbClr val="1C2A55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2221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19490" y="3127248"/>
            <a:ext cx="292608" cy="292608"/>
          </a:xfrm>
          <a:prstGeom prst="rect">
            <a:avLst/>
          </a:prstGeom>
          <a:solidFill>
            <a:srgbClr val="8E1A26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8525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Crimson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82530" y="3127248"/>
            <a:ext cx="292608" cy="292608"/>
          </a:xfrm>
          <a:prstGeom prst="rect">
            <a:avLst/>
          </a:prstGeom>
          <a:solidFill>
            <a:srgbClr val="C99A7A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48290" y="31821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Rose gold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93410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790690" y="3611880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pebbled leather sheet (car-seat / upholstery grain), 60 × 90 cm. Backup: black suede.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69341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790690" y="4233672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key. One hard snooted spot from high side on the watch. A thin red-gelled edge light from the opposite side. Black flags everywhere else.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93410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790690" y="4855464"/>
            <a:ext cx="4941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centre, strap vertical. Silk top-left, glass top-right, cufflinks under the glass, wallet bottom-left, pen right of the strap, key + wax seal bottom-right.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693410" y="5522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LIST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6790690" y="5495544"/>
            <a:ext cx="49410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Hero, single spot, deep shadows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Macro: rose-gold hands on the red dial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+ glass only, ice catching the spot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Lights-off glow frame (if lume is confirmed)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CRIMSON NAVY · PROPS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gen/flat/crims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0" y="320040"/>
            <a:ext cx="2587752" cy="32123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·  CRIMSON NAVY  ·  PROPS CHECKLIST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2296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NEED ON SET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3657600"/>
                <a:gridCol w="25146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EXACTLY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TO GET 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leather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Pebbled upholstery leather, 60 × 90 cm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Leather/upholstery market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silk pocket square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crimson, soft folds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Menswear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Cufflinks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Silver or gunmetal, simple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Menswear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Leather wallet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Black, logo-free (or logo hidden)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 hand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Metal card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matte blank card (no bank name)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Online custom 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 key fob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or black, logo taped / turned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 hand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Fountain pen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 lacquer, logo-free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Stationery store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Crystal tumbler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Heavy cut-glass + acrylic ice (doesn’t melt)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Home store / Amazon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Liquid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Whisky or cold brew/tea (client call)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 hand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☐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wax seal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wax + stamp, 2–3 pressed discs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Amazon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189720" y="3703320"/>
            <a:ext cx="2587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for the stylist: keep every prop logo-free or logo-down. The watch is the only brand in frame.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COMMON KIT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EVERY SET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BASE KIT (ONE LIST, ALL FIVE SHOOTS)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39319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CAMERA + RIG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Full-frame body, tethered to laptop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mm macro + 50 mm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Overhead boom arm / copy stand, spirit level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f/8–f/11, ISO 100, 1/160 s (flash)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39319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LIGHT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24028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strobes or LEDs + 1 small spot (snoot/fresnel)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Softbox + strip box, grids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Gels: CTO orange, red, ½ CTB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flags, white bounce boards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51760" cy="39319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STYLING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4028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Museum putty / blu-tack, tweezers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Cotton gloves, microfibre, air blower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Glycerine spray, steamer for fabric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Gaffer tape, clamps, extra watch cleaning kit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51760" cy="39319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OUTPUT PER WATCH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24028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4:5 (feed) + 9:16 (story)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detail macros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clean negative-space plate for text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lifestyle crop for website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of the day: Forest Ivory → Cerulean → Royal Tangerine → Citrus Mint (water + chalk) → Crimson Navy (low-key, last). About 45–60 min per set.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FLAT LAY SHOOT  ·  NOTES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SHOOT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46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THINGS TO CONFIRM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visuals are AI references.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watch in each frame is drawn from a description, not the real product. Case shape, screws and dial texture will differ. Use them for set, props, colour and light only.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63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and lume.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290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Cerulean’s water shot and the Crimson Navy glow frame only go ahead once the client confirms the water rating and lume.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389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Alcohol and logos.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754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Crimson Navy uses a whisky glass; swap to cold brew if the client prefers. Every third-party logo (wallet, car key, pen, weights) stays hidden.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Sage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 Roots · Flat Lay Product Shoot</dc:title>
  <dc:subject>PptxGenJS Presentation</dc:subject>
  <dc:creator>Sage Media</dc:creator>
  <cp:lastModifiedBy>Sage Media</cp:lastModifiedBy>
  <cp:revision>1</cp:revision>
  <dcterms:created xsi:type="dcterms:W3CDTF">2026-10-22T14:56:36Z</dcterms:created>
  <dcterms:modified xsi:type="dcterms:W3CDTF">2026-10-22T14:56:36Z</dcterms:modified>
</cp:coreProperties>
</file>