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Lst>
  <p:notesMasterIdLst>
    <p:notesMasterId r:id="rId7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image" Target="../media/image-1-6.jp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www.youtube.com/results?search_query=Hans%20Zimmer%20Time%20Inception" TargetMode="External"/><Relationship Id="rId1" Type="http://schemas.openxmlformats.org/officeDocument/2006/relationships/image" Target="../media/image-12-1.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youtube.com/results?search_query=Hans%20Zimmer%20Time%20Inception" TargetMode="External"/><Relationship Id="rId3" Type="http://schemas.openxmlformats.org/officeDocument/2006/relationships/hyperlink" Target="https://www.pinterest.com/search/pins/?q=haveli%20jaali%20light%20portrait%20man" TargetMode="External"/><Relationship Id="rId4" Type="http://schemas.openxmlformats.org/officeDocument/2006/relationships/hyperlink" Target="https://www.pinterest.com/search/pins/?q=vintage%20watch%20box%20heirloom" TargetMode="External"/><Relationship Id="rId5" Type="http://schemas.openxmlformats.org/officeDocument/2006/relationships/hyperlink" Target="https://www.instagram.com/sabyasachiofficial/reels/" TargetMode="External"/><Relationship Id="rId6" Type="http://schemas.openxmlformats.org/officeDocument/2006/relationships/hyperlink" Target="https://www.instagram.com/rolex/reels/" TargetMode="External"/><Relationship Id="rId1" Type="http://schemas.openxmlformats.org/officeDocument/2006/relationships/image" Target="../media/image-13-1.jp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youtube.com/results?search_query=Max%20Richter%20On%20the%20Nature%20of%20Daylight" TargetMode="External"/><Relationship Id="rId1" Type="http://schemas.openxmlformats.org/officeDocument/2006/relationships/image" Target="../media/image-15-1.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youtube.com/results?search_query=Max%20Richter%20On%20the%20Nature%20of%20Daylight" TargetMode="External"/><Relationship Id="rId3" Type="http://schemas.openxmlformats.org/officeDocument/2006/relationships/hyperlink" Target="https://www.pinterest.com/search/pins/?q=jaali%20window%20light%20beams%20haveli" TargetMode="External"/><Relationship Id="rId4" Type="http://schemas.openxmlformats.org/officeDocument/2006/relationships/hyperlink" Target="https://www.pinterest.com/search/pins/?q=luxury%20watch%20wrist%20light%20pattern%20shadow" TargetMode="External"/><Relationship Id="rId5" Type="http://schemas.openxmlformats.org/officeDocument/2006/relationships/hyperlink" Target="https://www.instagram.com/cartier/reels/" TargetMode="External"/><Relationship Id="rId1" Type="http://schemas.openxmlformats.org/officeDocument/2006/relationships/image" Target="../media/image-16-1.jp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www.youtube.com/results?search_query=Succession%20main%20title%20theme%20Nicholas%20Britell" TargetMode="External"/><Relationship Id="rId1" Type="http://schemas.openxmlformats.org/officeDocument/2006/relationships/image" Target="../media/image-18-1.jp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youtube.com/results?search_query=Succession%20main%20title%20theme%20Nicholas%20Britell" TargetMode="External"/><Relationship Id="rId3" Type="http://schemas.openxmlformats.org/officeDocument/2006/relationships/hyperlink" Target="https://www.pinterest.com/search/pins/?q=indian%20courtyard%20chai%20cinematic" TargetMode="External"/><Relationship Id="rId4" Type="http://schemas.openxmlformats.org/officeDocument/2006/relationships/hyperlink" Target="https://www.instagram.com/mukesh_gupta14/reels/" TargetMode="External"/><Relationship Id="rId1" Type="http://schemas.openxmlformats.org/officeDocument/2006/relationships/image" Target="../media/image-19-1.jp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youtube.com/results?search_query=Hans%20Zimmer%20Mountains%20Interstellar" TargetMode="External"/><Relationship Id="rId1" Type="http://schemas.openxmlformats.org/officeDocument/2006/relationships/image" Target="../media/image-22-1.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youtube.com/results?search_query=Hans%20Zimmer%20Mountains%20Interstellar" TargetMode="External"/><Relationship Id="rId3" Type="http://schemas.openxmlformats.org/officeDocument/2006/relationships/hyperlink" Target="https://www.pinterest.com/search/pins/?q=5am%20routine%20cinematic%20rooftop%20sunrise%20man" TargetMode="External"/><Relationship Id="rId4" Type="http://schemas.openxmlformats.org/officeDocument/2006/relationships/hyperlink" Target="https://www.instagram.com/tagheuer/reels/" TargetMode="External"/><Relationship Id="rId1" Type="http://schemas.openxmlformats.org/officeDocument/2006/relationships/image" Target="../media/image-23-1.jp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youtube.com/results?search_query=Kendrick%20Lamar%20HUMBLE%20instrumental" TargetMode="External"/><Relationship Id="rId1" Type="http://schemas.openxmlformats.org/officeDocument/2006/relationships/image" Target="../media/image-25-1.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youtube.com/results?search_query=Kendrick%20Lamar%20HUMBLE%20instrumental" TargetMode="External"/><Relationship Id="rId3" Type="http://schemas.openxmlformats.org/officeDocument/2006/relationships/hyperlink" Target="https://www.pinterest.com/search/pins/?q=lime%20mint%20ice%20marble%20hands%20cinematic" TargetMode="External"/><Relationship Id="rId4" Type="http://schemas.openxmlformats.org/officeDocument/2006/relationships/hyperlink" Target="https://www.instagram.com/omega/reels/" TargetMode="External"/><Relationship Id="rId1" Type="http://schemas.openxmlformats.org/officeDocument/2006/relationships/image" Target="../media/image-26-1.jp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youtube.com/results?search_query=Hans%20Zimmer%20Dream%20of%20Arrakis%20Dune" TargetMode="External"/><Relationship Id="rId1" Type="http://schemas.openxmlformats.org/officeDocument/2006/relationships/image" Target="../media/image-28-1.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youtube.com/results?search_query=Hans%20Zimmer%20Dream%20of%20Arrakis%20Dune" TargetMode="External"/><Relationship Id="rId3" Type="http://schemas.openxmlformats.org/officeDocument/2006/relationships/hyperlink" Target="https://www.pinterest.com/search/pins/?q=sunrise%20run%20cinematic%20lake%20man" TargetMode="External"/><Relationship Id="rId4" Type="http://schemas.openxmlformats.org/officeDocument/2006/relationships/hyperlink" Target="https://www.pinterest.com/search/pins/?q=jal%20mahal%20jaipur%20morning%20mist" TargetMode="External"/><Relationship Id="rId1" Type="http://schemas.openxmlformats.org/officeDocument/2006/relationships/image" Target="../media/image-29-1.jp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youtube.com/results?search_query=Ludovico%20Einaudi%20Experience" TargetMode="External"/><Relationship Id="rId1" Type="http://schemas.openxmlformats.org/officeDocument/2006/relationships/image" Target="../media/image-32-1.jp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youtube.com/results?search_query=Ludovico%20Einaudi%20Experience" TargetMode="External"/><Relationship Id="rId3" Type="http://schemas.openxmlformats.org/officeDocument/2006/relationships/hyperlink" Target="https://www.pinterest.com/search/pins/?q=architect%20blueprint%20cinematic%20man%20watch" TargetMode="External"/><Relationship Id="rId4" Type="http://schemas.openxmlformats.org/officeDocument/2006/relationships/hyperlink" Target="https://www.instagram.com/iwcwatches/reels/" TargetMode="External"/><Relationship Id="rId1" Type="http://schemas.openxmlformats.org/officeDocument/2006/relationships/image" Target="../media/image-33-1.jp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youtube.com/results?search_query=Hans%20Zimmer%20No%20Time%20for%20Caution" TargetMode="External"/><Relationship Id="rId1" Type="http://schemas.openxmlformats.org/officeDocument/2006/relationships/image" Target="../media/image-35-1.jp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youtube.com/results?search_query=Hans%20Zimmer%20No%20Time%20for%20Caution" TargetMode="External"/><Relationship Id="rId3" Type="http://schemas.openxmlformats.org/officeDocument/2006/relationships/hyperlink" Target="https://www.pinterest.com/search/pins/?q=push%20in%20macro%20transition%20watch%20reel" TargetMode="External"/><Relationship Id="rId4" Type="http://schemas.openxmlformats.org/officeDocument/2006/relationships/hyperlink" Target="https://www.instagram.com/panerai/reels/" TargetMode="External"/><Relationship Id="rId1" Type="http://schemas.openxmlformats.org/officeDocument/2006/relationships/image" Target="../media/image-36-1.jp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www.youtube.com/results?search_query=Ludwig%20Goransson%20Can%20You%20Hear%20The%20Music" TargetMode="External"/><Relationship Id="rId1" Type="http://schemas.openxmlformats.org/officeDocument/2006/relationships/image" Target="../media/image-38-1.jp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hyperlink" Target="https://www.youtube.com/results?search_query=Ludwig%20Goransson%20Can%20You%20Hear%20The%20Music" TargetMode="External"/><Relationship Id="rId3" Type="http://schemas.openxmlformats.org/officeDocument/2006/relationships/hyperlink" Target="https://www.pinterest.com/search/pins/?q=getting%20ready%20ritual%20cinematic%20watch%20man" TargetMode="External"/><Relationship Id="rId4" Type="http://schemas.openxmlformats.org/officeDocument/2006/relationships/hyperlink" Target="https://www.instagram.com/audemarspiguet/reels/" TargetMode="External"/><Relationship Id="rId1" Type="http://schemas.openxmlformats.org/officeDocument/2006/relationships/image" Target="../media/image-39-1.jp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2" Type="http://schemas.openxmlformats.org/officeDocument/2006/relationships/hyperlink" Target="https://www.youtube.com/results?search_query=AR%20Rahman%20Yeh%20Jo%20Desh%20Hai%20Tera%20Swades%20shehnai" TargetMode="External"/><Relationship Id="rId1" Type="http://schemas.openxmlformats.org/officeDocument/2006/relationships/image" Target="../media/image-42-1.jp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2" Type="http://schemas.openxmlformats.org/officeDocument/2006/relationships/hyperlink" Target="https://www.youtube.com/results?search_query=AR%20Rahman%20Yeh%20Jo%20Desh%20Hai%20Tera%20Swades%20shehnai" TargetMode="External"/><Relationship Id="rId3" Type="http://schemas.openxmlformats.org/officeDocument/2006/relationships/hyperlink" Target="https://www.pinterest.com/search/pins/?q=diwali%20cinematic%20diya%20man%20night" TargetMode="External"/><Relationship Id="rId4" Type="http://schemas.openxmlformats.org/officeDocument/2006/relationships/hyperlink" Target="https://www.instagram.com/tanishqjewellery/reels/" TargetMode="External"/><Relationship Id="rId1" Type="http://schemas.openxmlformats.org/officeDocument/2006/relationships/image" Target="../media/image-43-1.jp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www.youtube.com/results?search_query=Ustad%20Bismillah%20Khan%20shehnai" TargetMode="External"/><Relationship Id="rId1" Type="http://schemas.openxmlformats.org/officeDocument/2006/relationships/image" Target="../media/image-45-1.jp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hyperlink" Target="https://www.youtube.com/results?search_query=Ustad%20Bismillah%20Khan%20shehnai" TargetMode="External"/><Relationship Id="rId3" Type="http://schemas.openxmlformats.org/officeDocument/2006/relationships/hyperlink" Target="https://www.pinterest.com/search/pins/?q=dhanteras%20thali%20hands%20brass%20diya" TargetMode="External"/><Relationship Id="rId4" Type="http://schemas.openxmlformats.org/officeDocument/2006/relationships/hyperlink" Target="https://www.pinterest.com/search/pins/?q=marigold%20brass%20thali%20top%20view" TargetMode="External"/><Relationship Id="rId1" Type="http://schemas.openxmlformats.org/officeDocument/2006/relationships/image" Target="../media/image-46-1.jpg"/><Relationship Id="rId5" Type="http://schemas.openxmlformats.org/officeDocument/2006/relationships/slideLayout" Target="../slideLayouts/slideLayout1.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2" Type="http://schemas.openxmlformats.org/officeDocument/2006/relationships/hyperlink" Target="https://www.youtube.com/results?search_query=AR%20Rahman%20Azeem%20O%20Shaan%20Shahenshah" TargetMode="External"/><Relationship Id="rId1" Type="http://schemas.openxmlformats.org/officeDocument/2006/relationships/image" Target="../media/image-48-1.jp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2" Type="http://schemas.openxmlformats.org/officeDocument/2006/relationships/hyperlink" Target="https://www.youtube.com/results?search_query=AR%20Rahman%20Azeem%20O%20Shaan%20Shahenshah" TargetMode="External"/><Relationship Id="rId3" Type="http://schemas.openxmlformats.org/officeDocument/2006/relationships/hyperlink" Target="https://www.pinterest.com/search/pins/?q=rajasthani%20safa%20portrait%20jharokha" TargetMode="External"/><Relationship Id="rId4" Type="http://schemas.openxmlformats.org/officeDocument/2006/relationships/hyperlink" Target="https://www.pinterest.com/search/pins/?q=whip%20pan%20transition%20city%20reel" TargetMode="External"/><Relationship Id="rId1" Type="http://schemas.openxmlformats.org/officeDocument/2006/relationships/image" Target="../media/image-49-1.jpg"/><Relationship Id="rId5" Type="http://schemas.openxmlformats.org/officeDocument/2006/relationships/slideLayout" Target="../slideLayouts/slideLayout1.xml"/><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2" Type="http://schemas.openxmlformats.org/officeDocument/2006/relationships/hyperlink" Target="https://www.youtube.com/results?search_query=Hand%20Covers%20Bruise%20Trent%20Reznor%20Atticus%20Ross" TargetMode="External"/><Relationship Id="rId1" Type="http://schemas.openxmlformats.org/officeDocument/2006/relationships/image" Target="../media/image-52-1.jp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2" Type="http://schemas.openxmlformats.org/officeDocument/2006/relationships/hyperlink" Target="https://www.youtube.com/results?search_query=Hand%20Covers%20Bruise%20Trent%20Reznor%20Atticus%20Ross" TargetMode="External"/><Relationship Id="rId3" Type="http://schemas.openxmlformats.org/officeDocument/2006/relationships/hyperlink" Target="https://www.pinterest.com/search/pins/?q=late%20night%20work%20cinematic%20red%20neon%20man" TargetMode="External"/><Relationship Id="rId4" Type="http://schemas.openxmlformats.org/officeDocument/2006/relationships/hyperlink" Target="https://www.instagram.com/hublot/reels/" TargetMode="External"/><Relationship Id="rId1" Type="http://schemas.openxmlformats.org/officeDocument/2006/relationships/image" Target="../media/image-53-1.jpg"/><Relationship Id="rId5" Type="http://schemas.openxmlformats.org/officeDocument/2006/relationships/slideLayout" Target="../slideLayouts/slideLayout1.xml"/><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2" Type="http://schemas.openxmlformats.org/officeDocument/2006/relationships/hyperlink" Target="https://www.youtube.com/results?search_query=Kavinsky%20Nightcall" TargetMode="External"/><Relationship Id="rId1" Type="http://schemas.openxmlformats.org/officeDocument/2006/relationships/image" Target="../media/image-55-1.jp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2" Type="http://schemas.openxmlformats.org/officeDocument/2006/relationships/hyperlink" Target="https://www.youtube.com/results?search_query=Kavinsky%20Nightcall" TargetMode="External"/><Relationship Id="rId3" Type="http://schemas.openxmlformats.org/officeDocument/2006/relationships/hyperlink" Target="https://www.pinterest.com/search/pins/?q=red%20blue%20split%20lighting%20watch%20wrist" TargetMode="External"/><Relationship Id="rId4" Type="http://schemas.openxmlformats.org/officeDocument/2006/relationships/hyperlink" Target="https://www.instagram.com/jacobandco/reels/" TargetMode="External"/><Relationship Id="rId1" Type="http://schemas.openxmlformats.org/officeDocument/2006/relationships/image" Target="../media/image-56-1.jpg"/><Relationship Id="rId5" Type="http://schemas.openxmlformats.org/officeDocument/2006/relationships/slideLayout" Target="../slideLayouts/slideLayout1.xml"/><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2" Type="http://schemas.openxmlformats.org/officeDocument/2006/relationships/hyperlink" Target="https://www.youtube.com/results?search_query=Gesaffelstein%20Pursuit" TargetMode="External"/><Relationship Id="rId1" Type="http://schemas.openxmlformats.org/officeDocument/2006/relationships/image" Target="../media/image-58-1.jp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2" Type="http://schemas.openxmlformats.org/officeDocument/2006/relationships/hyperlink" Target="https://www.youtube.com/results?search_query=Gesaffelstein%20Pursuit" TargetMode="External"/><Relationship Id="rId3" Type="http://schemas.openxmlformats.org/officeDocument/2006/relationships/hyperlink" Target="https://www.pinterest.com/search/pins/?q=night%20drive%20cinematic%20watch%20steering%20wheel" TargetMode="External"/><Relationship Id="rId4" Type="http://schemas.openxmlformats.org/officeDocument/2006/relationships/hyperlink" Target="https://www.instagram.com/tagheuer/reels/" TargetMode="External"/><Relationship Id="rId1" Type="http://schemas.openxmlformats.org/officeDocument/2006/relationships/image" Target="../media/image-59-1.jpg"/><Relationship Id="rId5" Type="http://schemas.openxmlformats.org/officeDocument/2006/relationships/slideLayout" Target="../slideLayouts/slideLayout1.xml"/><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image" Target="../media/image-63-2.jpg"/><Relationship Id="rId3" Type="http://schemas.openxmlformats.org/officeDocument/2006/relationships/image" Target="../media/image-63-3.jpg"/><Relationship Id="rId4" Type="http://schemas.openxmlformats.org/officeDocument/2006/relationships/slideLayout" Target="../slideLayouts/slideLayout1.xml"/><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image" Target="../media/image-67-2.jpg"/><Relationship Id="rId3" Type="http://schemas.openxmlformats.org/officeDocument/2006/relationships/image" Target="../media/image-67-3.jpg"/><Relationship Id="rId4" Type="http://schemas.openxmlformats.org/officeDocument/2006/relationships/image" Target="../media/image-67-4.jpg"/><Relationship Id="rId5" Type="http://schemas.openxmlformats.org/officeDocument/2006/relationships/image" Target="../media/image-67-5.jpg"/><Relationship Id="rId6" Type="http://schemas.openxmlformats.org/officeDocument/2006/relationships/slideLayout" Target="../slideLayouts/slideLayout1.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hyperlink" Target="https://www.youtube.com/results?search_query=Hans%20Zimmer%20Time%20Inception" TargetMode="External"/><Relationship Id="rId2" Type="http://schemas.openxmlformats.org/officeDocument/2006/relationships/hyperlink" Target="https://www.youtube.com/results?search_query=Max%20Richter%20On%20the%20Nature%20of%20Daylight" TargetMode="External"/><Relationship Id="rId3" Type="http://schemas.openxmlformats.org/officeDocument/2006/relationships/hyperlink" Target="https://www.youtube.com/results?search_query=Succession%20main%20title%20theme%20Nicholas%20Britell" TargetMode="External"/><Relationship Id="rId4" Type="http://schemas.openxmlformats.org/officeDocument/2006/relationships/hyperlink" Target="https://www.youtube.com/results?search_query=Hans%20Zimmer%20Mountains%20Interstellar" TargetMode="External"/><Relationship Id="rId5" Type="http://schemas.openxmlformats.org/officeDocument/2006/relationships/hyperlink" Target="https://www.youtube.com/results?search_query=Kendrick%20Lamar%20HUMBLE%20instrumental" TargetMode="External"/><Relationship Id="rId6" Type="http://schemas.openxmlformats.org/officeDocument/2006/relationships/hyperlink" Target="https://www.youtube.com/results?search_query=Hans%20Zimmer%20Dream%20of%20Arrakis%20Dune" TargetMode="External"/><Relationship Id="rId7" Type="http://schemas.openxmlformats.org/officeDocument/2006/relationships/hyperlink" Target="https://www.youtube.com/results?search_query=Ludovico%20Einaudi%20Experience" TargetMode="External"/><Relationship Id="rId8" Type="http://schemas.openxmlformats.org/officeDocument/2006/relationships/hyperlink" Target="https://www.youtube.com/results?search_query=Hans%20Zimmer%20No%20Time%20for%20Caution" TargetMode="External"/><Relationship Id="rId9" Type="http://schemas.openxmlformats.org/officeDocument/2006/relationships/hyperlink" Target="https://www.youtube.com/results?search_query=Ludwig%20Goransson%20Can%20You%20Hear%20The%20Music" TargetMode="External"/><Relationship Id="rId10" Type="http://schemas.openxmlformats.org/officeDocument/2006/relationships/hyperlink" Target="https://www.youtube.com/results?search_query=AR%20Rahman%20Yeh%20Jo%20Desh%20Hai%20Tera%20Swades%20shehnai" TargetMode="External"/><Relationship Id="rId11" Type="http://schemas.openxmlformats.org/officeDocument/2006/relationships/hyperlink" Target="https://www.youtube.com/results?search_query=Ustad%20Bismillah%20Khan%20shehnai" TargetMode="External"/><Relationship Id="rId12" Type="http://schemas.openxmlformats.org/officeDocument/2006/relationships/hyperlink" Target="https://www.youtube.com/results?search_query=AR%20Rahman%20Azeem%20O%20Shaan%20Shahenshah" TargetMode="External"/><Relationship Id="rId13" Type="http://schemas.openxmlformats.org/officeDocument/2006/relationships/hyperlink" Target="https://www.youtube.com/results?search_query=Hand%20Covers%20Bruise%20Trent%20Reznor%20Atticus%20Ross" TargetMode="External"/><Relationship Id="rId14" Type="http://schemas.openxmlformats.org/officeDocument/2006/relationships/hyperlink" Target="https://www.youtube.com/results?search_query=Kavinsky%20Nightcall" TargetMode="External"/><Relationship Id="rId15" Type="http://schemas.openxmlformats.org/officeDocument/2006/relationships/hyperlink" Target="https://www.youtube.com/results?search_query=Gesaffelstein%20Pursuit" TargetMode="External"/><Relationship Id="rId16" Type="http://schemas.openxmlformats.org/officeDocument/2006/relationships/slideLayout" Target="../slideLayouts/slideLayout1.xml"/><Relationship Id="rId1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01</a:t>
            </a:r>
            <a:endParaRPr lang="en-US" sz="750" dirty="0"/>
          </a:p>
        </p:txBody>
      </p:sp>
      <p:pic>
        <p:nvPicPr>
          <p:cNvPr id="4" name="Image 0" descr="/tmp/claude-0/-home-user-Sage-portfolio/d05fecce-977e-5eab-9cf5-7c09b306c551/scratchpad/wrdeck/img/ai_redblue_r2.jpg">    </p:cNvPr>
          <p:cNvPicPr>
            <a:picLocks noChangeAspect="1"/>
          </p:cNvPicPr>
          <p:nvPr/>
        </p:nvPicPr>
        <p:blipFill>
          <a:blip r:embed="rId1"/>
          <a:srcRect l="0" r="0" t="0" b="0"/>
          <a:stretch/>
        </p:blipFill>
        <p:spPr>
          <a:xfrm>
            <a:off x="6400800" y="0"/>
            <a:ext cx="1920240" cy="3456432"/>
          </a:xfrm>
          <a:prstGeom prst="rect">
            <a:avLst/>
          </a:prstGeom>
        </p:spPr>
      </p:pic>
      <p:pic>
        <p:nvPicPr>
          <p:cNvPr id="5" name="Image 1" descr="/tmp/claude-0/-home-user-Sage-portfolio/d05fecce-977e-5eab-9cf5-7c09b306c551/scratchpad/wrdeck/img/ai_orange_r2.jpg">    </p:cNvPr>
          <p:cNvPicPr>
            <a:picLocks noChangeAspect="1"/>
          </p:cNvPicPr>
          <p:nvPr/>
        </p:nvPicPr>
        <p:blipFill>
          <a:blip r:embed="rId2"/>
          <a:srcRect l="0" r="0" t="0" b="0"/>
          <a:stretch/>
        </p:blipFill>
        <p:spPr>
          <a:xfrm>
            <a:off x="8366760" y="0"/>
            <a:ext cx="1920240" cy="3456432"/>
          </a:xfrm>
          <a:prstGeom prst="rect">
            <a:avLst/>
          </a:prstGeom>
        </p:spPr>
      </p:pic>
      <p:pic>
        <p:nvPicPr>
          <p:cNvPr id="6" name="Image 2" descr="/tmp/claude-0/-home-user-Sage-portfolio/d05fecce-977e-5eab-9cf5-7c09b306c551/scratchpad/wrdeck/img/ai_green_r2.jpg">    </p:cNvPr>
          <p:cNvPicPr>
            <a:picLocks noChangeAspect="1"/>
          </p:cNvPicPr>
          <p:nvPr/>
        </p:nvPicPr>
        <p:blipFill>
          <a:blip r:embed="rId3"/>
          <a:srcRect l="0" r="0" t="0" b="0"/>
          <a:stretch/>
        </p:blipFill>
        <p:spPr>
          <a:xfrm>
            <a:off x="10332720" y="0"/>
            <a:ext cx="1856232" cy="3456432"/>
          </a:xfrm>
          <a:prstGeom prst="rect">
            <a:avLst/>
          </a:prstGeom>
        </p:spPr>
      </p:pic>
      <p:pic>
        <p:nvPicPr>
          <p:cNvPr id="7" name="Image 3" descr="/tmp/claude-0/-home-user-Sage-portfolio/d05fecce-977e-5eab-9cf5-7c09b306c551/scratchpad/wrdeck/img/ai_lime_r2.jpg">    </p:cNvPr>
          <p:cNvPicPr>
            <a:picLocks noChangeAspect="1"/>
          </p:cNvPicPr>
          <p:nvPr/>
        </p:nvPicPr>
        <p:blipFill>
          <a:blip r:embed="rId4"/>
          <a:srcRect l="0" r="0" t="0" b="0"/>
          <a:stretch/>
        </p:blipFill>
        <p:spPr>
          <a:xfrm>
            <a:off x="6400800" y="3502152"/>
            <a:ext cx="1920240" cy="3355848"/>
          </a:xfrm>
          <a:prstGeom prst="rect">
            <a:avLst/>
          </a:prstGeom>
        </p:spPr>
      </p:pic>
      <p:pic>
        <p:nvPicPr>
          <p:cNvPr id="8" name="Image 4" descr="/tmp/claude-0/-home-user-Sage-portfolio/d05fecce-977e-5eab-9cf5-7c09b306c551/scratchpad/wrdeck/img/ai_orange_r4.jpg">    </p:cNvPr>
          <p:cNvPicPr>
            <a:picLocks noChangeAspect="1"/>
          </p:cNvPicPr>
          <p:nvPr/>
        </p:nvPicPr>
        <p:blipFill>
          <a:blip r:embed="rId5"/>
          <a:srcRect l="0" r="0" t="0" b="0"/>
          <a:stretch/>
        </p:blipFill>
        <p:spPr>
          <a:xfrm>
            <a:off x="8366760" y="3502152"/>
            <a:ext cx="1920240" cy="3355848"/>
          </a:xfrm>
          <a:prstGeom prst="rect">
            <a:avLst/>
          </a:prstGeom>
        </p:spPr>
      </p:pic>
      <p:pic>
        <p:nvPicPr>
          <p:cNvPr id="9" name="Image 5" descr="/tmp/claude-0/-home-user-Sage-portfolio/d05fecce-977e-5eab-9cf5-7c09b306c551/scratchpad/wrdeck/img/ai_redblue_r4.jpg">    </p:cNvPr>
          <p:cNvPicPr>
            <a:picLocks noChangeAspect="1"/>
          </p:cNvPicPr>
          <p:nvPr/>
        </p:nvPicPr>
        <p:blipFill>
          <a:blip r:embed="rId6"/>
          <a:srcRect l="0" r="0" t="0" b="0"/>
          <a:stretch/>
        </p:blipFill>
        <p:spPr>
          <a:xfrm>
            <a:off x="10332720" y="3502152"/>
            <a:ext cx="1856232" cy="3355848"/>
          </a:xfrm>
          <a:prstGeom prst="rect">
            <a:avLst/>
          </a:prstGeom>
        </p:spPr>
      </p:pic>
      <p:sp>
        <p:nvSpPr>
          <p:cNvPr id="10" name="Text 2"/>
          <p:cNvSpPr txBox="1"/>
          <p:nvPr/>
        </p:nvSpPr>
        <p:spPr>
          <a:xfrm>
            <a:off x="548640" y="64008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WEALTH ROOTS  ·  JAIPUR SHOOT PLAN</a:t>
            </a:r>
            <a:endParaRPr lang="en-US" sz="900" dirty="0"/>
          </a:p>
        </p:txBody>
      </p:sp>
      <p:sp>
        <p:nvSpPr>
          <p:cNvPr id="11" name="Text 3"/>
          <p:cNvSpPr txBox="1"/>
          <p:nvPr/>
        </p:nvSpPr>
        <p:spPr>
          <a:xfrm>
            <a:off x="548640" y="1097280"/>
            <a:ext cx="5486400" cy="3108960"/>
          </a:xfrm>
          <a:prstGeom prst="rect">
            <a:avLst/>
          </a:prstGeom>
          <a:noFill/>
          <a:ln/>
        </p:spPr>
        <p:txBody>
          <a:bodyPr wrap="square" lIns="0" tIns="0" rIns="0" bIns="0" rtlCol="0" anchor="t"/>
          <a:lstStyle/>
          <a:p>
            <a:pPr indent="0" marL="0">
              <a:lnSpc>
                <a:spcPct val="90000"/>
              </a:lnSpc>
              <a:buNone/>
            </a:pPr>
            <a:r>
              <a:rPr lang="en-US" sz="7200" b="1" dirty="0">
                <a:solidFill>
                  <a:srgbClr val="F2EDE4"/>
                </a:solidFill>
                <a:latin typeface="Oswald" pitchFamily="34" charset="0"/>
                <a:ea typeface="Oswald" pitchFamily="34" charset="-122"/>
                <a:cs typeface="Oswald" pitchFamily="34" charset="-120"/>
              </a:rPr>
              <a:t>BOLD.</a:t>
            </a:r>
            <a:endParaRPr lang="en-US" sz="7200" dirty="0"/>
          </a:p>
          <a:p>
            <a:pPr indent="0" marL="0">
              <a:lnSpc>
                <a:spcPct val="90000"/>
              </a:lnSpc>
              <a:buNone/>
            </a:pPr>
            <a:r>
              <a:rPr lang="en-US" sz="7200" b="1" dirty="0">
                <a:solidFill>
                  <a:srgbClr val="F2EDE4"/>
                </a:solidFill>
                <a:latin typeface="Oswald" pitchFamily="34" charset="0"/>
                <a:ea typeface="Oswald" pitchFamily="34" charset="-122"/>
                <a:cs typeface="Oswald" pitchFamily="34" charset="-120"/>
              </a:rPr>
              <a:t>ALPHA.</a:t>
            </a:r>
            <a:endParaRPr lang="en-US" sz="7200" dirty="0"/>
          </a:p>
          <a:p>
            <a:pPr indent="0" marL="0">
              <a:lnSpc>
                <a:spcPct val="90000"/>
              </a:lnSpc>
              <a:buNone/>
            </a:pPr>
            <a:r>
              <a:rPr lang="en-US" sz="7200" b="1" dirty="0">
                <a:solidFill>
                  <a:srgbClr val="F2EDE4"/>
                </a:solidFill>
                <a:latin typeface="Oswald" pitchFamily="34" charset="0"/>
                <a:ea typeface="Oswald" pitchFamily="34" charset="-122"/>
                <a:cs typeface="Oswald" pitchFamily="34" charset="-120"/>
              </a:rPr>
              <a:t>TIME.</a:t>
            </a:r>
            <a:endParaRPr lang="en-US" sz="7200" dirty="0"/>
          </a:p>
        </p:txBody>
      </p:sp>
      <p:sp>
        <p:nvSpPr>
          <p:cNvPr id="12" name="Text 4"/>
          <p:cNvSpPr txBox="1"/>
          <p:nvPr/>
        </p:nvSpPr>
        <p:spPr>
          <a:xfrm>
            <a:off x="548640" y="4343400"/>
            <a:ext cx="5394960" cy="822960"/>
          </a:xfrm>
          <a:prstGeom prst="rect">
            <a:avLst/>
          </a:prstGeom>
          <a:noFill/>
          <a:ln/>
        </p:spPr>
        <p:txBody>
          <a:bodyPr wrap="square" lIns="0" tIns="0" rIns="0" bIns="0" rtlCol="0" anchor="t"/>
          <a:lstStyle/>
          <a:p>
            <a:pPr indent="0" marL="0">
              <a:buNone/>
            </a:pPr>
            <a:r>
              <a:rPr lang="en-US" sz="1300" dirty="0">
                <a:solidFill>
                  <a:srgbClr val="F2EDE4"/>
                </a:solidFill>
                <a:latin typeface="Inter" pitchFamily="34" charset="0"/>
                <a:ea typeface="Inter" pitchFamily="34" charset="-122"/>
                <a:cs typeface="Inter" pitchFamily="34" charset="-120"/>
              </a:rPr>
              <a:t>One man, one Jaipur day, five watches. Mukesh ji carries every reel on Day 1; Day 2 is the product shoot and Neetu's founder film.</a:t>
            </a:r>
            <a:endParaRPr lang="en-US" sz="1300" dirty="0"/>
          </a:p>
        </p:txBody>
      </p:sp>
      <p:sp>
        <p:nvSpPr>
          <p:cNvPr id="13" name="Shape 5"/>
          <p:cNvSpPr/>
          <p:nvPr/>
        </p:nvSpPr>
        <p:spPr>
          <a:xfrm>
            <a:off x="548640" y="5349240"/>
            <a:ext cx="548640" cy="36576"/>
          </a:xfrm>
          <a:prstGeom prst="rect">
            <a:avLst/>
          </a:prstGeom>
          <a:solidFill>
            <a:srgbClr val="C9A45C"/>
          </a:solidFill>
          <a:ln w="12700">
            <a:solidFill>
              <a:srgbClr val="C9A45C"/>
            </a:solidFill>
            <a:prstDash val="solid"/>
          </a:ln>
        </p:spPr>
      </p:sp>
      <p:sp>
        <p:nvSpPr>
          <p:cNvPr id="14" name="Text 6"/>
          <p:cNvSpPr txBox="1"/>
          <p:nvPr/>
        </p:nvSpPr>
        <p:spPr>
          <a:xfrm>
            <a:off x="548640" y="5486400"/>
            <a:ext cx="5486400" cy="54864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Shoot week of 26 Oct 2026  ·  Dhanteras 6 Nov  ·  Diwali 8 Nov</a:t>
            </a:r>
            <a:endParaRPr lang="en-US" sz="1000" dirty="0"/>
          </a:p>
          <a:p>
            <a:pPr indent="0" marL="0">
              <a:buNone/>
            </a:pPr>
            <a:r>
              <a:rPr lang="en-US" sz="1000" dirty="0">
                <a:solidFill>
                  <a:srgbClr val="9C978E"/>
                </a:solidFill>
                <a:latin typeface="Inter" pitchFamily="34" charset="0"/>
                <a:ea typeface="Inter" pitchFamily="34" charset="-122"/>
                <a:cs typeface="Inter" pitchFamily="34" charset="-120"/>
              </a:rPr>
              <a:t>Prepared by Sage Media</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OVERVIEW</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02</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WHAT WE'RE MAKING</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TWO DAYS. ONE FACE. FIVE WATCHES.</a:t>
            </a:r>
            <a:endParaRPr lang="en-US" sz="3400" dirty="0"/>
          </a:p>
        </p:txBody>
      </p:sp>
      <p:sp>
        <p:nvSpPr>
          <p:cNvPr id="6" name="Shape 4"/>
          <p:cNvSpPr/>
          <p:nvPr/>
        </p:nvSpPr>
        <p:spPr>
          <a:xfrm>
            <a:off x="548640" y="1920240"/>
            <a:ext cx="3566160" cy="1874520"/>
          </a:xfrm>
          <a:prstGeom prst="rect">
            <a:avLst/>
          </a:prstGeom>
          <a:solidFill>
            <a:srgbClr val="151513"/>
          </a:solidFill>
          <a:ln w="9525">
            <a:solidFill>
              <a:srgbClr val="2B2A26"/>
            </a:solidFill>
            <a:prstDash val="solid"/>
          </a:ln>
        </p:spPr>
      </p:sp>
      <p:sp>
        <p:nvSpPr>
          <p:cNvPr id="7" name="Text 5"/>
          <p:cNvSpPr txBox="1"/>
          <p:nvPr/>
        </p:nvSpPr>
        <p:spPr>
          <a:xfrm>
            <a:off x="822960" y="2148840"/>
            <a:ext cx="3108960" cy="822960"/>
          </a:xfrm>
          <a:prstGeom prst="rect">
            <a:avLst/>
          </a:prstGeom>
          <a:noFill/>
          <a:ln/>
        </p:spPr>
        <p:txBody>
          <a:bodyPr wrap="square" lIns="0" tIns="0" rIns="0" bIns="0" rtlCol="0" anchor="t"/>
          <a:lstStyle/>
          <a:p>
            <a:pPr indent="0" marL="0">
              <a:buNone/>
            </a:pPr>
            <a:r>
              <a:rPr lang="en-US" sz="4400" b="1" dirty="0">
                <a:solidFill>
                  <a:srgbClr val="C9A45C"/>
                </a:solidFill>
                <a:latin typeface="Oswald" pitchFamily="34" charset="0"/>
                <a:ea typeface="Oswald" pitchFamily="34" charset="-122"/>
                <a:cs typeface="Oswald" pitchFamily="34" charset="-120"/>
              </a:rPr>
              <a:t>15</a:t>
            </a:r>
            <a:endParaRPr lang="en-US" sz="4400" dirty="0"/>
          </a:p>
        </p:txBody>
      </p:sp>
      <p:sp>
        <p:nvSpPr>
          <p:cNvPr id="8" name="Text 6"/>
          <p:cNvSpPr txBox="1"/>
          <p:nvPr/>
        </p:nvSpPr>
        <p:spPr>
          <a:xfrm>
            <a:off x="822960" y="3017520"/>
            <a:ext cx="3108960" cy="274320"/>
          </a:xfrm>
          <a:prstGeom prst="rect">
            <a:avLst/>
          </a:prstGeom>
          <a:noFill/>
          <a:ln/>
        </p:spPr>
        <p:txBody>
          <a:bodyPr wrap="square" lIns="0" tIns="0" rIns="0" bIns="0" rtlCol="0" anchor="t"/>
          <a:lstStyle/>
          <a:p>
            <a:pPr indent="0" marL="0">
              <a:buNone/>
            </a:pPr>
            <a:r>
              <a:rPr lang="en-US" sz="1100" b="1" spc="200" kern="0" dirty="0">
                <a:solidFill>
                  <a:srgbClr val="F2EDE4"/>
                </a:solidFill>
                <a:latin typeface="Inter" pitchFamily="34" charset="0"/>
                <a:ea typeface="Inter" pitchFamily="34" charset="-122"/>
                <a:cs typeface="Inter" pitchFamily="34" charset="-120"/>
              </a:rPr>
              <a:t>REELS ON DAY 1</a:t>
            </a:r>
            <a:endParaRPr lang="en-US" sz="1100" dirty="0"/>
          </a:p>
        </p:txBody>
      </p:sp>
      <p:sp>
        <p:nvSpPr>
          <p:cNvPr id="9" name="Text 7"/>
          <p:cNvSpPr txBox="1"/>
          <p:nvPr/>
        </p:nvSpPr>
        <p:spPr>
          <a:xfrm>
            <a:off x="822960" y="3337560"/>
            <a:ext cx="3108960" cy="32004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3 per watch, all Mukesh ji</a:t>
            </a:r>
            <a:endParaRPr lang="en-US" sz="1000" dirty="0"/>
          </a:p>
        </p:txBody>
      </p:sp>
      <p:sp>
        <p:nvSpPr>
          <p:cNvPr id="10" name="Shape 8"/>
          <p:cNvSpPr/>
          <p:nvPr/>
        </p:nvSpPr>
        <p:spPr>
          <a:xfrm>
            <a:off x="4297680" y="1920240"/>
            <a:ext cx="3566160" cy="1874520"/>
          </a:xfrm>
          <a:prstGeom prst="rect">
            <a:avLst/>
          </a:prstGeom>
          <a:solidFill>
            <a:srgbClr val="151513"/>
          </a:solidFill>
          <a:ln w="9525">
            <a:solidFill>
              <a:srgbClr val="2B2A26"/>
            </a:solidFill>
            <a:prstDash val="solid"/>
          </a:ln>
        </p:spPr>
      </p:sp>
      <p:sp>
        <p:nvSpPr>
          <p:cNvPr id="11" name="Text 9"/>
          <p:cNvSpPr txBox="1"/>
          <p:nvPr/>
        </p:nvSpPr>
        <p:spPr>
          <a:xfrm>
            <a:off x="4572000" y="2148840"/>
            <a:ext cx="3108960" cy="822960"/>
          </a:xfrm>
          <a:prstGeom prst="rect">
            <a:avLst/>
          </a:prstGeom>
          <a:noFill/>
          <a:ln/>
        </p:spPr>
        <p:txBody>
          <a:bodyPr wrap="square" lIns="0" tIns="0" rIns="0" bIns="0" rtlCol="0" anchor="t"/>
          <a:lstStyle/>
          <a:p>
            <a:pPr indent="0" marL="0">
              <a:buNone/>
            </a:pPr>
            <a:r>
              <a:rPr lang="en-US" sz="4400" b="1" dirty="0">
                <a:solidFill>
                  <a:srgbClr val="C9A45C"/>
                </a:solidFill>
                <a:latin typeface="Oswald" pitchFamily="34" charset="0"/>
                <a:ea typeface="Oswald" pitchFamily="34" charset="-122"/>
                <a:cs typeface="Oswald" pitchFamily="34" charset="-120"/>
              </a:rPr>
              <a:t>5 + 1</a:t>
            </a:r>
            <a:endParaRPr lang="en-US" sz="4400" dirty="0"/>
          </a:p>
        </p:txBody>
      </p:sp>
      <p:sp>
        <p:nvSpPr>
          <p:cNvPr id="12" name="Text 10"/>
          <p:cNvSpPr txBox="1"/>
          <p:nvPr/>
        </p:nvSpPr>
        <p:spPr>
          <a:xfrm>
            <a:off x="4572000" y="3017520"/>
            <a:ext cx="3108960" cy="274320"/>
          </a:xfrm>
          <a:prstGeom prst="rect">
            <a:avLst/>
          </a:prstGeom>
          <a:noFill/>
          <a:ln/>
        </p:spPr>
        <p:txBody>
          <a:bodyPr wrap="square" lIns="0" tIns="0" rIns="0" bIns="0" rtlCol="0" anchor="t"/>
          <a:lstStyle/>
          <a:p>
            <a:pPr indent="0" marL="0">
              <a:buNone/>
            </a:pPr>
            <a:r>
              <a:rPr lang="en-US" sz="1100" b="1" spc="200" kern="0" dirty="0">
                <a:solidFill>
                  <a:srgbClr val="F2EDE4"/>
                </a:solidFill>
                <a:latin typeface="Inter" pitchFamily="34" charset="0"/>
                <a:ea typeface="Inter" pitchFamily="34" charset="-122"/>
                <a:cs typeface="Inter" pitchFamily="34" charset="-120"/>
              </a:rPr>
              <a:t>GLOW LOOPS + HERO FILM</a:t>
            </a:r>
            <a:endParaRPr lang="en-US" sz="1100" dirty="0"/>
          </a:p>
        </p:txBody>
      </p:sp>
      <p:sp>
        <p:nvSpPr>
          <p:cNvPr id="13" name="Text 11"/>
          <p:cNvSpPr txBox="1"/>
          <p:nvPr/>
        </p:nvSpPr>
        <p:spPr>
          <a:xfrm>
            <a:off x="4572000" y="3337560"/>
            <a:ext cx="3108960" cy="32004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Shot as inserts, cut free</a:t>
            </a:r>
            <a:endParaRPr lang="en-US" sz="1000" dirty="0"/>
          </a:p>
        </p:txBody>
      </p:sp>
      <p:sp>
        <p:nvSpPr>
          <p:cNvPr id="14" name="Shape 12"/>
          <p:cNvSpPr/>
          <p:nvPr/>
        </p:nvSpPr>
        <p:spPr>
          <a:xfrm>
            <a:off x="8046720" y="1920240"/>
            <a:ext cx="3566160" cy="1874520"/>
          </a:xfrm>
          <a:prstGeom prst="rect">
            <a:avLst/>
          </a:prstGeom>
          <a:solidFill>
            <a:srgbClr val="151513"/>
          </a:solidFill>
          <a:ln w="9525">
            <a:solidFill>
              <a:srgbClr val="2B2A26"/>
            </a:solidFill>
            <a:prstDash val="solid"/>
          </a:ln>
        </p:spPr>
      </p:sp>
      <p:sp>
        <p:nvSpPr>
          <p:cNvPr id="15" name="Text 13"/>
          <p:cNvSpPr txBox="1"/>
          <p:nvPr/>
        </p:nvSpPr>
        <p:spPr>
          <a:xfrm>
            <a:off x="8321040" y="2148840"/>
            <a:ext cx="3108960" cy="822960"/>
          </a:xfrm>
          <a:prstGeom prst="rect">
            <a:avLst/>
          </a:prstGeom>
          <a:noFill/>
          <a:ln/>
        </p:spPr>
        <p:txBody>
          <a:bodyPr wrap="square" lIns="0" tIns="0" rIns="0" bIns="0" rtlCol="0" anchor="t"/>
          <a:lstStyle/>
          <a:p>
            <a:pPr indent="0" marL="0">
              <a:buNone/>
            </a:pPr>
            <a:r>
              <a:rPr lang="en-US" sz="4400" b="1" dirty="0">
                <a:solidFill>
                  <a:srgbClr val="C9A45C"/>
                </a:solidFill>
                <a:latin typeface="Oswald" pitchFamily="34" charset="0"/>
                <a:ea typeface="Oswald" pitchFamily="34" charset="-122"/>
                <a:cs typeface="Oswald" pitchFamily="34" charset="-120"/>
              </a:rPr>
              <a:t>1 + 5</a:t>
            </a:r>
            <a:endParaRPr lang="en-US" sz="4400" dirty="0"/>
          </a:p>
        </p:txBody>
      </p:sp>
      <p:sp>
        <p:nvSpPr>
          <p:cNvPr id="16" name="Text 14"/>
          <p:cNvSpPr txBox="1"/>
          <p:nvPr/>
        </p:nvSpPr>
        <p:spPr>
          <a:xfrm>
            <a:off x="8321040" y="3017520"/>
            <a:ext cx="3108960" cy="274320"/>
          </a:xfrm>
          <a:prstGeom prst="rect">
            <a:avLst/>
          </a:prstGeom>
          <a:noFill/>
          <a:ln/>
        </p:spPr>
        <p:txBody>
          <a:bodyPr wrap="square" lIns="0" tIns="0" rIns="0" bIns="0" rtlCol="0" anchor="t"/>
          <a:lstStyle/>
          <a:p>
            <a:pPr indent="0" marL="0">
              <a:buNone/>
            </a:pPr>
            <a:r>
              <a:rPr lang="en-US" sz="1100" b="1" spc="200" kern="0" dirty="0">
                <a:solidFill>
                  <a:srgbClr val="F2EDE4"/>
                </a:solidFill>
                <a:latin typeface="Inter" pitchFamily="34" charset="0"/>
                <a:ea typeface="Inter" pitchFamily="34" charset="-122"/>
                <a:cs typeface="Inter" pitchFamily="34" charset="-120"/>
              </a:rPr>
              <a:t>RENTED HAVELI + FREE SPOTS</a:t>
            </a:r>
            <a:endParaRPr lang="en-US" sz="1100" dirty="0"/>
          </a:p>
        </p:txBody>
      </p:sp>
      <p:sp>
        <p:nvSpPr>
          <p:cNvPr id="17" name="Text 15"/>
          <p:cNvSpPr txBox="1"/>
          <p:nvPr/>
        </p:nvSpPr>
        <p:spPr>
          <a:xfrm>
            <a:off x="8321040" y="3337560"/>
            <a:ext cx="3108960" cy="32004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Every city shot is public, no ticket</a:t>
            </a:r>
            <a:endParaRPr lang="en-US" sz="1000" dirty="0"/>
          </a:p>
        </p:txBody>
      </p:sp>
      <p:sp>
        <p:nvSpPr>
          <p:cNvPr id="18" name="Shape 16"/>
          <p:cNvSpPr/>
          <p:nvPr/>
        </p:nvSpPr>
        <p:spPr>
          <a:xfrm>
            <a:off x="548640" y="3977640"/>
            <a:ext cx="3566160" cy="1874520"/>
          </a:xfrm>
          <a:prstGeom prst="rect">
            <a:avLst/>
          </a:prstGeom>
          <a:solidFill>
            <a:srgbClr val="151513"/>
          </a:solidFill>
          <a:ln w="9525">
            <a:solidFill>
              <a:srgbClr val="2B2A26"/>
            </a:solidFill>
            <a:prstDash val="solid"/>
          </a:ln>
        </p:spPr>
      </p:sp>
      <p:sp>
        <p:nvSpPr>
          <p:cNvPr id="19" name="Text 17"/>
          <p:cNvSpPr txBox="1"/>
          <p:nvPr/>
        </p:nvSpPr>
        <p:spPr>
          <a:xfrm>
            <a:off x="822960" y="4206240"/>
            <a:ext cx="3108960" cy="822960"/>
          </a:xfrm>
          <a:prstGeom prst="rect">
            <a:avLst/>
          </a:prstGeom>
          <a:noFill/>
          <a:ln/>
        </p:spPr>
        <p:txBody>
          <a:bodyPr wrap="square" lIns="0" tIns="0" rIns="0" bIns="0" rtlCol="0" anchor="t"/>
          <a:lstStyle/>
          <a:p>
            <a:pPr indent="0" marL="0">
              <a:buNone/>
            </a:pPr>
            <a:r>
              <a:rPr lang="en-US" sz="4400" b="1" dirty="0">
                <a:solidFill>
                  <a:srgbClr val="C9A45C"/>
                </a:solidFill>
                <a:latin typeface="Oswald" pitchFamily="34" charset="0"/>
                <a:ea typeface="Oswald" pitchFamily="34" charset="-122"/>
                <a:cs typeface="Oswald" pitchFamily="34" charset="-120"/>
              </a:rPr>
              <a:t>80+</a:t>
            </a:r>
            <a:endParaRPr lang="en-US" sz="4400" dirty="0"/>
          </a:p>
        </p:txBody>
      </p:sp>
      <p:sp>
        <p:nvSpPr>
          <p:cNvPr id="20" name="Text 18"/>
          <p:cNvSpPr txBox="1"/>
          <p:nvPr/>
        </p:nvSpPr>
        <p:spPr>
          <a:xfrm>
            <a:off x="822960" y="5074920"/>
            <a:ext cx="3108960" cy="274320"/>
          </a:xfrm>
          <a:prstGeom prst="rect">
            <a:avLst/>
          </a:prstGeom>
          <a:noFill/>
          <a:ln/>
        </p:spPr>
        <p:txBody>
          <a:bodyPr wrap="square" lIns="0" tIns="0" rIns="0" bIns="0" rtlCol="0" anchor="t"/>
          <a:lstStyle/>
          <a:p>
            <a:pPr indent="0" marL="0">
              <a:buNone/>
            </a:pPr>
            <a:r>
              <a:rPr lang="en-US" sz="1100" b="1" spc="200" kern="0" dirty="0">
                <a:solidFill>
                  <a:srgbClr val="F2EDE4"/>
                </a:solidFill>
                <a:latin typeface="Inter" pitchFamily="34" charset="0"/>
                <a:ea typeface="Inter" pitchFamily="34" charset="-122"/>
                <a:cs typeface="Inter" pitchFamily="34" charset="-120"/>
              </a:rPr>
              <a:t>PRODUCT STILLS</a:t>
            </a:r>
            <a:endParaRPr lang="en-US" sz="1100" dirty="0"/>
          </a:p>
        </p:txBody>
      </p:sp>
      <p:sp>
        <p:nvSpPr>
          <p:cNvPr id="21" name="Text 19"/>
          <p:cNvSpPr txBox="1"/>
          <p:nvPr/>
        </p:nvSpPr>
        <p:spPr>
          <a:xfrm>
            <a:off x="822960" y="5394960"/>
            <a:ext cx="3108960" cy="32004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 turntables and unboxing</a:t>
            </a:r>
            <a:endParaRPr lang="en-US" sz="1000" dirty="0"/>
          </a:p>
        </p:txBody>
      </p:sp>
      <p:sp>
        <p:nvSpPr>
          <p:cNvPr id="22" name="Shape 20"/>
          <p:cNvSpPr/>
          <p:nvPr/>
        </p:nvSpPr>
        <p:spPr>
          <a:xfrm>
            <a:off x="4297680" y="3977640"/>
            <a:ext cx="3566160" cy="1874520"/>
          </a:xfrm>
          <a:prstGeom prst="rect">
            <a:avLst/>
          </a:prstGeom>
          <a:solidFill>
            <a:srgbClr val="151513"/>
          </a:solidFill>
          <a:ln w="9525">
            <a:solidFill>
              <a:srgbClr val="2B2A26"/>
            </a:solidFill>
            <a:prstDash val="solid"/>
          </a:ln>
        </p:spPr>
      </p:sp>
      <p:sp>
        <p:nvSpPr>
          <p:cNvPr id="23" name="Text 21"/>
          <p:cNvSpPr txBox="1"/>
          <p:nvPr/>
        </p:nvSpPr>
        <p:spPr>
          <a:xfrm>
            <a:off x="4572000" y="4206240"/>
            <a:ext cx="3108960" cy="822960"/>
          </a:xfrm>
          <a:prstGeom prst="rect">
            <a:avLst/>
          </a:prstGeom>
          <a:noFill/>
          <a:ln/>
        </p:spPr>
        <p:txBody>
          <a:bodyPr wrap="square" lIns="0" tIns="0" rIns="0" bIns="0" rtlCol="0" anchor="t"/>
          <a:lstStyle/>
          <a:p>
            <a:pPr indent="0" marL="0">
              <a:buNone/>
            </a:pPr>
            <a:r>
              <a:rPr lang="en-US" sz="4400" b="1" dirty="0">
                <a:solidFill>
                  <a:srgbClr val="C9A45C"/>
                </a:solidFill>
                <a:latin typeface="Oswald" pitchFamily="34" charset="0"/>
                <a:ea typeface="Oswald" pitchFamily="34" charset="-122"/>
                <a:cs typeface="Oswald" pitchFamily="34" charset="-120"/>
              </a:rPr>
              <a:t>1 + 9</a:t>
            </a:r>
            <a:endParaRPr lang="en-US" sz="4400" dirty="0"/>
          </a:p>
        </p:txBody>
      </p:sp>
      <p:sp>
        <p:nvSpPr>
          <p:cNvPr id="24" name="Text 22"/>
          <p:cNvSpPr txBox="1"/>
          <p:nvPr/>
        </p:nvSpPr>
        <p:spPr>
          <a:xfrm>
            <a:off x="4572000" y="5074920"/>
            <a:ext cx="3108960" cy="274320"/>
          </a:xfrm>
          <a:prstGeom prst="rect">
            <a:avLst/>
          </a:prstGeom>
          <a:noFill/>
          <a:ln/>
        </p:spPr>
        <p:txBody>
          <a:bodyPr wrap="square" lIns="0" tIns="0" rIns="0" bIns="0" rtlCol="0" anchor="t"/>
          <a:lstStyle/>
          <a:p>
            <a:pPr indent="0" marL="0">
              <a:buNone/>
            </a:pPr>
            <a:r>
              <a:rPr lang="en-US" sz="1100" b="1" spc="200" kern="0" dirty="0">
                <a:solidFill>
                  <a:srgbClr val="F2EDE4"/>
                </a:solidFill>
                <a:latin typeface="Inter" pitchFamily="34" charset="0"/>
                <a:ea typeface="Inter" pitchFamily="34" charset="-122"/>
                <a:cs typeface="Inter" pitchFamily="34" charset="-120"/>
              </a:rPr>
              <a:t>FOUNDER FILM + REELS</a:t>
            </a:r>
            <a:endParaRPr lang="en-US" sz="1100" dirty="0"/>
          </a:p>
        </p:txBody>
      </p:sp>
      <p:sp>
        <p:nvSpPr>
          <p:cNvPr id="25" name="Text 23"/>
          <p:cNvSpPr txBox="1"/>
          <p:nvPr/>
        </p:nvSpPr>
        <p:spPr>
          <a:xfrm>
            <a:off x="4572000" y="5394960"/>
            <a:ext cx="3108960" cy="32004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Neetu, Day 2 only — story + each watch</a:t>
            </a:r>
            <a:endParaRPr lang="en-US" sz="1000" dirty="0"/>
          </a:p>
        </p:txBody>
      </p:sp>
      <p:sp>
        <p:nvSpPr>
          <p:cNvPr id="26" name="Shape 24"/>
          <p:cNvSpPr/>
          <p:nvPr/>
        </p:nvSpPr>
        <p:spPr>
          <a:xfrm>
            <a:off x="8046720" y="3977640"/>
            <a:ext cx="3566160" cy="1874520"/>
          </a:xfrm>
          <a:prstGeom prst="rect">
            <a:avLst/>
          </a:prstGeom>
          <a:solidFill>
            <a:srgbClr val="151513"/>
          </a:solidFill>
          <a:ln w="9525">
            <a:solidFill>
              <a:srgbClr val="2B2A26"/>
            </a:solidFill>
            <a:prstDash val="solid"/>
          </a:ln>
        </p:spPr>
      </p:sp>
      <p:sp>
        <p:nvSpPr>
          <p:cNvPr id="27" name="Text 25"/>
          <p:cNvSpPr txBox="1"/>
          <p:nvPr/>
        </p:nvSpPr>
        <p:spPr>
          <a:xfrm>
            <a:off x="8321040" y="4206240"/>
            <a:ext cx="3108960" cy="822960"/>
          </a:xfrm>
          <a:prstGeom prst="rect">
            <a:avLst/>
          </a:prstGeom>
          <a:noFill/>
          <a:ln/>
        </p:spPr>
        <p:txBody>
          <a:bodyPr wrap="square" lIns="0" tIns="0" rIns="0" bIns="0" rtlCol="0" anchor="t"/>
          <a:lstStyle/>
          <a:p>
            <a:pPr indent="0" marL="0">
              <a:buNone/>
            </a:pPr>
            <a:r>
              <a:rPr lang="en-US" sz="4400" b="1" dirty="0">
                <a:solidFill>
                  <a:srgbClr val="C9A45C"/>
                </a:solidFill>
                <a:latin typeface="Oswald" pitchFamily="34" charset="0"/>
                <a:ea typeface="Oswald" pitchFamily="34" charset="-122"/>
                <a:cs typeface="Oswald" pitchFamily="34" charset="-120"/>
              </a:rPr>
              <a:t>2</a:t>
            </a:r>
            <a:endParaRPr lang="en-US" sz="4400" dirty="0"/>
          </a:p>
        </p:txBody>
      </p:sp>
      <p:sp>
        <p:nvSpPr>
          <p:cNvPr id="28" name="Text 26"/>
          <p:cNvSpPr txBox="1"/>
          <p:nvPr/>
        </p:nvSpPr>
        <p:spPr>
          <a:xfrm>
            <a:off x="8321040" y="5074920"/>
            <a:ext cx="3108960" cy="274320"/>
          </a:xfrm>
          <a:prstGeom prst="rect">
            <a:avLst/>
          </a:prstGeom>
          <a:noFill/>
          <a:ln/>
        </p:spPr>
        <p:txBody>
          <a:bodyPr wrap="square" lIns="0" tIns="0" rIns="0" bIns="0" rtlCol="0" anchor="t"/>
          <a:lstStyle/>
          <a:p>
            <a:pPr indent="0" marL="0">
              <a:buNone/>
            </a:pPr>
            <a:r>
              <a:rPr lang="en-US" sz="1100" b="1" spc="200" kern="0" dirty="0">
                <a:solidFill>
                  <a:srgbClr val="F2EDE4"/>
                </a:solidFill>
                <a:latin typeface="Inter" pitchFamily="34" charset="0"/>
                <a:ea typeface="Inter" pitchFamily="34" charset="-122"/>
                <a:cs typeface="Inter" pitchFamily="34" charset="-120"/>
              </a:rPr>
              <a:t>FESTIVE DROPS</a:t>
            </a:r>
            <a:endParaRPr lang="en-US" sz="1100" dirty="0"/>
          </a:p>
        </p:txBody>
      </p:sp>
      <p:sp>
        <p:nvSpPr>
          <p:cNvPr id="29" name="Text 27"/>
          <p:cNvSpPr txBox="1"/>
          <p:nvPr/>
        </p:nvSpPr>
        <p:spPr>
          <a:xfrm>
            <a:off x="8321040" y="5394960"/>
            <a:ext cx="3108960" cy="32004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Dhanteras · Diwali</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THE IDEA</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03</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THE IDEA</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ONE MAN. ONE DAY. FIVE WATCHES.</a:t>
            </a:r>
            <a:endParaRPr lang="en-US" sz="3400" dirty="0"/>
          </a:p>
        </p:txBody>
      </p:sp>
      <p:sp>
        <p:nvSpPr>
          <p:cNvPr id="6" name="Text 4"/>
          <p:cNvSpPr txBox="1"/>
          <p:nvPr/>
        </p:nvSpPr>
        <p:spPr>
          <a:xfrm>
            <a:off x="548640" y="1600200"/>
            <a:ext cx="7863840" cy="822960"/>
          </a:xfrm>
          <a:prstGeom prst="rect">
            <a:avLst/>
          </a:prstGeom>
          <a:noFill/>
          <a:ln/>
        </p:spPr>
        <p:txBody>
          <a:bodyPr wrap="square" lIns="0" tIns="0" rIns="0" bIns="0" rtlCol="0" anchor="t"/>
          <a:lstStyle/>
          <a:p>
            <a:pPr indent="0" marL="0">
              <a:buNone/>
            </a:pPr>
            <a:r>
              <a:rPr lang="en-US" sz="1250" dirty="0">
                <a:solidFill>
                  <a:srgbClr val="9C978E"/>
                </a:solidFill>
                <a:latin typeface="Inter" pitchFamily="34" charset="0"/>
                <a:ea typeface="Inter" pitchFamily="34" charset="-122"/>
                <a:cs typeface="Inter" pitchFamily="34" charset="-120"/>
              </a:rPr>
              <a:t>Day 1 follows Mukesh ji through a single Jaipur day, first light to after midnight. Each watch owns an hour — its own light, wardrobe, corner of the haveli and colour story. Fifteen reels that work alone, and read as one man's day when you scroll the grid.</a:t>
            </a:r>
            <a:endParaRPr lang="en-US" sz="1250" dirty="0"/>
          </a:p>
        </p:txBody>
      </p:sp>
      <p:sp>
        <p:nvSpPr>
          <p:cNvPr id="7" name="Shape 5"/>
          <p:cNvSpPr/>
          <p:nvPr/>
        </p:nvSpPr>
        <p:spPr>
          <a:xfrm>
            <a:off x="822960" y="3611880"/>
            <a:ext cx="10607040" cy="27432"/>
          </a:xfrm>
          <a:prstGeom prst="rect">
            <a:avLst/>
          </a:prstGeom>
          <a:solidFill>
            <a:srgbClr val="2B2A26"/>
          </a:solidFill>
          <a:ln w="12700">
            <a:solidFill>
              <a:srgbClr val="2B2A26"/>
            </a:solidFill>
            <a:prstDash val="solid"/>
          </a:ln>
        </p:spPr>
      </p:sp>
      <p:sp>
        <p:nvSpPr>
          <p:cNvPr id="8" name="Shape 6"/>
          <p:cNvSpPr/>
          <p:nvPr/>
        </p:nvSpPr>
        <p:spPr>
          <a:xfrm>
            <a:off x="685800" y="3456432"/>
            <a:ext cx="329184" cy="329184"/>
          </a:xfrm>
          <a:prstGeom prst="ellipse">
            <a:avLst/>
          </a:prstGeom>
          <a:solidFill>
            <a:srgbClr val="D7F25A"/>
          </a:solidFill>
          <a:ln w="31750">
            <a:solidFill>
              <a:srgbClr val="8FE3C3"/>
            </a:solidFill>
            <a:prstDash val="solid"/>
          </a:ln>
        </p:spPr>
      </p:sp>
      <p:sp>
        <p:nvSpPr>
          <p:cNvPr id="9" name="Text 7"/>
          <p:cNvSpPr txBox="1"/>
          <p:nvPr/>
        </p:nvSpPr>
        <p:spPr>
          <a:xfrm>
            <a:off x="548640" y="2880360"/>
            <a:ext cx="2103120" cy="274320"/>
          </a:xfrm>
          <a:prstGeom prst="rect">
            <a:avLst/>
          </a:prstGeom>
          <a:noFill/>
          <a:ln/>
        </p:spPr>
        <p:txBody>
          <a:bodyPr wrap="square" lIns="0" tIns="0" rIns="0" bIns="0" rtlCol="0" anchor="t"/>
          <a:lstStyle/>
          <a:p>
            <a:pPr indent="0" marL="0">
              <a:buNone/>
            </a:pPr>
            <a:r>
              <a:rPr lang="en-US" sz="900" b="1" spc="300" kern="0" dirty="0">
                <a:solidFill>
                  <a:srgbClr val="9C978E"/>
                </a:solidFill>
                <a:latin typeface="Inter" pitchFamily="34" charset="0"/>
                <a:ea typeface="Inter" pitchFamily="34" charset="-122"/>
                <a:cs typeface="Inter" pitchFamily="34" charset="-120"/>
              </a:rPr>
              <a:t>FIRST LIGHT</a:t>
            </a:r>
            <a:endParaRPr lang="en-US" sz="900" dirty="0"/>
          </a:p>
        </p:txBody>
      </p:sp>
      <p:sp>
        <p:nvSpPr>
          <p:cNvPr id="10" name="Text 8"/>
          <p:cNvSpPr txBox="1"/>
          <p:nvPr/>
        </p:nvSpPr>
        <p:spPr>
          <a:xfrm>
            <a:off x="548640" y="3977640"/>
            <a:ext cx="2148840" cy="411480"/>
          </a:xfrm>
          <a:prstGeom prst="rect">
            <a:avLst/>
          </a:prstGeom>
          <a:noFill/>
          <a:ln/>
        </p:spPr>
        <p:txBody>
          <a:bodyPr wrap="square" lIns="0" tIns="0" rIns="0" bIns="0" rtlCol="0" anchor="t"/>
          <a:lstStyle/>
          <a:p>
            <a:pPr indent="0" marL="0">
              <a:buNone/>
            </a:pPr>
            <a:r>
              <a:rPr lang="en-US" sz="2000" b="1" dirty="0">
                <a:solidFill>
                  <a:srgbClr val="D7F25A"/>
                </a:solidFill>
                <a:latin typeface="Oswald" pitchFamily="34" charset="0"/>
                <a:ea typeface="Oswald" pitchFamily="34" charset="-122"/>
                <a:cs typeface="Oswald" pitchFamily="34" charset="-120"/>
              </a:rPr>
              <a:t>DISCIPLINE</a:t>
            </a:r>
            <a:endParaRPr lang="en-US" sz="2000" dirty="0"/>
          </a:p>
        </p:txBody>
      </p:sp>
      <p:sp>
        <p:nvSpPr>
          <p:cNvPr id="11" name="Text 9"/>
          <p:cNvSpPr txBox="1"/>
          <p:nvPr/>
        </p:nvSpPr>
        <p:spPr>
          <a:xfrm>
            <a:off x="548640" y="4389120"/>
            <a:ext cx="2103120" cy="274320"/>
          </a:xfrm>
          <a:prstGeom prst="rect">
            <a:avLst/>
          </a:prstGeom>
          <a:noFill/>
          <a:ln/>
        </p:spPr>
        <p:txBody>
          <a:bodyPr wrap="square" lIns="0" tIns="0" rIns="0" bIns="0" rtlCol="0" anchor="t"/>
          <a:lstStyle/>
          <a:p>
            <a:pPr indent="0" marL="0">
              <a:buNone/>
            </a:pPr>
            <a:r>
              <a:rPr lang="en-US" sz="1100" b="1" dirty="0">
                <a:solidFill>
                  <a:srgbClr val="F2EDE4"/>
                </a:solidFill>
                <a:latin typeface="Inter" pitchFamily="34" charset="0"/>
                <a:ea typeface="Inter" pitchFamily="34" charset="-122"/>
                <a:cs typeface="Inter" pitchFamily="34" charset="-120"/>
              </a:rPr>
              <a:t>Citrus Mint</a:t>
            </a:r>
            <a:endParaRPr lang="en-US" sz="1100" dirty="0"/>
          </a:p>
        </p:txBody>
      </p:sp>
      <p:sp>
        <p:nvSpPr>
          <p:cNvPr id="12" name="Text 10"/>
          <p:cNvSpPr txBox="1"/>
          <p:nvPr/>
        </p:nvSpPr>
        <p:spPr>
          <a:xfrm>
            <a:off x="548640" y="4754880"/>
            <a:ext cx="2103120" cy="822960"/>
          </a:xfrm>
          <a:prstGeom prst="rect">
            <a:avLst/>
          </a:prstGeom>
          <a:noFill/>
          <a:ln/>
        </p:spPr>
        <p:txBody>
          <a:bodyPr wrap="square" lIns="0" tIns="0" rIns="0" bIns="0" rtlCol="0" anchor="t"/>
          <a:lstStyle/>
          <a:p>
            <a:pPr indent="0" marL="0">
              <a:lnSpc>
                <a:spcPct val="125000"/>
              </a:lnSpc>
              <a:buNone/>
            </a:pPr>
            <a:r>
              <a:rPr lang="en-US" sz="950" dirty="0">
                <a:solidFill>
                  <a:srgbClr val="9C978E"/>
                </a:solidFill>
                <a:latin typeface="Inter" pitchFamily="34" charset="0"/>
                <a:ea typeface="Inter" pitchFamily="34" charset="-122"/>
                <a:cs typeface="Inter" pitchFamily="34" charset="-120"/>
              </a:rPr>
              <a:t>B1  4:59</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B2  Cold. Sharp. On Time.</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B3  Jal Mahal, 6:50</a:t>
            </a:r>
            <a:endParaRPr lang="en-US" sz="950" dirty="0"/>
          </a:p>
        </p:txBody>
      </p:sp>
      <p:sp>
        <p:nvSpPr>
          <p:cNvPr id="13" name="Shape 11"/>
          <p:cNvSpPr/>
          <p:nvPr/>
        </p:nvSpPr>
        <p:spPr>
          <a:xfrm>
            <a:off x="2926080" y="3456432"/>
            <a:ext cx="329184" cy="329184"/>
          </a:xfrm>
          <a:prstGeom prst="ellipse">
            <a:avLst/>
          </a:prstGeom>
          <a:solidFill>
            <a:srgbClr val="E8DFC8"/>
          </a:solidFill>
          <a:ln w="31750">
            <a:solidFill>
              <a:srgbClr val="2F5D46"/>
            </a:solidFill>
            <a:prstDash val="solid"/>
          </a:ln>
        </p:spPr>
      </p:sp>
      <p:sp>
        <p:nvSpPr>
          <p:cNvPr id="14" name="Text 12"/>
          <p:cNvSpPr txBox="1"/>
          <p:nvPr/>
        </p:nvSpPr>
        <p:spPr>
          <a:xfrm>
            <a:off x="2788920" y="2880360"/>
            <a:ext cx="2103120" cy="274320"/>
          </a:xfrm>
          <a:prstGeom prst="rect">
            <a:avLst/>
          </a:prstGeom>
          <a:noFill/>
          <a:ln/>
        </p:spPr>
        <p:txBody>
          <a:bodyPr wrap="square" lIns="0" tIns="0" rIns="0" bIns="0" rtlCol="0" anchor="t"/>
          <a:lstStyle/>
          <a:p>
            <a:pPr indent="0" marL="0">
              <a:buNone/>
            </a:pPr>
            <a:r>
              <a:rPr lang="en-US" sz="900" b="1" spc="300" kern="0" dirty="0">
                <a:solidFill>
                  <a:srgbClr val="9C978E"/>
                </a:solidFill>
                <a:latin typeface="Inter" pitchFamily="34" charset="0"/>
                <a:ea typeface="Inter" pitchFamily="34" charset="-122"/>
                <a:cs typeface="Inter" pitchFamily="34" charset="-120"/>
              </a:rPr>
              <a:t>MORNING LIGHT</a:t>
            </a:r>
            <a:endParaRPr lang="en-US" sz="900" dirty="0"/>
          </a:p>
        </p:txBody>
      </p:sp>
      <p:sp>
        <p:nvSpPr>
          <p:cNvPr id="15" name="Text 13"/>
          <p:cNvSpPr txBox="1"/>
          <p:nvPr/>
        </p:nvSpPr>
        <p:spPr>
          <a:xfrm>
            <a:off x="2788920" y="3977640"/>
            <a:ext cx="2148840" cy="411480"/>
          </a:xfrm>
          <a:prstGeom prst="rect">
            <a:avLst/>
          </a:prstGeom>
          <a:noFill/>
          <a:ln/>
        </p:spPr>
        <p:txBody>
          <a:bodyPr wrap="square" lIns="0" tIns="0" rIns="0" bIns="0" rtlCol="0" anchor="t"/>
          <a:lstStyle/>
          <a:p>
            <a:pPr indent="0" marL="0">
              <a:buNone/>
            </a:pPr>
            <a:r>
              <a:rPr lang="en-US" sz="2000" b="1" dirty="0">
                <a:solidFill>
                  <a:srgbClr val="E8DFC8"/>
                </a:solidFill>
                <a:latin typeface="Oswald" pitchFamily="34" charset="0"/>
                <a:ea typeface="Oswald" pitchFamily="34" charset="-122"/>
                <a:cs typeface="Oswald" pitchFamily="34" charset="-120"/>
              </a:rPr>
              <a:t>ROOTS</a:t>
            </a:r>
            <a:endParaRPr lang="en-US" sz="2000" dirty="0"/>
          </a:p>
        </p:txBody>
      </p:sp>
      <p:sp>
        <p:nvSpPr>
          <p:cNvPr id="16" name="Text 14"/>
          <p:cNvSpPr txBox="1"/>
          <p:nvPr/>
        </p:nvSpPr>
        <p:spPr>
          <a:xfrm>
            <a:off x="2788920" y="4389120"/>
            <a:ext cx="2103120" cy="274320"/>
          </a:xfrm>
          <a:prstGeom prst="rect">
            <a:avLst/>
          </a:prstGeom>
          <a:noFill/>
          <a:ln/>
        </p:spPr>
        <p:txBody>
          <a:bodyPr wrap="square" lIns="0" tIns="0" rIns="0" bIns="0" rtlCol="0" anchor="t"/>
          <a:lstStyle/>
          <a:p>
            <a:pPr indent="0" marL="0">
              <a:buNone/>
            </a:pPr>
            <a:r>
              <a:rPr lang="en-US" sz="1100" b="1" dirty="0">
                <a:solidFill>
                  <a:srgbClr val="F2EDE4"/>
                </a:solidFill>
                <a:latin typeface="Inter" pitchFamily="34" charset="0"/>
                <a:ea typeface="Inter" pitchFamily="34" charset="-122"/>
                <a:cs typeface="Inter" pitchFamily="34" charset="-120"/>
              </a:rPr>
              <a:t>Forest Ivory</a:t>
            </a:r>
            <a:endParaRPr lang="en-US" sz="1100" dirty="0"/>
          </a:p>
        </p:txBody>
      </p:sp>
      <p:sp>
        <p:nvSpPr>
          <p:cNvPr id="17" name="Text 15"/>
          <p:cNvSpPr txBox="1"/>
          <p:nvPr/>
        </p:nvSpPr>
        <p:spPr>
          <a:xfrm>
            <a:off x="2788920" y="4754880"/>
            <a:ext cx="2103120" cy="822960"/>
          </a:xfrm>
          <a:prstGeom prst="rect">
            <a:avLst/>
          </a:prstGeom>
          <a:noFill/>
          <a:ln/>
        </p:spPr>
        <p:txBody>
          <a:bodyPr wrap="square" lIns="0" tIns="0" rIns="0" bIns="0" rtlCol="0" anchor="t"/>
          <a:lstStyle/>
          <a:p>
            <a:pPr indent="0" marL="0">
              <a:lnSpc>
                <a:spcPct val="125000"/>
              </a:lnSpc>
              <a:buNone/>
            </a:pPr>
            <a:r>
              <a:rPr lang="en-US" sz="950" dirty="0">
                <a:solidFill>
                  <a:srgbClr val="9C978E"/>
                </a:solidFill>
                <a:latin typeface="Inter" pitchFamily="34" charset="0"/>
                <a:ea typeface="Inter" pitchFamily="34" charset="-122"/>
                <a:cs typeface="Inter" pitchFamily="34" charset="-120"/>
              </a:rPr>
              <a:t>A1  Pehli Ghadi</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A2  Jaali</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A3  Kitne Ki Hai?</a:t>
            </a:r>
            <a:endParaRPr lang="en-US" sz="950" dirty="0"/>
          </a:p>
        </p:txBody>
      </p:sp>
      <p:sp>
        <p:nvSpPr>
          <p:cNvPr id="18" name="Shape 16"/>
          <p:cNvSpPr/>
          <p:nvPr/>
        </p:nvSpPr>
        <p:spPr>
          <a:xfrm>
            <a:off x="5166360" y="3456432"/>
            <a:ext cx="329184" cy="329184"/>
          </a:xfrm>
          <a:prstGeom prst="ellipse">
            <a:avLst/>
          </a:prstGeom>
          <a:solidFill>
            <a:srgbClr val="8EC9EE"/>
          </a:solidFill>
          <a:ln w="31750">
            <a:solidFill>
              <a:srgbClr val="1E3A6B"/>
            </a:solidFill>
            <a:prstDash val="solid"/>
          </a:ln>
        </p:spPr>
      </p:sp>
      <p:sp>
        <p:nvSpPr>
          <p:cNvPr id="19" name="Text 17"/>
          <p:cNvSpPr txBox="1"/>
          <p:nvPr/>
        </p:nvSpPr>
        <p:spPr>
          <a:xfrm>
            <a:off x="5029200" y="2880360"/>
            <a:ext cx="2103120" cy="274320"/>
          </a:xfrm>
          <a:prstGeom prst="rect">
            <a:avLst/>
          </a:prstGeom>
          <a:noFill/>
          <a:ln/>
        </p:spPr>
        <p:txBody>
          <a:bodyPr wrap="square" lIns="0" tIns="0" rIns="0" bIns="0" rtlCol="0" anchor="t"/>
          <a:lstStyle/>
          <a:p>
            <a:pPr indent="0" marL="0">
              <a:buNone/>
            </a:pPr>
            <a:r>
              <a:rPr lang="en-US" sz="900" b="1" spc="300" kern="0" dirty="0">
                <a:solidFill>
                  <a:srgbClr val="9C978E"/>
                </a:solidFill>
                <a:latin typeface="Inter" pitchFamily="34" charset="0"/>
                <a:ea typeface="Inter" pitchFamily="34" charset="-122"/>
                <a:cs typeface="Inter" pitchFamily="34" charset="-120"/>
              </a:rPr>
              <a:t>MIDDAY</a:t>
            </a:r>
            <a:endParaRPr lang="en-US" sz="900" dirty="0"/>
          </a:p>
        </p:txBody>
      </p:sp>
      <p:sp>
        <p:nvSpPr>
          <p:cNvPr id="20" name="Text 18"/>
          <p:cNvSpPr txBox="1"/>
          <p:nvPr/>
        </p:nvSpPr>
        <p:spPr>
          <a:xfrm>
            <a:off x="5029200" y="3977640"/>
            <a:ext cx="2148840" cy="411480"/>
          </a:xfrm>
          <a:prstGeom prst="rect">
            <a:avLst/>
          </a:prstGeom>
          <a:noFill/>
          <a:ln/>
        </p:spPr>
        <p:txBody>
          <a:bodyPr wrap="square" lIns="0" tIns="0" rIns="0" bIns="0" rtlCol="0" anchor="t"/>
          <a:lstStyle/>
          <a:p>
            <a:pPr indent="0" marL="0">
              <a:buNone/>
            </a:pPr>
            <a:r>
              <a:rPr lang="en-US" sz="2000" b="1" dirty="0">
                <a:solidFill>
                  <a:srgbClr val="8EC9EE"/>
                </a:solidFill>
                <a:latin typeface="Oswald" pitchFamily="34" charset="0"/>
                <a:ea typeface="Oswald" pitchFamily="34" charset="-122"/>
                <a:cs typeface="Oswald" pitchFamily="34" charset="-120"/>
              </a:rPr>
              <a:t>BUILD</a:t>
            </a:r>
            <a:endParaRPr lang="en-US" sz="2000" dirty="0"/>
          </a:p>
        </p:txBody>
      </p:sp>
      <p:sp>
        <p:nvSpPr>
          <p:cNvPr id="21" name="Text 19"/>
          <p:cNvSpPr txBox="1"/>
          <p:nvPr/>
        </p:nvSpPr>
        <p:spPr>
          <a:xfrm>
            <a:off x="5029200" y="4389120"/>
            <a:ext cx="2103120" cy="274320"/>
          </a:xfrm>
          <a:prstGeom prst="rect">
            <a:avLst/>
          </a:prstGeom>
          <a:noFill/>
          <a:ln/>
        </p:spPr>
        <p:txBody>
          <a:bodyPr wrap="square" lIns="0" tIns="0" rIns="0" bIns="0" rtlCol="0" anchor="t"/>
          <a:lstStyle/>
          <a:p>
            <a:pPr indent="0" marL="0">
              <a:buNone/>
            </a:pPr>
            <a:r>
              <a:rPr lang="en-US" sz="1100" b="1" dirty="0">
                <a:solidFill>
                  <a:srgbClr val="F2EDE4"/>
                </a:solidFill>
                <a:latin typeface="Inter" pitchFamily="34" charset="0"/>
                <a:ea typeface="Inter" pitchFamily="34" charset="-122"/>
                <a:cs typeface="Inter" pitchFamily="34" charset="-120"/>
              </a:rPr>
              <a:t>Cerulean</a:t>
            </a:r>
            <a:endParaRPr lang="en-US" sz="1100" dirty="0"/>
          </a:p>
        </p:txBody>
      </p:sp>
      <p:sp>
        <p:nvSpPr>
          <p:cNvPr id="22" name="Text 20"/>
          <p:cNvSpPr txBox="1"/>
          <p:nvPr/>
        </p:nvSpPr>
        <p:spPr>
          <a:xfrm>
            <a:off x="5029200" y="4754880"/>
            <a:ext cx="2103120" cy="822960"/>
          </a:xfrm>
          <a:prstGeom prst="rect">
            <a:avLst/>
          </a:prstGeom>
          <a:noFill/>
          <a:ln/>
        </p:spPr>
        <p:txBody>
          <a:bodyPr wrap="square" lIns="0" tIns="0" rIns="0" bIns="0" rtlCol="0" anchor="t"/>
          <a:lstStyle/>
          <a:p>
            <a:pPr indent="0" marL="0">
              <a:lnSpc>
                <a:spcPct val="125000"/>
              </a:lnSpc>
              <a:buNone/>
            </a:pPr>
            <a:r>
              <a:rPr lang="en-US" sz="950" dirty="0">
                <a:solidFill>
                  <a:srgbClr val="9C978E"/>
                </a:solidFill>
                <a:latin typeface="Inter" pitchFamily="34" charset="0"/>
                <a:ea typeface="Inter" pitchFamily="34" charset="-122"/>
                <a:cs typeface="Inter" pitchFamily="34" charset="-120"/>
              </a:rPr>
              <a:t>C1  Neev</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C2  6 Feet. 6 Inches.</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C3  60 Seconds</a:t>
            </a:r>
            <a:endParaRPr lang="en-US" sz="950" dirty="0"/>
          </a:p>
        </p:txBody>
      </p:sp>
      <p:sp>
        <p:nvSpPr>
          <p:cNvPr id="23" name="Shape 21"/>
          <p:cNvSpPr/>
          <p:nvPr/>
        </p:nvSpPr>
        <p:spPr>
          <a:xfrm>
            <a:off x="7406640" y="3456432"/>
            <a:ext cx="329184" cy="329184"/>
          </a:xfrm>
          <a:prstGeom prst="ellipse">
            <a:avLst/>
          </a:prstGeom>
          <a:solidFill>
            <a:srgbClr val="F28C28"/>
          </a:solidFill>
          <a:ln w="31750">
            <a:solidFill>
              <a:srgbClr val="2547A8"/>
            </a:solidFill>
            <a:prstDash val="solid"/>
          </a:ln>
        </p:spPr>
      </p:sp>
      <p:sp>
        <p:nvSpPr>
          <p:cNvPr id="24" name="Text 22"/>
          <p:cNvSpPr txBox="1"/>
          <p:nvPr/>
        </p:nvSpPr>
        <p:spPr>
          <a:xfrm>
            <a:off x="7269480" y="2880360"/>
            <a:ext cx="2103120" cy="274320"/>
          </a:xfrm>
          <a:prstGeom prst="rect">
            <a:avLst/>
          </a:prstGeom>
          <a:noFill/>
          <a:ln/>
        </p:spPr>
        <p:txBody>
          <a:bodyPr wrap="square" lIns="0" tIns="0" rIns="0" bIns="0" rtlCol="0" anchor="t"/>
          <a:lstStyle/>
          <a:p>
            <a:pPr indent="0" marL="0">
              <a:buNone/>
            </a:pPr>
            <a:r>
              <a:rPr lang="en-US" sz="900" b="1" spc="300" kern="0" dirty="0">
                <a:solidFill>
                  <a:srgbClr val="9C978E"/>
                </a:solidFill>
                <a:latin typeface="Inter" pitchFamily="34" charset="0"/>
                <a:ea typeface="Inter" pitchFamily="34" charset="-122"/>
                <a:cs typeface="Inter" pitchFamily="34" charset="-120"/>
              </a:rPr>
              <a:t>AFTERNOON → DUSK</a:t>
            </a:r>
            <a:endParaRPr lang="en-US" sz="900" dirty="0"/>
          </a:p>
        </p:txBody>
      </p:sp>
      <p:sp>
        <p:nvSpPr>
          <p:cNvPr id="25" name="Text 23"/>
          <p:cNvSpPr txBox="1"/>
          <p:nvPr/>
        </p:nvSpPr>
        <p:spPr>
          <a:xfrm>
            <a:off x="7269480" y="3977640"/>
            <a:ext cx="2148840" cy="411480"/>
          </a:xfrm>
          <a:prstGeom prst="rect">
            <a:avLst/>
          </a:prstGeom>
          <a:noFill/>
          <a:ln/>
        </p:spPr>
        <p:txBody>
          <a:bodyPr wrap="square" lIns="0" tIns="0" rIns="0" bIns="0" rtlCol="0" anchor="t"/>
          <a:lstStyle/>
          <a:p>
            <a:pPr indent="0" marL="0">
              <a:buNone/>
            </a:pPr>
            <a:r>
              <a:rPr lang="en-US" sz="2000" b="1" dirty="0">
                <a:solidFill>
                  <a:srgbClr val="F28C28"/>
                </a:solidFill>
                <a:latin typeface="Oswald" pitchFamily="34" charset="0"/>
                <a:ea typeface="Oswald" pitchFamily="34" charset="-122"/>
                <a:cs typeface="Oswald" pitchFamily="34" charset="-120"/>
              </a:rPr>
              <a:t>UTSAV · DIWALI</a:t>
            </a:r>
            <a:endParaRPr lang="en-US" sz="2000" dirty="0"/>
          </a:p>
        </p:txBody>
      </p:sp>
      <p:sp>
        <p:nvSpPr>
          <p:cNvPr id="26" name="Text 24"/>
          <p:cNvSpPr txBox="1"/>
          <p:nvPr/>
        </p:nvSpPr>
        <p:spPr>
          <a:xfrm>
            <a:off x="7269480" y="4389120"/>
            <a:ext cx="2103120" cy="274320"/>
          </a:xfrm>
          <a:prstGeom prst="rect">
            <a:avLst/>
          </a:prstGeom>
          <a:noFill/>
          <a:ln/>
        </p:spPr>
        <p:txBody>
          <a:bodyPr wrap="square" lIns="0" tIns="0" rIns="0" bIns="0" rtlCol="0" anchor="t"/>
          <a:lstStyle/>
          <a:p>
            <a:pPr indent="0" marL="0">
              <a:buNone/>
            </a:pPr>
            <a:r>
              <a:rPr lang="en-US" sz="1100" b="1" dirty="0">
                <a:solidFill>
                  <a:srgbClr val="F2EDE4"/>
                </a:solidFill>
                <a:latin typeface="Inter" pitchFamily="34" charset="0"/>
                <a:ea typeface="Inter" pitchFamily="34" charset="-122"/>
                <a:cs typeface="Inter" pitchFamily="34" charset="-120"/>
              </a:rPr>
              <a:t>Royal Tangerine</a:t>
            </a:r>
            <a:endParaRPr lang="en-US" sz="1100" dirty="0"/>
          </a:p>
        </p:txBody>
      </p:sp>
      <p:sp>
        <p:nvSpPr>
          <p:cNvPr id="27" name="Text 25"/>
          <p:cNvSpPr txBox="1"/>
          <p:nvPr/>
        </p:nvSpPr>
        <p:spPr>
          <a:xfrm>
            <a:off x="7269480" y="4754880"/>
            <a:ext cx="2103120" cy="822960"/>
          </a:xfrm>
          <a:prstGeom prst="rect">
            <a:avLst/>
          </a:prstGeom>
          <a:noFill/>
          <a:ln/>
        </p:spPr>
        <p:txBody>
          <a:bodyPr wrap="square" lIns="0" tIns="0" rIns="0" bIns="0" rtlCol="0" anchor="t"/>
          <a:lstStyle/>
          <a:p>
            <a:pPr indent="0" marL="0">
              <a:lnSpc>
                <a:spcPct val="125000"/>
              </a:lnSpc>
              <a:buNone/>
            </a:pPr>
            <a:r>
              <a:rPr lang="en-US" sz="950" dirty="0">
                <a:solidFill>
                  <a:srgbClr val="9C978E"/>
                </a:solidFill>
                <a:latin typeface="Inter" pitchFamily="34" charset="0"/>
                <a:ea typeface="Inter" pitchFamily="34" charset="-122"/>
                <a:cs typeface="Inter" pitchFamily="34" charset="-120"/>
              </a:rPr>
              <a:t>D1  Ek Diya</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D2  Dhanteras</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D3  Jaipur Se</a:t>
            </a:r>
            <a:endParaRPr lang="en-US" sz="950" dirty="0"/>
          </a:p>
        </p:txBody>
      </p:sp>
      <p:sp>
        <p:nvSpPr>
          <p:cNvPr id="28" name="Shape 26"/>
          <p:cNvSpPr/>
          <p:nvPr/>
        </p:nvSpPr>
        <p:spPr>
          <a:xfrm>
            <a:off x="9646920" y="3456432"/>
            <a:ext cx="329184" cy="329184"/>
          </a:xfrm>
          <a:prstGeom prst="ellipse">
            <a:avLst/>
          </a:prstGeom>
          <a:solidFill>
            <a:srgbClr val="D2283A"/>
          </a:solidFill>
          <a:ln w="31750">
            <a:solidFill>
              <a:srgbClr val="1C2A55"/>
            </a:solidFill>
            <a:prstDash val="solid"/>
          </a:ln>
        </p:spPr>
      </p:sp>
      <p:sp>
        <p:nvSpPr>
          <p:cNvPr id="29" name="Text 27"/>
          <p:cNvSpPr txBox="1"/>
          <p:nvPr/>
        </p:nvSpPr>
        <p:spPr>
          <a:xfrm>
            <a:off x="9509760" y="2880360"/>
            <a:ext cx="2103120" cy="274320"/>
          </a:xfrm>
          <a:prstGeom prst="rect">
            <a:avLst/>
          </a:prstGeom>
          <a:noFill/>
          <a:ln/>
        </p:spPr>
        <p:txBody>
          <a:bodyPr wrap="square" lIns="0" tIns="0" rIns="0" bIns="0" rtlCol="0" anchor="t"/>
          <a:lstStyle/>
          <a:p>
            <a:pPr indent="0" marL="0">
              <a:buNone/>
            </a:pPr>
            <a:r>
              <a:rPr lang="en-US" sz="900" b="1" spc="300" kern="0" dirty="0">
                <a:solidFill>
                  <a:srgbClr val="9C978E"/>
                </a:solidFill>
                <a:latin typeface="Inter" pitchFamily="34" charset="0"/>
                <a:ea typeface="Inter" pitchFamily="34" charset="-122"/>
                <a:cs typeface="Inter" pitchFamily="34" charset="-120"/>
              </a:rPr>
              <a:t>NIGHT</a:t>
            </a:r>
            <a:endParaRPr lang="en-US" sz="900" dirty="0"/>
          </a:p>
        </p:txBody>
      </p:sp>
      <p:sp>
        <p:nvSpPr>
          <p:cNvPr id="30" name="Text 28"/>
          <p:cNvSpPr txBox="1"/>
          <p:nvPr/>
        </p:nvSpPr>
        <p:spPr>
          <a:xfrm>
            <a:off x="9509760" y="3977640"/>
            <a:ext cx="2148840" cy="411480"/>
          </a:xfrm>
          <a:prstGeom prst="rect">
            <a:avLst/>
          </a:prstGeom>
          <a:noFill/>
          <a:ln/>
        </p:spPr>
        <p:txBody>
          <a:bodyPr wrap="square" lIns="0" tIns="0" rIns="0" bIns="0" rtlCol="0" anchor="t"/>
          <a:lstStyle/>
          <a:p>
            <a:pPr indent="0" marL="0">
              <a:buNone/>
            </a:pPr>
            <a:r>
              <a:rPr lang="en-US" sz="2000" b="1" dirty="0">
                <a:solidFill>
                  <a:srgbClr val="D2283A"/>
                </a:solidFill>
                <a:latin typeface="Oswald" pitchFamily="34" charset="0"/>
                <a:ea typeface="Oswald" pitchFamily="34" charset="-122"/>
                <a:cs typeface="Oswald" pitchFamily="34" charset="-120"/>
              </a:rPr>
              <a:t>AFTER DARK</a:t>
            </a:r>
            <a:endParaRPr lang="en-US" sz="2000" dirty="0"/>
          </a:p>
        </p:txBody>
      </p:sp>
      <p:sp>
        <p:nvSpPr>
          <p:cNvPr id="31" name="Text 29"/>
          <p:cNvSpPr txBox="1"/>
          <p:nvPr/>
        </p:nvSpPr>
        <p:spPr>
          <a:xfrm>
            <a:off x="9509760" y="4389120"/>
            <a:ext cx="2103120" cy="274320"/>
          </a:xfrm>
          <a:prstGeom prst="rect">
            <a:avLst/>
          </a:prstGeom>
          <a:noFill/>
          <a:ln/>
        </p:spPr>
        <p:txBody>
          <a:bodyPr wrap="square" lIns="0" tIns="0" rIns="0" bIns="0" rtlCol="0" anchor="t"/>
          <a:lstStyle/>
          <a:p>
            <a:pPr indent="0" marL="0">
              <a:buNone/>
            </a:pPr>
            <a:r>
              <a:rPr lang="en-US" sz="1100" b="1" dirty="0">
                <a:solidFill>
                  <a:srgbClr val="F2EDE4"/>
                </a:solidFill>
                <a:latin typeface="Inter" pitchFamily="34" charset="0"/>
                <a:ea typeface="Inter" pitchFamily="34" charset="-122"/>
                <a:cs typeface="Inter" pitchFamily="34" charset="-120"/>
              </a:rPr>
              <a:t>Crimson Navy</a:t>
            </a:r>
            <a:endParaRPr lang="en-US" sz="1100" dirty="0"/>
          </a:p>
        </p:txBody>
      </p:sp>
      <p:sp>
        <p:nvSpPr>
          <p:cNvPr id="32" name="Text 30"/>
          <p:cNvSpPr txBox="1"/>
          <p:nvPr/>
        </p:nvSpPr>
        <p:spPr>
          <a:xfrm>
            <a:off x="9509760" y="4754880"/>
            <a:ext cx="2103120" cy="822960"/>
          </a:xfrm>
          <a:prstGeom prst="rect">
            <a:avLst/>
          </a:prstGeom>
          <a:noFill/>
          <a:ln/>
        </p:spPr>
        <p:txBody>
          <a:bodyPr wrap="square" lIns="0" tIns="0" rIns="0" bIns="0" rtlCol="0" anchor="t"/>
          <a:lstStyle/>
          <a:p>
            <a:pPr indent="0" marL="0">
              <a:lnSpc>
                <a:spcPct val="125000"/>
              </a:lnSpc>
              <a:buNone/>
            </a:pPr>
            <a:r>
              <a:rPr lang="en-US" sz="950" dirty="0">
                <a:solidFill>
                  <a:srgbClr val="9C978E"/>
                </a:solidFill>
                <a:latin typeface="Inter" pitchFamily="34" charset="0"/>
                <a:ea typeface="Inter" pitchFamily="34" charset="-122"/>
                <a:cs typeface="Inter" pitchFamily="34" charset="-120"/>
              </a:rPr>
              <a:t>E1  Unfinished</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E2  Red / Blue</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E3  Shor Nahi. Signal.</a:t>
            </a:r>
            <a:endParaRPr lang="en-US" sz="950" dirty="0"/>
          </a:p>
        </p:txBody>
      </p:sp>
      <p:sp>
        <p:nvSpPr>
          <p:cNvPr id="33" name="Text 31"/>
          <p:cNvSpPr txBox="1"/>
          <p:nvPr/>
        </p:nvSpPr>
        <p:spPr>
          <a:xfrm>
            <a:off x="548640" y="5897880"/>
            <a:ext cx="10972800" cy="320040"/>
          </a:xfrm>
          <a:prstGeom prst="rect">
            <a:avLst/>
          </a:prstGeom>
          <a:noFill/>
          <a:ln/>
        </p:spPr>
        <p:txBody>
          <a:bodyPr wrap="square" lIns="0" tIns="0" rIns="0" bIns="0" rtlCol="0" anchor="t"/>
          <a:lstStyle/>
          <a:p>
            <a:pPr indent="0" marL="0">
              <a:buNone/>
            </a:pPr>
            <a:r>
              <a:rPr lang="en-US" sz="1050" b="1" spc="100" kern="0" dirty="0">
                <a:solidFill>
                  <a:srgbClr val="C9A45C"/>
                </a:solidFill>
                <a:latin typeface="Inter" pitchFamily="34" charset="0"/>
                <a:ea typeface="Inter" pitchFamily="34" charset="-122"/>
                <a:cs typeface="Inter" pitchFamily="34" charset="-120"/>
              </a:rPr>
              <a:t>Every reel ends on the same promise:  WEAR YOUR TIME. COMMAND YOUR PRESENCE. BUILD YOUR LEGACY.</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TONE</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04</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BOLD. ALPHA. TIME. — THE RULES ON SET</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POWER IS FELT, NOT ANNOUNCED.</a:t>
            </a:r>
            <a:endParaRPr lang="en-US" sz="3400" dirty="0"/>
          </a:p>
        </p:txBody>
      </p:sp>
      <p:sp>
        <p:nvSpPr>
          <p:cNvPr id="6" name="Text 4"/>
          <p:cNvSpPr txBox="1"/>
          <p:nvPr/>
        </p:nvSpPr>
        <p:spPr>
          <a:xfrm>
            <a:off x="548640" y="178308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01</a:t>
            </a:r>
            <a:endParaRPr lang="en-US" sz="2000" dirty="0"/>
          </a:p>
        </p:txBody>
      </p:sp>
      <p:sp>
        <p:nvSpPr>
          <p:cNvPr id="7" name="Text 5"/>
          <p:cNvSpPr txBox="1"/>
          <p:nvPr/>
        </p:nvSpPr>
        <p:spPr>
          <a:xfrm>
            <a:off x="1188720" y="180136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THE WATCH IS ALWAYS WORN</a:t>
            </a:r>
            <a:endParaRPr lang="en-US" sz="1200" dirty="0"/>
          </a:p>
        </p:txBody>
      </p:sp>
      <p:sp>
        <p:nvSpPr>
          <p:cNvPr id="8" name="Text 6"/>
          <p:cNvSpPr txBox="1"/>
          <p:nvPr/>
        </p:nvSpPr>
        <p:spPr>
          <a:xfrm>
            <a:off x="1188720" y="214884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It never lies on a floor, table, thali or cloth. In every reel it is on Mukesh ji's wrist; in the product shoot it sits on a stand or a pillow.</a:t>
            </a:r>
            <a:endParaRPr lang="en-US" sz="1050" dirty="0"/>
          </a:p>
        </p:txBody>
      </p:sp>
      <p:sp>
        <p:nvSpPr>
          <p:cNvPr id="9" name="Text 7"/>
          <p:cNvSpPr txBox="1"/>
          <p:nvPr/>
        </p:nvSpPr>
        <p:spPr>
          <a:xfrm>
            <a:off x="6172200" y="178308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02</a:t>
            </a:r>
            <a:endParaRPr lang="en-US" sz="2000" dirty="0"/>
          </a:p>
        </p:txBody>
      </p:sp>
      <p:sp>
        <p:nvSpPr>
          <p:cNvPr id="10" name="Text 8"/>
          <p:cNvSpPr txBox="1"/>
          <p:nvPr/>
        </p:nvSpPr>
        <p:spPr>
          <a:xfrm>
            <a:off x="6812280" y="180136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RESTRAINT OVER NOISE</a:t>
            </a:r>
            <a:endParaRPr lang="en-US" sz="1200" dirty="0"/>
          </a:p>
        </p:txBody>
      </p:sp>
      <p:sp>
        <p:nvSpPr>
          <p:cNvPr id="11" name="Text 9"/>
          <p:cNvSpPr txBox="1"/>
          <p:nvPr/>
        </p:nvSpPr>
        <p:spPr>
          <a:xfrm>
            <a:off x="6812280" y="214884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Neetu: "The loudest man in the room is usually the most insecure." No shouting, no flexing, no money-gun energy. Stillness reads as power.</a:t>
            </a:r>
            <a:endParaRPr lang="en-US" sz="1050" dirty="0"/>
          </a:p>
        </p:txBody>
      </p:sp>
      <p:sp>
        <p:nvSpPr>
          <p:cNvPr id="12" name="Text 10"/>
          <p:cNvSpPr txBox="1"/>
          <p:nvPr/>
        </p:nvSpPr>
        <p:spPr>
          <a:xfrm>
            <a:off x="548640" y="324612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03</a:t>
            </a:r>
            <a:endParaRPr lang="en-US" sz="2000" dirty="0"/>
          </a:p>
        </p:txBody>
      </p:sp>
      <p:sp>
        <p:nvSpPr>
          <p:cNvPr id="13" name="Text 11"/>
          <p:cNvSpPr txBox="1"/>
          <p:nvPr/>
        </p:nvSpPr>
        <p:spPr>
          <a:xfrm>
            <a:off x="1188720" y="326440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THE CASE IS ALWAYS SHARP</a:t>
            </a:r>
            <a:endParaRPr lang="en-US" sz="1200" dirty="0"/>
          </a:p>
        </p:txBody>
      </p:sp>
      <p:sp>
        <p:nvSpPr>
          <p:cNvPr id="14" name="Text 12"/>
          <p:cNvSpPr txBox="1"/>
          <p:nvPr/>
        </p:nvSpPr>
        <p:spPr>
          <a:xfrm>
            <a:off x="1188720" y="361188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Every reel has at least one macro where the eight bezel screws and the WR monogram are in focus.</a:t>
            </a:r>
            <a:endParaRPr lang="en-US" sz="1050" dirty="0"/>
          </a:p>
        </p:txBody>
      </p:sp>
      <p:sp>
        <p:nvSpPr>
          <p:cNvPr id="15" name="Text 13"/>
          <p:cNvSpPr txBox="1"/>
          <p:nvPr/>
        </p:nvSpPr>
        <p:spPr>
          <a:xfrm>
            <a:off x="6172200" y="324612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04</a:t>
            </a:r>
            <a:endParaRPr lang="en-US" sz="2000" dirty="0"/>
          </a:p>
        </p:txBody>
      </p:sp>
      <p:sp>
        <p:nvSpPr>
          <p:cNvPr id="16" name="Text 14"/>
          <p:cNvSpPr txBox="1"/>
          <p:nvPr/>
        </p:nvSpPr>
        <p:spPr>
          <a:xfrm>
            <a:off x="6812280" y="326440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ONE COLOUR STORY PER WATCH</a:t>
            </a:r>
            <a:endParaRPr lang="en-US" sz="1200" dirty="0"/>
          </a:p>
        </p:txBody>
      </p:sp>
      <p:sp>
        <p:nvSpPr>
          <p:cNvPr id="17" name="Text 15"/>
          <p:cNvSpPr txBox="1"/>
          <p:nvPr/>
        </p:nvSpPr>
        <p:spPr>
          <a:xfrm>
            <a:off x="6812280" y="361188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Wardrobe, props and light take their colours from the dial. Nothing in frame fights the watch.</a:t>
            </a:r>
            <a:endParaRPr lang="en-US" sz="1050" dirty="0"/>
          </a:p>
        </p:txBody>
      </p:sp>
      <p:sp>
        <p:nvSpPr>
          <p:cNvPr id="18" name="Text 16"/>
          <p:cNvSpPr txBox="1"/>
          <p:nvPr/>
        </p:nvSpPr>
        <p:spPr>
          <a:xfrm>
            <a:off x="548640" y="470916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05</a:t>
            </a:r>
            <a:endParaRPr lang="en-US" sz="2000" dirty="0"/>
          </a:p>
        </p:txBody>
      </p:sp>
      <p:sp>
        <p:nvSpPr>
          <p:cNvPr id="19" name="Text 17"/>
          <p:cNvSpPr txBox="1"/>
          <p:nvPr/>
        </p:nvSpPr>
        <p:spPr>
          <a:xfrm>
            <a:off x="1188720" y="472744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HINGLISH, LOW AND SLOW</a:t>
            </a:r>
            <a:endParaRPr lang="en-US" sz="1200" dirty="0"/>
          </a:p>
        </p:txBody>
      </p:sp>
      <p:sp>
        <p:nvSpPr>
          <p:cNvPr id="20" name="Text 18"/>
          <p:cNvSpPr txBox="1"/>
          <p:nvPr/>
        </p:nvSpPr>
        <p:spPr>
          <a:xfrm>
            <a:off x="1188720" y="507492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Mukesh ji speaks like he isn't trying to convince anyone. Short lines, pauses, no smile on the last word.</a:t>
            </a:r>
            <a:endParaRPr lang="en-US" sz="1050" dirty="0"/>
          </a:p>
        </p:txBody>
      </p:sp>
      <p:sp>
        <p:nvSpPr>
          <p:cNvPr id="21" name="Text 19"/>
          <p:cNvSpPr txBox="1"/>
          <p:nvPr/>
        </p:nvSpPr>
        <p:spPr>
          <a:xfrm>
            <a:off x="6172200" y="470916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06</a:t>
            </a:r>
            <a:endParaRPr lang="en-US" sz="2000" dirty="0"/>
          </a:p>
        </p:txBody>
      </p:sp>
      <p:sp>
        <p:nvSpPr>
          <p:cNvPr id="22" name="Text 20"/>
          <p:cNvSpPr txBox="1"/>
          <p:nvPr/>
        </p:nvSpPr>
        <p:spPr>
          <a:xfrm>
            <a:off x="6812280" y="472744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SIGNATURE SOUND + ONE ENGLISH LINE</a:t>
            </a:r>
            <a:endParaRPr lang="en-US" sz="1200" dirty="0"/>
          </a:p>
        </p:txBody>
      </p:sp>
      <p:sp>
        <p:nvSpPr>
          <p:cNvPr id="23" name="Text 21"/>
          <p:cNvSpPr txBox="1"/>
          <p:nvPr/>
        </p:nvSpPr>
        <p:spPr>
          <a:xfrm>
            <a:off x="6812280" y="507492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The clasp click or one dry tick in every reel. Hinglish lives in the voice; the screen carries one English line, never more than 8 words.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THE WATCHES</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05</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THE FIVE WATCHES</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EACH ONE OWNS AN HOUR.</a:t>
            </a:r>
            <a:endParaRPr lang="en-US" sz="3400" dirty="0"/>
          </a:p>
        </p:txBody>
      </p:sp>
      <p:pic>
        <p:nvPicPr>
          <p:cNvPr id="6" name="Image 0" descr="/tmp/claude-0/-home-user-Sage-portfolio/d05fecce-977e-5eab-9cf5-7c09b306c551/scratchpad/wrdeck/img/crop_green.jpg">    </p:cNvPr>
          <p:cNvPicPr>
            <a:picLocks noChangeAspect="1"/>
          </p:cNvPicPr>
          <p:nvPr/>
        </p:nvPicPr>
        <p:blipFill>
          <a:blip r:embed="rId1"/>
          <a:srcRect l="0" r="0" t="0" b="0"/>
          <a:stretch/>
        </p:blipFill>
        <p:spPr>
          <a:xfrm>
            <a:off x="548640" y="1691640"/>
            <a:ext cx="2103120" cy="2560320"/>
          </a:xfrm>
          <a:prstGeom prst="rect">
            <a:avLst/>
          </a:prstGeom>
        </p:spPr>
      </p:pic>
      <p:sp>
        <p:nvSpPr>
          <p:cNvPr id="7" name="Shape 4"/>
          <p:cNvSpPr/>
          <p:nvPr/>
        </p:nvSpPr>
        <p:spPr>
          <a:xfrm>
            <a:off x="548640" y="4315968"/>
            <a:ext cx="2103120" cy="54864"/>
          </a:xfrm>
          <a:prstGeom prst="rect">
            <a:avLst/>
          </a:prstGeom>
          <a:solidFill>
            <a:srgbClr val="E8DFC8"/>
          </a:solidFill>
          <a:ln w="12700">
            <a:solidFill>
              <a:srgbClr val="E8DFC8"/>
            </a:solidFill>
            <a:prstDash val="solid"/>
          </a:ln>
        </p:spPr>
      </p:sp>
      <p:sp>
        <p:nvSpPr>
          <p:cNvPr id="8" name="Text 5"/>
          <p:cNvSpPr txBox="1"/>
          <p:nvPr/>
        </p:nvSpPr>
        <p:spPr>
          <a:xfrm>
            <a:off x="548640" y="4498848"/>
            <a:ext cx="2103120" cy="320040"/>
          </a:xfrm>
          <a:prstGeom prst="rect">
            <a:avLst/>
          </a:prstGeom>
          <a:noFill/>
          <a:ln/>
        </p:spPr>
        <p:txBody>
          <a:bodyPr wrap="square" lIns="0" tIns="0" rIns="0" bIns="0" rtlCol="0" anchor="t"/>
          <a:lstStyle/>
          <a:p>
            <a:pPr indent="0" marL="0">
              <a:buNone/>
            </a:pPr>
            <a:r>
              <a:rPr lang="en-US" sz="1600" b="1" dirty="0">
                <a:solidFill>
                  <a:srgbClr val="F2EDE4"/>
                </a:solidFill>
                <a:latin typeface="Oswald" pitchFamily="34" charset="0"/>
                <a:ea typeface="Oswald" pitchFamily="34" charset="-122"/>
                <a:cs typeface="Oswald" pitchFamily="34" charset="-120"/>
              </a:rPr>
              <a:t>FOREST IVORY</a:t>
            </a:r>
            <a:endParaRPr lang="en-US" sz="1600" dirty="0"/>
          </a:p>
        </p:txBody>
      </p:sp>
      <p:sp>
        <p:nvSpPr>
          <p:cNvPr id="9" name="Text 6"/>
          <p:cNvSpPr txBox="1"/>
          <p:nvPr/>
        </p:nvSpPr>
        <p:spPr>
          <a:xfrm>
            <a:off x="548640" y="4846320"/>
            <a:ext cx="2103120" cy="54864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Ivory case · white waffle dial · bottle-green strap</a:t>
            </a:r>
            <a:endParaRPr lang="en-US" sz="950" dirty="0"/>
          </a:p>
        </p:txBody>
      </p:sp>
      <p:sp>
        <p:nvSpPr>
          <p:cNvPr id="10" name="Text 7"/>
          <p:cNvSpPr txBox="1"/>
          <p:nvPr/>
        </p:nvSpPr>
        <p:spPr>
          <a:xfrm>
            <a:off x="548640" y="5440680"/>
            <a:ext cx="2103120" cy="274320"/>
          </a:xfrm>
          <a:prstGeom prst="rect">
            <a:avLst/>
          </a:prstGeom>
          <a:noFill/>
          <a:ln/>
        </p:spPr>
        <p:txBody>
          <a:bodyPr wrap="square" lIns="0" tIns="0" rIns="0" bIns="0" rtlCol="0" anchor="t"/>
          <a:lstStyle/>
          <a:p>
            <a:pPr indent="0" marL="0">
              <a:buNone/>
            </a:pPr>
            <a:r>
              <a:rPr lang="en-US" sz="900" b="1" spc="200" kern="0" dirty="0">
                <a:solidFill>
                  <a:srgbClr val="C9A45C"/>
                </a:solidFill>
                <a:latin typeface="Inter" pitchFamily="34" charset="0"/>
                <a:ea typeface="Inter" pitchFamily="34" charset="-122"/>
                <a:cs typeface="Inter" pitchFamily="34" charset="-120"/>
              </a:rPr>
              <a:t>ROOTS  ·  Morning light</a:t>
            </a:r>
            <a:endParaRPr lang="en-US" sz="900" dirty="0"/>
          </a:p>
        </p:txBody>
      </p:sp>
      <p:pic>
        <p:nvPicPr>
          <p:cNvPr id="11" name="Image 1" descr="/tmp/claude-0/-home-user-Sage-portfolio/d05fecce-977e-5eab-9cf5-7c09b306c551/scratchpad/wrdeck/img/crop_lime.jpg">    </p:cNvPr>
          <p:cNvPicPr>
            <a:picLocks noChangeAspect="1"/>
          </p:cNvPicPr>
          <p:nvPr/>
        </p:nvPicPr>
        <p:blipFill>
          <a:blip r:embed="rId2"/>
          <a:srcRect l="0" r="0" t="0" b="0"/>
          <a:stretch/>
        </p:blipFill>
        <p:spPr>
          <a:xfrm>
            <a:off x="2807208" y="1691640"/>
            <a:ext cx="2103120" cy="2560320"/>
          </a:xfrm>
          <a:prstGeom prst="rect">
            <a:avLst/>
          </a:prstGeom>
        </p:spPr>
      </p:pic>
      <p:sp>
        <p:nvSpPr>
          <p:cNvPr id="12" name="Shape 8"/>
          <p:cNvSpPr/>
          <p:nvPr/>
        </p:nvSpPr>
        <p:spPr>
          <a:xfrm>
            <a:off x="2807208" y="4315968"/>
            <a:ext cx="2103120" cy="54864"/>
          </a:xfrm>
          <a:prstGeom prst="rect">
            <a:avLst/>
          </a:prstGeom>
          <a:solidFill>
            <a:srgbClr val="D7F25A"/>
          </a:solidFill>
          <a:ln w="12700">
            <a:solidFill>
              <a:srgbClr val="D7F25A"/>
            </a:solidFill>
            <a:prstDash val="solid"/>
          </a:ln>
        </p:spPr>
      </p:sp>
      <p:sp>
        <p:nvSpPr>
          <p:cNvPr id="13" name="Text 9"/>
          <p:cNvSpPr txBox="1"/>
          <p:nvPr/>
        </p:nvSpPr>
        <p:spPr>
          <a:xfrm>
            <a:off x="2807208" y="4498848"/>
            <a:ext cx="2103120" cy="320040"/>
          </a:xfrm>
          <a:prstGeom prst="rect">
            <a:avLst/>
          </a:prstGeom>
          <a:noFill/>
          <a:ln/>
        </p:spPr>
        <p:txBody>
          <a:bodyPr wrap="square" lIns="0" tIns="0" rIns="0" bIns="0" rtlCol="0" anchor="t"/>
          <a:lstStyle/>
          <a:p>
            <a:pPr indent="0" marL="0">
              <a:buNone/>
            </a:pPr>
            <a:r>
              <a:rPr lang="en-US" sz="1600" b="1" dirty="0">
                <a:solidFill>
                  <a:srgbClr val="F2EDE4"/>
                </a:solidFill>
                <a:latin typeface="Oswald" pitchFamily="34" charset="0"/>
                <a:ea typeface="Oswald" pitchFamily="34" charset="-122"/>
                <a:cs typeface="Oswald" pitchFamily="34" charset="-120"/>
              </a:rPr>
              <a:t>CITRUS MINT</a:t>
            </a:r>
            <a:endParaRPr lang="en-US" sz="1600" dirty="0"/>
          </a:p>
        </p:txBody>
      </p:sp>
      <p:sp>
        <p:nvSpPr>
          <p:cNvPr id="14" name="Text 10"/>
          <p:cNvSpPr txBox="1"/>
          <p:nvPr/>
        </p:nvSpPr>
        <p:spPr>
          <a:xfrm>
            <a:off x="2807208" y="4846320"/>
            <a:ext cx="2103120" cy="54864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Lime case · mint waffle dial · mint strap</a:t>
            </a:r>
            <a:endParaRPr lang="en-US" sz="950" dirty="0"/>
          </a:p>
        </p:txBody>
      </p:sp>
      <p:sp>
        <p:nvSpPr>
          <p:cNvPr id="15" name="Text 11"/>
          <p:cNvSpPr txBox="1"/>
          <p:nvPr/>
        </p:nvSpPr>
        <p:spPr>
          <a:xfrm>
            <a:off x="2807208" y="5440680"/>
            <a:ext cx="2103120" cy="274320"/>
          </a:xfrm>
          <a:prstGeom prst="rect">
            <a:avLst/>
          </a:prstGeom>
          <a:noFill/>
          <a:ln/>
        </p:spPr>
        <p:txBody>
          <a:bodyPr wrap="square" lIns="0" tIns="0" rIns="0" bIns="0" rtlCol="0" anchor="t"/>
          <a:lstStyle/>
          <a:p>
            <a:pPr indent="0" marL="0">
              <a:buNone/>
            </a:pPr>
            <a:r>
              <a:rPr lang="en-US" sz="900" b="1" spc="200" kern="0" dirty="0">
                <a:solidFill>
                  <a:srgbClr val="C9A45C"/>
                </a:solidFill>
                <a:latin typeface="Inter" pitchFamily="34" charset="0"/>
                <a:ea typeface="Inter" pitchFamily="34" charset="-122"/>
                <a:cs typeface="Inter" pitchFamily="34" charset="-120"/>
              </a:rPr>
              <a:t>DISCIPLINE  ·  First light</a:t>
            </a:r>
            <a:endParaRPr lang="en-US" sz="900" dirty="0"/>
          </a:p>
        </p:txBody>
      </p:sp>
      <p:pic>
        <p:nvPicPr>
          <p:cNvPr id="16" name="Image 2" descr="/tmp/claude-0/-home-user-Sage-portfolio/d05fecce-977e-5eab-9cf5-7c09b306c551/scratchpad/wrdeck/img/crop_skyblue.jpg">    </p:cNvPr>
          <p:cNvPicPr>
            <a:picLocks noChangeAspect="1"/>
          </p:cNvPicPr>
          <p:nvPr/>
        </p:nvPicPr>
        <p:blipFill>
          <a:blip r:embed="rId3"/>
          <a:srcRect l="0" r="0" t="0" b="0"/>
          <a:stretch/>
        </p:blipFill>
        <p:spPr>
          <a:xfrm>
            <a:off x="5065776" y="1691640"/>
            <a:ext cx="2103120" cy="2560320"/>
          </a:xfrm>
          <a:prstGeom prst="rect">
            <a:avLst/>
          </a:prstGeom>
        </p:spPr>
      </p:pic>
      <p:sp>
        <p:nvSpPr>
          <p:cNvPr id="17" name="Shape 12"/>
          <p:cNvSpPr/>
          <p:nvPr/>
        </p:nvSpPr>
        <p:spPr>
          <a:xfrm>
            <a:off x="5065776" y="4315968"/>
            <a:ext cx="2103120" cy="54864"/>
          </a:xfrm>
          <a:prstGeom prst="rect">
            <a:avLst/>
          </a:prstGeom>
          <a:solidFill>
            <a:srgbClr val="8EC9EE"/>
          </a:solidFill>
          <a:ln w="12700">
            <a:solidFill>
              <a:srgbClr val="8EC9EE"/>
            </a:solidFill>
            <a:prstDash val="solid"/>
          </a:ln>
        </p:spPr>
      </p:sp>
      <p:sp>
        <p:nvSpPr>
          <p:cNvPr id="18" name="Text 13"/>
          <p:cNvSpPr txBox="1"/>
          <p:nvPr/>
        </p:nvSpPr>
        <p:spPr>
          <a:xfrm>
            <a:off x="5065776" y="4498848"/>
            <a:ext cx="2103120" cy="320040"/>
          </a:xfrm>
          <a:prstGeom prst="rect">
            <a:avLst/>
          </a:prstGeom>
          <a:noFill/>
          <a:ln/>
        </p:spPr>
        <p:txBody>
          <a:bodyPr wrap="square" lIns="0" tIns="0" rIns="0" bIns="0" rtlCol="0" anchor="t"/>
          <a:lstStyle/>
          <a:p>
            <a:pPr indent="0" marL="0">
              <a:buNone/>
            </a:pPr>
            <a:r>
              <a:rPr lang="en-US" sz="1600" b="1" dirty="0">
                <a:solidFill>
                  <a:srgbClr val="F2EDE4"/>
                </a:solidFill>
                <a:latin typeface="Oswald" pitchFamily="34" charset="0"/>
                <a:ea typeface="Oswald" pitchFamily="34" charset="-122"/>
                <a:cs typeface="Oswald" pitchFamily="34" charset="-120"/>
              </a:rPr>
              <a:t>CERULEAN</a:t>
            </a:r>
            <a:endParaRPr lang="en-US" sz="1600" dirty="0"/>
          </a:p>
        </p:txBody>
      </p:sp>
      <p:sp>
        <p:nvSpPr>
          <p:cNvPr id="19" name="Text 14"/>
          <p:cNvSpPr txBox="1"/>
          <p:nvPr/>
        </p:nvSpPr>
        <p:spPr>
          <a:xfrm>
            <a:off x="5065776" y="4846320"/>
            <a:ext cx="2103120" cy="54864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Sky-blue case · white waffle dial · navy strap</a:t>
            </a:r>
            <a:endParaRPr lang="en-US" sz="950" dirty="0"/>
          </a:p>
        </p:txBody>
      </p:sp>
      <p:sp>
        <p:nvSpPr>
          <p:cNvPr id="20" name="Text 15"/>
          <p:cNvSpPr txBox="1"/>
          <p:nvPr/>
        </p:nvSpPr>
        <p:spPr>
          <a:xfrm>
            <a:off x="5065776" y="5440680"/>
            <a:ext cx="2103120" cy="274320"/>
          </a:xfrm>
          <a:prstGeom prst="rect">
            <a:avLst/>
          </a:prstGeom>
          <a:noFill/>
          <a:ln/>
        </p:spPr>
        <p:txBody>
          <a:bodyPr wrap="square" lIns="0" tIns="0" rIns="0" bIns="0" rtlCol="0" anchor="t"/>
          <a:lstStyle/>
          <a:p>
            <a:pPr indent="0" marL="0">
              <a:buNone/>
            </a:pPr>
            <a:r>
              <a:rPr lang="en-US" sz="900" b="1" spc="200" kern="0" dirty="0">
                <a:solidFill>
                  <a:srgbClr val="C9A45C"/>
                </a:solidFill>
                <a:latin typeface="Inter" pitchFamily="34" charset="0"/>
                <a:ea typeface="Inter" pitchFamily="34" charset="-122"/>
                <a:cs typeface="Inter" pitchFamily="34" charset="-120"/>
              </a:rPr>
              <a:t>BUILD  ·  Midday</a:t>
            </a:r>
            <a:endParaRPr lang="en-US" sz="900" dirty="0"/>
          </a:p>
        </p:txBody>
      </p:sp>
      <p:pic>
        <p:nvPicPr>
          <p:cNvPr id="21" name="Image 3" descr="/tmp/claude-0/-home-user-Sage-portfolio/d05fecce-977e-5eab-9cf5-7c09b306c551/scratchpad/wrdeck/img/crop_orange.jpg">    </p:cNvPr>
          <p:cNvPicPr>
            <a:picLocks noChangeAspect="1"/>
          </p:cNvPicPr>
          <p:nvPr/>
        </p:nvPicPr>
        <p:blipFill>
          <a:blip r:embed="rId4"/>
          <a:srcRect l="0" r="0" t="0" b="0"/>
          <a:stretch/>
        </p:blipFill>
        <p:spPr>
          <a:xfrm>
            <a:off x="7324344" y="1691640"/>
            <a:ext cx="2103120" cy="2560320"/>
          </a:xfrm>
          <a:prstGeom prst="rect">
            <a:avLst/>
          </a:prstGeom>
        </p:spPr>
      </p:pic>
      <p:sp>
        <p:nvSpPr>
          <p:cNvPr id="22" name="Shape 16"/>
          <p:cNvSpPr/>
          <p:nvPr/>
        </p:nvSpPr>
        <p:spPr>
          <a:xfrm>
            <a:off x="7324344" y="4315968"/>
            <a:ext cx="2103120" cy="54864"/>
          </a:xfrm>
          <a:prstGeom prst="rect">
            <a:avLst/>
          </a:prstGeom>
          <a:solidFill>
            <a:srgbClr val="F28C28"/>
          </a:solidFill>
          <a:ln w="12700">
            <a:solidFill>
              <a:srgbClr val="F28C28"/>
            </a:solidFill>
            <a:prstDash val="solid"/>
          </a:ln>
        </p:spPr>
      </p:sp>
      <p:sp>
        <p:nvSpPr>
          <p:cNvPr id="23" name="Text 17"/>
          <p:cNvSpPr txBox="1"/>
          <p:nvPr/>
        </p:nvSpPr>
        <p:spPr>
          <a:xfrm>
            <a:off x="7324344" y="4498848"/>
            <a:ext cx="2103120" cy="320040"/>
          </a:xfrm>
          <a:prstGeom prst="rect">
            <a:avLst/>
          </a:prstGeom>
          <a:noFill/>
          <a:ln/>
        </p:spPr>
        <p:txBody>
          <a:bodyPr wrap="square" lIns="0" tIns="0" rIns="0" bIns="0" rtlCol="0" anchor="t"/>
          <a:lstStyle/>
          <a:p>
            <a:pPr indent="0" marL="0">
              <a:buNone/>
            </a:pPr>
            <a:r>
              <a:rPr lang="en-US" sz="1600" b="1" dirty="0">
                <a:solidFill>
                  <a:srgbClr val="F2EDE4"/>
                </a:solidFill>
                <a:latin typeface="Oswald" pitchFamily="34" charset="0"/>
                <a:ea typeface="Oswald" pitchFamily="34" charset="-122"/>
                <a:cs typeface="Oswald" pitchFamily="34" charset="-120"/>
              </a:rPr>
              <a:t>ROYAL TANGERINE</a:t>
            </a:r>
            <a:endParaRPr lang="en-US" sz="1600" dirty="0"/>
          </a:p>
        </p:txBody>
      </p:sp>
      <p:sp>
        <p:nvSpPr>
          <p:cNvPr id="24" name="Text 18"/>
          <p:cNvSpPr txBox="1"/>
          <p:nvPr/>
        </p:nvSpPr>
        <p:spPr>
          <a:xfrm>
            <a:off x="7324344" y="4846320"/>
            <a:ext cx="2103120" cy="54864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Royal-blue case · orange striped dial · orange strap</a:t>
            </a:r>
            <a:endParaRPr lang="en-US" sz="950" dirty="0"/>
          </a:p>
        </p:txBody>
      </p:sp>
      <p:sp>
        <p:nvSpPr>
          <p:cNvPr id="25" name="Text 19"/>
          <p:cNvSpPr txBox="1"/>
          <p:nvPr/>
        </p:nvSpPr>
        <p:spPr>
          <a:xfrm>
            <a:off x="7324344" y="5440680"/>
            <a:ext cx="2103120" cy="274320"/>
          </a:xfrm>
          <a:prstGeom prst="rect">
            <a:avLst/>
          </a:prstGeom>
          <a:noFill/>
          <a:ln/>
        </p:spPr>
        <p:txBody>
          <a:bodyPr wrap="square" lIns="0" tIns="0" rIns="0" bIns="0" rtlCol="0" anchor="t"/>
          <a:lstStyle/>
          <a:p>
            <a:pPr indent="0" marL="0">
              <a:buNone/>
            </a:pPr>
            <a:r>
              <a:rPr lang="en-US" sz="900" b="1" spc="200" kern="0" dirty="0">
                <a:solidFill>
                  <a:srgbClr val="C9A45C"/>
                </a:solidFill>
                <a:latin typeface="Inter" pitchFamily="34" charset="0"/>
                <a:ea typeface="Inter" pitchFamily="34" charset="-122"/>
                <a:cs typeface="Inter" pitchFamily="34" charset="-120"/>
              </a:rPr>
              <a:t>UTSAV · DIWALI  ·  Afternoon → dusk</a:t>
            </a:r>
            <a:endParaRPr lang="en-US" sz="900" dirty="0"/>
          </a:p>
        </p:txBody>
      </p:sp>
      <p:pic>
        <p:nvPicPr>
          <p:cNvPr id="26" name="Image 4" descr="/tmp/claude-0/-home-user-Sage-portfolio/d05fecce-977e-5eab-9cf5-7c09b306c551/scratchpad/wrdeck/img/crop_redblue.jpg">    </p:cNvPr>
          <p:cNvPicPr>
            <a:picLocks noChangeAspect="1"/>
          </p:cNvPicPr>
          <p:nvPr/>
        </p:nvPicPr>
        <p:blipFill>
          <a:blip r:embed="rId5"/>
          <a:srcRect l="0" r="0" t="0" b="0"/>
          <a:stretch/>
        </p:blipFill>
        <p:spPr>
          <a:xfrm>
            <a:off x="9582912" y="1691640"/>
            <a:ext cx="2103120" cy="2560320"/>
          </a:xfrm>
          <a:prstGeom prst="rect">
            <a:avLst/>
          </a:prstGeom>
        </p:spPr>
      </p:pic>
      <p:sp>
        <p:nvSpPr>
          <p:cNvPr id="27" name="Shape 20"/>
          <p:cNvSpPr/>
          <p:nvPr/>
        </p:nvSpPr>
        <p:spPr>
          <a:xfrm>
            <a:off x="9582912" y="4315968"/>
            <a:ext cx="2103120" cy="54864"/>
          </a:xfrm>
          <a:prstGeom prst="rect">
            <a:avLst/>
          </a:prstGeom>
          <a:solidFill>
            <a:srgbClr val="D2283A"/>
          </a:solidFill>
          <a:ln w="12700">
            <a:solidFill>
              <a:srgbClr val="D2283A"/>
            </a:solidFill>
            <a:prstDash val="solid"/>
          </a:ln>
        </p:spPr>
      </p:sp>
      <p:sp>
        <p:nvSpPr>
          <p:cNvPr id="28" name="Text 21"/>
          <p:cNvSpPr txBox="1"/>
          <p:nvPr/>
        </p:nvSpPr>
        <p:spPr>
          <a:xfrm>
            <a:off x="9582912" y="4498848"/>
            <a:ext cx="2103120" cy="320040"/>
          </a:xfrm>
          <a:prstGeom prst="rect">
            <a:avLst/>
          </a:prstGeom>
          <a:noFill/>
          <a:ln/>
        </p:spPr>
        <p:txBody>
          <a:bodyPr wrap="square" lIns="0" tIns="0" rIns="0" bIns="0" rtlCol="0" anchor="t"/>
          <a:lstStyle/>
          <a:p>
            <a:pPr indent="0" marL="0">
              <a:buNone/>
            </a:pPr>
            <a:r>
              <a:rPr lang="en-US" sz="1600" b="1" dirty="0">
                <a:solidFill>
                  <a:srgbClr val="F2EDE4"/>
                </a:solidFill>
                <a:latin typeface="Oswald" pitchFamily="34" charset="0"/>
                <a:ea typeface="Oswald" pitchFamily="34" charset="-122"/>
                <a:cs typeface="Oswald" pitchFamily="34" charset="-120"/>
              </a:rPr>
              <a:t>CRIMSON NAVY</a:t>
            </a:r>
            <a:endParaRPr lang="en-US" sz="1600" dirty="0"/>
          </a:p>
        </p:txBody>
      </p:sp>
      <p:sp>
        <p:nvSpPr>
          <p:cNvPr id="29" name="Text 22"/>
          <p:cNvSpPr txBox="1"/>
          <p:nvPr/>
        </p:nvSpPr>
        <p:spPr>
          <a:xfrm>
            <a:off x="9582912" y="4846320"/>
            <a:ext cx="2103120" cy="54864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Navy case · red textured dial · red strap · rose-gold hands</a:t>
            </a:r>
            <a:endParaRPr lang="en-US" sz="950" dirty="0"/>
          </a:p>
        </p:txBody>
      </p:sp>
      <p:sp>
        <p:nvSpPr>
          <p:cNvPr id="30" name="Text 23"/>
          <p:cNvSpPr txBox="1"/>
          <p:nvPr/>
        </p:nvSpPr>
        <p:spPr>
          <a:xfrm>
            <a:off x="9582912" y="5440680"/>
            <a:ext cx="2103120" cy="274320"/>
          </a:xfrm>
          <a:prstGeom prst="rect">
            <a:avLst/>
          </a:prstGeom>
          <a:noFill/>
          <a:ln/>
        </p:spPr>
        <p:txBody>
          <a:bodyPr wrap="square" lIns="0" tIns="0" rIns="0" bIns="0" rtlCol="0" anchor="t"/>
          <a:lstStyle/>
          <a:p>
            <a:pPr indent="0" marL="0">
              <a:buNone/>
            </a:pPr>
            <a:r>
              <a:rPr lang="en-US" sz="900" b="1" spc="200" kern="0" dirty="0">
                <a:solidFill>
                  <a:srgbClr val="C9A45C"/>
                </a:solidFill>
                <a:latin typeface="Inter" pitchFamily="34" charset="0"/>
                <a:ea typeface="Inter" pitchFamily="34" charset="-122"/>
                <a:cs typeface="Inter" pitchFamily="34" charset="-120"/>
              </a:rPr>
              <a:t>AFTER DARK  ·  Night</a:t>
            </a:r>
            <a:endParaRPr lang="en-US" sz="900" dirty="0"/>
          </a:p>
        </p:txBody>
      </p:sp>
      <p:sp>
        <p:nvSpPr>
          <p:cNvPr id="31" name="Text 24"/>
          <p:cNvSpPr txBox="1"/>
          <p:nvPr/>
        </p:nvSpPr>
        <p:spPr>
          <a:xfrm>
            <a:off x="548640" y="5943600"/>
            <a:ext cx="10972800" cy="274320"/>
          </a:xfrm>
          <a:prstGeom prst="rect">
            <a:avLst/>
          </a:prstGeom>
          <a:noFill/>
          <a:ln/>
        </p:spPr>
        <p:txBody>
          <a:bodyPr wrap="square" lIns="0" tIns="0" rIns="0" bIns="0" rtlCol="0" anchor="t"/>
          <a:lstStyle/>
          <a:p>
            <a:pPr indent="0" marL="0">
              <a:buNone/>
            </a:pPr>
            <a:r>
              <a:rPr lang="en-US" sz="1000" dirty="0">
                <a:solidFill>
                  <a:srgbClr val="5CFF7A"/>
                </a:solidFill>
                <a:latin typeface="Inter" pitchFamily="34" charset="0"/>
                <a:ea typeface="Inter" pitchFamily="34" charset="-122"/>
                <a:cs typeface="Inter" pitchFamily="34" charset="-120"/>
              </a:rPr>
              <a:t>All five carry the full-case night glow — charge the lume with a UV torch for 30 s before every glow shot.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LOCATION</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06</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LOCATION · ONE RENTED HAVELI + FREE PUBLIC SPOTS</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ONE ROOF. FIVE HOURS OF LIGHT.</a:t>
            </a:r>
            <a:endParaRPr lang="en-US" sz="3400" dirty="0"/>
          </a:p>
        </p:txBody>
      </p:sp>
      <p:sp>
        <p:nvSpPr>
          <p:cNvPr id="6" name="Shape 4"/>
          <p:cNvSpPr/>
          <p:nvPr/>
        </p:nvSpPr>
        <p:spPr>
          <a:xfrm>
            <a:off x="548640" y="1691640"/>
            <a:ext cx="6400800" cy="2377440"/>
          </a:xfrm>
          <a:prstGeom prst="rect">
            <a:avLst/>
          </a:prstGeom>
          <a:solidFill>
            <a:srgbClr val="151513"/>
          </a:solidFill>
          <a:ln w="9525">
            <a:solidFill>
              <a:srgbClr val="2B2A26"/>
            </a:solidFill>
            <a:prstDash val="solid"/>
          </a:ln>
        </p:spPr>
      </p:sp>
      <p:sp>
        <p:nvSpPr>
          <p:cNvPr id="7" name="Text 5"/>
          <p:cNvSpPr txBox="1"/>
          <p:nvPr/>
        </p:nvSpPr>
        <p:spPr>
          <a:xfrm>
            <a:off x="777240" y="1828800"/>
            <a:ext cx="182880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OUR PICK</a:t>
            </a:r>
            <a:endParaRPr lang="en-US" sz="750" dirty="0"/>
          </a:p>
        </p:txBody>
      </p:sp>
      <p:sp>
        <p:nvSpPr>
          <p:cNvPr id="8" name="Text 6"/>
          <p:cNvSpPr txBox="1"/>
          <p:nvPr/>
        </p:nvSpPr>
        <p:spPr>
          <a:xfrm>
            <a:off x="777240" y="2057400"/>
            <a:ext cx="4114800" cy="457200"/>
          </a:xfrm>
          <a:prstGeom prst="rect">
            <a:avLst/>
          </a:prstGeom>
          <a:noFill/>
          <a:ln/>
        </p:spPr>
        <p:txBody>
          <a:bodyPr wrap="square" lIns="0" tIns="0" rIns="0" bIns="0" rtlCol="0" anchor="t"/>
          <a:lstStyle/>
          <a:p>
            <a:pPr indent="0" marL="0">
              <a:buNone/>
            </a:pPr>
            <a:r>
              <a:rPr lang="en-US" sz="2600" b="1" dirty="0">
                <a:solidFill>
                  <a:srgbClr val="F2EDE4"/>
                </a:solidFill>
                <a:latin typeface="Oswald" pitchFamily="34" charset="0"/>
                <a:ea typeface="Oswald" pitchFamily="34" charset="-122"/>
                <a:cs typeface="Oswald" pitchFamily="34" charset="-120"/>
              </a:rPr>
              <a:t>SAMODE HAVELI</a:t>
            </a:r>
            <a:endParaRPr lang="en-US" sz="2600" dirty="0"/>
          </a:p>
        </p:txBody>
      </p:sp>
      <p:sp>
        <p:nvSpPr>
          <p:cNvPr id="9" name="Text 7"/>
          <p:cNvSpPr txBox="1"/>
          <p:nvPr/>
        </p:nvSpPr>
        <p:spPr>
          <a:xfrm>
            <a:off x="777240" y="2560320"/>
            <a:ext cx="5943600" cy="27432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Gangapole, inside the walled city</a:t>
            </a:r>
            <a:endParaRPr lang="en-US" sz="950" dirty="0"/>
          </a:p>
        </p:txBody>
      </p:sp>
      <p:sp>
        <p:nvSpPr>
          <p:cNvPr id="10" name="Text 8"/>
          <p:cNvSpPr txBox="1"/>
          <p:nvPr/>
        </p:nvSpPr>
        <p:spPr>
          <a:xfrm>
            <a:off x="777240" y="2880360"/>
            <a:ext cx="5943600" cy="1097280"/>
          </a:xfrm>
          <a:prstGeom prst="rect">
            <a:avLst/>
          </a:prstGeom>
          <a:noFill/>
          <a:ln/>
        </p:spPr>
        <p:txBody>
          <a:bodyPr wrap="square" lIns="0" tIns="0" rIns="0" bIns="0" rtlCol="0" anchor="t"/>
          <a:lstStyle/>
          <a:p>
            <a:pPr indent="0" marL="0">
              <a:lnSpc>
                <a:spcPct val="112000"/>
              </a:lnSpc>
              <a:buNone/>
            </a:pPr>
            <a:r>
              <a:rPr lang="en-US" sz="1050" dirty="0">
                <a:solidFill>
                  <a:srgbClr val="F2EDE4"/>
                </a:solidFill>
                <a:latin typeface="Inter" pitchFamily="34" charset="0"/>
                <a:ea typeface="Inter" pitchFamily="34" charset="-122"/>
                <a:cs typeface="Inter" pitchFamily="34" charset="-120"/>
              </a:rPr>
              <a:t>A 19th-century haveli hotel: courtyards, painted rooms, rooftop terraces over the old city, a pool and dark interiors — every one of the five worlds under one roof, and Hawa Mahal and the bazaars are minutes away for the free city shots.</a:t>
            </a:r>
            <a:endParaRPr lang="en-US" sz="1050" dirty="0"/>
          </a:p>
        </p:txBody>
      </p:sp>
      <p:sp>
        <p:nvSpPr>
          <p:cNvPr id="11" name="Shape 9"/>
          <p:cNvSpPr/>
          <p:nvPr/>
        </p:nvSpPr>
        <p:spPr>
          <a:xfrm>
            <a:off x="548640" y="4206240"/>
            <a:ext cx="6400800" cy="1234440"/>
          </a:xfrm>
          <a:prstGeom prst="rect">
            <a:avLst/>
          </a:prstGeom>
          <a:solidFill>
            <a:srgbClr val="151513"/>
          </a:solidFill>
          <a:ln w="9525">
            <a:solidFill>
              <a:srgbClr val="2B2A26"/>
            </a:solidFill>
            <a:prstDash val="solid"/>
          </a:ln>
        </p:spPr>
      </p:sp>
      <p:sp>
        <p:nvSpPr>
          <p:cNvPr id="12" name="Text 10"/>
          <p:cNvSpPr txBox="1"/>
          <p:nvPr/>
        </p:nvSpPr>
        <p:spPr>
          <a:xfrm>
            <a:off x="777240" y="4343400"/>
            <a:ext cx="1828800" cy="201168"/>
          </a:xfrm>
          <a:prstGeom prst="rect">
            <a:avLst/>
          </a:prstGeom>
          <a:noFill/>
          <a:ln/>
        </p:spPr>
        <p:txBody>
          <a:bodyPr wrap="square" lIns="0" tIns="0" rIns="0" bIns="0" rtlCol="0" anchor="t"/>
          <a:lstStyle/>
          <a:p>
            <a:pPr indent="0" marL="0">
              <a:buNone/>
            </a:pPr>
            <a:r>
              <a:rPr lang="en-US" sz="750" b="1" spc="300" kern="0" dirty="0">
                <a:solidFill>
                  <a:srgbClr val="9C978E"/>
                </a:solidFill>
                <a:latin typeface="Inter" pitchFamily="34" charset="0"/>
                <a:ea typeface="Inter" pitchFamily="34" charset="-122"/>
                <a:cs typeface="Inter" pitchFamily="34" charset="-120"/>
              </a:rPr>
              <a:t>BACKUP</a:t>
            </a:r>
            <a:endParaRPr lang="en-US" sz="750" dirty="0"/>
          </a:p>
        </p:txBody>
      </p:sp>
      <p:sp>
        <p:nvSpPr>
          <p:cNvPr id="13" name="Text 11"/>
          <p:cNvSpPr txBox="1"/>
          <p:nvPr/>
        </p:nvSpPr>
        <p:spPr>
          <a:xfrm>
            <a:off x="777240" y="4572000"/>
            <a:ext cx="5943600" cy="27432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ALSISAR HAVELI  ·  Sansar Chandra Rd</a:t>
            </a:r>
            <a:endParaRPr lang="en-US" sz="1400" dirty="0"/>
          </a:p>
        </p:txBody>
      </p:sp>
      <p:sp>
        <p:nvSpPr>
          <p:cNvPr id="14" name="Text 12"/>
          <p:cNvSpPr txBox="1"/>
          <p:nvPr/>
        </p:nvSpPr>
        <p:spPr>
          <a:xfrm>
            <a:off x="777240" y="4919472"/>
            <a:ext cx="5943600" cy="45720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Courtyard, jaali work, pool and a central location. Same plan works; slightly less rooftop drama.</a:t>
            </a:r>
            <a:endParaRPr lang="en-US" sz="950" dirty="0"/>
          </a:p>
        </p:txBody>
      </p:sp>
      <p:sp>
        <p:nvSpPr>
          <p:cNvPr id="15" name="Text 13"/>
          <p:cNvSpPr txBox="1"/>
          <p:nvPr/>
        </p:nvSpPr>
        <p:spPr>
          <a:xfrm>
            <a:off x="548640" y="5623560"/>
            <a:ext cx="6400800" cy="457200"/>
          </a:xfrm>
          <a:prstGeom prst="rect">
            <a:avLst/>
          </a:prstGeom>
          <a:noFill/>
          <a:ln/>
        </p:spPr>
        <p:txBody>
          <a:bodyPr wrap="square" lIns="0" tIns="0" rIns="0" bIns="0" rtlCol="0" anchor="t"/>
          <a:lstStyle/>
          <a:p>
            <a:pPr indent="0" marL="0">
              <a:buNone/>
            </a:pPr>
            <a:r>
              <a:rPr lang="en-US" sz="900" dirty="0">
                <a:solidFill>
                  <a:srgbClr val="C9A45C"/>
                </a:solidFill>
                <a:latin typeface="Inter" pitchFamily="34" charset="0"/>
                <a:ea typeface="Inter" pitchFamily="34" charset="-122"/>
                <a:cs typeface="Inter" pitchFamily="34" charset="-120"/>
              </a:rPr>
              <a:t>Book after a recce this week. It is a working hotel — confirm the fee and access in writing.</a:t>
            </a:r>
            <a:endParaRPr lang="en-US" sz="900" dirty="0"/>
          </a:p>
        </p:txBody>
      </p:sp>
      <p:sp>
        <p:nvSpPr>
          <p:cNvPr id="16" name="Shape 14"/>
          <p:cNvSpPr/>
          <p:nvPr/>
        </p:nvSpPr>
        <p:spPr>
          <a:xfrm>
            <a:off x="7269480" y="1691640"/>
            <a:ext cx="4370832" cy="3749040"/>
          </a:xfrm>
          <a:prstGeom prst="rect">
            <a:avLst/>
          </a:prstGeom>
          <a:solidFill>
            <a:srgbClr val="151513"/>
          </a:solidFill>
          <a:ln w="9525">
            <a:solidFill>
              <a:srgbClr val="2B2A26"/>
            </a:solidFill>
            <a:prstDash val="solid"/>
          </a:ln>
        </p:spPr>
      </p:sp>
      <p:sp>
        <p:nvSpPr>
          <p:cNvPr id="17" name="Text 15"/>
          <p:cNvSpPr txBox="1"/>
          <p:nvPr/>
        </p:nvSpPr>
        <p:spPr>
          <a:xfrm>
            <a:off x="7498080" y="1874520"/>
            <a:ext cx="393192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ASK THE HAVELI FOR</a:t>
            </a:r>
            <a:endParaRPr lang="en-US" sz="750" dirty="0"/>
          </a:p>
        </p:txBody>
      </p:sp>
      <p:sp>
        <p:nvSpPr>
          <p:cNvPr id="18" name="Text 16"/>
          <p:cNvSpPr txBox="1"/>
          <p:nvPr/>
        </p:nvSpPr>
        <p:spPr>
          <a:xfrm>
            <a:off x="7498080" y="2194560"/>
            <a:ext cx="3931920" cy="3108960"/>
          </a:xfrm>
          <a:prstGeom prst="rect">
            <a:avLst/>
          </a:prstGeom>
          <a:noFill/>
          <a:ln/>
        </p:spPr>
        <p:txBody>
          <a:bodyPr wrap="square" lIns="0" tIns="0" rIns="0" bIns="0" rtlCol="0" anchor="t"/>
          <a:lstStyle/>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Shoot fee + full-day access 05:00–23:30</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Permission for 200 diyas, a matchstick and a small hazer</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One room we can black out completely</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Rooftop + jharokha + study + pool all included</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Parking for the car and the kit van</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LOCATION</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07</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ZONE MAP</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WHICH CORNER SHOOTS WHICH REEL.</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194560"/>
                <a:gridCol w="4572000"/>
                <a:gridCol w="1920240"/>
                <a:gridCol w="2377440"/>
              </a:tblGrid>
              <a:tr h="457200">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ZONE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REELS</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WHEN</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LIGHT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Haveli rooftop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B1 4:59 · A1 sunrise cutaway · C1 Neev · C2 6 Feet. 6 Inches. · D1 Ek Diya</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06:15 · 11:00 · 17:45</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First light · hard noon sky · blue hour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Darwaza + jaali corridor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A1 Pehli Ghadi · A2 Jaali</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08:00–09:30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Low east sun through stone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Chowk (courtyard)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A3 Kitne Ki Hai · D1 diya walk</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09:30 · 17:15</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Soft bounce · 200 diyas at dusk</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Pool-side marble counter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B2 Cold. Sharp. On Time.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10:00–11:00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Bright, clean daylight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Study / library + mirror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A1 empty box · C1 drafting · C3 60 Seconds · E1 desk</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08:30 · 11:30 · 19:15</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Window → practical lamp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Jharokha</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D3 Jaipur Se · D2 thali by the window</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15:15–17:15</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Golden hour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Blacked-out room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E2 Red / Blue · all glow inserts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14:15 · 20:00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Red + blue tubes · total black</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Free public spots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B3 Jal Mahal · D3 Hawa Mahal · D1 bazaars · E3 MI Road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See next slide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Handheld, small crew</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JAIPUR</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08</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JAIPUR CITY SHOTS · ONLY FREE, PUBLIC PLACES</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NO TICKETS, NO PERMITS, NO DRONE.</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463040"/>
                <a:gridCol w="2926080"/>
                <a:gridCol w="3108960"/>
                <a:gridCol w="3566160"/>
              </a:tblGrid>
              <a:tr h="548640">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WHEN</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WHERE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NOTE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548640">
                <a:tc>
                  <a:txBody>
                    <a:bodyPr/>
                    <a:lstStyle/>
                    <a:p>
                      <a:pPr indent="0" marL="0">
                        <a:buNone/>
                      </a:pPr>
                      <a:r>
                        <a:rPr lang="en-US" sz="950" b="1" dirty="0">
                          <a:solidFill>
                            <a:srgbClr val="F2EDE4"/>
                          </a:solidFill>
                          <a:latin typeface="Inter" pitchFamily="34" charset="0"/>
                          <a:ea typeface="Inter" pitchFamily="34" charset="-122"/>
                          <a:cs typeface="Inter" pitchFamily="34" charset="-120"/>
                        </a:rPr>
                        <a:t>06:50–07:30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Jal Mahal promenade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B3 sunrise run (with Mukesh ji)</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Free, public. Handheld, small crew.</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48640">
                <a:tc>
                  <a:txBody>
                    <a:bodyPr/>
                    <a:lstStyle/>
                    <a:p>
                      <a:pPr indent="0" marL="0">
                        <a:buNone/>
                      </a:pPr>
                      <a:r>
                        <a:rPr lang="en-US" sz="950" b="1" dirty="0">
                          <a:solidFill>
                            <a:srgbClr val="F2EDE4"/>
                          </a:solidFill>
                          <a:latin typeface="Inter" pitchFamily="34" charset="0"/>
                          <a:ea typeface="Inter" pitchFamily="34" charset="-122"/>
                          <a:cs typeface="Inter" pitchFamily="34" charset="-120"/>
                        </a:rPr>
                        <a:t>08:00–09:00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Hawa Mahal from the street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D3 whip-pan · facade (east light)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Free from the road. No tripod on the pavement.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48640">
                <a:tc>
                  <a:txBody>
                    <a:bodyPr/>
                    <a:lstStyle/>
                    <a:p>
                      <a:pPr indent="0" marL="0">
                        <a:buNone/>
                      </a:pPr>
                      <a:r>
                        <a:rPr lang="en-US" sz="950" b="1" dirty="0">
                          <a:solidFill>
                            <a:srgbClr val="F2EDE4"/>
                          </a:solidFill>
                          <a:latin typeface="Inter" pitchFamily="34" charset="0"/>
                          <a:ea typeface="Inter" pitchFamily="34" charset="-122"/>
                          <a:cs typeface="Inter" pitchFamily="34" charset="-120"/>
                        </a:rPr>
                        <a:t>09:00–09:30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Old-city lanes (Tripolia / Chandpole)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Spare B-roll, colour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Free, public.</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48640">
                <a:tc>
                  <a:txBody>
                    <a:bodyPr/>
                    <a:lstStyle/>
                    <a:p>
                      <a:pPr indent="0" marL="0">
                        <a:buNone/>
                      </a:pPr>
                      <a:r>
                        <a:rPr lang="en-US" sz="950" b="1" dirty="0">
                          <a:solidFill>
                            <a:srgbClr val="F2EDE4"/>
                          </a:solidFill>
                          <a:latin typeface="Inter" pitchFamily="34" charset="0"/>
                          <a:ea typeface="Inter" pitchFamily="34" charset="-122"/>
                          <a:cs typeface="Inter" pitchFamily="34" charset="-120"/>
                        </a:rPr>
                        <a:t>18:30–19:30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Johari / Bapu Bazaar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D1 festival lights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Free. Handheld only; crowds after 7 pm.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48640">
                <a:tc>
                  <a:txBody>
                    <a:bodyPr/>
                    <a:lstStyle/>
                    <a:p>
                      <a:pPr indent="0" marL="0">
                        <a:buNone/>
                      </a:pPr>
                      <a:r>
                        <a:rPr lang="en-US" sz="950" b="1" dirty="0">
                          <a:solidFill>
                            <a:srgbClr val="F2EDE4"/>
                          </a:solidFill>
                          <a:latin typeface="Inter" pitchFamily="34" charset="0"/>
                          <a:ea typeface="Inter" pitchFamily="34" charset="-122"/>
                          <a:cs typeface="Inter" pitchFamily="34" charset="-120"/>
                        </a:rPr>
                        <a:t>21:00–21:30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MI Road + Albert Hall exterior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E3 night traffic, lit facade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Free from the road. No drone.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5166360"/>
            <a:ext cx="10972800" cy="731520"/>
          </a:xfrm>
          <a:prstGeom prst="rect">
            <a:avLst/>
          </a:prstGeom>
          <a:noFill/>
          <a:ln/>
        </p:spPr>
        <p:txBody>
          <a:bodyPr wrap="square" lIns="0" tIns="0" rIns="0" bIns="0" rtlCol="0" anchor="t"/>
          <a:lstStyle/>
          <a:p>
            <a:pPr indent="0" marL="0">
              <a:buNone/>
            </a:pPr>
            <a:r>
              <a:rPr lang="en-US" sz="1000" dirty="0">
                <a:solidFill>
                  <a:srgbClr val="C9A45C"/>
                </a:solidFill>
                <a:latin typeface="Inter" pitchFamily="34" charset="0"/>
                <a:ea typeface="Inter" pitchFamily="34" charset="-122"/>
                <a:cs typeface="Inter" pitchFamily="34" charset="-120"/>
              </a:rPr>
              <a:t>Dropped on purpose: Jantar Mantar, Nahargarh, Amer and the Albert Hall interior all need tickets or camera permits. Everything above is shot from public roads and promenades — handheld, crew of three, in and out in under an hour.</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MUKESH JI</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09</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MUKESH JI · FIVE LOOKS, ONE PER WATCH</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DRESSED BY THE DIAL.</a:t>
            </a:r>
            <a:endParaRPr lang="en-US" sz="3400" dirty="0"/>
          </a:p>
        </p:txBody>
      </p:sp>
      <p:sp>
        <p:nvSpPr>
          <p:cNvPr id="6" name="Shape 4"/>
          <p:cNvSpPr/>
          <p:nvPr/>
        </p:nvSpPr>
        <p:spPr>
          <a:xfrm>
            <a:off x="548640" y="1691640"/>
            <a:ext cx="2103120" cy="4023360"/>
          </a:xfrm>
          <a:prstGeom prst="rect">
            <a:avLst/>
          </a:prstGeom>
          <a:solidFill>
            <a:srgbClr val="151513"/>
          </a:solidFill>
          <a:ln w="9525">
            <a:solidFill>
              <a:srgbClr val="2B2A26"/>
            </a:solidFill>
            <a:prstDash val="solid"/>
          </a:ln>
        </p:spPr>
      </p:sp>
      <p:sp>
        <p:nvSpPr>
          <p:cNvPr id="7" name="Shape 5"/>
          <p:cNvSpPr/>
          <p:nvPr/>
        </p:nvSpPr>
        <p:spPr>
          <a:xfrm>
            <a:off x="548640" y="1691640"/>
            <a:ext cx="2103120" cy="109728"/>
          </a:xfrm>
          <a:prstGeom prst="rect">
            <a:avLst/>
          </a:prstGeom>
          <a:solidFill>
            <a:srgbClr val="E8DFC8"/>
          </a:solidFill>
          <a:ln w="12700">
            <a:solidFill>
              <a:srgbClr val="E8DFC8"/>
            </a:solidFill>
            <a:prstDash val="solid"/>
          </a:ln>
        </p:spPr>
      </p:sp>
      <p:sp>
        <p:nvSpPr>
          <p:cNvPr id="8" name="Text 6"/>
          <p:cNvSpPr txBox="1"/>
          <p:nvPr/>
        </p:nvSpPr>
        <p:spPr>
          <a:xfrm>
            <a:off x="731520" y="1965960"/>
            <a:ext cx="1828800" cy="292608"/>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FOREST IVORY</a:t>
            </a:r>
            <a:endParaRPr lang="en-US" sz="1400" dirty="0"/>
          </a:p>
        </p:txBody>
      </p:sp>
      <p:sp>
        <p:nvSpPr>
          <p:cNvPr id="9" name="Text 7"/>
          <p:cNvSpPr txBox="1"/>
          <p:nvPr/>
        </p:nvSpPr>
        <p:spPr>
          <a:xfrm>
            <a:off x="731520" y="2286000"/>
            <a:ext cx="1828800" cy="228600"/>
          </a:xfrm>
          <a:prstGeom prst="rect">
            <a:avLst/>
          </a:prstGeom>
          <a:noFill/>
          <a:ln/>
        </p:spPr>
        <p:txBody>
          <a:bodyPr wrap="square" lIns="0" tIns="0" rIns="0" bIns="0" rtlCol="0" anchor="t"/>
          <a:lstStyle/>
          <a:p>
            <a:pPr indent="0" marL="0">
              <a:buNone/>
            </a:pPr>
            <a:r>
              <a:rPr lang="en-US" sz="850" b="1" spc="200" kern="0" dirty="0">
                <a:solidFill>
                  <a:srgbClr val="C9A45C"/>
                </a:solidFill>
                <a:latin typeface="Inter" pitchFamily="34" charset="0"/>
                <a:ea typeface="Inter" pitchFamily="34" charset="-122"/>
                <a:cs typeface="Inter" pitchFamily="34" charset="-120"/>
              </a:rPr>
              <a:t>ROOTS</a:t>
            </a:r>
            <a:endParaRPr lang="en-US" sz="850" dirty="0"/>
          </a:p>
        </p:txBody>
      </p:sp>
      <p:sp>
        <p:nvSpPr>
          <p:cNvPr id="10" name="Text 8"/>
          <p:cNvSpPr txBox="1"/>
          <p:nvPr/>
        </p:nvSpPr>
        <p:spPr>
          <a:xfrm>
            <a:off x="731520" y="2651760"/>
            <a:ext cx="1783080" cy="2011680"/>
          </a:xfrm>
          <a:prstGeom prst="rect">
            <a:avLst/>
          </a:prstGeom>
          <a:noFill/>
          <a:ln/>
        </p:spPr>
        <p:txBody>
          <a:bodyPr wrap="square" lIns="0" tIns="0" rIns="0" bIns="0" rtlCol="0" anchor="t"/>
          <a:lstStyle/>
          <a:p>
            <a:pPr indent="0" marL="0">
              <a:lnSpc>
                <a:spcPct val="115000"/>
              </a:lnSpc>
              <a:buNone/>
            </a:pPr>
            <a:r>
              <a:rPr lang="en-US" sz="950" dirty="0">
                <a:solidFill>
                  <a:srgbClr val="F2EDE4"/>
                </a:solidFill>
                <a:latin typeface="Inter" pitchFamily="34" charset="0"/>
                <a:ea typeface="Inter" pitchFamily="34" charset="-122"/>
                <a:cs typeface="Inter" pitchFamily="34" charset="-120"/>
              </a:rPr>
              <a:t>Look 1: ivory bandhgala, no pocket square, brown loafers. Look 2: cream kurta + bottle-green shawl.</a:t>
            </a:r>
            <a:endParaRPr lang="en-US" sz="950" dirty="0"/>
          </a:p>
        </p:txBody>
      </p:sp>
      <p:sp>
        <p:nvSpPr>
          <p:cNvPr id="11" name="Shape 9"/>
          <p:cNvSpPr/>
          <p:nvPr/>
        </p:nvSpPr>
        <p:spPr>
          <a:xfrm>
            <a:off x="731520" y="5074920"/>
            <a:ext cx="365760" cy="365760"/>
          </a:xfrm>
          <a:prstGeom prst="rect">
            <a:avLst/>
          </a:prstGeom>
          <a:solidFill>
            <a:srgbClr val="E8DFC8"/>
          </a:solidFill>
          <a:ln w="6350">
            <a:solidFill>
              <a:srgbClr val="2B2A26"/>
            </a:solidFill>
            <a:prstDash val="solid"/>
          </a:ln>
        </p:spPr>
      </p:sp>
      <p:sp>
        <p:nvSpPr>
          <p:cNvPr id="12" name="Shape 10"/>
          <p:cNvSpPr/>
          <p:nvPr/>
        </p:nvSpPr>
        <p:spPr>
          <a:xfrm>
            <a:off x="1188720" y="5074920"/>
            <a:ext cx="365760" cy="365760"/>
          </a:xfrm>
          <a:prstGeom prst="rect">
            <a:avLst/>
          </a:prstGeom>
          <a:solidFill>
            <a:srgbClr val="C9A27A"/>
          </a:solidFill>
          <a:ln w="6350">
            <a:solidFill>
              <a:srgbClr val="2B2A26"/>
            </a:solidFill>
            <a:prstDash val="solid"/>
          </a:ln>
        </p:spPr>
      </p:sp>
      <p:sp>
        <p:nvSpPr>
          <p:cNvPr id="13" name="Shape 11"/>
          <p:cNvSpPr/>
          <p:nvPr/>
        </p:nvSpPr>
        <p:spPr>
          <a:xfrm>
            <a:off x="1645920" y="5074920"/>
            <a:ext cx="365760" cy="365760"/>
          </a:xfrm>
          <a:prstGeom prst="rect">
            <a:avLst/>
          </a:prstGeom>
          <a:solidFill>
            <a:srgbClr val="2F5D46"/>
          </a:solidFill>
          <a:ln w="6350">
            <a:solidFill>
              <a:srgbClr val="2B2A26"/>
            </a:solidFill>
            <a:prstDash val="solid"/>
          </a:ln>
        </p:spPr>
      </p:sp>
      <p:sp>
        <p:nvSpPr>
          <p:cNvPr id="14" name="Shape 12"/>
          <p:cNvSpPr/>
          <p:nvPr/>
        </p:nvSpPr>
        <p:spPr>
          <a:xfrm>
            <a:off x="2103120" y="5074920"/>
            <a:ext cx="365760" cy="365760"/>
          </a:xfrm>
          <a:prstGeom prst="rect">
            <a:avLst/>
          </a:prstGeom>
          <a:solidFill>
            <a:srgbClr val="B08D57"/>
          </a:solidFill>
          <a:ln w="6350">
            <a:solidFill>
              <a:srgbClr val="2B2A26"/>
            </a:solidFill>
            <a:prstDash val="solid"/>
          </a:ln>
        </p:spPr>
      </p:sp>
      <p:sp>
        <p:nvSpPr>
          <p:cNvPr id="15" name="Shape 13"/>
          <p:cNvSpPr/>
          <p:nvPr/>
        </p:nvSpPr>
        <p:spPr>
          <a:xfrm>
            <a:off x="2807208" y="1691640"/>
            <a:ext cx="2103120" cy="4023360"/>
          </a:xfrm>
          <a:prstGeom prst="rect">
            <a:avLst/>
          </a:prstGeom>
          <a:solidFill>
            <a:srgbClr val="151513"/>
          </a:solidFill>
          <a:ln w="9525">
            <a:solidFill>
              <a:srgbClr val="2B2A26"/>
            </a:solidFill>
            <a:prstDash val="solid"/>
          </a:ln>
        </p:spPr>
      </p:sp>
      <p:sp>
        <p:nvSpPr>
          <p:cNvPr id="16" name="Shape 14"/>
          <p:cNvSpPr/>
          <p:nvPr/>
        </p:nvSpPr>
        <p:spPr>
          <a:xfrm>
            <a:off x="2807208" y="1691640"/>
            <a:ext cx="2103120" cy="109728"/>
          </a:xfrm>
          <a:prstGeom prst="rect">
            <a:avLst/>
          </a:prstGeom>
          <a:solidFill>
            <a:srgbClr val="D7F25A"/>
          </a:solidFill>
          <a:ln w="12700">
            <a:solidFill>
              <a:srgbClr val="D7F25A"/>
            </a:solidFill>
            <a:prstDash val="solid"/>
          </a:ln>
        </p:spPr>
      </p:sp>
      <p:sp>
        <p:nvSpPr>
          <p:cNvPr id="17" name="Text 15"/>
          <p:cNvSpPr txBox="1"/>
          <p:nvPr/>
        </p:nvSpPr>
        <p:spPr>
          <a:xfrm>
            <a:off x="2990088" y="1965960"/>
            <a:ext cx="1828800" cy="292608"/>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CITRUS MINT</a:t>
            </a:r>
            <a:endParaRPr lang="en-US" sz="1400" dirty="0"/>
          </a:p>
        </p:txBody>
      </p:sp>
      <p:sp>
        <p:nvSpPr>
          <p:cNvPr id="18" name="Text 16"/>
          <p:cNvSpPr txBox="1"/>
          <p:nvPr/>
        </p:nvSpPr>
        <p:spPr>
          <a:xfrm>
            <a:off x="2990088" y="2286000"/>
            <a:ext cx="1828800" cy="228600"/>
          </a:xfrm>
          <a:prstGeom prst="rect">
            <a:avLst/>
          </a:prstGeom>
          <a:noFill/>
          <a:ln/>
        </p:spPr>
        <p:txBody>
          <a:bodyPr wrap="square" lIns="0" tIns="0" rIns="0" bIns="0" rtlCol="0" anchor="t"/>
          <a:lstStyle/>
          <a:p>
            <a:pPr indent="0" marL="0">
              <a:buNone/>
            </a:pPr>
            <a:r>
              <a:rPr lang="en-US" sz="850" b="1" spc="200" kern="0" dirty="0">
                <a:solidFill>
                  <a:srgbClr val="C9A45C"/>
                </a:solidFill>
                <a:latin typeface="Inter" pitchFamily="34" charset="0"/>
                <a:ea typeface="Inter" pitchFamily="34" charset="-122"/>
                <a:cs typeface="Inter" pitchFamily="34" charset="-120"/>
              </a:rPr>
              <a:t>DISCIPLINE</a:t>
            </a:r>
            <a:endParaRPr lang="en-US" sz="850" dirty="0"/>
          </a:p>
        </p:txBody>
      </p:sp>
      <p:sp>
        <p:nvSpPr>
          <p:cNvPr id="19" name="Text 17"/>
          <p:cNvSpPr txBox="1"/>
          <p:nvPr/>
        </p:nvSpPr>
        <p:spPr>
          <a:xfrm>
            <a:off x="2990088" y="2651760"/>
            <a:ext cx="1783080" cy="2011680"/>
          </a:xfrm>
          <a:prstGeom prst="rect">
            <a:avLst/>
          </a:prstGeom>
          <a:noFill/>
          <a:ln/>
        </p:spPr>
        <p:txBody>
          <a:bodyPr wrap="square" lIns="0" tIns="0" rIns="0" bIns="0" rtlCol="0" anchor="t"/>
          <a:lstStyle/>
          <a:p>
            <a:pPr indent="0" marL="0">
              <a:lnSpc>
                <a:spcPct val="115000"/>
              </a:lnSpc>
              <a:buNone/>
            </a:pPr>
            <a:r>
              <a:rPr lang="en-US" sz="950" dirty="0">
                <a:solidFill>
                  <a:srgbClr val="F2EDE4"/>
                </a:solidFill>
                <a:latin typeface="Inter" pitchFamily="34" charset="0"/>
                <a:ea typeface="Inter" pitchFamily="34" charset="-122"/>
                <a:cs typeface="Inter" pitchFamily="34" charset="-120"/>
              </a:rPr>
              <a:t>Look 1: black training tee + black track pants. Look 2: open white linen shirt, white trousers.</a:t>
            </a:r>
            <a:endParaRPr lang="en-US" sz="950" dirty="0"/>
          </a:p>
        </p:txBody>
      </p:sp>
      <p:sp>
        <p:nvSpPr>
          <p:cNvPr id="20" name="Shape 18"/>
          <p:cNvSpPr/>
          <p:nvPr/>
        </p:nvSpPr>
        <p:spPr>
          <a:xfrm>
            <a:off x="2990088" y="5074920"/>
            <a:ext cx="365760" cy="365760"/>
          </a:xfrm>
          <a:prstGeom prst="rect">
            <a:avLst/>
          </a:prstGeom>
          <a:solidFill>
            <a:srgbClr val="FFFFFF"/>
          </a:solidFill>
          <a:ln w="6350">
            <a:solidFill>
              <a:srgbClr val="2B2A26"/>
            </a:solidFill>
            <a:prstDash val="solid"/>
          </a:ln>
        </p:spPr>
      </p:sp>
      <p:sp>
        <p:nvSpPr>
          <p:cNvPr id="21" name="Shape 19"/>
          <p:cNvSpPr/>
          <p:nvPr/>
        </p:nvSpPr>
        <p:spPr>
          <a:xfrm>
            <a:off x="3447288" y="5074920"/>
            <a:ext cx="365760" cy="365760"/>
          </a:xfrm>
          <a:prstGeom prst="rect">
            <a:avLst/>
          </a:prstGeom>
          <a:solidFill>
            <a:srgbClr val="D7F25A"/>
          </a:solidFill>
          <a:ln w="6350">
            <a:solidFill>
              <a:srgbClr val="2B2A26"/>
            </a:solidFill>
            <a:prstDash val="solid"/>
          </a:ln>
        </p:spPr>
      </p:sp>
      <p:sp>
        <p:nvSpPr>
          <p:cNvPr id="22" name="Shape 20"/>
          <p:cNvSpPr/>
          <p:nvPr/>
        </p:nvSpPr>
        <p:spPr>
          <a:xfrm>
            <a:off x="3904488" y="5074920"/>
            <a:ext cx="365760" cy="365760"/>
          </a:xfrm>
          <a:prstGeom prst="rect">
            <a:avLst/>
          </a:prstGeom>
          <a:solidFill>
            <a:srgbClr val="8FE3C3"/>
          </a:solidFill>
          <a:ln w="6350">
            <a:solidFill>
              <a:srgbClr val="2B2A26"/>
            </a:solidFill>
            <a:prstDash val="solid"/>
          </a:ln>
        </p:spPr>
      </p:sp>
      <p:sp>
        <p:nvSpPr>
          <p:cNvPr id="23" name="Shape 21"/>
          <p:cNvSpPr/>
          <p:nvPr/>
        </p:nvSpPr>
        <p:spPr>
          <a:xfrm>
            <a:off x="4361688" y="5074920"/>
            <a:ext cx="365760" cy="365760"/>
          </a:xfrm>
          <a:prstGeom prst="rect">
            <a:avLst/>
          </a:prstGeom>
          <a:solidFill>
            <a:srgbClr val="E9D9B8"/>
          </a:solidFill>
          <a:ln w="6350">
            <a:solidFill>
              <a:srgbClr val="2B2A26"/>
            </a:solidFill>
            <a:prstDash val="solid"/>
          </a:ln>
        </p:spPr>
      </p:sp>
      <p:sp>
        <p:nvSpPr>
          <p:cNvPr id="24" name="Shape 22"/>
          <p:cNvSpPr/>
          <p:nvPr/>
        </p:nvSpPr>
        <p:spPr>
          <a:xfrm>
            <a:off x="5065776" y="1691640"/>
            <a:ext cx="2103120" cy="4023360"/>
          </a:xfrm>
          <a:prstGeom prst="rect">
            <a:avLst/>
          </a:prstGeom>
          <a:solidFill>
            <a:srgbClr val="151513"/>
          </a:solidFill>
          <a:ln w="9525">
            <a:solidFill>
              <a:srgbClr val="2B2A26"/>
            </a:solidFill>
            <a:prstDash val="solid"/>
          </a:ln>
        </p:spPr>
      </p:sp>
      <p:sp>
        <p:nvSpPr>
          <p:cNvPr id="25" name="Shape 23"/>
          <p:cNvSpPr/>
          <p:nvPr/>
        </p:nvSpPr>
        <p:spPr>
          <a:xfrm>
            <a:off x="5065776" y="1691640"/>
            <a:ext cx="2103120" cy="109728"/>
          </a:xfrm>
          <a:prstGeom prst="rect">
            <a:avLst/>
          </a:prstGeom>
          <a:solidFill>
            <a:srgbClr val="8EC9EE"/>
          </a:solidFill>
          <a:ln w="12700">
            <a:solidFill>
              <a:srgbClr val="8EC9EE"/>
            </a:solidFill>
            <a:prstDash val="solid"/>
          </a:ln>
        </p:spPr>
      </p:sp>
      <p:sp>
        <p:nvSpPr>
          <p:cNvPr id="26" name="Text 24"/>
          <p:cNvSpPr txBox="1"/>
          <p:nvPr/>
        </p:nvSpPr>
        <p:spPr>
          <a:xfrm>
            <a:off x="5248656" y="1965960"/>
            <a:ext cx="1828800" cy="292608"/>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CERULEAN</a:t>
            </a:r>
            <a:endParaRPr lang="en-US" sz="1400" dirty="0"/>
          </a:p>
        </p:txBody>
      </p:sp>
      <p:sp>
        <p:nvSpPr>
          <p:cNvPr id="27" name="Text 25"/>
          <p:cNvSpPr txBox="1"/>
          <p:nvPr/>
        </p:nvSpPr>
        <p:spPr>
          <a:xfrm>
            <a:off x="5248656" y="2286000"/>
            <a:ext cx="1828800" cy="228600"/>
          </a:xfrm>
          <a:prstGeom prst="rect">
            <a:avLst/>
          </a:prstGeom>
          <a:noFill/>
          <a:ln/>
        </p:spPr>
        <p:txBody>
          <a:bodyPr wrap="square" lIns="0" tIns="0" rIns="0" bIns="0" rtlCol="0" anchor="t"/>
          <a:lstStyle/>
          <a:p>
            <a:pPr indent="0" marL="0">
              <a:buNone/>
            </a:pPr>
            <a:r>
              <a:rPr lang="en-US" sz="850" b="1" spc="200" kern="0" dirty="0">
                <a:solidFill>
                  <a:srgbClr val="C9A45C"/>
                </a:solidFill>
                <a:latin typeface="Inter" pitchFamily="34" charset="0"/>
                <a:ea typeface="Inter" pitchFamily="34" charset="-122"/>
                <a:cs typeface="Inter" pitchFamily="34" charset="-120"/>
              </a:rPr>
              <a:t>BUILD</a:t>
            </a:r>
            <a:endParaRPr lang="en-US" sz="850" dirty="0"/>
          </a:p>
        </p:txBody>
      </p:sp>
      <p:sp>
        <p:nvSpPr>
          <p:cNvPr id="28" name="Text 26"/>
          <p:cNvSpPr txBox="1"/>
          <p:nvPr/>
        </p:nvSpPr>
        <p:spPr>
          <a:xfrm>
            <a:off x="5248656" y="2651760"/>
            <a:ext cx="1783080" cy="2011680"/>
          </a:xfrm>
          <a:prstGeom prst="rect">
            <a:avLst/>
          </a:prstGeom>
          <a:noFill/>
          <a:ln/>
        </p:spPr>
        <p:txBody>
          <a:bodyPr wrap="square" lIns="0" tIns="0" rIns="0" bIns="0" rtlCol="0" anchor="t"/>
          <a:lstStyle/>
          <a:p>
            <a:pPr indent="0" marL="0">
              <a:lnSpc>
                <a:spcPct val="115000"/>
              </a:lnSpc>
              <a:buNone/>
            </a:pPr>
            <a:r>
              <a:rPr lang="en-US" sz="950" dirty="0">
                <a:solidFill>
                  <a:srgbClr val="F2EDE4"/>
                </a:solidFill>
                <a:latin typeface="Inter" pitchFamily="34" charset="0"/>
                <a:ea typeface="Inter" pitchFamily="34" charset="-122"/>
                <a:cs typeface="Inter" pitchFamily="34" charset="-120"/>
              </a:rPr>
              <a:t>Look 1: white shirt, sleeves rolled twice, navy trousers. Look 2: + navy blazer for C3.</a:t>
            </a:r>
            <a:endParaRPr lang="en-US" sz="950" dirty="0"/>
          </a:p>
        </p:txBody>
      </p:sp>
      <p:sp>
        <p:nvSpPr>
          <p:cNvPr id="29" name="Shape 27"/>
          <p:cNvSpPr/>
          <p:nvPr/>
        </p:nvSpPr>
        <p:spPr>
          <a:xfrm>
            <a:off x="5248656" y="5074920"/>
            <a:ext cx="365760" cy="365760"/>
          </a:xfrm>
          <a:prstGeom prst="rect">
            <a:avLst/>
          </a:prstGeom>
          <a:solidFill>
            <a:srgbClr val="8EC9EE"/>
          </a:solidFill>
          <a:ln w="6350">
            <a:solidFill>
              <a:srgbClr val="2B2A26"/>
            </a:solidFill>
            <a:prstDash val="solid"/>
          </a:ln>
        </p:spPr>
      </p:sp>
      <p:sp>
        <p:nvSpPr>
          <p:cNvPr id="30" name="Shape 28"/>
          <p:cNvSpPr/>
          <p:nvPr/>
        </p:nvSpPr>
        <p:spPr>
          <a:xfrm>
            <a:off x="5705856" y="5074920"/>
            <a:ext cx="365760" cy="365760"/>
          </a:xfrm>
          <a:prstGeom prst="rect">
            <a:avLst/>
          </a:prstGeom>
          <a:solidFill>
            <a:srgbClr val="FFFFFF"/>
          </a:solidFill>
          <a:ln w="6350">
            <a:solidFill>
              <a:srgbClr val="2B2A26"/>
            </a:solidFill>
            <a:prstDash val="solid"/>
          </a:ln>
        </p:spPr>
      </p:sp>
      <p:sp>
        <p:nvSpPr>
          <p:cNvPr id="31" name="Shape 29"/>
          <p:cNvSpPr/>
          <p:nvPr/>
        </p:nvSpPr>
        <p:spPr>
          <a:xfrm>
            <a:off x="6163056" y="5074920"/>
            <a:ext cx="365760" cy="365760"/>
          </a:xfrm>
          <a:prstGeom prst="rect">
            <a:avLst/>
          </a:prstGeom>
          <a:solidFill>
            <a:srgbClr val="1E3A6B"/>
          </a:solidFill>
          <a:ln w="6350">
            <a:solidFill>
              <a:srgbClr val="2B2A26"/>
            </a:solidFill>
            <a:prstDash val="solid"/>
          </a:ln>
        </p:spPr>
      </p:sp>
      <p:sp>
        <p:nvSpPr>
          <p:cNvPr id="32" name="Shape 30"/>
          <p:cNvSpPr/>
          <p:nvPr/>
        </p:nvSpPr>
        <p:spPr>
          <a:xfrm>
            <a:off x="6620256" y="5074920"/>
            <a:ext cx="365760" cy="365760"/>
          </a:xfrm>
          <a:prstGeom prst="rect">
            <a:avLst/>
          </a:prstGeom>
          <a:solidFill>
            <a:srgbClr val="EDE6D6"/>
          </a:solidFill>
          <a:ln w="6350">
            <a:solidFill>
              <a:srgbClr val="2B2A26"/>
            </a:solidFill>
            <a:prstDash val="solid"/>
          </a:ln>
        </p:spPr>
      </p:sp>
      <p:sp>
        <p:nvSpPr>
          <p:cNvPr id="33" name="Shape 31"/>
          <p:cNvSpPr/>
          <p:nvPr/>
        </p:nvSpPr>
        <p:spPr>
          <a:xfrm>
            <a:off x="7324344" y="1691640"/>
            <a:ext cx="2103120" cy="4023360"/>
          </a:xfrm>
          <a:prstGeom prst="rect">
            <a:avLst/>
          </a:prstGeom>
          <a:solidFill>
            <a:srgbClr val="151513"/>
          </a:solidFill>
          <a:ln w="9525">
            <a:solidFill>
              <a:srgbClr val="2B2A26"/>
            </a:solidFill>
            <a:prstDash val="solid"/>
          </a:ln>
        </p:spPr>
      </p:sp>
      <p:sp>
        <p:nvSpPr>
          <p:cNvPr id="34" name="Shape 32"/>
          <p:cNvSpPr/>
          <p:nvPr/>
        </p:nvSpPr>
        <p:spPr>
          <a:xfrm>
            <a:off x="7324344" y="1691640"/>
            <a:ext cx="2103120" cy="109728"/>
          </a:xfrm>
          <a:prstGeom prst="rect">
            <a:avLst/>
          </a:prstGeom>
          <a:solidFill>
            <a:srgbClr val="F28C28"/>
          </a:solidFill>
          <a:ln w="12700">
            <a:solidFill>
              <a:srgbClr val="F28C28"/>
            </a:solidFill>
            <a:prstDash val="solid"/>
          </a:ln>
        </p:spPr>
      </p:sp>
      <p:sp>
        <p:nvSpPr>
          <p:cNvPr id="35" name="Text 33"/>
          <p:cNvSpPr txBox="1"/>
          <p:nvPr/>
        </p:nvSpPr>
        <p:spPr>
          <a:xfrm>
            <a:off x="7507224" y="1965960"/>
            <a:ext cx="1828800" cy="292608"/>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ROYAL TANGERINE</a:t>
            </a:r>
            <a:endParaRPr lang="en-US" sz="1400" dirty="0"/>
          </a:p>
        </p:txBody>
      </p:sp>
      <p:sp>
        <p:nvSpPr>
          <p:cNvPr id="36" name="Text 34"/>
          <p:cNvSpPr txBox="1"/>
          <p:nvPr/>
        </p:nvSpPr>
        <p:spPr>
          <a:xfrm>
            <a:off x="7507224" y="2286000"/>
            <a:ext cx="1828800" cy="228600"/>
          </a:xfrm>
          <a:prstGeom prst="rect">
            <a:avLst/>
          </a:prstGeom>
          <a:noFill/>
          <a:ln/>
        </p:spPr>
        <p:txBody>
          <a:bodyPr wrap="square" lIns="0" tIns="0" rIns="0" bIns="0" rtlCol="0" anchor="t"/>
          <a:lstStyle/>
          <a:p>
            <a:pPr indent="0" marL="0">
              <a:buNone/>
            </a:pPr>
            <a:r>
              <a:rPr lang="en-US" sz="850" b="1" spc="200" kern="0" dirty="0">
                <a:solidFill>
                  <a:srgbClr val="C9A45C"/>
                </a:solidFill>
                <a:latin typeface="Inter" pitchFamily="34" charset="0"/>
                <a:ea typeface="Inter" pitchFamily="34" charset="-122"/>
                <a:cs typeface="Inter" pitchFamily="34" charset="-120"/>
              </a:rPr>
              <a:t>UTSAV · DIWALI</a:t>
            </a:r>
            <a:endParaRPr lang="en-US" sz="850" dirty="0"/>
          </a:p>
        </p:txBody>
      </p:sp>
      <p:sp>
        <p:nvSpPr>
          <p:cNvPr id="37" name="Text 35"/>
          <p:cNvSpPr txBox="1"/>
          <p:nvPr/>
        </p:nvSpPr>
        <p:spPr>
          <a:xfrm>
            <a:off x="7507224" y="2651760"/>
            <a:ext cx="1783080" cy="2011680"/>
          </a:xfrm>
          <a:prstGeom prst="rect">
            <a:avLst/>
          </a:prstGeom>
          <a:noFill/>
          <a:ln/>
        </p:spPr>
        <p:txBody>
          <a:bodyPr wrap="square" lIns="0" tIns="0" rIns="0" bIns="0" rtlCol="0" anchor="t"/>
          <a:lstStyle/>
          <a:p>
            <a:pPr indent="0" marL="0">
              <a:lnSpc>
                <a:spcPct val="115000"/>
              </a:lnSpc>
              <a:buNone/>
            </a:pPr>
            <a:r>
              <a:rPr lang="en-US" sz="950" dirty="0">
                <a:solidFill>
                  <a:srgbClr val="F2EDE4"/>
                </a:solidFill>
                <a:latin typeface="Inter" pitchFamily="34" charset="0"/>
                <a:ea typeface="Inter" pitchFamily="34" charset="-122"/>
                <a:cs typeface="Inter" pitchFamily="34" charset="-120"/>
              </a:rPr>
              <a:t>Royal-blue bandhgala · orange leheriya safa (D3 only) · tan juttis.</a:t>
            </a:r>
            <a:endParaRPr lang="en-US" sz="950" dirty="0"/>
          </a:p>
        </p:txBody>
      </p:sp>
      <p:sp>
        <p:nvSpPr>
          <p:cNvPr id="38" name="Shape 36"/>
          <p:cNvSpPr/>
          <p:nvPr/>
        </p:nvSpPr>
        <p:spPr>
          <a:xfrm>
            <a:off x="7507224" y="5074920"/>
            <a:ext cx="365760" cy="365760"/>
          </a:xfrm>
          <a:prstGeom prst="rect">
            <a:avLst/>
          </a:prstGeom>
          <a:solidFill>
            <a:srgbClr val="2547A8"/>
          </a:solidFill>
          <a:ln w="6350">
            <a:solidFill>
              <a:srgbClr val="2B2A26"/>
            </a:solidFill>
            <a:prstDash val="solid"/>
          </a:ln>
        </p:spPr>
      </p:sp>
      <p:sp>
        <p:nvSpPr>
          <p:cNvPr id="39" name="Shape 37"/>
          <p:cNvSpPr/>
          <p:nvPr/>
        </p:nvSpPr>
        <p:spPr>
          <a:xfrm>
            <a:off x="7964424" y="5074920"/>
            <a:ext cx="365760" cy="365760"/>
          </a:xfrm>
          <a:prstGeom prst="rect">
            <a:avLst/>
          </a:prstGeom>
          <a:solidFill>
            <a:srgbClr val="F28C28"/>
          </a:solidFill>
          <a:ln w="6350">
            <a:solidFill>
              <a:srgbClr val="2B2A26"/>
            </a:solidFill>
            <a:prstDash val="solid"/>
          </a:ln>
        </p:spPr>
      </p:sp>
      <p:sp>
        <p:nvSpPr>
          <p:cNvPr id="40" name="Shape 38"/>
          <p:cNvSpPr/>
          <p:nvPr/>
        </p:nvSpPr>
        <p:spPr>
          <a:xfrm>
            <a:off x="8421624" y="5074920"/>
            <a:ext cx="365760" cy="365760"/>
          </a:xfrm>
          <a:prstGeom prst="rect">
            <a:avLst/>
          </a:prstGeom>
          <a:solidFill>
            <a:srgbClr val="C9A45C"/>
          </a:solidFill>
          <a:ln w="6350">
            <a:solidFill>
              <a:srgbClr val="2B2A26"/>
            </a:solidFill>
            <a:prstDash val="solid"/>
          </a:ln>
        </p:spPr>
      </p:sp>
      <p:sp>
        <p:nvSpPr>
          <p:cNvPr id="41" name="Shape 39"/>
          <p:cNvSpPr/>
          <p:nvPr/>
        </p:nvSpPr>
        <p:spPr>
          <a:xfrm>
            <a:off x="8878824" y="5074920"/>
            <a:ext cx="365760" cy="365760"/>
          </a:xfrm>
          <a:prstGeom prst="rect">
            <a:avLst/>
          </a:prstGeom>
          <a:solidFill>
            <a:srgbClr val="FFB35C"/>
          </a:solidFill>
          <a:ln w="6350">
            <a:solidFill>
              <a:srgbClr val="2B2A26"/>
            </a:solidFill>
            <a:prstDash val="solid"/>
          </a:ln>
        </p:spPr>
      </p:sp>
      <p:sp>
        <p:nvSpPr>
          <p:cNvPr id="42" name="Shape 40"/>
          <p:cNvSpPr/>
          <p:nvPr/>
        </p:nvSpPr>
        <p:spPr>
          <a:xfrm>
            <a:off x="9582912" y="1691640"/>
            <a:ext cx="2103120" cy="4023360"/>
          </a:xfrm>
          <a:prstGeom prst="rect">
            <a:avLst/>
          </a:prstGeom>
          <a:solidFill>
            <a:srgbClr val="151513"/>
          </a:solidFill>
          <a:ln w="9525">
            <a:solidFill>
              <a:srgbClr val="2B2A26"/>
            </a:solidFill>
            <a:prstDash val="solid"/>
          </a:ln>
        </p:spPr>
      </p:sp>
      <p:sp>
        <p:nvSpPr>
          <p:cNvPr id="43" name="Shape 41"/>
          <p:cNvSpPr/>
          <p:nvPr/>
        </p:nvSpPr>
        <p:spPr>
          <a:xfrm>
            <a:off x="9582912" y="1691640"/>
            <a:ext cx="2103120" cy="109728"/>
          </a:xfrm>
          <a:prstGeom prst="rect">
            <a:avLst/>
          </a:prstGeom>
          <a:solidFill>
            <a:srgbClr val="D2283A"/>
          </a:solidFill>
          <a:ln w="12700">
            <a:solidFill>
              <a:srgbClr val="D2283A"/>
            </a:solidFill>
            <a:prstDash val="solid"/>
          </a:ln>
        </p:spPr>
      </p:sp>
      <p:sp>
        <p:nvSpPr>
          <p:cNvPr id="44" name="Text 42"/>
          <p:cNvSpPr txBox="1"/>
          <p:nvPr/>
        </p:nvSpPr>
        <p:spPr>
          <a:xfrm>
            <a:off x="9765792" y="1965960"/>
            <a:ext cx="1828800" cy="292608"/>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CRIMSON NAVY</a:t>
            </a:r>
            <a:endParaRPr lang="en-US" sz="1400" dirty="0"/>
          </a:p>
        </p:txBody>
      </p:sp>
      <p:sp>
        <p:nvSpPr>
          <p:cNvPr id="45" name="Text 43"/>
          <p:cNvSpPr txBox="1"/>
          <p:nvPr/>
        </p:nvSpPr>
        <p:spPr>
          <a:xfrm>
            <a:off x="9765792" y="2286000"/>
            <a:ext cx="1828800" cy="228600"/>
          </a:xfrm>
          <a:prstGeom prst="rect">
            <a:avLst/>
          </a:prstGeom>
          <a:noFill/>
          <a:ln/>
        </p:spPr>
        <p:txBody>
          <a:bodyPr wrap="square" lIns="0" tIns="0" rIns="0" bIns="0" rtlCol="0" anchor="t"/>
          <a:lstStyle/>
          <a:p>
            <a:pPr indent="0" marL="0">
              <a:buNone/>
            </a:pPr>
            <a:r>
              <a:rPr lang="en-US" sz="850" b="1" spc="200" kern="0" dirty="0">
                <a:solidFill>
                  <a:srgbClr val="C9A45C"/>
                </a:solidFill>
                <a:latin typeface="Inter" pitchFamily="34" charset="0"/>
                <a:ea typeface="Inter" pitchFamily="34" charset="-122"/>
                <a:cs typeface="Inter" pitchFamily="34" charset="-120"/>
              </a:rPr>
              <a:t>AFTER DARK</a:t>
            </a:r>
            <a:endParaRPr lang="en-US" sz="850" dirty="0"/>
          </a:p>
        </p:txBody>
      </p:sp>
      <p:sp>
        <p:nvSpPr>
          <p:cNvPr id="46" name="Text 44"/>
          <p:cNvSpPr txBox="1"/>
          <p:nvPr/>
        </p:nvSpPr>
        <p:spPr>
          <a:xfrm>
            <a:off x="9765792" y="2651760"/>
            <a:ext cx="1783080" cy="2011680"/>
          </a:xfrm>
          <a:prstGeom prst="rect">
            <a:avLst/>
          </a:prstGeom>
          <a:noFill/>
          <a:ln/>
        </p:spPr>
        <p:txBody>
          <a:bodyPr wrap="square" lIns="0" tIns="0" rIns="0" bIns="0" rtlCol="0" anchor="t"/>
          <a:lstStyle/>
          <a:p>
            <a:pPr indent="0" marL="0">
              <a:lnSpc>
                <a:spcPct val="115000"/>
              </a:lnSpc>
              <a:buNone/>
            </a:pPr>
            <a:r>
              <a:rPr lang="en-US" sz="950" dirty="0">
                <a:solidFill>
                  <a:srgbClr val="F2EDE4"/>
                </a:solidFill>
                <a:latin typeface="Inter" pitchFamily="34" charset="0"/>
                <a:ea typeface="Inter" pitchFamily="34" charset="-122"/>
                <a:cs typeface="Inter" pitchFamily="34" charset="-120"/>
              </a:rPr>
              <a:t>Black suit, open collar · black knit for E2.</a:t>
            </a:r>
            <a:endParaRPr lang="en-US" sz="950" dirty="0"/>
          </a:p>
        </p:txBody>
      </p:sp>
      <p:sp>
        <p:nvSpPr>
          <p:cNvPr id="47" name="Shape 45"/>
          <p:cNvSpPr/>
          <p:nvPr/>
        </p:nvSpPr>
        <p:spPr>
          <a:xfrm>
            <a:off x="9765792" y="5074920"/>
            <a:ext cx="365760" cy="365760"/>
          </a:xfrm>
          <a:prstGeom prst="rect">
            <a:avLst/>
          </a:prstGeom>
          <a:solidFill>
            <a:srgbClr val="0A0A0C"/>
          </a:solidFill>
          <a:ln w="6350">
            <a:solidFill>
              <a:srgbClr val="2B2A26"/>
            </a:solidFill>
            <a:prstDash val="solid"/>
          </a:ln>
        </p:spPr>
      </p:sp>
      <p:sp>
        <p:nvSpPr>
          <p:cNvPr id="48" name="Shape 46"/>
          <p:cNvSpPr/>
          <p:nvPr/>
        </p:nvSpPr>
        <p:spPr>
          <a:xfrm>
            <a:off x="10222992" y="5074920"/>
            <a:ext cx="365760" cy="365760"/>
          </a:xfrm>
          <a:prstGeom prst="rect">
            <a:avLst/>
          </a:prstGeom>
          <a:solidFill>
            <a:srgbClr val="D2283A"/>
          </a:solidFill>
          <a:ln w="6350">
            <a:solidFill>
              <a:srgbClr val="2B2A26"/>
            </a:solidFill>
            <a:prstDash val="solid"/>
          </a:ln>
        </p:spPr>
      </p:sp>
      <p:sp>
        <p:nvSpPr>
          <p:cNvPr id="49" name="Shape 47"/>
          <p:cNvSpPr/>
          <p:nvPr/>
        </p:nvSpPr>
        <p:spPr>
          <a:xfrm>
            <a:off x="10680192" y="5074920"/>
            <a:ext cx="365760" cy="365760"/>
          </a:xfrm>
          <a:prstGeom prst="rect">
            <a:avLst/>
          </a:prstGeom>
          <a:solidFill>
            <a:srgbClr val="1C2A55"/>
          </a:solidFill>
          <a:ln w="6350">
            <a:solidFill>
              <a:srgbClr val="2B2A26"/>
            </a:solidFill>
            <a:prstDash val="solid"/>
          </a:ln>
        </p:spPr>
      </p:sp>
      <p:sp>
        <p:nvSpPr>
          <p:cNvPr id="50" name="Shape 48"/>
          <p:cNvSpPr/>
          <p:nvPr/>
        </p:nvSpPr>
        <p:spPr>
          <a:xfrm>
            <a:off x="11137392" y="5074920"/>
            <a:ext cx="365760" cy="365760"/>
          </a:xfrm>
          <a:prstGeom prst="rect">
            <a:avLst/>
          </a:prstGeom>
          <a:solidFill>
            <a:srgbClr val="5CFF7A"/>
          </a:solidFill>
          <a:ln w="6350">
            <a:solidFill>
              <a:srgbClr val="2B2A26"/>
            </a:solidFill>
            <a:prstDash val="solid"/>
          </a:ln>
        </p:spPr>
      </p:sp>
      <p:sp>
        <p:nvSpPr>
          <p:cNvPr id="51" name="Text 49"/>
          <p:cNvSpPr txBox="1"/>
          <p:nvPr/>
        </p:nvSpPr>
        <p:spPr>
          <a:xfrm>
            <a:off x="548640" y="5897880"/>
            <a:ext cx="10972800" cy="32004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Grooming: short beard trimmed the night before · no rings on the watch hand · nails clean and buffed — the wrist is in macro in every reel.</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DAY 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10</a:t>
            </a:r>
            <a:endParaRPr lang="en-US" sz="750" dirty="0"/>
          </a:p>
        </p:txBody>
      </p:sp>
      <p:sp>
        <p:nvSpPr>
          <p:cNvPr id="4" name="Text 2"/>
          <p:cNvSpPr txBox="1"/>
          <p:nvPr/>
        </p:nvSpPr>
        <p:spPr>
          <a:xfrm>
            <a:off x="548640" y="41148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DAY 1 · RUN OF SHOW</a:t>
            </a:r>
            <a:endParaRPr lang="en-US" sz="900" dirty="0"/>
          </a:p>
        </p:txBody>
      </p:sp>
      <p:sp>
        <p:nvSpPr>
          <p:cNvPr id="5" name="Text 3"/>
          <p:cNvSpPr txBox="1"/>
          <p:nvPr/>
        </p:nvSpPr>
        <p:spPr>
          <a:xfrm>
            <a:off x="548640" y="658368"/>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FIFTEEN REELS, SUN TO MIDNIGHT.</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463040"/>
                <a:gridCol w="8229600"/>
                <a:gridCol w="1371600"/>
              </a:tblGrid>
              <a:tr h="228600">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SETUP</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UNIT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05:00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Crew call at the haveli · lume UV torch charged</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All</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05:45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Mukesh ji ready (black training look)</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06:15–06:45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B1 · 4:59 — haveli rooftop at first light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06:45–07:30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To Jal Mahal (15 min) · B3 sunrise run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07:30–08:00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Back to the haveli · change → ivory bandhgala</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08:00–10:00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A1 Pehli Ghadi · A2 Jaali · A3 Kitne Ki Hai</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08:00–09:30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Hawa Mahal + old-city lanes (D3, B-roll)</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B-unit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10:00–11:00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B2 Cold. Sharp. On Time. (white linen)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11:00–13:30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C1 Neev · C2 6 Feet. 6 Inches. · C3 60 Seconds</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13:30–14:15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Lunch · change → royal-blue bandhgala</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14:15–15:15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Glow inserts A, B, C in the blacked-out room</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14:15–15:15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Dress the chowk: 200 diyas, marigold, rooftop fairy lights</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Art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15:15–16:15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D2 Dhanteras (hands over the thali)</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16:15–17:15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D3 Jaipur Se — jharokha, golden hour</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17:15–18:30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D1 Ek Diya — chowk walk → rooftop lights-off → glow</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18:30–19:30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Johari / Bapu Bazaar festival lights</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B-unit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18:30–19:15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Dinner · change → black suit · gels + hazer set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19:15–21:00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E1 Unfinished · E2 Red / Blue · glow inserts D, E</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21:00–22:30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E3 night drive — MI Road, Albert Hall</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23:00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Wrap · cards backed up ×2 · watches checked back 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All</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11</a:t>
            </a:r>
            <a:endParaRPr lang="en-US" sz="750" dirty="0"/>
          </a:p>
        </p:txBody>
      </p:sp>
      <p:sp>
        <p:nvSpPr>
          <p:cNvPr id="4" name="Shape 2"/>
          <p:cNvSpPr/>
          <p:nvPr/>
        </p:nvSpPr>
        <p:spPr>
          <a:xfrm>
            <a:off x="0" y="0"/>
            <a:ext cx="4206240" cy="6858000"/>
          </a:xfrm>
          <a:prstGeom prst="rect">
            <a:avLst/>
          </a:prstGeom>
          <a:solidFill>
            <a:srgbClr val="2F5D46"/>
          </a:solidFill>
          <a:ln w="12700">
            <a:solidFill>
              <a:srgbClr val="2F5D46"/>
            </a:solidFill>
            <a:prstDash val="solid"/>
          </a:ln>
        </p:spPr>
      </p:sp>
      <p:pic>
        <p:nvPicPr>
          <p:cNvPr id="5" name="Image 0" descr="/tmp/claude-0/-home-user-Sage-portfolio/d05fecce-977e-5eab-9cf5-7c09b306c551/scratchpad/wrdeck/img/crop_green.jpg">    </p:cNvPr>
          <p:cNvPicPr>
            <a:picLocks noChangeAspect="1"/>
          </p:cNvPicPr>
          <p:nvPr/>
        </p:nvPicPr>
        <p:blipFill>
          <a:blip r:embed="rId1"/>
          <a:srcRect l="0" r="0" t="0" b="0"/>
          <a:stretch/>
        </p:blipFill>
        <p:spPr>
          <a:xfrm>
            <a:off x="548640" y="2103120"/>
            <a:ext cx="3108960" cy="3566160"/>
          </a:xfrm>
          <a:prstGeom prst="rect">
            <a:avLst/>
          </a:prstGeom>
        </p:spPr>
      </p:pic>
      <p:sp>
        <p:nvSpPr>
          <p:cNvPr id="6" name="Text 3"/>
          <p:cNvSpPr txBox="1"/>
          <p:nvPr/>
        </p:nvSpPr>
        <p:spPr>
          <a:xfrm>
            <a:off x="548640" y="548640"/>
            <a:ext cx="3291840" cy="274320"/>
          </a:xfrm>
          <a:prstGeom prst="rect">
            <a:avLst/>
          </a:prstGeom>
          <a:noFill/>
          <a:ln/>
        </p:spPr>
        <p:txBody>
          <a:bodyPr wrap="square" lIns="0" tIns="0" rIns="0" bIns="0" rtlCol="0" anchor="t"/>
          <a:lstStyle/>
          <a:p>
            <a:pPr indent="0" marL="0">
              <a:buNone/>
            </a:pPr>
            <a:r>
              <a:rPr lang="en-US" sz="900" b="1" spc="400" kern="0" dirty="0">
                <a:solidFill>
                  <a:srgbClr val="E8DFC8"/>
                </a:solidFill>
                <a:latin typeface="Inter" pitchFamily="34" charset="0"/>
                <a:ea typeface="Inter" pitchFamily="34" charset="-122"/>
                <a:cs typeface="Inter" pitchFamily="34" charset="-120"/>
              </a:rPr>
              <a:t>WORLD 01</a:t>
            </a:r>
            <a:endParaRPr lang="en-US" sz="900" dirty="0"/>
          </a:p>
        </p:txBody>
      </p:sp>
      <p:sp>
        <p:nvSpPr>
          <p:cNvPr id="7" name="Text 4"/>
          <p:cNvSpPr txBox="1"/>
          <p:nvPr/>
        </p:nvSpPr>
        <p:spPr>
          <a:xfrm>
            <a:off x="548640" y="868680"/>
            <a:ext cx="347472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ROOTS</a:t>
            </a:r>
            <a:endParaRPr lang="en-US" sz="3600" dirty="0"/>
          </a:p>
        </p:txBody>
      </p:sp>
      <p:sp>
        <p:nvSpPr>
          <p:cNvPr id="8" name="Text 5"/>
          <p:cNvSpPr txBox="1"/>
          <p:nvPr/>
        </p:nvSpPr>
        <p:spPr>
          <a:xfrm>
            <a:off x="548640" y="1554480"/>
            <a:ext cx="3291840" cy="320040"/>
          </a:xfrm>
          <a:prstGeom prst="rect">
            <a:avLst/>
          </a:prstGeom>
          <a:noFill/>
          <a:ln/>
        </p:spPr>
        <p:txBody>
          <a:bodyPr wrap="square" lIns="0" tIns="0" rIns="0" bIns="0" rtlCol="0" anchor="t"/>
          <a:lstStyle/>
          <a:p>
            <a:pPr indent="0" marL="0">
              <a:buNone/>
            </a:pPr>
            <a:r>
              <a:rPr lang="en-US" sz="1200" b="1" spc="200" kern="0" dirty="0">
                <a:solidFill>
                  <a:srgbClr val="E8DFC8"/>
                </a:solidFill>
                <a:latin typeface="Inter" pitchFamily="34" charset="0"/>
                <a:ea typeface="Inter" pitchFamily="34" charset="-122"/>
                <a:cs typeface="Inter" pitchFamily="34" charset="-120"/>
              </a:rPr>
              <a:t>FOREST IVORY</a:t>
            </a:r>
            <a:endParaRPr lang="en-US" sz="1200" dirty="0"/>
          </a:p>
        </p:txBody>
      </p:sp>
      <p:sp>
        <p:nvSpPr>
          <p:cNvPr id="9" name="Shape 6"/>
          <p:cNvSpPr/>
          <p:nvPr/>
        </p:nvSpPr>
        <p:spPr>
          <a:xfrm>
            <a:off x="548640" y="5852160"/>
            <a:ext cx="640080" cy="292608"/>
          </a:xfrm>
          <a:prstGeom prst="rect">
            <a:avLst/>
          </a:prstGeom>
          <a:solidFill>
            <a:srgbClr val="E8DFC8"/>
          </a:solidFill>
          <a:ln w="6350">
            <a:solidFill>
              <a:srgbClr val="0B0B0A"/>
            </a:solidFill>
            <a:prstDash val="solid"/>
          </a:ln>
        </p:spPr>
      </p:sp>
      <p:sp>
        <p:nvSpPr>
          <p:cNvPr id="10" name="Text 7"/>
          <p:cNvSpPr txBox="1"/>
          <p:nvPr/>
        </p:nvSpPr>
        <p:spPr>
          <a:xfrm>
            <a:off x="548640"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Ivory</a:t>
            </a:r>
            <a:endParaRPr lang="en-US" sz="650" dirty="0"/>
          </a:p>
        </p:txBody>
      </p:sp>
      <p:sp>
        <p:nvSpPr>
          <p:cNvPr id="11" name="Shape 8"/>
          <p:cNvSpPr/>
          <p:nvPr/>
        </p:nvSpPr>
        <p:spPr>
          <a:xfrm>
            <a:off x="1335024" y="5852160"/>
            <a:ext cx="640080" cy="292608"/>
          </a:xfrm>
          <a:prstGeom prst="rect">
            <a:avLst/>
          </a:prstGeom>
          <a:solidFill>
            <a:srgbClr val="C9A27A"/>
          </a:solidFill>
          <a:ln w="6350">
            <a:solidFill>
              <a:srgbClr val="0B0B0A"/>
            </a:solidFill>
            <a:prstDash val="solid"/>
          </a:ln>
        </p:spPr>
      </p:sp>
      <p:sp>
        <p:nvSpPr>
          <p:cNvPr id="12" name="Text 9"/>
          <p:cNvSpPr txBox="1"/>
          <p:nvPr/>
        </p:nvSpPr>
        <p:spPr>
          <a:xfrm>
            <a:off x="1335024"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Sandstone</a:t>
            </a:r>
            <a:endParaRPr lang="en-US" sz="650" dirty="0"/>
          </a:p>
        </p:txBody>
      </p:sp>
      <p:sp>
        <p:nvSpPr>
          <p:cNvPr id="13" name="Shape 10"/>
          <p:cNvSpPr/>
          <p:nvPr/>
        </p:nvSpPr>
        <p:spPr>
          <a:xfrm>
            <a:off x="2121408" y="5852160"/>
            <a:ext cx="640080" cy="292608"/>
          </a:xfrm>
          <a:prstGeom prst="rect">
            <a:avLst/>
          </a:prstGeom>
          <a:solidFill>
            <a:srgbClr val="2F5D46"/>
          </a:solidFill>
          <a:ln w="6350">
            <a:solidFill>
              <a:srgbClr val="0B0B0A"/>
            </a:solidFill>
            <a:prstDash val="solid"/>
          </a:ln>
        </p:spPr>
      </p:sp>
      <p:sp>
        <p:nvSpPr>
          <p:cNvPr id="14" name="Text 11"/>
          <p:cNvSpPr txBox="1"/>
          <p:nvPr/>
        </p:nvSpPr>
        <p:spPr>
          <a:xfrm>
            <a:off x="2121408"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Bottle green</a:t>
            </a:r>
            <a:endParaRPr lang="en-US" sz="650" dirty="0"/>
          </a:p>
        </p:txBody>
      </p:sp>
      <p:sp>
        <p:nvSpPr>
          <p:cNvPr id="15" name="Shape 12"/>
          <p:cNvSpPr/>
          <p:nvPr/>
        </p:nvSpPr>
        <p:spPr>
          <a:xfrm>
            <a:off x="2907792" y="5852160"/>
            <a:ext cx="640080" cy="292608"/>
          </a:xfrm>
          <a:prstGeom prst="rect">
            <a:avLst/>
          </a:prstGeom>
          <a:solidFill>
            <a:srgbClr val="B08D57"/>
          </a:solidFill>
          <a:ln w="6350">
            <a:solidFill>
              <a:srgbClr val="0B0B0A"/>
            </a:solidFill>
            <a:prstDash val="solid"/>
          </a:ln>
        </p:spPr>
      </p:sp>
      <p:sp>
        <p:nvSpPr>
          <p:cNvPr id="16" name="Text 13"/>
          <p:cNvSpPr txBox="1"/>
          <p:nvPr/>
        </p:nvSpPr>
        <p:spPr>
          <a:xfrm>
            <a:off x="2907792"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Brass</a:t>
            </a:r>
            <a:endParaRPr lang="en-US" sz="650" dirty="0"/>
          </a:p>
        </p:txBody>
      </p:sp>
      <p:sp>
        <p:nvSpPr>
          <p:cNvPr id="17" name="Text 14"/>
          <p:cNvSpPr txBox="1"/>
          <p:nvPr/>
        </p:nvSpPr>
        <p:spPr>
          <a:xfrm>
            <a:off x="4663440" y="548640"/>
            <a:ext cx="7315200" cy="274320"/>
          </a:xfrm>
          <a:prstGeom prst="rect">
            <a:avLst/>
          </a:prstGeom>
          <a:noFill/>
          <a:ln/>
        </p:spPr>
        <p:txBody>
          <a:bodyPr wrap="square" lIns="0" tIns="0" rIns="0" bIns="0" rtlCol="0" anchor="t"/>
          <a:lstStyle/>
          <a:p>
            <a:pPr indent="0" marL="0">
              <a:buNone/>
            </a:pPr>
            <a:r>
              <a:rPr lang="en-US" sz="900" b="1" spc="400" kern="0" dirty="0">
                <a:solidFill>
                  <a:srgbClr val="E8DFC8"/>
                </a:solidFill>
                <a:latin typeface="Inter" pitchFamily="34" charset="0"/>
                <a:ea typeface="Inter" pitchFamily="34" charset="-122"/>
                <a:cs typeface="Inter" pitchFamily="34" charset="-120"/>
              </a:rPr>
              <a:t>MORNING LIGHT · 08:00–10:00</a:t>
            </a:r>
            <a:endParaRPr lang="en-US" sz="900" dirty="0"/>
          </a:p>
        </p:txBody>
      </p:sp>
      <p:sp>
        <p:nvSpPr>
          <p:cNvPr id="18" name="Text 15"/>
          <p:cNvSpPr txBox="1"/>
          <p:nvPr/>
        </p:nvSpPr>
        <p:spPr>
          <a:xfrm>
            <a:off x="4663440" y="914400"/>
            <a:ext cx="6949440" cy="1097280"/>
          </a:xfrm>
          <a:prstGeom prst="rect">
            <a:avLst/>
          </a:prstGeom>
          <a:noFill/>
          <a:ln/>
        </p:spPr>
        <p:txBody>
          <a:bodyPr wrap="square" lIns="0" tIns="0" rIns="0" bIns="0" rtlCol="0" anchor="t"/>
          <a:lstStyle/>
          <a:p>
            <a:pPr indent="0" marL="0">
              <a:lnSpc>
                <a:spcPct val="105000"/>
              </a:lnSpc>
              <a:buNone/>
            </a:pPr>
            <a:r>
              <a:rPr lang="en-US" sz="1900" dirty="0">
                <a:solidFill>
                  <a:srgbClr val="F2EDE4"/>
                </a:solidFill>
                <a:latin typeface="Oswald" pitchFamily="34" charset="0"/>
                <a:ea typeface="Oswald" pitchFamily="34" charset="-122"/>
                <a:cs typeface="Oswald" pitchFamily="34" charset="-120"/>
              </a:rPr>
              <a:t>Where it all starts. A haveli in morning light — jaali shadows, an old family portrait, an empty watch box. The man who will become the family's first heirloom-maker.</a:t>
            </a:r>
            <a:endParaRPr lang="en-US" sz="1900" dirty="0"/>
          </a:p>
        </p:txBody>
      </p:sp>
      <p:sp>
        <p:nvSpPr>
          <p:cNvPr id="19" name="Text 16"/>
          <p:cNvSpPr txBox="1"/>
          <p:nvPr/>
        </p:nvSpPr>
        <p:spPr>
          <a:xfrm>
            <a:off x="4663440" y="2331720"/>
            <a:ext cx="13716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WHERE</a:t>
            </a:r>
            <a:endParaRPr lang="en-US" sz="750" dirty="0"/>
          </a:p>
        </p:txBody>
      </p:sp>
      <p:sp>
        <p:nvSpPr>
          <p:cNvPr id="20" name="Text 17"/>
          <p:cNvSpPr txBox="1"/>
          <p:nvPr/>
        </p:nvSpPr>
        <p:spPr>
          <a:xfrm>
            <a:off x="6035040" y="2304288"/>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Darwaza + jaali corridor · chowk (courtyard) · old study</a:t>
            </a:r>
            <a:endParaRPr lang="en-US" sz="1050" dirty="0"/>
          </a:p>
        </p:txBody>
      </p:sp>
      <p:sp>
        <p:nvSpPr>
          <p:cNvPr id="21" name="Text 18"/>
          <p:cNvSpPr txBox="1"/>
          <p:nvPr/>
        </p:nvSpPr>
        <p:spPr>
          <a:xfrm>
            <a:off x="4663440" y="2898648"/>
            <a:ext cx="13716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WARDROBE</a:t>
            </a:r>
            <a:endParaRPr lang="en-US" sz="750" dirty="0"/>
          </a:p>
        </p:txBody>
      </p:sp>
      <p:sp>
        <p:nvSpPr>
          <p:cNvPr id="22" name="Text 19"/>
          <p:cNvSpPr txBox="1"/>
          <p:nvPr/>
        </p:nvSpPr>
        <p:spPr>
          <a:xfrm>
            <a:off x="6035040" y="2871216"/>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Look 1: ivory bandhgala, no pocket square, brown loafers. Look 2: cream kurta + bottle-green shawl.</a:t>
            </a:r>
            <a:endParaRPr lang="en-US" sz="1050" dirty="0"/>
          </a:p>
        </p:txBody>
      </p:sp>
      <p:sp>
        <p:nvSpPr>
          <p:cNvPr id="23" name="Text 20"/>
          <p:cNvSpPr txBox="1"/>
          <p:nvPr/>
        </p:nvSpPr>
        <p:spPr>
          <a:xfrm>
            <a:off x="4663440" y="3465576"/>
            <a:ext cx="13716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a:t>
            </a:r>
            <a:endParaRPr lang="en-US" sz="750" dirty="0"/>
          </a:p>
        </p:txBody>
      </p:sp>
      <p:sp>
        <p:nvSpPr>
          <p:cNvPr id="24" name="Text 21"/>
          <p:cNvSpPr txBox="1"/>
          <p:nvPr/>
        </p:nvSpPr>
        <p:spPr>
          <a:xfrm>
            <a:off x="6035040" y="3438144"/>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Tanpura drone, one sarangi phrase. No beat drop.</a:t>
            </a:r>
            <a:endParaRPr lang="en-US" sz="1050" dirty="0"/>
          </a:p>
        </p:txBody>
      </p:sp>
      <p:sp>
        <p:nvSpPr>
          <p:cNvPr id="25" name="Shape 22"/>
          <p:cNvSpPr/>
          <p:nvPr/>
        </p:nvSpPr>
        <p:spPr>
          <a:xfrm>
            <a:off x="4663440" y="4206240"/>
            <a:ext cx="2240280" cy="2011680"/>
          </a:xfrm>
          <a:prstGeom prst="rect">
            <a:avLst/>
          </a:prstGeom>
          <a:solidFill>
            <a:srgbClr val="151513"/>
          </a:solidFill>
          <a:ln w="9525">
            <a:solidFill>
              <a:srgbClr val="2B2A26"/>
            </a:solidFill>
            <a:prstDash val="solid"/>
          </a:ln>
        </p:spPr>
      </p:sp>
      <p:sp>
        <p:nvSpPr>
          <p:cNvPr id="26" name="Text 23"/>
          <p:cNvSpPr txBox="1"/>
          <p:nvPr/>
        </p:nvSpPr>
        <p:spPr>
          <a:xfrm>
            <a:off x="4846320" y="4370832"/>
            <a:ext cx="914400" cy="365760"/>
          </a:xfrm>
          <a:prstGeom prst="rect">
            <a:avLst/>
          </a:prstGeom>
          <a:noFill/>
          <a:ln/>
        </p:spPr>
        <p:txBody>
          <a:bodyPr wrap="square" lIns="0" tIns="0" rIns="0" bIns="0" rtlCol="0" anchor="t"/>
          <a:lstStyle/>
          <a:p>
            <a:pPr indent="0" marL="0">
              <a:buNone/>
            </a:pPr>
            <a:r>
              <a:rPr lang="en-US" sz="1800" b="1" dirty="0">
                <a:solidFill>
                  <a:srgbClr val="E8DFC8"/>
                </a:solidFill>
                <a:latin typeface="Oswald" pitchFamily="34" charset="0"/>
                <a:ea typeface="Oswald" pitchFamily="34" charset="-122"/>
                <a:cs typeface="Oswald" pitchFamily="34" charset="-120"/>
              </a:rPr>
              <a:t>A1</a:t>
            </a:r>
            <a:endParaRPr lang="en-US" sz="1800" dirty="0"/>
          </a:p>
        </p:txBody>
      </p:sp>
      <p:sp>
        <p:nvSpPr>
          <p:cNvPr id="27" name="Text 24"/>
          <p:cNvSpPr txBox="1"/>
          <p:nvPr/>
        </p:nvSpPr>
        <p:spPr>
          <a:xfrm>
            <a:off x="484632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PEHLI GHADI</a:t>
            </a:r>
            <a:endParaRPr lang="en-US" sz="1400" dirty="0"/>
          </a:p>
        </p:txBody>
      </p:sp>
      <p:sp>
        <p:nvSpPr>
          <p:cNvPr id="28" name="Text 25"/>
          <p:cNvSpPr txBox="1"/>
          <p:nvPr/>
        </p:nvSpPr>
        <p:spPr>
          <a:xfrm>
            <a:off x="484632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Story reel · 30 s</a:t>
            </a:r>
            <a:endParaRPr lang="en-US" sz="850" dirty="0"/>
          </a:p>
        </p:txBody>
      </p:sp>
      <p:sp>
        <p:nvSpPr>
          <p:cNvPr id="29" name="Text 26"/>
          <p:cNvSpPr txBox="1"/>
          <p:nvPr/>
        </p:nvSpPr>
        <p:spPr>
          <a:xfrm>
            <a:off x="484632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The first heirloom</a:t>
            </a:r>
            <a:endParaRPr lang="en-US" sz="900" dirty="0"/>
          </a:p>
        </p:txBody>
      </p:sp>
      <p:sp>
        <p:nvSpPr>
          <p:cNvPr id="30" name="Shape 27"/>
          <p:cNvSpPr/>
          <p:nvPr/>
        </p:nvSpPr>
        <p:spPr>
          <a:xfrm>
            <a:off x="7040880" y="4206240"/>
            <a:ext cx="2240280" cy="2011680"/>
          </a:xfrm>
          <a:prstGeom prst="rect">
            <a:avLst/>
          </a:prstGeom>
          <a:solidFill>
            <a:srgbClr val="151513"/>
          </a:solidFill>
          <a:ln w="9525">
            <a:solidFill>
              <a:srgbClr val="2B2A26"/>
            </a:solidFill>
            <a:prstDash val="solid"/>
          </a:ln>
        </p:spPr>
      </p:sp>
      <p:sp>
        <p:nvSpPr>
          <p:cNvPr id="31" name="Text 28"/>
          <p:cNvSpPr txBox="1"/>
          <p:nvPr/>
        </p:nvSpPr>
        <p:spPr>
          <a:xfrm>
            <a:off x="7223760" y="4370832"/>
            <a:ext cx="914400" cy="365760"/>
          </a:xfrm>
          <a:prstGeom prst="rect">
            <a:avLst/>
          </a:prstGeom>
          <a:noFill/>
          <a:ln/>
        </p:spPr>
        <p:txBody>
          <a:bodyPr wrap="square" lIns="0" tIns="0" rIns="0" bIns="0" rtlCol="0" anchor="t"/>
          <a:lstStyle/>
          <a:p>
            <a:pPr indent="0" marL="0">
              <a:buNone/>
            </a:pPr>
            <a:r>
              <a:rPr lang="en-US" sz="1800" b="1" dirty="0">
                <a:solidFill>
                  <a:srgbClr val="E8DFC8"/>
                </a:solidFill>
                <a:latin typeface="Oswald" pitchFamily="34" charset="0"/>
                <a:ea typeface="Oswald" pitchFamily="34" charset="-122"/>
                <a:cs typeface="Oswald" pitchFamily="34" charset="-120"/>
              </a:rPr>
              <a:t>A2</a:t>
            </a:r>
            <a:endParaRPr lang="en-US" sz="1800" dirty="0"/>
          </a:p>
        </p:txBody>
      </p:sp>
      <p:sp>
        <p:nvSpPr>
          <p:cNvPr id="32" name="Text 29"/>
          <p:cNvSpPr txBox="1"/>
          <p:nvPr/>
        </p:nvSpPr>
        <p:spPr>
          <a:xfrm>
            <a:off x="722376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JAALI</a:t>
            </a:r>
            <a:endParaRPr lang="en-US" sz="1400" dirty="0"/>
          </a:p>
        </p:txBody>
      </p:sp>
      <p:sp>
        <p:nvSpPr>
          <p:cNvPr id="33" name="Text 30"/>
          <p:cNvSpPr txBox="1"/>
          <p:nvPr/>
        </p:nvSpPr>
        <p:spPr>
          <a:xfrm>
            <a:off x="722376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Detail · ASMR · 15 s</a:t>
            </a:r>
            <a:endParaRPr lang="en-US" sz="850" dirty="0"/>
          </a:p>
        </p:txBody>
      </p:sp>
      <p:sp>
        <p:nvSpPr>
          <p:cNvPr id="34" name="Text 31"/>
          <p:cNvSpPr txBox="1"/>
          <p:nvPr/>
        </p:nvSpPr>
        <p:spPr>
          <a:xfrm>
            <a:off x="722376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It waits for you to step closer</a:t>
            </a:r>
            <a:endParaRPr lang="en-US" sz="900" dirty="0"/>
          </a:p>
        </p:txBody>
      </p:sp>
      <p:sp>
        <p:nvSpPr>
          <p:cNvPr id="35" name="Shape 32"/>
          <p:cNvSpPr/>
          <p:nvPr/>
        </p:nvSpPr>
        <p:spPr>
          <a:xfrm>
            <a:off x="9418320" y="4206240"/>
            <a:ext cx="2240280" cy="2011680"/>
          </a:xfrm>
          <a:prstGeom prst="rect">
            <a:avLst/>
          </a:prstGeom>
          <a:solidFill>
            <a:srgbClr val="151513"/>
          </a:solidFill>
          <a:ln w="9525">
            <a:solidFill>
              <a:srgbClr val="2B2A26"/>
            </a:solidFill>
            <a:prstDash val="solid"/>
          </a:ln>
        </p:spPr>
      </p:sp>
      <p:sp>
        <p:nvSpPr>
          <p:cNvPr id="36" name="Text 33"/>
          <p:cNvSpPr txBox="1"/>
          <p:nvPr/>
        </p:nvSpPr>
        <p:spPr>
          <a:xfrm>
            <a:off x="9601200" y="4370832"/>
            <a:ext cx="914400" cy="365760"/>
          </a:xfrm>
          <a:prstGeom prst="rect">
            <a:avLst/>
          </a:prstGeom>
          <a:noFill/>
          <a:ln/>
        </p:spPr>
        <p:txBody>
          <a:bodyPr wrap="square" lIns="0" tIns="0" rIns="0" bIns="0" rtlCol="0" anchor="t"/>
          <a:lstStyle/>
          <a:p>
            <a:pPr indent="0" marL="0">
              <a:buNone/>
            </a:pPr>
            <a:r>
              <a:rPr lang="en-US" sz="1800" b="1" dirty="0">
                <a:solidFill>
                  <a:srgbClr val="E8DFC8"/>
                </a:solidFill>
                <a:latin typeface="Oswald" pitchFamily="34" charset="0"/>
                <a:ea typeface="Oswald" pitchFamily="34" charset="-122"/>
                <a:cs typeface="Oswald" pitchFamily="34" charset="-120"/>
              </a:rPr>
              <a:t>A3</a:t>
            </a:r>
            <a:endParaRPr lang="en-US" sz="1800" dirty="0"/>
          </a:p>
        </p:txBody>
      </p:sp>
      <p:sp>
        <p:nvSpPr>
          <p:cNvPr id="37" name="Text 34"/>
          <p:cNvSpPr txBox="1"/>
          <p:nvPr/>
        </p:nvSpPr>
        <p:spPr>
          <a:xfrm>
            <a:off x="960120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KITNE KI HAI?</a:t>
            </a:r>
            <a:endParaRPr lang="en-US" sz="1400" dirty="0"/>
          </a:p>
        </p:txBody>
      </p:sp>
      <p:sp>
        <p:nvSpPr>
          <p:cNvPr id="38" name="Text 35"/>
          <p:cNvSpPr txBox="1"/>
          <p:nvPr/>
        </p:nvSpPr>
        <p:spPr>
          <a:xfrm>
            <a:off x="960120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Dialogue punch · 10–12 s</a:t>
            </a:r>
            <a:endParaRPr lang="en-US" sz="850" dirty="0"/>
          </a:p>
        </p:txBody>
      </p:sp>
      <p:sp>
        <p:nvSpPr>
          <p:cNvPr id="39" name="Text 36"/>
          <p:cNvSpPr txBox="1"/>
          <p:nvPr/>
        </p:nvSpPr>
        <p:spPr>
          <a:xfrm>
            <a:off x="960120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Price vs position</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12</a:t>
            </a:r>
            <a:endParaRPr lang="en-US" sz="750" dirty="0"/>
          </a:p>
        </p:txBody>
      </p:sp>
      <p:pic>
        <p:nvPicPr>
          <p:cNvPr id="4" name="Image 0" descr="/tmp/claude-0/-home-user-Sage-portfolio/d05fecce-977e-5eab-9cf5-7c09b306c551/scratchpad/wrdeck/img/ai_green_r2.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A1  ·  STORY REEL  ·  30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PEHLI GHADI</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The first heirloom</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Every Indian family has one watch everyone calls "Dadaji ki ghadi". Somebody had to buy the first one. Mukesh is that man — the first-generation builder whose watch becomes the heirloom. Roots are not inherited; they are planted.</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Extreme close-up of a sepia family photo in a brass frame. His hand — the Forest Ivory on the wrist — enters and rests beside it. VO starts on frame one.</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SCRIPT · HINGLISH</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"Har ghar mein ek ghadi hoti hai… jise sab 'Dadaji ki ghadi' kehte hain."</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"Par kabhi socha hai — pehli kisne khareedi thi?"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"Virasat milti nahi. Banaayi jaati hai."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"Is ghar ki pehli ghadi… main pehen raha hoon."</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EVERY HEIRLOOM WAS NEW ONCE.  →  end card: WEALTH ROOTS · Build your legacy.</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"Time" (Inception)</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Tanpura bed · pigeons · darwaza creak · clasp click lifted in the mix.</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13</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A1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PEHLI GHADI</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0–2s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Sepia photo; his hand with the watch enters and rests beside it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 top light, locked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2–6s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Old-city rooftops at sunrise from the haveli roof</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slow pan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6–10s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Haveli darwaza swings open; he walks in, back to camera</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 gimbal follow, waist height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10–14s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Jaali corridor — sun patterns slide over his wrist as he walks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side track, 50 fps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14–20s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Old study: he opens the family watch box — every slot empty — and closes it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Top shot, 35mm, slow push</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20–25s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Clasp click on his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 sound up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25–30s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looks up into lens. End card.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 static, eye level</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855464"/>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5084064"/>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Sepia family portrait in brass frame · wooden watch box with empty velvet slots · old ledger · brass desk lamp.</a:t>
            </a:r>
            <a:endParaRPr lang="en-US" sz="950" dirty="0"/>
          </a:p>
        </p:txBody>
      </p:sp>
      <p:pic>
        <p:nvPicPr>
          <p:cNvPr id="9" name="Image 0" descr="/tmp/claude-0/-home-user-Sage-portfolio/d05fecce-977e-5eab-9cf5-7c09b306c551/scratchpad/wrdeck/img/crop_green.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"Time" (Inception)</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haveli jaali light portrait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Pinterest · vintage watch box heirloom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Instagram · @sabyasachiofficial — heritage pacing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6" invalidUrl="" action="" tgtFrame="" tooltip="" history="1" highlightClick="0" endSnd="0">
                  <a:extLst>
                    <a:ext uri="{A12FA001-AC4F-418D-AE19-62706E023703}">
                      <ahyp:hlinkClr xmlns:ahyp="http://schemas.microsoft.com/office/drawing/2018/hyperlinkcolor" val="tx"/>
                    </a:ext>
                  </a:extLst>
                </a:hlinkClick>
              </a:rPr>
              <a:t>Instagram · @rolex — slow craft reveals</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14</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A1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PEHLI GHADI</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E8DFC8"/>
          </a:solidFill>
          <a:ln w="12700">
            <a:solidFill>
              <a:srgbClr val="E8DFC8"/>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ECU: sepia family portrait in a brass frame; his hand with the Forest Ivory on the wrist rests beside it</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E8DFC8"/>
          </a:solidFill>
          <a:ln w="12700">
            <a:solidFill>
              <a:srgbClr val="E8DFC8"/>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Sunrise over the old-city rooftops from the haveli roof, soft haze</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E8DFC8"/>
          </a:solidFill>
          <a:ln w="12700">
            <a:solidFill>
              <a:srgbClr val="E8DFC8"/>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Carved haveli darwaza swinging open; his silhouette in an ivory bandhgala, back to camera</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E8DFC8"/>
          </a:solidFill>
          <a:ln w="12700">
            <a:solidFill>
              <a:srgbClr val="E8DFC8"/>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Jaali corridor: star-shaped light patterns across his ivory sleeve as he walks</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E8DFC8"/>
          </a:solidFill>
          <a:ln w="12700">
            <a:solidFill>
              <a:srgbClr val="E8DFC8"/>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Insert: the watch on his wrist catching a patch of jaali light, screws razor sharp</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E8DFC8"/>
          </a:solidFill>
          <a:ln w="12700">
            <a:solidFill>
              <a:srgbClr val="E8DFC8"/>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Old study: he lifts the lid of a wooden watch box — every velvet slot empty</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E8DFC8"/>
          </a:solidFill>
          <a:ln w="12700">
            <a:solidFill>
              <a:srgbClr val="E8DFC8"/>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closes the empty box; the watch on his wrist in the foreground</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E8DFC8"/>
          </a:solidFill>
          <a:ln w="12700">
            <a:solidFill>
              <a:srgbClr val="E8DFC8"/>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his fingers closing the deployant clasp on the wrist</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E8DFC8"/>
          </a:solidFill>
          <a:ln w="12700">
            <a:solidFill>
              <a:srgbClr val="E8DFC8"/>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looks straight into the lens, half-lit by window light, ivory and green palette</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A1 from the prompt pack (one 3×3 grid) and send it back — it drops into these nine slots.</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15</a:t>
            </a:r>
            <a:endParaRPr lang="en-US" sz="750" dirty="0"/>
          </a:p>
        </p:txBody>
      </p:sp>
      <p:pic>
        <p:nvPicPr>
          <p:cNvPr id="4" name="Image 0" descr="/tmp/claude-0/-home-user-Sage-portfolio/d05fecce-977e-5eab-9cf5-7c09b306c551/scratchpad/wrdeck/img/ai_green_r3.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A2  ·  DETAIL · ASMR  ·  15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JAALI</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It waits for you to step closer</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Neetu's rule for the design: luxury doesn't scream across the room — it waits for you to step closer. Mukesh raises his wrist into the beams coming through a carved jaali and turns it slowly; each star of light lands on a different detail — the eight screws, the WR monogram, the waffle dial, the green strap.</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A star-shaped patch of light lands exactly on the dial as his wrist turns into the beam.</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VOICE</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No voice-over.</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IT WAITS FOR YOU TO STEP CLOSER.</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Max Richter — "On the Nature of Daylight"</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Broom on stone · distant temple bell · pigeons · one soft tick at the end.</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16</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A2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JAALI</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Jaali window, beams of morning sun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locked, haze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3–6s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His wrist rises into a beam; the light lands on the dial</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6–9s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The eight bezel screws in a patch of light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 / probe lens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9–12s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Waffle dial + WR monogram, then the green strap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Probe lens slide, rack focus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12–15s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Wide: his silhouette in the corridor, wrist in the light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087368"/>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315968"/>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A jaali window with low sun · a little haze for visible beams.</a:t>
            </a:r>
            <a:endParaRPr lang="en-US" sz="950" dirty="0"/>
          </a:p>
        </p:txBody>
      </p:sp>
      <p:pic>
        <p:nvPicPr>
          <p:cNvPr id="9" name="Image 0" descr="/tmp/claude-0/-home-user-Sage-portfolio/d05fecce-977e-5eab-9cf5-7c09b306c551/scratchpad/wrdeck/img/crop_green.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Max Richter — "On the Nature of Daylight"</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jaali light beams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Pinterest · watch on wrist light pattern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Instagram · @cartier — light-play macro</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17</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A2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JAALI</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E8DFC8"/>
          </a:solidFill>
          <a:ln w="12700">
            <a:solidFill>
              <a:srgbClr val="E8DFC8"/>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Carved sandstone jaali window, beams of morning sun cutting through light haze</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E8DFC8"/>
          </a:solidFill>
          <a:ln w="12700">
            <a:solidFill>
              <a:srgbClr val="E8DFC8"/>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wrist rises into a beam; a star of light lands on the dial</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E8DFC8"/>
          </a:solidFill>
          <a:ln w="12700">
            <a:solidFill>
              <a:srgbClr val="E8DFC8"/>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eight bezel screws lit by one patch of light</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E8DFC8"/>
          </a:solidFill>
          <a:ln w="12700">
            <a:solidFill>
              <a:srgbClr val="E8DFC8"/>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waffle dial and the WR monogram at 12</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E8DFC8"/>
          </a:solidFill>
          <a:ln w="12700">
            <a:solidFill>
              <a:srgbClr val="E8DFC8"/>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light pattern slides across the bottle-green strap</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E8DFC8"/>
          </a:solidFill>
          <a:ln w="12700">
            <a:solidFill>
              <a:srgbClr val="E8DFC8"/>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Crown detail, extreme shallow depth of field</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E8DFC8"/>
          </a:solidFill>
          <a:ln w="12700">
            <a:solidFill>
              <a:srgbClr val="E8DFC8"/>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Profile: the ivory case edge rim-lit by the sun</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E8DFC8"/>
          </a:solidFill>
          <a:ln w="12700">
            <a:solidFill>
              <a:srgbClr val="E8DFC8"/>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turns the wrist; the light ripples across the case</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E8DFC8"/>
          </a:solidFill>
          <a:ln w="12700">
            <a:solidFill>
              <a:srgbClr val="E8DFC8"/>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Wide: his silhouette in the jaali corridor, wrist raised into the light</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A2 from the prompt pack (one 3×3 grid) and send it back — it drops into these nine slots.</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18</a:t>
            </a:r>
            <a:endParaRPr lang="en-US" sz="750" dirty="0"/>
          </a:p>
        </p:txBody>
      </p:sp>
      <p:pic>
        <p:nvPicPr>
          <p:cNvPr id="4" name="Image 0" descr="/tmp/claude-0/-home-user-Sage-portfolio/d05fecce-977e-5eab-9cf5-7c09b306c551/scratchpad/wrdeck/img/ai_green_r4.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A3  ·  DIALOGUE PUNCH  ·  10–12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KITNE KI HAI?</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Price vs position</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The most Indian question there is — "Kitne ki hai?" Mukesh doesn't answer with a number. Straight from Neetu: an expensive watch has a price; a Wealth Roots watch has a position.</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Off-camera elder's voice in the courtyard: "Beta, ye ghadi kitne ki hai?"</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SCRIPT · HINGLISH</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Elder: "Beta, ye ghadi kitne ki hai?"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Mukesh (calm, no smile): "Mehngi ghadi ki keemat hoti hai, chacha. Iski position hai."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Elder (beat): "…Achha."  — cut.</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AN EXPENSIVE WATCH HAS A PRICE. THIS ONE HAS A POSITION.</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Nicholas Britell — "Succession (Main Title Theme)"</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Diegetic only — chai sip, courtyard birds. Music hits on the last 2 s.</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19</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A3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KITNE KI HAI?</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Over the elder's shoulder: Mukesh on the takht with chai</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OTS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3–5s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sets the glass down, shirt cuff slides back from the watch</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insert on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5–9s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His answer, straight to the elder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 single, eye level</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9–12s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Elder nods slowly. Cut to black.</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reverse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370332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3931920"/>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Takht or charpai · brass chai glasses · one elder extra (60+; face can stay out of frame).</a:t>
            </a:r>
            <a:endParaRPr lang="en-US" sz="950" dirty="0"/>
          </a:p>
        </p:txBody>
      </p:sp>
      <p:pic>
        <p:nvPicPr>
          <p:cNvPr id="9" name="Image 0" descr="/tmp/claude-0/-home-user-Sage-portfolio/d05fecce-977e-5eab-9cf5-7c09b306c551/scratchpad/wrdeck/img/crop_green.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Nicholas Britell — "Succession (Main Title Theme)"</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indian courtyard chai cinematic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@mukesh_gupta14 — his own dialogue pacing</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20</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A3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KITNE KI HAI?</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E8DFC8"/>
          </a:solidFill>
          <a:ln w="12700">
            <a:solidFill>
              <a:srgbClr val="E8DFC8"/>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Courtyard wide in morning light: a takht, brass chai glasses, pigeons</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E8DFC8"/>
          </a:solidFill>
          <a:ln w="12700">
            <a:solidFill>
              <a:srgbClr val="E8DFC8"/>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Over the elder's shoulder (white kurta, back to camera): Mukesh in the ivory bandhgala</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E8DFC8"/>
          </a:solidFill>
          <a:ln w="12700">
            <a:solidFill>
              <a:srgbClr val="E8DFC8"/>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Mukesh sips chai, unhurried</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E8DFC8"/>
          </a:solidFill>
          <a:ln w="12700">
            <a:solidFill>
              <a:srgbClr val="E8DFC8"/>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Insert: he sets the glass down; the cuff slides back from the watch</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E8DFC8"/>
          </a:solidFill>
          <a:ln w="12700">
            <a:solidFill>
              <a:srgbClr val="E8DFC8"/>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elder's hand gestures toward the watch (face out of frame)</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E8DFC8"/>
          </a:solidFill>
          <a:ln w="12700">
            <a:solidFill>
              <a:srgbClr val="E8DFC8"/>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Mukesh mid-answer, calm, eye level</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E8DFC8"/>
          </a:solidFill>
          <a:ln w="12700">
            <a:solidFill>
              <a:srgbClr val="E8DFC8"/>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Insert: the watch on his wrist resting on his knee</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E8DFC8"/>
          </a:solidFill>
          <a:ln w="12700">
            <a:solidFill>
              <a:srgbClr val="E8DFC8"/>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elder's slow nod, face soft-focus</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E8DFC8"/>
          </a:solidFill>
          <a:ln w="12700">
            <a:solidFill>
              <a:srgbClr val="E8DFC8"/>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Wide: both seated in the chowk, pigeons lift off</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A3 from the prompt pack (one 3×3 grid) and send it back — it drops into these nine slots.</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21</a:t>
            </a:r>
            <a:endParaRPr lang="en-US" sz="750" dirty="0"/>
          </a:p>
        </p:txBody>
      </p:sp>
      <p:sp>
        <p:nvSpPr>
          <p:cNvPr id="4" name="Shape 2"/>
          <p:cNvSpPr/>
          <p:nvPr/>
        </p:nvSpPr>
        <p:spPr>
          <a:xfrm>
            <a:off x="0" y="0"/>
            <a:ext cx="4206240" cy="6858000"/>
          </a:xfrm>
          <a:prstGeom prst="rect">
            <a:avLst/>
          </a:prstGeom>
          <a:solidFill>
            <a:srgbClr val="173A31"/>
          </a:solidFill>
          <a:ln w="12700">
            <a:solidFill>
              <a:srgbClr val="173A31"/>
            </a:solidFill>
            <a:prstDash val="solid"/>
          </a:ln>
        </p:spPr>
      </p:sp>
      <p:pic>
        <p:nvPicPr>
          <p:cNvPr id="5" name="Image 0" descr="/tmp/claude-0/-home-user-Sage-portfolio/d05fecce-977e-5eab-9cf5-7c09b306c551/scratchpad/wrdeck/img/crop_lime.jpg">    </p:cNvPr>
          <p:cNvPicPr>
            <a:picLocks noChangeAspect="1"/>
          </p:cNvPicPr>
          <p:nvPr/>
        </p:nvPicPr>
        <p:blipFill>
          <a:blip r:embed="rId1"/>
          <a:srcRect l="0" r="0" t="0" b="0"/>
          <a:stretch/>
        </p:blipFill>
        <p:spPr>
          <a:xfrm>
            <a:off x="548640" y="2103120"/>
            <a:ext cx="3108960" cy="3566160"/>
          </a:xfrm>
          <a:prstGeom prst="rect">
            <a:avLst/>
          </a:prstGeom>
        </p:spPr>
      </p:pic>
      <p:sp>
        <p:nvSpPr>
          <p:cNvPr id="6" name="Text 3"/>
          <p:cNvSpPr txBox="1"/>
          <p:nvPr/>
        </p:nvSpPr>
        <p:spPr>
          <a:xfrm>
            <a:off x="548640" y="548640"/>
            <a:ext cx="3291840" cy="274320"/>
          </a:xfrm>
          <a:prstGeom prst="rect">
            <a:avLst/>
          </a:prstGeom>
          <a:noFill/>
          <a:ln/>
        </p:spPr>
        <p:txBody>
          <a:bodyPr wrap="square" lIns="0" tIns="0" rIns="0" bIns="0" rtlCol="0" anchor="t"/>
          <a:lstStyle/>
          <a:p>
            <a:pPr indent="0" marL="0">
              <a:buNone/>
            </a:pPr>
            <a:r>
              <a:rPr lang="en-US" sz="900" b="1" spc="400" kern="0" dirty="0">
                <a:solidFill>
                  <a:srgbClr val="D7F25A"/>
                </a:solidFill>
                <a:latin typeface="Inter" pitchFamily="34" charset="0"/>
                <a:ea typeface="Inter" pitchFamily="34" charset="-122"/>
                <a:cs typeface="Inter" pitchFamily="34" charset="-120"/>
              </a:rPr>
              <a:t>WORLD 02</a:t>
            </a:r>
            <a:endParaRPr lang="en-US" sz="900" dirty="0"/>
          </a:p>
        </p:txBody>
      </p:sp>
      <p:sp>
        <p:nvSpPr>
          <p:cNvPr id="7" name="Text 4"/>
          <p:cNvSpPr txBox="1"/>
          <p:nvPr/>
        </p:nvSpPr>
        <p:spPr>
          <a:xfrm>
            <a:off x="548640" y="868680"/>
            <a:ext cx="347472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DISCIPLINE</a:t>
            </a:r>
            <a:endParaRPr lang="en-US" sz="3600" dirty="0"/>
          </a:p>
        </p:txBody>
      </p:sp>
      <p:sp>
        <p:nvSpPr>
          <p:cNvPr id="8" name="Text 5"/>
          <p:cNvSpPr txBox="1"/>
          <p:nvPr/>
        </p:nvSpPr>
        <p:spPr>
          <a:xfrm>
            <a:off x="548640" y="1554480"/>
            <a:ext cx="3291840" cy="320040"/>
          </a:xfrm>
          <a:prstGeom prst="rect">
            <a:avLst/>
          </a:prstGeom>
          <a:noFill/>
          <a:ln/>
        </p:spPr>
        <p:txBody>
          <a:bodyPr wrap="square" lIns="0" tIns="0" rIns="0" bIns="0" rtlCol="0" anchor="t"/>
          <a:lstStyle/>
          <a:p>
            <a:pPr indent="0" marL="0">
              <a:buNone/>
            </a:pPr>
            <a:r>
              <a:rPr lang="en-US" sz="1200" b="1" spc="200" kern="0" dirty="0">
                <a:solidFill>
                  <a:srgbClr val="D7F25A"/>
                </a:solidFill>
                <a:latin typeface="Inter" pitchFamily="34" charset="0"/>
                <a:ea typeface="Inter" pitchFamily="34" charset="-122"/>
                <a:cs typeface="Inter" pitchFamily="34" charset="-120"/>
              </a:rPr>
              <a:t>CITRUS MINT</a:t>
            </a:r>
            <a:endParaRPr lang="en-US" sz="1200" dirty="0"/>
          </a:p>
        </p:txBody>
      </p:sp>
      <p:sp>
        <p:nvSpPr>
          <p:cNvPr id="9" name="Shape 6"/>
          <p:cNvSpPr/>
          <p:nvPr/>
        </p:nvSpPr>
        <p:spPr>
          <a:xfrm>
            <a:off x="548640" y="5852160"/>
            <a:ext cx="640080" cy="292608"/>
          </a:xfrm>
          <a:prstGeom prst="rect">
            <a:avLst/>
          </a:prstGeom>
          <a:solidFill>
            <a:srgbClr val="FFFFFF"/>
          </a:solidFill>
          <a:ln w="6350">
            <a:solidFill>
              <a:srgbClr val="0B0B0A"/>
            </a:solidFill>
            <a:prstDash val="solid"/>
          </a:ln>
        </p:spPr>
      </p:sp>
      <p:sp>
        <p:nvSpPr>
          <p:cNvPr id="10" name="Text 7"/>
          <p:cNvSpPr txBox="1"/>
          <p:nvPr/>
        </p:nvSpPr>
        <p:spPr>
          <a:xfrm>
            <a:off x="548640"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White</a:t>
            </a:r>
            <a:endParaRPr lang="en-US" sz="650" dirty="0"/>
          </a:p>
        </p:txBody>
      </p:sp>
      <p:sp>
        <p:nvSpPr>
          <p:cNvPr id="11" name="Shape 8"/>
          <p:cNvSpPr/>
          <p:nvPr/>
        </p:nvSpPr>
        <p:spPr>
          <a:xfrm>
            <a:off x="1335024" y="5852160"/>
            <a:ext cx="640080" cy="292608"/>
          </a:xfrm>
          <a:prstGeom prst="rect">
            <a:avLst/>
          </a:prstGeom>
          <a:solidFill>
            <a:srgbClr val="D7F25A"/>
          </a:solidFill>
          <a:ln w="6350">
            <a:solidFill>
              <a:srgbClr val="0B0B0A"/>
            </a:solidFill>
            <a:prstDash val="solid"/>
          </a:ln>
        </p:spPr>
      </p:sp>
      <p:sp>
        <p:nvSpPr>
          <p:cNvPr id="12" name="Text 9"/>
          <p:cNvSpPr txBox="1"/>
          <p:nvPr/>
        </p:nvSpPr>
        <p:spPr>
          <a:xfrm>
            <a:off x="1335024"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Lime</a:t>
            </a:r>
            <a:endParaRPr lang="en-US" sz="650" dirty="0"/>
          </a:p>
        </p:txBody>
      </p:sp>
      <p:sp>
        <p:nvSpPr>
          <p:cNvPr id="13" name="Shape 10"/>
          <p:cNvSpPr/>
          <p:nvPr/>
        </p:nvSpPr>
        <p:spPr>
          <a:xfrm>
            <a:off x="2121408" y="5852160"/>
            <a:ext cx="640080" cy="292608"/>
          </a:xfrm>
          <a:prstGeom prst="rect">
            <a:avLst/>
          </a:prstGeom>
          <a:solidFill>
            <a:srgbClr val="8FE3C3"/>
          </a:solidFill>
          <a:ln w="6350">
            <a:solidFill>
              <a:srgbClr val="0B0B0A"/>
            </a:solidFill>
            <a:prstDash val="solid"/>
          </a:ln>
        </p:spPr>
      </p:sp>
      <p:sp>
        <p:nvSpPr>
          <p:cNvPr id="14" name="Text 11"/>
          <p:cNvSpPr txBox="1"/>
          <p:nvPr/>
        </p:nvSpPr>
        <p:spPr>
          <a:xfrm>
            <a:off x="2121408"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Mint</a:t>
            </a:r>
            <a:endParaRPr lang="en-US" sz="650" dirty="0"/>
          </a:p>
        </p:txBody>
      </p:sp>
      <p:sp>
        <p:nvSpPr>
          <p:cNvPr id="15" name="Shape 12"/>
          <p:cNvSpPr/>
          <p:nvPr/>
        </p:nvSpPr>
        <p:spPr>
          <a:xfrm>
            <a:off x="2907792" y="5852160"/>
            <a:ext cx="640080" cy="292608"/>
          </a:xfrm>
          <a:prstGeom prst="rect">
            <a:avLst/>
          </a:prstGeom>
          <a:solidFill>
            <a:srgbClr val="E9D9B8"/>
          </a:solidFill>
          <a:ln w="6350">
            <a:solidFill>
              <a:srgbClr val="0B0B0A"/>
            </a:solidFill>
            <a:prstDash val="solid"/>
          </a:ln>
        </p:spPr>
      </p:sp>
      <p:sp>
        <p:nvSpPr>
          <p:cNvPr id="16" name="Text 13"/>
          <p:cNvSpPr txBox="1"/>
          <p:nvPr/>
        </p:nvSpPr>
        <p:spPr>
          <a:xfrm>
            <a:off x="2907792"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Sun on sandstone</a:t>
            </a:r>
            <a:endParaRPr lang="en-US" sz="650" dirty="0"/>
          </a:p>
        </p:txBody>
      </p:sp>
      <p:sp>
        <p:nvSpPr>
          <p:cNvPr id="17" name="Text 14"/>
          <p:cNvSpPr txBox="1"/>
          <p:nvPr/>
        </p:nvSpPr>
        <p:spPr>
          <a:xfrm>
            <a:off x="4663440" y="548640"/>
            <a:ext cx="7315200" cy="274320"/>
          </a:xfrm>
          <a:prstGeom prst="rect">
            <a:avLst/>
          </a:prstGeom>
          <a:noFill/>
          <a:ln/>
        </p:spPr>
        <p:txBody>
          <a:bodyPr wrap="square" lIns="0" tIns="0" rIns="0" bIns="0" rtlCol="0" anchor="t"/>
          <a:lstStyle/>
          <a:p>
            <a:pPr indent="0" marL="0">
              <a:buNone/>
            </a:pPr>
            <a:r>
              <a:rPr lang="en-US" sz="900" b="1" spc="400" kern="0" dirty="0">
                <a:solidFill>
                  <a:srgbClr val="D7F25A"/>
                </a:solidFill>
                <a:latin typeface="Inter" pitchFamily="34" charset="0"/>
                <a:ea typeface="Inter" pitchFamily="34" charset="-122"/>
                <a:cs typeface="Inter" pitchFamily="34" charset="-120"/>
              </a:rPr>
              <a:t>FIRST LIGHT · 06:15–07:45 + 10:00–11:00</a:t>
            </a:r>
            <a:endParaRPr lang="en-US" sz="900" dirty="0"/>
          </a:p>
        </p:txBody>
      </p:sp>
      <p:sp>
        <p:nvSpPr>
          <p:cNvPr id="18" name="Text 15"/>
          <p:cNvSpPr txBox="1"/>
          <p:nvPr/>
        </p:nvSpPr>
        <p:spPr>
          <a:xfrm>
            <a:off x="4663440" y="914400"/>
            <a:ext cx="6949440" cy="1097280"/>
          </a:xfrm>
          <a:prstGeom prst="rect">
            <a:avLst/>
          </a:prstGeom>
          <a:noFill/>
          <a:ln/>
        </p:spPr>
        <p:txBody>
          <a:bodyPr wrap="square" lIns="0" tIns="0" rIns="0" bIns="0" rtlCol="0" anchor="t"/>
          <a:lstStyle/>
          <a:p>
            <a:pPr indent="0" marL="0">
              <a:lnSpc>
                <a:spcPct val="105000"/>
              </a:lnSpc>
              <a:buNone/>
            </a:pPr>
            <a:r>
              <a:rPr lang="en-US" sz="1900" dirty="0">
                <a:solidFill>
                  <a:srgbClr val="F2EDE4"/>
                </a:solidFill>
                <a:latin typeface="Oswald" pitchFamily="34" charset="0"/>
                <a:ea typeface="Oswald" pitchFamily="34" charset="-122"/>
                <a:cs typeface="Oswald" pitchFamily="34" charset="-120"/>
              </a:rPr>
              <a:t>The routine nobody sees. Neetu's definition of dominance — absolute command over your own calendar. Not a gym flex: a quiet dawn that belongs to him.</a:t>
            </a:r>
            <a:endParaRPr lang="en-US" sz="1900" dirty="0"/>
          </a:p>
        </p:txBody>
      </p:sp>
      <p:sp>
        <p:nvSpPr>
          <p:cNvPr id="19" name="Text 16"/>
          <p:cNvSpPr txBox="1"/>
          <p:nvPr/>
        </p:nvSpPr>
        <p:spPr>
          <a:xfrm>
            <a:off x="4663440" y="2331720"/>
            <a:ext cx="13716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WHERE</a:t>
            </a:r>
            <a:endParaRPr lang="en-US" sz="750" dirty="0"/>
          </a:p>
        </p:txBody>
      </p:sp>
      <p:sp>
        <p:nvSpPr>
          <p:cNvPr id="20" name="Text 17"/>
          <p:cNvSpPr txBox="1"/>
          <p:nvPr/>
        </p:nvSpPr>
        <p:spPr>
          <a:xfrm>
            <a:off x="6035040" y="2304288"/>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Haveli rooftop at first light · Jal Mahal promenade (free, public) · white-marble counter</a:t>
            </a:r>
            <a:endParaRPr lang="en-US" sz="1050" dirty="0"/>
          </a:p>
        </p:txBody>
      </p:sp>
      <p:sp>
        <p:nvSpPr>
          <p:cNvPr id="21" name="Text 18"/>
          <p:cNvSpPr txBox="1"/>
          <p:nvPr/>
        </p:nvSpPr>
        <p:spPr>
          <a:xfrm>
            <a:off x="4663440" y="2898648"/>
            <a:ext cx="13716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WARDROBE</a:t>
            </a:r>
            <a:endParaRPr lang="en-US" sz="750" dirty="0"/>
          </a:p>
        </p:txBody>
      </p:sp>
      <p:sp>
        <p:nvSpPr>
          <p:cNvPr id="22" name="Text 19"/>
          <p:cNvSpPr txBox="1"/>
          <p:nvPr/>
        </p:nvSpPr>
        <p:spPr>
          <a:xfrm>
            <a:off x="6035040" y="2871216"/>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Look 1: black training tee + black track pants. Look 2: open white linen shirt, white trousers.</a:t>
            </a:r>
            <a:endParaRPr lang="en-US" sz="1050" dirty="0"/>
          </a:p>
        </p:txBody>
      </p:sp>
      <p:sp>
        <p:nvSpPr>
          <p:cNvPr id="23" name="Text 20"/>
          <p:cNvSpPr txBox="1"/>
          <p:nvPr/>
        </p:nvSpPr>
        <p:spPr>
          <a:xfrm>
            <a:off x="4663440" y="3465576"/>
            <a:ext cx="13716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a:t>
            </a:r>
            <a:endParaRPr lang="en-US" sz="750" dirty="0"/>
          </a:p>
        </p:txBody>
      </p:sp>
      <p:sp>
        <p:nvSpPr>
          <p:cNvPr id="24" name="Text 21"/>
          <p:cNvSpPr txBox="1"/>
          <p:nvPr/>
        </p:nvSpPr>
        <p:spPr>
          <a:xfrm>
            <a:off x="6035040" y="3438144"/>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Breath, footsteps, one kick drum on the end card.</a:t>
            </a:r>
            <a:endParaRPr lang="en-US" sz="1050" dirty="0"/>
          </a:p>
        </p:txBody>
      </p:sp>
      <p:sp>
        <p:nvSpPr>
          <p:cNvPr id="25" name="Shape 22"/>
          <p:cNvSpPr/>
          <p:nvPr/>
        </p:nvSpPr>
        <p:spPr>
          <a:xfrm>
            <a:off x="4663440" y="4206240"/>
            <a:ext cx="2240280" cy="2011680"/>
          </a:xfrm>
          <a:prstGeom prst="rect">
            <a:avLst/>
          </a:prstGeom>
          <a:solidFill>
            <a:srgbClr val="151513"/>
          </a:solidFill>
          <a:ln w="9525">
            <a:solidFill>
              <a:srgbClr val="2B2A26"/>
            </a:solidFill>
            <a:prstDash val="solid"/>
          </a:ln>
        </p:spPr>
      </p:sp>
      <p:sp>
        <p:nvSpPr>
          <p:cNvPr id="26" name="Text 23"/>
          <p:cNvSpPr txBox="1"/>
          <p:nvPr/>
        </p:nvSpPr>
        <p:spPr>
          <a:xfrm>
            <a:off x="4846320" y="4370832"/>
            <a:ext cx="914400" cy="365760"/>
          </a:xfrm>
          <a:prstGeom prst="rect">
            <a:avLst/>
          </a:prstGeom>
          <a:noFill/>
          <a:ln/>
        </p:spPr>
        <p:txBody>
          <a:bodyPr wrap="square" lIns="0" tIns="0" rIns="0" bIns="0" rtlCol="0" anchor="t"/>
          <a:lstStyle/>
          <a:p>
            <a:pPr indent="0" marL="0">
              <a:buNone/>
            </a:pPr>
            <a:r>
              <a:rPr lang="en-US" sz="1800" b="1" dirty="0">
                <a:solidFill>
                  <a:srgbClr val="D7F25A"/>
                </a:solidFill>
                <a:latin typeface="Oswald" pitchFamily="34" charset="0"/>
                <a:ea typeface="Oswald" pitchFamily="34" charset="-122"/>
                <a:cs typeface="Oswald" pitchFamily="34" charset="-120"/>
              </a:rPr>
              <a:t>B1</a:t>
            </a:r>
            <a:endParaRPr lang="en-US" sz="1800" dirty="0"/>
          </a:p>
        </p:txBody>
      </p:sp>
      <p:sp>
        <p:nvSpPr>
          <p:cNvPr id="27" name="Text 24"/>
          <p:cNvSpPr txBox="1"/>
          <p:nvPr/>
        </p:nvSpPr>
        <p:spPr>
          <a:xfrm>
            <a:off x="484632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4:59</a:t>
            </a:r>
            <a:endParaRPr lang="en-US" sz="1400" dirty="0"/>
          </a:p>
        </p:txBody>
      </p:sp>
      <p:sp>
        <p:nvSpPr>
          <p:cNvPr id="28" name="Text 25"/>
          <p:cNvSpPr txBox="1"/>
          <p:nvPr/>
        </p:nvSpPr>
        <p:spPr>
          <a:xfrm>
            <a:off x="484632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Story reel · 25 s</a:t>
            </a:r>
            <a:endParaRPr lang="en-US" sz="850" dirty="0"/>
          </a:p>
        </p:txBody>
      </p:sp>
      <p:sp>
        <p:nvSpPr>
          <p:cNvPr id="29" name="Text 26"/>
          <p:cNvSpPr txBox="1"/>
          <p:nvPr/>
        </p:nvSpPr>
        <p:spPr>
          <a:xfrm>
            <a:off x="484632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Sovereign time</a:t>
            </a:r>
            <a:endParaRPr lang="en-US" sz="900" dirty="0"/>
          </a:p>
        </p:txBody>
      </p:sp>
      <p:sp>
        <p:nvSpPr>
          <p:cNvPr id="30" name="Shape 27"/>
          <p:cNvSpPr/>
          <p:nvPr/>
        </p:nvSpPr>
        <p:spPr>
          <a:xfrm>
            <a:off x="7040880" y="4206240"/>
            <a:ext cx="2240280" cy="2011680"/>
          </a:xfrm>
          <a:prstGeom prst="rect">
            <a:avLst/>
          </a:prstGeom>
          <a:solidFill>
            <a:srgbClr val="151513"/>
          </a:solidFill>
          <a:ln w="9525">
            <a:solidFill>
              <a:srgbClr val="2B2A26"/>
            </a:solidFill>
            <a:prstDash val="solid"/>
          </a:ln>
        </p:spPr>
      </p:sp>
      <p:sp>
        <p:nvSpPr>
          <p:cNvPr id="31" name="Text 28"/>
          <p:cNvSpPr txBox="1"/>
          <p:nvPr/>
        </p:nvSpPr>
        <p:spPr>
          <a:xfrm>
            <a:off x="7223760" y="4370832"/>
            <a:ext cx="914400" cy="365760"/>
          </a:xfrm>
          <a:prstGeom prst="rect">
            <a:avLst/>
          </a:prstGeom>
          <a:noFill/>
          <a:ln/>
        </p:spPr>
        <p:txBody>
          <a:bodyPr wrap="square" lIns="0" tIns="0" rIns="0" bIns="0" rtlCol="0" anchor="t"/>
          <a:lstStyle/>
          <a:p>
            <a:pPr indent="0" marL="0">
              <a:buNone/>
            </a:pPr>
            <a:r>
              <a:rPr lang="en-US" sz="1800" b="1" dirty="0">
                <a:solidFill>
                  <a:srgbClr val="D7F25A"/>
                </a:solidFill>
                <a:latin typeface="Oswald" pitchFamily="34" charset="0"/>
                <a:ea typeface="Oswald" pitchFamily="34" charset="-122"/>
                <a:cs typeface="Oswald" pitchFamily="34" charset="-120"/>
              </a:rPr>
              <a:t>B2</a:t>
            </a:r>
            <a:endParaRPr lang="en-US" sz="1800" dirty="0"/>
          </a:p>
        </p:txBody>
      </p:sp>
      <p:sp>
        <p:nvSpPr>
          <p:cNvPr id="32" name="Text 29"/>
          <p:cNvSpPr txBox="1"/>
          <p:nvPr/>
        </p:nvSpPr>
        <p:spPr>
          <a:xfrm>
            <a:off x="722376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COLD. SHARP. ON TIME.</a:t>
            </a:r>
            <a:endParaRPr lang="en-US" sz="1400" dirty="0"/>
          </a:p>
        </p:txBody>
      </p:sp>
      <p:sp>
        <p:nvSpPr>
          <p:cNvPr id="33" name="Text 30"/>
          <p:cNvSpPr txBox="1"/>
          <p:nvPr/>
        </p:nvSpPr>
        <p:spPr>
          <a:xfrm>
            <a:off x="722376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Detail · hands · 12 s</a:t>
            </a:r>
            <a:endParaRPr lang="en-US" sz="850" dirty="0"/>
          </a:p>
        </p:txBody>
      </p:sp>
      <p:sp>
        <p:nvSpPr>
          <p:cNvPr id="34" name="Text 31"/>
          <p:cNvSpPr txBox="1"/>
          <p:nvPr/>
        </p:nvSpPr>
        <p:spPr>
          <a:xfrm>
            <a:off x="722376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Fresh cut</a:t>
            </a:r>
            <a:endParaRPr lang="en-US" sz="900" dirty="0"/>
          </a:p>
        </p:txBody>
      </p:sp>
      <p:sp>
        <p:nvSpPr>
          <p:cNvPr id="35" name="Shape 32"/>
          <p:cNvSpPr/>
          <p:nvPr/>
        </p:nvSpPr>
        <p:spPr>
          <a:xfrm>
            <a:off x="9418320" y="4206240"/>
            <a:ext cx="2240280" cy="2011680"/>
          </a:xfrm>
          <a:prstGeom prst="rect">
            <a:avLst/>
          </a:prstGeom>
          <a:solidFill>
            <a:srgbClr val="151513"/>
          </a:solidFill>
          <a:ln w="9525">
            <a:solidFill>
              <a:srgbClr val="2B2A26"/>
            </a:solidFill>
            <a:prstDash val="solid"/>
          </a:ln>
        </p:spPr>
      </p:sp>
      <p:sp>
        <p:nvSpPr>
          <p:cNvPr id="36" name="Text 33"/>
          <p:cNvSpPr txBox="1"/>
          <p:nvPr/>
        </p:nvSpPr>
        <p:spPr>
          <a:xfrm>
            <a:off x="9601200" y="4370832"/>
            <a:ext cx="914400" cy="365760"/>
          </a:xfrm>
          <a:prstGeom prst="rect">
            <a:avLst/>
          </a:prstGeom>
          <a:noFill/>
          <a:ln/>
        </p:spPr>
        <p:txBody>
          <a:bodyPr wrap="square" lIns="0" tIns="0" rIns="0" bIns="0" rtlCol="0" anchor="t"/>
          <a:lstStyle/>
          <a:p>
            <a:pPr indent="0" marL="0">
              <a:buNone/>
            </a:pPr>
            <a:r>
              <a:rPr lang="en-US" sz="1800" b="1" dirty="0">
                <a:solidFill>
                  <a:srgbClr val="D7F25A"/>
                </a:solidFill>
                <a:latin typeface="Oswald" pitchFamily="34" charset="0"/>
                <a:ea typeface="Oswald" pitchFamily="34" charset="-122"/>
                <a:cs typeface="Oswald" pitchFamily="34" charset="-120"/>
              </a:rPr>
              <a:t>B3</a:t>
            </a:r>
            <a:endParaRPr lang="en-US" sz="1800" dirty="0"/>
          </a:p>
        </p:txBody>
      </p:sp>
      <p:sp>
        <p:nvSpPr>
          <p:cNvPr id="37" name="Text 34"/>
          <p:cNvSpPr txBox="1"/>
          <p:nvPr/>
        </p:nvSpPr>
        <p:spPr>
          <a:xfrm>
            <a:off x="960120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JAL MAHAL, 6:50</a:t>
            </a:r>
            <a:endParaRPr lang="en-US" sz="1400" dirty="0"/>
          </a:p>
        </p:txBody>
      </p:sp>
      <p:sp>
        <p:nvSpPr>
          <p:cNvPr id="38" name="Text 35"/>
          <p:cNvSpPr txBox="1"/>
          <p:nvPr/>
        </p:nvSpPr>
        <p:spPr>
          <a:xfrm>
            <a:off x="960120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Run · punch · 10 s</a:t>
            </a:r>
            <a:endParaRPr lang="en-US" sz="850" dirty="0"/>
          </a:p>
        </p:txBody>
      </p:sp>
      <p:sp>
        <p:nvSpPr>
          <p:cNvPr id="39" name="Text 36"/>
          <p:cNvSpPr txBox="1"/>
          <p:nvPr/>
        </p:nvSpPr>
        <p:spPr>
          <a:xfrm>
            <a:off x="960120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The city sleeps in. He doesn't.</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22</a:t>
            </a:r>
            <a:endParaRPr lang="en-US" sz="750" dirty="0"/>
          </a:p>
        </p:txBody>
      </p:sp>
      <p:pic>
        <p:nvPicPr>
          <p:cNvPr id="4" name="Image 0" descr="/tmp/claude-0/-home-user-Sage-portfolio/d05fecce-977e-5eab-9cf5-7c09b306c551/scratchpad/wrdeck/img/ai_lime_r2.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B1  ·  STORY REEL  ·  25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4:59</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Sovereign time</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The city is asleep; he is already up. The alarm reads 4:59 and he switches it off before it rings. Dominance isn't noise — it's control over your own time.</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Phone alarm at 4:59 — his hand stops it before it rings. The watch is already on.</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SCRIPT · HINGLISH</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"Duniya ka alarm abhi baja nahi."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"Mera din shuru ho chuka hai."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"Dominance shor se nahi aata… control se aata hai."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"Apne time pe."</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SOVEREIGN TIME.</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"Mountains" (Interstellar)</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Room tone · breath · rope whip · birds at sunrise · single kick on the end card.</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23</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B1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4:59</a:t>
            </a:r>
            <a:endParaRPr lang="en-US" sz="3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Dark room, phone shows 4:59, his hand stops it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 light from the phone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3–6s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sits on the bed edge, fastens nothing — the watch is already on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 dark</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6–10s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climbs the haveli stairs to the roof</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 gimbal from below</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10–17s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Skipping / push-ups at first light; macro at the bottom of a push-up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wide + 100mm insert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17–22s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stops, checks the watch; sunrise over Jaipur behind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backlit, flare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22–25s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End card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471416"/>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700016"/>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Phone with 4:59 alarm screen · skipping rope.</a:t>
            </a:r>
            <a:endParaRPr lang="en-US" sz="950" dirty="0"/>
          </a:p>
        </p:txBody>
      </p:sp>
      <p:pic>
        <p:nvPicPr>
          <p:cNvPr id="9" name="Image 0" descr="/tmp/claude-0/-home-user-Sage-portfolio/d05fecce-977e-5eab-9cf5-7c09b306c551/scratchpad/wrdeck/img/crop_lim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"Mountains" (Interstellar)</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5am routine cinematic rooftop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@tagheuer — sport discipline edits</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24</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B1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4:59</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D7F25A"/>
          </a:solidFill>
          <a:ln w="12700">
            <a:solidFill>
              <a:srgbClr val="D7F25A"/>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Dark bedroom: phone screen glowing 4:59, his hand reaching, watch on the wrist</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D7F25A"/>
          </a:solidFill>
          <a:ln w="12700">
            <a:solidFill>
              <a:srgbClr val="D7F25A"/>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thumb stops the alarm before it rings</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D7F25A"/>
          </a:solidFill>
          <a:ln w="12700">
            <a:solidFill>
              <a:srgbClr val="D7F25A"/>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sits on the bed edge in the dark, calm, already awake</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D7F25A"/>
          </a:solidFill>
          <a:ln w="12700">
            <a:solidFill>
              <a:srgbClr val="D7F25A"/>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Low angle: climbing the narrow haveli staircase toward the light</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D7F25A"/>
          </a:solidFill>
          <a:ln w="12700">
            <a:solidFill>
              <a:srgbClr val="D7F25A"/>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Rooftop at first light, old-city skyline silhouette</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D7F25A"/>
          </a:solidFill>
          <a:ln w="12700">
            <a:solidFill>
              <a:srgbClr val="D7F25A"/>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Skipping rope frozen mid-air</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D7F25A"/>
          </a:solidFill>
          <a:ln w="12700">
            <a:solidFill>
              <a:srgbClr val="D7F25A"/>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Push-up at the bottom: macro of the Citrus Mint on his wrist</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D7F25A"/>
          </a:solidFill>
          <a:ln w="12700">
            <a:solidFill>
              <a:srgbClr val="D7F25A"/>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stands and checks the watch; sun flare</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D7F25A"/>
          </a:solidFill>
          <a:ln w="12700">
            <a:solidFill>
              <a:srgbClr val="D7F25A"/>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Silhouette against the sunrise — space for the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B1 from the prompt pack (one 3×3 grid) and send it back — it drops into these nine slots.</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25</a:t>
            </a:r>
            <a:endParaRPr lang="en-US" sz="750" dirty="0"/>
          </a:p>
        </p:txBody>
      </p:sp>
      <p:sp>
        <p:nvSpPr>
          <p:cNvPr id="4" name="Shape 2"/>
          <p:cNvSpPr/>
          <p:nvPr/>
        </p:nvSpPr>
        <p:spPr>
          <a:xfrm>
            <a:off x="548640" y="502920"/>
            <a:ext cx="3017520" cy="5394960"/>
          </a:xfrm>
          <a:prstGeom prst="rect">
            <a:avLst/>
          </a:prstGeom>
          <a:solidFill>
            <a:srgbClr val="151513"/>
          </a:solidFill>
          <a:ln w="9525">
            <a:solidFill>
              <a:srgbClr val="2B2A26"/>
            </a:solidFill>
            <a:prstDash val="solid"/>
          </a:ln>
        </p:spPr>
      </p:sp>
      <p:pic>
        <p:nvPicPr>
          <p:cNvPr id="5" name="Image 0" descr="/tmp/claude-0/-home-user-Sage-portfolio/d05fecce-977e-5eab-9cf5-7c09b306c551/scratchpad/wrdeck/img/crop_lime.jpg">    </p:cNvPr>
          <p:cNvPicPr>
            <a:picLocks noChangeAspect="1"/>
          </p:cNvPicPr>
          <p:nvPr/>
        </p:nvPicPr>
        <p:blipFill>
          <a:blip r:embed="rId1"/>
          <a:srcRect l="0" r="0" t="0" b="0"/>
          <a:stretch/>
        </p:blipFill>
        <p:spPr>
          <a:xfrm>
            <a:off x="868680" y="960120"/>
            <a:ext cx="2377440" cy="2926080"/>
          </a:xfrm>
          <a:prstGeom prst="rect">
            <a:avLst/>
          </a:prstGeom>
        </p:spPr>
      </p:pic>
      <p:sp>
        <p:nvSpPr>
          <p:cNvPr id="6" name="Text 3"/>
          <p:cNvSpPr txBox="1"/>
          <p:nvPr/>
        </p:nvSpPr>
        <p:spPr>
          <a:xfrm>
            <a:off x="868680" y="4160520"/>
            <a:ext cx="2377440" cy="274320"/>
          </a:xfrm>
          <a:prstGeom prst="rect">
            <a:avLst/>
          </a:prstGeom>
          <a:noFill/>
          <a:ln/>
        </p:spPr>
        <p:txBody>
          <a:bodyPr wrap="square" lIns="0" tIns="0" rIns="0" bIns="0" rtlCol="0" anchor="t"/>
          <a:lstStyle/>
          <a:p>
            <a:pPr indent="0" marL="0">
              <a:buNone/>
            </a:pPr>
            <a:r>
              <a:rPr lang="en-US" sz="1000" b="1" spc="300" kern="0" dirty="0">
                <a:solidFill>
                  <a:srgbClr val="D7F25A"/>
                </a:solidFill>
                <a:latin typeface="Inter" pitchFamily="34" charset="0"/>
                <a:ea typeface="Inter" pitchFamily="34" charset="-122"/>
                <a:cs typeface="Inter" pitchFamily="34" charset="-120"/>
              </a:rPr>
              <a:t>AI FRAME PENDING</a:t>
            </a:r>
            <a:endParaRPr lang="en-US" sz="1000" dirty="0"/>
          </a:p>
        </p:txBody>
      </p:sp>
      <p:sp>
        <p:nvSpPr>
          <p:cNvPr id="7" name="Text 4"/>
          <p:cNvSpPr txBox="1"/>
          <p:nvPr/>
        </p:nvSpPr>
        <p:spPr>
          <a:xfrm>
            <a:off x="868680" y="4480560"/>
            <a:ext cx="2377440" cy="91440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The real watch is shown. This reel's storyboard prompt is in the prompt pack.</a:t>
            </a:r>
            <a:endParaRPr lang="en-US" sz="900" dirty="0"/>
          </a:p>
        </p:txBody>
      </p:sp>
      <p:sp>
        <p:nvSpPr>
          <p:cNvPr id="8" name="Text 5"/>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B2  ·  DETAIL · HANDS  ·  12 S  ·  9:16</a:t>
            </a:r>
            <a:endParaRPr lang="en-US" sz="900" dirty="0"/>
          </a:p>
        </p:txBody>
      </p:sp>
      <p:sp>
        <p:nvSpPr>
          <p:cNvPr id="9" name="Text 6"/>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COLD. SHARP. ON TIME.</a:t>
            </a:r>
            <a:endParaRPr lang="en-US" sz="3600" dirty="0"/>
          </a:p>
        </p:txBody>
      </p:sp>
      <p:sp>
        <p:nvSpPr>
          <p:cNvPr id="10" name="Text 7"/>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Fresh cut</a:t>
            </a:r>
            <a:endParaRPr lang="en-US" sz="1100" dirty="0"/>
          </a:p>
        </p:txBody>
      </p:sp>
      <p:sp>
        <p:nvSpPr>
          <p:cNvPr id="11" name="Text 8"/>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CONCEPT</a:t>
            </a:r>
            <a:endParaRPr lang="en-US" sz="750" dirty="0"/>
          </a:p>
        </p:txBody>
      </p:sp>
      <p:sp>
        <p:nvSpPr>
          <p:cNvPr id="12" name="Text 9"/>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Freshness as discipline. A white-marble counter, halved limes, mint, ice, a sweating glass — and his wrist working through it. The Citrus Mint looks like it was made for the table, without ever leaving his wrist.</a:t>
            </a:r>
            <a:endParaRPr lang="en-US" sz="1100" dirty="0"/>
          </a:p>
        </p:txBody>
      </p:sp>
      <p:sp>
        <p:nvSpPr>
          <p:cNvPr id="13" name="Shape 10"/>
          <p:cNvSpPr/>
          <p:nvPr/>
        </p:nvSpPr>
        <p:spPr>
          <a:xfrm>
            <a:off x="3977640" y="3108960"/>
            <a:ext cx="7680960" cy="685800"/>
          </a:xfrm>
          <a:prstGeom prst="rect">
            <a:avLst/>
          </a:prstGeom>
          <a:solidFill>
            <a:srgbClr val="151513"/>
          </a:solidFill>
          <a:ln w="9525">
            <a:solidFill>
              <a:srgbClr val="2B2A26"/>
            </a:solidFill>
            <a:prstDash val="solid"/>
          </a:ln>
        </p:spPr>
      </p:sp>
      <p:sp>
        <p:nvSpPr>
          <p:cNvPr id="14" name="Text 11"/>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HOOK · FIRST 2 SECONDS</a:t>
            </a:r>
            <a:endParaRPr lang="en-US" sz="750" dirty="0"/>
          </a:p>
        </p:txBody>
      </p:sp>
      <p:sp>
        <p:nvSpPr>
          <p:cNvPr id="15" name="Text 12"/>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One hard knife cut through a lime — ASMR crunch — the watch on the knife hand fills the foreground.</a:t>
            </a:r>
            <a:endParaRPr lang="en-US" sz="1000" dirty="0"/>
          </a:p>
        </p:txBody>
      </p:sp>
      <p:sp>
        <p:nvSpPr>
          <p:cNvPr id="16" name="Text 13"/>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VOICE</a:t>
            </a:r>
            <a:endParaRPr lang="en-US" sz="750" dirty="0"/>
          </a:p>
        </p:txBody>
      </p:sp>
      <p:sp>
        <p:nvSpPr>
          <p:cNvPr id="17" name="Text 14"/>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No voice-over.</a:t>
            </a:r>
            <a:endParaRPr lang="en-US" sz="1150" dirty="0"/>
          </a:p>
        </p:txBody>
      </p:sp>
      <p:sp>
        <p:nvSpPr>
          <p:cNvPr id="18" name="Text 15"/>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ON SCREEN</a:t>
            </a:r>
            <a:endParaRPr lang="en-US" sz="750" dirty="0"/>
          </a:p>
        </p:txBody>
      </p:sp>
      <p:sp>
        <p:nvSpPr>
          <p:cNvPr id="19" name="Text 16"/>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COLD. SHARP. ON TIME.</a:t>
            </a:r>
            <a:endParaRPr lang="en-US" sz="950" dirty="0"/>
          </a:p>
        </p:txBody>
      </p:sp>
      <p:sp>
        <p:nvSpPr>
          <p:cNvPr id="20" name="Text 17"/>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 REFERENCE · TAP TO LISTEN</a:t>
            </a:r>
            <a:endParaRPr lang="en-US" sz="750" dirty="0"/>
          </a:p>
        </p:txBody>
      </p:sp>
      <p:sp>
        <p:nvSpPr>
          <p:cNvPr id="21" name="Text 18"/>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Kendrick Lamar — "HUMBLE." (instrumental)</a:t>
            </a:r>
            <a:endParaRPr lang="en-US" sz="950" dirty="0"/>
          </a:p>
        </p:txBody>
      </p:sp>
      <p:sp>
        <p:nvSpPr>
          <p:cNvPr id="22" name="Text 19"/>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Knife, ice clink, fizz, one tick.</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26</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B2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COLD. SHARP. ON TIME.</a:t>
            </a:r>
            <a:endParaRPr lang="en-US" sz="3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0–2s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Knife slices a lime, the watch on the knife hand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 120 fps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2–5s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drops ice into the glass; condensation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5–8s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Top-down: his hand among limes and mint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overhead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8–10s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lifts the glass; wrist turns toward camera</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10–12s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Macro: mint dial with the lime reflected in the crystal</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087368"/>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315968"/>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White marble counter · limes · mint · clear ice · glass · open white linen shirt.</a:t>
            </a:r>
            <a:endParaRPr lang="en-US" sz="950" dirty="0"/>
          </a:p>
        </p:txBody>
      </p:sp>
      <p:pic>
        <p:nvPicPr>
          <p:cNvPr id="9" name="Image 0" descr="/tmp/claude-0/-home-user-Sage-portfolio/d05fecce-977e-5eab-9cf5-7c09b306c551/scratchpad/wrdeck/img/crop_lim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Kendrick Lamar — "HUMBLE." (instrumental)</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lime mint marble hands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@omega — clean tabletop motion</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27</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B2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COLD. SHARP. ON TIME.</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D7F25A"/>
          </a:solidFill>
          <a:ln w="12700">
            <a:solidFill>
              <a:srgbClr val="D7F25A"/>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White marble counter: halved limes, mint, a glass of ice; his wrist enters frame</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D7F25A"/>
          </a:solidFill>
          <a:ln w="12700">
            <a:solidFill>
              <a:srgbClr val="D7F25A"/>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Knife slicing a lime, the watch on the knife hand in the foreground</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D7F25A"/>
          </a:solidFill>
          <a:ln w="12700">
            <a:solidFill>
              <a:srgbClr val="D7F25A"/>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Lime juice droplets in slow motion</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D7F25A"/>
          </a:solidFill>
          <a:ln w="12700">
            <a:solidFill>
              <a:srgbClr val="D7F25A"/>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hand dropping ice into the glass</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D7F25A"/>
          </a:solidFill>
          <a:ln w="12700">
            <a:solidFill>
              <a:srgbClr val="D7F25A"/>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Condensation on the glass, the watch on his wrist behind it</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D7F25A"/>
          </a:solidFill>
          <a:ln w="12700">
            <a:solidFill>
              <a:srgbClr val="D7F25A"/>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Top-down: his hand resting among limes and mint</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D7F25A"/>
          </a:solidFill>
          <a:ln w="12700">
            <a:solidFill>
              <a:srgbClr val="D7F25A"/>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mint dial with a lime reflected in the crystal</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D7F25A"/>
          </a:solidFill>
          <a:ln w="12700">
            <a:solidFill>
              <a:srgbClr val="D7F25A"/>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lifts the glass, wrist turned to camera</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D7F25A"/>
          </a:solidFill>
          <a:ln w="12700">
            <a:solidFill>
              <a:srgbClr val="D7F25A"/>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Clean lime-and-mint frame for the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B2 from the prompt pack (one 3×3 grid) and send it back — it drops into these nine slots.</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28</a:t>
            </a:r>
            <a:endParaRPr lang="en-US" sz="750" dirty="0"/>
          </a:p>
        </p:txBody>
      </p:sp>
      <p:pic>
        <p:nvPicPr>
          <p:cNvPr id="4" name="Image 0" descr="/tmp/claude-0/-home-user-Sage-portfolio/d05fecce-977e-5eab-9cf5-7c09b306c551/scratchpad/wrdeck/img/ai_lime_r4.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B3  ·  RUN · PUNCH  ·  10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JAL MAHAL, 6:50</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The city sleeps in. He doesn't.</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A sunrise run along the Jal Mahal promenade — free, public, and empty at that hour. Mist on Man Sagar lake, the palace floating behind. He slows at the railing and checks his wrist. No speech, no flex: the discipline is in the hour.</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Running shoes hit the stone promenade in a hard rhythm; the palace rises out of the mist.</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VOICE</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No voice-over — or one line: "Shehar abhi so raha hai."</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THE CITY SLEEPS IN. HE DOESN'T.</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"Dream of Arrakis" (Dune)</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Footsteps, breath, birds on the lake, one tick.</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29</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B3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JAL MAHAL, 6:50</a:t>
            </a:r>
            <a:endParaRPr lang="en-US" sz="3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0–2s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Jal Mahal in morning mist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locked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2–4s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Running shoes on the promenade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 low, tracking</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4–7s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slows at the railing, raises the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sun flare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7–10s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Macro: lime case, sweat on the skin; wide back view to the palace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+ 35mm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370332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3931920"/>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 (public promenade, handheld, small crew).</a:t>
            </a:r>
            <a:endParaRPr lang="en-US" sz="950" dirty="0"/>
          </a:p>
        </p:txBody>
      </p:sp>
      <p:pic>
        <p:nvPicPr>
          <p:cNvPr id="9" name="Image 0" descr="/tmp/claude-0/-home-user-Sage-portfolio/d05fecce-977e-5eab-9cf5-7c09b306c551/scratchpad/wrdeck/img/crop_lim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"Dream of Arrakis" (Dune)</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sunrise run cinematic lake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Pinterest · jal mahal morning mist</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30</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B3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JAL MAHAL, 6:50</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D7F25A"/>
          </a:solidFill>
          <a:ln w="12700">
            <a:solidFill>
              <a:srgbClr val="D7F25A"/>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Jal Mahal floating in morning mist on Man Sagar lake, empty promenade</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D7F25A"/>
          </a:solidFill>
          <a:ln w="12700">
            <a:solidFill>
              <a:srgbClr val="D7F25A"/>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Running shoes hitting the stone promenade, low angle</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D7F25A"/>
          </a:solidFill>
          <a:ln w="12700">
            <a:solidFill>
              <a:srgbClr val="D7F25A"/>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Tracking: Mukesh running in black training gear, lake behind</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D7F25A"/>
          </a:solidFill>
          <a:ln w="12700">
            <a:solidFill>
              <a:srgbClr val="D7F25A"/>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Side profile mid-stride, breath visible in cool air</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D7F25A"/>
          </a:solidFill>
          <a:ln w="12700">
            <a:solidFill>
              <a:srgbClr val="D7F25A"/>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slows to a stop at the railing</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D7F25A"/>
          </a:solidFill>
          <a:ln w="12700">
            <a:solidFill>
              <a:srgbClr val="D7F25A"/>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raises his wrist to check the Citrus Mint; sun flare</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D7F25A"/>
          </a:solidFill>
          <a:ln w="12700">
            <a:solidFill>
              <a:srgbClr val="D7F25A"/>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lime case and mint dial, a bead of sweat on the skin</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D7F25A"/>
          </a:solidFill>
          <a:ln w="12700">
            <a:solidFill>
              <a:srgbClr val="D7F25A"/>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Back view: him facing the palace across the water</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D7F25A"/>
          </a:solidFill>
          <a:ln w="12700">
            <a:solidFill>
              <a:srgbClr val="D7F25A"/>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Wide: a small figure, the palace on the lake —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B3 from the prompt pack (one 3×3 grid) and send it back — it drops into these nine slots.</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31</a:t>
            </a:r>
            <a:endParaRPr lang="en-US" sz="750" dirty="0"/>
          </a:p>
        </p:txBody>
      </p:sp>
      <p:sp>
        <p:nvSpPr>
          <p:cNvPr id="4" name="Shape 2"/>
          <p:cNvSpPr/>
          <p:nvPr/>
        </p:nvSpPr>
        <p:spPr>
          <a:xfrm>
            <a:off x="0" y="0"/>
            <a:ext cx="4206240" cy="6858000"/>
          </a:xfrm>
          <a:prstGeom prst="rect">
            <a:avLst/>
          </a:prstGeom>
          <a:solidFill>
            <a:srgbClr val="1E3A6B"/>
          </a:solidFill>
          <a:ln w="12700">
            <a:solidFill>
              <a:srgbClr val="1E3A6B"/>
            </a:solidFill>
            <a:prstDash val="solid"/>
          </a:ln>
        </p:spPr>
      </p:sp>
      <p:pic>
        <p:nvPicPr>
          <p:cNvPr id="5" name="Image 0" descr="/tmp/claude-0/-home-user-Sage-portfolio/d05fecce-977e-5eab-9cf5-7c09b306c551/scratchpad/wrdeck/img/crop_skyblue.jpg">    </p:cNvPr>
          <p:cNvPicPr>
            <a:picLocks noChangeAspect="1"/>
          </p:cNvPicPr>
          <p:nvPr/>
        </p:nvPicPr>
        <p:blipFill>
          <a:blip r:embed="rId1"/>
          <a:srcRect l="0" r="0" t="0" b="0"/>
          <a:stretch/>
        </p:blipFill>
        <p:spPr>
          <a:xfrm>
            <a:off x="548640" y="2103120"/>
            <a:ext cx="3108960" cy="3566160"/>
          </a:xfrm>
          <a:prstGeom prst="rect">
            <a:avLst/>
          </a:prstGeom>
        </p:spPr>
      </p:pic>
      <p:sp>
        <p:nvSpPr>
          <p:cNvPr id="6" name="Text 3"/>
          <p:cNvSpPr txBox="1"/>
          <p:nvPr/>
        </p:nvSpPr>
        <p:spPr>
          <a:xfrm>
            <a:off x="548640" y="548640"/>
            <a:ext cx="3291840" cy="274320"/>
          </a:xfrm>
          <a:prstGeom prst="rect">
            <a:avLst/>
          </a:prstGeom>
          <a:noFill/>
          <a:ln/>
        </p:spPr>
        <p:txBody>
          <a:bodyPr wrap="square" lIns="0" tIns="0" rIns="0" bIns="0" rtlCol="0" anchor="t"/>
          <a:lstStyle/>
          <a:p>
            <a:pPr indent="0" marL="0">
              <a:buNone/>
            </a:pPr>
            <a:r>
              <a:rPr lang="en-US" sz="900" b="1" spc="400" kern="0" dirty="0">
                <a:solidFill>
                  <a:srgbClr val="8EC9EE"/>
                </a:solidFill>
                <a:latin typeface="Inter" pitchFamily="34" charset="0"/>
                <a:ea typeface="Inter" pitchFamily="34" charset="-122"/>
                <a:cs typeface="Inter" pitchFamily="34" charset="-120"/>
              </a:rPr>
              <a:t>WORLD 03</a:t>
            </a:r>
            <a:endParaRPr lang="en-US" sz="900" dirty="0"/>
          </a:p>
        </p:txBody>
      </p:sp>
      <p:sp>
        <p:nvSpPr>
          <p:cNvPr id="7" name="Text 4"/>
          <p:cNvSpPr txBox="1"/>
          <p:nvPr/>
        </p:nvSpPr>
        <p:spPr>
          <a:xfrm>
            <a:off x="548640" y="868680"/>
            <a:ext cx="347472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BUILD</a:t>
            </a:r>
            <a:endParaRPr lang="en-US" sz="3600" dirty="0"/>
          </a:p>
        </p:txBody>
      </p:sp>
      <p:sp>
        <p:nvSpPr>
          <p:cNvPr id="8" name="Text 5"/>
          <p:cNvSpPr txBox="1"/>
          <p:nvPr/>
        </p:nvSpPr>
        <p:spPr>
          <a:xfrm>
            <a:off x="548640" y="1554480"/>
            <a:ext cx="3291840" cy="320040"/>
          </a:xfrm>
          <a:prstGeom prst="rect">
            <a:avLst/>
          </a:prstGeom>
          <a:noFill/>
          <a:ln/>
        </p:spPr>
        <p:txBody>
          <a:bodyPr wrap="square" lIns="0" tIns="0" rIns="0" bIns="0" rtlCol="0" anchor="t"/>
          <a:lstStyle/>
          <a:p>
            <a:pPr indent="0" marL="0">
              <a:buNone/>
            </a:pPr>
            <a:r>
              <a:rPr lang="en-US" sz="1200" b="1" spc="200" kern="0" dirty="0">
                <a:solidFill>
                  <a:srgbClr val="8EC9EE"/>
                </a:solidFill>
                <a:latin typeface="Inter" pitchFamily="34" charset="0"/>
                <a:ea typeface="Inter" pitchFamily="34" charset="-122"/>
                <a:cs typeface="Inter" pitchFamily="34" charset="-120"/>
              </a:rPr>
              <a:t>CERULEAN</a:t>
            </a:r>
            <a:endParaRPr lang="en-US" sz="1200" dirty="0"/>
          </a:p>
        </p:txBody>
      </p:sp>
      <p:sp>
        <p:nvSpPr>
          <p:cNvPr id="9" name="Shape 6"/>
          <p:cNvSpPr/>
          <p:nvPr/>
        </p:nvSpPr>
        <p:spPr>
          <a:xfrm>
            <a:off x="548640" y="5852160"/>
            <a:ext cx="640080" cy="292608"/>
          </a:xfrm>
          <a:prstGeom prst="rect">
            <a:avLst/>
          </a:prstGeom>
          <a:solidFill>
            <a:srgbClr val="8EC9EE"/>
          </a:solidFill>
          <a:ln w="6350">
            <a:solidFill>
              <a:srgbClr val="0B0B0A"/>
            </a:solidFill>
            <a:prstDash val="solid"/>
          </a:ln>
        </p:spPr>
      </p:sp>
      <p:sp>
        <p:nvSpPr>
          <p:cNvPr id="10" name="Text 7"/>
          <p:cNvSpPr txBox="1"/>
          <p:nvPr/>
        </p:nvSpPr>
        <p:spPr>
          <a:xfrm>
            <a:off x="548640"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Sky blue</a:t>
            </a:r>
            <a:endParaRPr lang="en-US" sz="650" dirty="0"/>
          </a:p>
        </p:txBody>
      </p:sp>
      <p:sp>
        <p:nvSpPr>
          <p:cNvPr id="11" name="Shape 8"/>
          <p:cNvSpPr/>
          <p:nvPr/>
        </p:nvSpPr>
        <p:spPr>
          <a:xfrm>
            <a:off x="1335024" y="5852160"/>
            <a:ext cx="640080" cy="292608"/>
          </a:xfrm>
          <a:prstGeom prst="rect">
            <a:avLst/>
          </a:prstGeom>
          <a:solidFill>
            <a:srgbClr val="FFFFFF"/>
          </a:solidFill>
          <a:ln w="6350">
            <a:solidFill>
              <a:srgbClr val="0B0B0A"/>
            </a:solidFill>
            <a:prstDash val="solid"/>
          </a:ln>
        </p:spPr>
      </p:sp>
      <p:sp>
        <p:nvSpPr>
          <p:cNvPr id="12" name="Text 9"/>
          <p:cNvSpPr txBox="1"/>
          <p:nvPr/>
        </p:nvSpPr>
        <p:spPr>
          <a:xfrm>
            <a:off x="1335024"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White</a:t>
            </a:r>
            <a:endParaRPr lang="en-US" sz="650" dirty="0"/>
          </a:p>
        </p:txBody>
      </p:sp>
      <p:sp>
        <p:nvSpPr>
          <p:cNvPr id="13" name="Shape 10"/>
          <p:cNvSpPr/>
          <p:nvPr/>
        </p:nvSpPr>
        <p:spPr>
          <a:xfrm>
            <a:off x="2121408" y="5852160"/>
            <a:ext cx="640080" cy="292608"/>
          </a:xfrm>
          <a:prstGeom prst="rect">
            <a:avLst/>
          </a:prstGeom>
          <a:solidFill>
            <a:srgbClr val="1E3A6B"/>
          </a:solidFill>
          <a:ln w="6350">
            <a:solidFill>
              <a:srgbClr val="0B0B0A"/>
            </a:solidFill>
            <a:prstDash val="solid"/>
          </a:ln>
        </p:spPr>
      </p:sp>
      <p:sp>
        <p:nvSpPr>
          <p:cNvPr id="14" name="Text 11"/>
          <p:cNvSpPr txBox="1"/>
          <p:nvPr/>
        </p:nvSpPr>
        <p:spPr>
          <a:xfrm>
            <a:off x="2121408"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Navy</a:t>
            </a:r>
            <a:endParaRPr lang="en-US" sz="650" dirty="0"/>
          </a:p>
        </p:txBody>
      </p:sp>
      <p:sp>
        <p:nvSpPr>
          <p:cNvPr id="15" name="Shape 12"/>
          <p:cNvSpPr/>
          <p:nvPr/>
        </p:nvSpPr>
        <p:spPr>
          <a:xfrm>
            <a:off x="2907792" y="5852160"/>
            <a:ext cx="640080" cy="292608"/>
          </a:xfrm>
          <a:prstGeom prst="rect">
            <a:avLst/>
          </a:prstGeom>
          <a:solidFill>
            <a:srgbClr val="EDE6D6"/>
          </a:solidFill>
          <a:ln w="6350">
            <a:solidFill>
              <a:srgbClr val="0B0B0A"/>
            </a:solidFill>
            <a:prstDash val="solid"/>
          </a:ln>
        </p:spPr>
      </p:sp>
      <p:sp>
        <p:nvSpPr>
          <p:cNvPr id="16" name="Text 13"/>
          <p:cNvSpPr txBox="1"/>
          <p:nvPr/>
        </p:nvSpPr>
        <p:spPr>
          <a:xfrm>
            <a:off x="2907792"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Drafting paper</a:t>
            </a:r>
            <a:endParaRPr lang="en-US" sz="650" dirty="0"/>
          </a:p>
        </p:txBody>
      </p:sp>
      <p:sp>
        <p:nvSpPr>
          <p:cNvPr id="17" name="Text 14"/>
          <p:cNvSpPr txBox="1"/>
          <p:nvPr/>
        </p:nvSpPr>
        <p:spPr>
          <a:xfrm>
            <a:off x="4663440" y="548640"/>
            <a:ext cx="7315200" cy="274320"/>
          </a:xfrm>
          <a:prstGeom prst="rect">
            <a:avLst/>
          </a:prstGeom>
          <a:noFill/>
          <a:ln/>
        </p:spPr>
        <p:txBody>
          <a:bodyPr wrap="square" lIns="0" tIns="0" rIns="0" bIns="0" rtlCol="0" anchor="t"/>
          <a:lstStyle/>
          <a:p>
            <a:pPr indent="0" marL="0">
              <a:buNone/>
            </a:pPr>
            <a:r>
              <a:rPr lang="en-US" sz="900" b="1" spc="400" kern="0" dirty="0">
                <a:solidFill>
                  <a:srgbClr val="8EC9EE"/>
                </a:solidFill>
                <a:latin typeface="Inter" pitchFamily="34" charset="0"/>
                <a:ea typeface="Inter" pitchFamily="34" charset="-122"/>
                <a:cs typeface="Inter" pitchFamily="34" charset="-120"/>
              </a:rPr>
              <a:t>MIDDAY · 11:00–13:30</a:t>
            </a:r>
            <a:endParaRPr lang="en-US" sz="900" dirty="0"/>
          </a:p>
        </p:txBody>
      </p:sp>
      <p:sp>
        <p:nvSpPr>
          <p:cNvPr id="18" name="Text 15"/>
          <p:cNvSpPr txBox="1"/>
          <p:nvPr/>
        </p:nvSpPr>
        <p:spPr>
          <a:xfrm>
            <a:off x="4663440" y="914400"/>
            <a:ext cx="6949440" cy="1097280"/>
          </a:xfrm>
          <a:prstGeom prst="rect">
            <a:avLst/>
          </a:prstGeom>
          <a:noFill/>
          <a:ln/>
        </p:spPr>
        <p:txBody>
          <a:bodyPr wrap="square" lIns="0" tIns="0" rIns="0" bIns="0" rtlCol="0" anchor="t"/>
          <a:lstStyle/>
          <a:p>
            <a:pPr indent="0" marL="0">
              <a:lnSpc>
                <a:spcPct val="105000"/>
              </a:lnSpc>
              <a:buNone/>
            </a:pPr>
            <a:r>
              <a:rPr lang="en-US" sz="1900" dirty="0">
                <a:solidFill>
                  <a:srgbClr val="F2EDE4"/>
                </a:solidFill>
                <a:latin typeface="Oswald" pitchFamily="34" charset="0"/>
                <a:ea typeface="Oswald" pitchFamily="34" charset="-122"/>
                <a:cs typeface="Oswald" pitchFamily="34" charset="-120"/>
              </a:rPr>
              <a:t>Builders, not inheritors. Midday: a drafting table, a blueprint, an open blue sky over the roof. The watch for people laying foundations for their own name.</a:t>
            </a:r>
            <a:endParaRPr lang="en-US" sz="1900" dirty="0"/>
          </a:p>
        </p:txBody>
      </p:sp>
      <p:sp>
        <p:nvSpPr>
          <p:cNvPr id="19" name="Text 16"/>
          <p:cNvSpPr txBox="1"/>
          <p:nvPr/>
        </p:nvSpPr>
        <p:spPr>
          <a:xfrm>
            <a:off x="4663440" y="2331720"/>
            <a:ext cx="13716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WHERE</a:t>
            </a:r>
            <a:endParaRPr lang="en-US" sz="750" dirty="0"/>
          </a:p>
        </p:txBody>
      </p:sp>
      <p:sp>
        <p:nvSpPr>
          <p:cNvPr id="20" name="Text 17"/>
          <p:cNvSpPr txBox="1"/>
          <p:nvPr/>
        </p:nvSpPr>
        <p:spPr>
          <a:xfrm>
            <a:off x="6035040" y="2304288"/>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Study / library (drafting table) · rooftop under open sky · a mirror + door for C3</a:t>
            </a:r>
            <a:endParaRPr lang="en-US" sz="1050" dirty="0"/>
          </a:p>
        </p:txBody>
      </p:sp>
      <p:sp>
        <p:nvSpPr>
          <p:cNvPr id="21" name="Text 18"/>
          <p:cNvSpPr txBox="1"/>
          <p:nvPr/>
        </p:nvSpPr>
        <p:spPr>
          <a:xfrm>
            <a:off x="4663440" y="2898648"/>
            <a:ext cx="13716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WARDROBE</a:t>
            </a:r>
            <a:endParaRPr lang="en-US" sz="750" dirty="0"/>
          </a:p>
        </p:txBody>
      </p:sp>
      <p:sp>
        <p:nvSpPr>
          <p:cNvPr id="22" name="Text 19"/>
          <p:cNvSpPr txBox="1"/>
          <p:nvPr/>
        </p:nvSpPr>
        <p:spPr>
          <a:xfrm>
            <a:off x="6035040" y="2871216"/>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Look 1: white shirt, sleeves rolled twice, navy trousers. Look 2: + navy blazer for C3.</a:t>
            </a:r>
            <a:endParaRPr lang="en-US" sz="1050" dirty="0"/>
          </a:p>
        </p:txBody>
      </p:sp>
      <p:sp>
        <p:nvSpPr>
          <p:cNvPr id="23" name="Text 20"/>
          <p:cNvSpPr txBox="1"/>
          <p:nvPr/>
        </p:nvSpPr>
        <p:spPr>
          <a:xfrm>
            <a:off x="4663440" y="3465576"/>
            <a:ext cx="13716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a:t>
            </a:r>
            <a:endParaRPr lang="en-US" sz="750" dirty="0"/>
          </a:p>
        </p:txBody>
      </p:sp>
      <p:sp>
        <p:nvSpPr>
          <p:cNvPr id="24" name="Text 21"/>
          <p:cNvSpPr txBox="1"/>
          <p:nvPr/>
        </p:nvSpPr>
        <p:spPr>
          <a:xfrm>
            <a:off x="6035040" y="3438144"/>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Tick-led percussion, short piano stabs.</a:t>
            </a:r>
            <a:endParaRPr lang="en-US" sz="1050" dirty="0"/>
          </a:p>
        </p:txBody>
      </p:sp>
      <p:sp>
        <p:nvSpPr>
          <p:cNvPr id="25" name="Shape 22"/>
          <p:cNvSpPr/>
          <p:nvPr/>
        </p:nvSpPr>
        <p:spPr>
          <a:xfrm>
            <a:off x="4663440" y="4206240"/>
            <a:ext cx="2240280" cy="2011680"/>
          </a:xfrm>
          <a:prstGeom prst="rect">
            <a:avLst/>
          </a:prstGeom>
          <a:solidFill>
            <a:srgbClr val="151513"/>
          </a:solidFill>
          <a:ln w="9525">
            <a:solidFill>
              <a:srgbClr val="2B2A26"/>
            </a:solidFill>
            <a:prstDash val="solid"/>
          </a:ln>
        </p:spPr>
      </p:sp>
      <p:sp>
        <p:nvSpPr>
          <p:cNvPr id="26" name="Text 23"/>
          <p:cNvSpPr txBox="1"/>
          <p:nvPr/>
        </p:nvSpPr>
        <p:spPr>
          <a:xfrm>
            <a:off x="4846320" y="4370832"/>
            <a:ext cx="914400" cy="365760"/>
          </a:xfrm>
          <a:prstGeom prst="rect">
            <a:avLst/>
          </a:prstGeom>
          <a:noFill/>
          <a:ln/>
        </p:spPr>
        <p:txBody>
          <a:bodyPr wrap="square" lIns="0" tIns="0" rIns="0" bIns="0" rtlCol="0" anchor="t"/>
          <a:lstStyle/>
          <a:p>
            <a:pPr indent="0" marL="0">
              <a:buNone/>
            </a:pPr>
            <a:r>
              <a:rPr lang="en-US" sz="1800" b="1" dirty="0">
                <a:solidFill>
                  <a:srgbClr val="8EC9EE"/>
                </a:solidFill>
                <a:latin typeface="Oswald" pitchFamily="34" charset="0"/>
                <a:ea typeface="Oswald" pitchFamily="34" charset="-122"/>
                <a:cs typeface="Oswald" pitchFamily="34" charset="-120"/>
              </a:rPr>
              <a:t>C1</a:t>
            </a:r>
            <a:endParaRPr lang="en-US" sz="1800" dirty="0"/>
          </a:p>
        </p:txBody>
      </p:sp>
      <p:sp>
        <p:nvSpPr>
          <p:cNvPr id="27" name="Text 24"/>
          <p:cNvSpPr txBox="1"/>
          <p:nvPr/>
        </p:nvSpPr>
        <p:spPr>
          <a:xfrm>
            <a:off x="484632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NEEV</a:t>
            </a:r>
            <a:endParaRPr lang="en-US" sz="1400" dirty="0"/>
          </a:p>
        </p:txBody>
      </p:sp>
      <p:sp>
        <p:nvSpPr>
          <p:cNvPr id="28" name="Text 25"/>
          <p:cNvSpPr txBox="1"/>
          <p:nvPr/>
        </p:nvSpPr>
        <p:spPr>
          <a:xfrm>
            <a:off x="484632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Story reel · 30 s</a:t>
            </a:r>
            <a:endParaRPr lang="en-US" sz="850" dirty="0"/>
          </a:p>
        </p:txBody>
      </p:sp>
      <p:sp>
        <p:nvSpPr>
          <p:cNvPr id="29" name="Text 26"/>
          <p:cNvSpPr txBox="1"/>
          <p:nvPr/>
        </p:nvSpPr>
        <p:spPr>
          <a:xfrm>
            <a:off x="484632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Foundation</a:t>
            </a:r>
            <a:endParaRPr lang="en-US" sz="900" dirty="0"/>
          </a:p>
        </p:txBody>
      </p:sp>
      <p:sp>
        <p:nvSpPr>
          <p:cNvPr id="30" name="Shape 27"/>
          <p:cNvSpPr/>
          <p:nvPr/>
        </p:nvSpPr>
        <p:spPr>
          <a:xfrm>
            <a:off x="7040880" y="4206240"/>
            <a:ext cx="2240280" cy="2011680"/>
          </a:xfrm>
          <a:prstGeom prst="rect">
            <a:avLst/>
          </a:prstGeom>
          <a:solidFill>
            <a:srgbClr val="151513"/>
          </a:solidFill>
          <a:ln w="9525">
            <a:solidFill>
              <a:srgbClr val="2B2A26"/>
            </a:solidFill>
            <a:prstDash val="solid"/>
          </a:ln>
        </p:spPr>
      </p:sp>
      <p:sp>
        <p:nvSpPr>
          <p:cNvPr id="31" name="Text 28"/>
          <p:cNvSpPr txBox="1"/>
          <p:nvPr/>
        </p:nvSpPr>
        <p:spPr>
          <a:xfrm>
            <a:off x="7223760" y="4370832"/>
            <a:ext cx="914400" cy="365760"/>
          </a:xfrm>
          <a:prstGeom prst="rect">
            <a:avLst/>
          </a:prstGeom>
          <a:noFill/>
          <a:ln/>
        </p:spPr>
        <p:txBody>
          <a:bodyPr wrap="square" lIns="0" tIns="0" rIns="0" bIns="0" rtlCol="0" anchor="t"/>
          <a:lstStyle/>
          <a:p>
            <a:pPr indent="0" marL="0">
              <a:buNone/>
            </a:pPr>
            <a:r>
              <a:rPr lang="en-US" sz="1800" b="1" dirty="0">
                <a:solidFill>
                  <a:srgbClr val="8EC9EE"/>
                </a:solidFill>
                <a:latin typeface="Oswald" pitchFamily="34" charset="0"/>
                <a:ea typeface="Oswald" pitchFamily="34" charset="-122"/>
                <a:cs typeface="Oswald" pitchFamily="34" charset="-120"/>
              </a:rPr>
              <a:t>C2</a:t>
            </a:r>
            <a:endParaRPr lang="en-US" sz="1800" dirty="0"/>
          </a:p>
        </p:txBody>
      </p:sp>
      <p:sp>
        <p:nvSpPr>
          <p:cNvPr id="32" name="Text 29"/>
          <p:cNvSpPr txBox="1"/>
          <p:nvPr/>
        </p:nvSpPr>
        <p:spPr>
          <a:xfrm>
            <a:off x="722376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6 FEET. 6 INCHES.</a:t>
            </a:r>
            <a:endParaRPr lang="en-US" sz="1400" dirty="0"/>
          </a:p>
        </p:txBody>
      </p:sp>
      <p:sp>
        <p:nvSpPr>
          <p:cNvPr id="33" name="Text 30"/>
          <p:cNvSpPr txBox="1"/>
          <p:nvPr/>
        </p:nvSpPr>
        <p:spPr>
          <a:xfrm>
            <a:off x="722376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Detail · one-take · 15 s</a:t>
            </a:r>
            <a:endParaRPr lang="en-US" sz="850" dirty="0"/>
          </a:p>
        </p:txBody>
      </p:sp>
      <p:sp>
        <p:nvSpPr>
          <p:cNvPr id="34" name="Text 31"/>
          <p:cNvSpPr txBox="1"/>
          <p:nvPr/>
        </p:nvSpPr>
        <p:spPr>
          <a:xfrm>
            <a:off x="722376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Seen from six feet, felt at six inches</a:t>
            </a:r>
            <a:endParaRPr lang="en-US" sz="900" dirty="0"/>
          </a:p>
        </p:txBody>
      </p:sp>
      <p:sp>
        <p:nvSpPr>
          <p:cNvPr id="35" name="Shape 32"/>
          <p:cNvSpPr/>
          <p:nvPr/>
        </p:nvSpPr>
        <p:spPr>
          <a:xfrm>
            <a:off x="9418320" y="4206240"/>
            <a:ext cx="2240280" cy="2011680"/>
          </a:xfrm>
          <a:prstGeom prst="rect">
            <a:avLst/>
          </a:prstGeom>
          <a:solidFill>
            <a:srgbClr val="151513"/>
          </a:solidFill>
          <a:ln w="9525">
            <a:solidFill>
              <a:srgbClr val="2B2A26"/>
            </a:solidFill>
            <a:prstDash val="solid"/>
          </a:ln>
        </p:spPr>
      </p:sp>
      <p:sp>
        <p:nvSpPr>
          <p:cNvPr id="36" name="Text 33"/>
          <p:cNvSpPr txBox="1"/>
          <p:nvPr/>
        </p:nvSpPr>
        <p:spPr>
          <a:xfrm>
            <a:off x="9601200" y="4370832"/>
            <a:ext cx="914400" cy="365760"/>
          </a:xfrm>
          <a:prstGeom prst="rect">
            <a:avLst/>
          </a:prstGeom>
          <a:noFill/>
          <a:ln/>
        </p:spPr>
        <p:txBody>
          <a:bodyPr wrap="square" lIns="0" tIns="0" rIns="0" bIns="0" rtlCol="0" anchor="t"/>
          <a:lstStyle/>
          <a:p>
            <a:pPr indent="0" marL="0">
              <a:buNone/>
            </a:pPr>
            <a:r>
              <a:rPr lang="en-US" sz="1800" b="1" dirty="0">
                <a:solidFill>
                  <a:srgbClr val="8EC9EE"/>
                </a:solidFill>
                <a:latin typeface="Oswald" pitchFamily="34" charset="0"/>
                <a:ea typeface="Oswald" pitchFamily="34" charset="-122"/>
                <a:cs typeface="Oswald" pitchFamily="34" charset="-120"/>
              </a:rPr>
              <a:t>C3</a:t>
            </a:r>
            <a:endParaRPr lang="en-US" sz="1800" dirty="0"/>
          </a:p>
        </p:txBody>
      </p:sp>
      <p:sp>
        <p:nvSpPr>
          <p:cNvPr id="37" name="Text 34"/>
          <p:cNvSpPr txBox="1"/>
          <p:nvPr/>
        </p:nvSpPr>
        <p:spPr>
          <a:xfrm>
            <a:off x="960120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60 SECONDS</a:t>
            </a:r>
            <a:endParaRPr lang="en-US" sz="1400" dirty="0"/>
          </a:p>
        </p:txBody>
      </p:sp>
      <p:sp>
        <p:nvSpPr>
          <p:cNvPr id="38" name="Text 35"/>
          <p:cNvSpPr txBox="1"/>
          <p:nvPr/>
        </p:nvSpPr>
        <p:spPr>
          <a:xfrm>
            <a:off x="960120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POV · 10 s</a:t>
            </a:r>
            <a:endParaRPr lang="en-US" sz="850" dirty="0"/>
          </a:p>
        </p:txBody>
      </p:sp>
      <p:sp>
        <p:nvSpPr>
          <p:cNvPr id="39" name="Text 36"/>
          <p:cNvSpPr txBox="1"/>
          <p:nvPr/>
        </p:nvSpPr>
        <p:spPr>
          <a:xfrm>
            <a:off x="960120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The meeting ritual</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32</a:t>
            </a:r>
            <a:endParaRPr lang="en-US" sz="750" dirty="0"/>
          </a:p>
        </p:txBody>
      </p:sp>
      <p:sp>
        <p:nvSpPr>
          <p:cNvPr id="4" name="Shape 2"/>
          <p:cNvSpPr/>
          <p:nvPr/>
        </p:nvSpPr>
        <p:spPr>
          <a:xfrm>
            <a:off x="548640" y="502920"/>
            <a:ext cx="3017520" cy="5394960"/>
          </a:xfrm>
          <a:prstGeom prst="rect">
            <a:avLst/>
          </a:prstGeom>
          <a:solidFill>
            <a:srgbClr val="151513"/>
          </a:solidFill>
          <a:ln w="9525">
            <a:solidFill>
              <a:srgbClr val="2B2A26"/>
            </a:solidFill>
            <a:prstDash val="solid"/>
          </a:ln>
        </p:spPr>
      </p:sp>
      <p:pic>
        <p:nvPicPr>
          <p:cNvPr id="5" name="Image 0" descr="/tmp/claude-0/-home-user-Sage-portfolio/d05fecce-977e-5eab-9cf5-7c09b306c551/scratchpad/wrdeck/img/crop_skyblue.jpg">    </p:cNvPr>
          <p:cNvPicPr>
            <a:picLocks noChangeAspect="1"/>
          </p:cNvPicPr>
          <p:nvPr/>
        </p:nvPicPr>
        <p:blipFill>
          <a:blip r:embed="rId1"/>
          <a:srcRect l="0" r="0" t="0" b="0"/>
          <a:stretch/>
        </p:blipFill>
        <p:spPr>
          <a:xfrm>
            <a:off x="868680" y="960120"/>
            <a:ext cx="2377440" cy="2926080"/>
          </a:xfrm>
          <a:prstGeom prst="rect">
            <a:avLst/>
          </a:prstGeom>
        </p:spPr>
      </p:pic>
      <p:sp>
        <p:nvSpPr>
          <p:cNvPr id="6" name="Text 3"/>
          <p:cNvSpPr txBox="1"/>
          <p:nvPr/>
        </p:nvSpPr>
        <p:spPr>
          <a:xfrm>
            <a:off x="868680" y="4160520"/>
            <a:ext cx="2377440" cy="274320"/>
          </a:xfrm>
          <a:prstGeom prst="rect">
            <a:avLst/>
          </a:prstGeom>
          <a:noFill/>
          <a:ln/>
        </p:spPr>
        <p:txBody>
          <a:bodyPr wrap="square" lIns="0" tIns="0" rIns="0" bIns="0" rtlCol="0" anchor="t"/>
          <a:lstStyle/>
          <a:p>
            <a:pPr indent="0" marL="0">
              <a:buNone/>
            </a:pPr>
            <a:r>
              <a:rPr lang="en-US" sz="1000" b="1" spc="300" kern="0" dirty="0">
                <a:solidFill>
                  <a:srgbClr val="8EC9EE"/>
                </a:solidFill>
                <a:latin typeface="Inter" pitchFamily="34" charset="0"/>
                <a:ea typeface="Inter" pitchFamily="34" charset="-122"/>
                <a:cs typeface="Inter" pitchFamily="34" charset="-120"/>
              </a:rPr>
              <a:t>AI FRAME PENDING</a:t>
            </a:r>
            <a:endParaRPr lang="en-US" sz="1000" dirty="0"/>
          </a:p>
        </p:txBody>
      </p:sp>
      <p:sp>
        <p:nvSpPr>
          <p:cNvPr id="7" name="Text 4"/>
          <p:cNvSpPr txBox="1"/>
          <p:nvPr/>
        </p:nvSpPr>
        <p:spPr>
          <a:xfrm>
            <a:off x="868680" y="4480560"/>
            <a:ext cx="2377440" cy="91440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The real watch is shown. This reel's storyboard prompt is in the prompt pack.</a:t>
            </a:r>
            <a:endParaRPr lang="en-US" sz="900" dirty="0"/>
          </a:p>
        </p:txBody>
      </p:sp>
      <p:sp>
        <p:nvSpPr>
          <p:cNvPr id="8" name="Text 5"/>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C1  ·  STORY REEL  ·  30 S  ·  9:16</a:t>
            </a:r>
            <a:endParaRPr lang="en-US" sz="900" dirty="0"/>
          </a:p>
        </p:txBody>
      </p:sp>
      <p:sp>
        <p:nvSpPr>
          <p:cNvPr id="9" name="Text 6"/>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NEEV</a:t>
            </a:r>
            <a:endParaRPr lang="en-US" sz="3600" dirty="0"/>
          </a:p>
        </p:txBody>
      </p:sp>
      <p:sp>
        <p:nvSpPr>
          <p:cNvPr id="10" name="Text 7"/>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Foundation</a:t>
            </a:r>
            <a:endParaRPr lang="en-US" sz="1100" dirty="0"/>
          </a:p>
        </p:txBody>
      </p:sp>
      <p:sp>
        <p:nvSpPr>
          <p:cNvPr id="11" name="Text 8"/>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CONCEPT</a:t>
            </a:r>
            <a:endParaRPr lang="en-US" sz="750" dirty="0"/>
          </a:p>
        </p:txBody>
      </p:sp>
      <p:sp>
        <p:nvSpPr>
          <p:cNvPr id="12" name="Text 9"/>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Some people are born with a name; some build one. Mukesh at a drafting table with the blueprint of something not built yet. He takes it up to the roof and holds it against the open Jaipur sky where it will stand.</a:t>
            </a:r>
            <a:endParaRPr lang="en-US" sz="1100" dirty="0"/>
          </a:p>
        </p:txBody>
      </p:sp>
      <p:sp>
        <p:nvSpPr>
          <p:cNvPr id="13" name="Shape 10"/>
          <p:cNvSpPr/>
          <p:nvPr/>
        </p:nvSpPr>
        <p:spPr>
          <a:xfrm>
            <a:off x="3977640" y="3108960"/>
            <a:ext cx="7680960" cy="685800"/>
          </a:xfrm>
          <a:prstGeom prst="rect">
            <a:avLst/>
          </a:prstGeom>
          <a:solidFill>
            <a:srgbClr val="151513"/>
          </a:solidFill>
          <a:ln w="9525">
            <a:solidFill>
              <a:srgbClr val="2B2A26"/>
            </a:solidFill>
            <a:prstDash val="solid"/>
          </a:ln>
        </p:spPr>
      </p:sp>
      <p:sp>
        <p:nvSpPr>
          <p:cNvPr id="14" name="Text 11"/>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HOOK · FIRST 2 SECONDS</a:t>
            </a:r>
            <a:endParaRPr lang="en-US" sz="750" dirty="0"/>
          </a:p>
        </p:txBody>
      </p:sp>
      <p:sp>
        <p:nvSpPr>
          <p:cNvPr id="15" name="Text 12"/>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A pencil snaps on the blueprint — loud. He doesn't flinch; he picks up another.</a:t>
            </a:r>
            <a:endParaRPr lang="en-US" sz="1000" dirty="0"/>
          </a:p>
        </p:txBody>
      </p:sp>
      <p:sp>
        <p:nvSpPr>
          <p:cNvPr id="16" name="Text 13"/>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SCRIPT · HINGLISH</a:t>
            </a:r>
            <a:endParaRPr lang="en-US" sz="750" dirty="0"/>
          </a:p>
        </p:txBody>
      </p:sp>
      <p:sp>
        <p:nvSpPr>
          <p:cNvPr id="17" name="Text 14"/>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"Kuch log naam ke saath paida hote hain."</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"Kuch log naam banaate hain."</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"Log kehte hain — bas, ho gaya."</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"Main kehta hoon… abhi toh sirf neev daali hai."</a:t>
            </a:r>
            <a:endParaRPr lang="en-US" sz="1150" dirty="0"/>
          </a:p>
        </p:txBody>
      </p:sp>
      <p:sp>
        <p:nvSpPr>
          <p:cNvPr id="18" name="Text 15"/>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ON SCREEN</a:t>
            </a:r>
            <a:endParaRPr lang="en-US" sz="750" dirty="0"/>
          </a:p>
        </p:txBody>
      </p:sp>
      <p:sp>
        <p:nvSpPr>
          <p:cNvPr id="19" name="Text 16"/>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BUILT FOR THE BUILDERS.</a:t>
            </a:r>
            <a:endParaRPr lang="en-US" sz="950" dirty="0"/>
          </a:p>
        </p:txBody>
      </p:sp>
      <p:sp>
        <p:nvSpPr>
          <p:cNvPr id="20" name="Text 17"/>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 REFERENCE · TAP TO LISTEN</a:t>
            </a:r>
            <a:endParaRPr lang="en-US" sz="750" dirty="0"/>
          </a:p>
        </p:txBody>
      </p:sp>
      <p:sp>
        <p:nvSpPr>
          <p:cNvPr id="21" name="Text 18"/>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Ludovico Einaudi — "Experience"</a:t>
            </a:r>
            <a:endParaRPr lang="en-US" sz="950" dirty="0"/>
          </a:p>
        </p:txBody>
      </p:sp>
      <p:sp>
        <p:nvSpPr>
          <p:cNvPr id="22" name="Text 19"/>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Pencil snap · paper roll · wind on the roof · piano stab on the end card.</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33</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C1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NEEV</a:t>
            </a:r>
            <a:endParaRPr lang="en-US" sz="3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Pencil snaps on the blueprint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3–8s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Overhead drafting table, his wrist sweeps the scale ruler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overhead, slider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8–11s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Phone lights up "Party tonight?" — he turns it face down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insert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11–16s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rolls the blueprint, takes the stairs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 gimbal</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16–25s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Rooftop: unrolls the plan against open sky, wrist in frame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low angle, sky fills frame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25–30s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End card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471416"/>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700016"/>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Large blueprint (a real architectural plan) · drafting scale · pencils · coffee.</a:t>
            </a:r>
            <a:endParaRPr lang="en-US" sz="950" dirty="0"/>
          </a:p>
        </p:txBody>
      </p:sp>
      <p:pic>
        <p:nvPicPr>
          <p:cNvPr id="9" name="Image 0" descr="/tmp/claude-0/-home-user-Sage-portfolio/d05fecce-977e-5eab-9cf5-7c09b306c551/scratchpad/wrdeck/img/crop_skyblu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Ludovico Einaudi — "Experience"</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architect blueprint cinematic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@iwcwatches — engineering storytelling</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34</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C1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NEEV</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8EC9EE"/>
          </a:solidFill>
          <a:ln w="12700">
            <a:solidFill>
              <a:srgbClr val="8EC9EE"/>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a pencil tip snapping on a blueprint</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8EC9EE"/>
          </a:solidFill>
          <a:ln w="12700">
            <a:solidFill>
              <a:srgbClr val="8EC9EE"/>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Overhead drafting table: blueprint, scale ruler, his wrist with the Cerulean</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8EC9EE"/>
          </a:solidFill>
          <a:ln w="12700">
            <a:solidFill>
              <a:srgbClr val="8EC9EE"/>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Phone face-up beside the plan: "Party tonight?"</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8EC9EE"/>
          </a:solidFill>
          <a:ln w="12700">
            <a:solidFill>
              <a:srgbClr val="8EC9EE"/>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flips the phone face down without looking</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8EC9EE"/>
          </a:solidFill>
          <a:ln w="12700">
            <a:solidFill>
              <a:srgbClr val="8EC9EE"/>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rolls the blueprint, the watch on his wrist in focus</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8EC9EE"/>
          </a:solidFill>
          <a:ln w="12700">
            <a:solidFill>
              <a:srgbClr val="8EC9EE"/>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Gimbal from behind: climbing the stairs with the rolled plan</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8EC9EE"/>
          </a:solidFill>
          <a:ln w="12700">
            <a:solidFill>
              <a:srgbClr val="8EC9EE"/>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Rooftop: he unrolls the blueprint against an open blue sky</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8EC9EE"/>
          </a:solidFill>
          <a:ln w="12700">
            <a:solidFill>
              <a:srgbClr val="8EC9EE"/>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Low angle: holding the plan up to the sky, the sky-blue case popping</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8EC9EE"/>
          </a:solidFill>
          <a:ln w="12700">
            <a:solidFill>
              <a:srgbClr val="8EC9EE"/>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watch with sky reflected in the crystal —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C1 from the prompt pack (one 3×3 grid) and send it back — it drops into these nine slots.</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35</a:t>
            </a:r>
            <a:endParaRPr lang="en-US" sz="750" dirty="0"/>
          </a:p>
        </p:txBody>
      </p:sp>
      <p:sp>
        <p:nvSpPr>
          <p:cNvPr id="4" name="Shape 2"/>
          <p:cNvSpPr/>
          <p:nvPr/>
        </p:nvSpPr>
        <p:spPr>
          <a:xfrm>
            <a:off x="548640" y="502920"/>
            <a:ext cx="3017520" cy="5394960"/>
          </a:xfrm>
          <a:prstGeom prst="rect">
            <a:avLst/>
          </a:prstGeom>
          <a:solidFill>
            <a:srgbClr val="151513"/>
          </a:solidFill>
          <a:ln w="9525">
            <a:solidFill>
              <a:srgbClr val="2B2A26"/>
            </a:solidFill>
            <a:prstDash val="solid"/>
          </a:ln>
        </p:spPr>
      </p:sp>
      <p:pic>
        <p:nvPicPr>
          <p:cNvPr id="5" name="Image 0" descr="/tmp/claude-0/-home-user-Sage-portfolio/d05fecce-977e-5eab-9cf5-7c09b306c551/scratchpad/wrdeck/img/crop_skyblue.jpg">    </p:cNvPr>
          <p:cNvPicPr>
            <a:picLocks noChangeAspect="1"/>
          </p:cNvPicPr>
          <p:nvPr/>
        </p:nvPicPr>
        <p:blipFill>
          <a:blip r:embed="rId1"/>
          <a:srcRect l="0" r="0" t="0" b="0"/>
          <a:stretch/>
        </p:blipFill>
        <p:spPr>
          <a:xfrm>
            <a:off x="868680" y="960120"/>
            <a:ext cx="2377440" cy="2926080"/>
          </a:xfrm>
          <a:prstGeom prst="rect">
            <a:avLst/>
          </a:prstGeom>
        </p:spPr>
      </p:pic>
      <p:sp>
        <p:nvSpPr>
          <p:cNvPr id="6" name="Text 3"/>
          <p:cNvSpPr txBox="1"/>
          <p:nvPr/>
        </p:nvSpPr>
        <p:spPr>
          <a:xfrm>
            <a:off x="868680" y="4160520"/>
            <a:ext cx="2377440" cy="274320"/>
          </a:xfrm>
          <a:prstGeom prst="rect">
            <a:avLst/>
          </a:prstGeom>
          <a:noFill/>
          <a:ln/>
        </p:spPr>
        <p:txBody>
          <a:bodyPr wrap="square" lIns="0" tIns="0" rIns="0" bIns="0" rtlCol="0" anchor="t"/>
          <a:lstStyle/>
          <a:p>
            <a:pPr indent="0" marL="0">
              <a:buNone/>
            </a:pPr>
            <a:r>
              <a:rPr lang="en-US" sz="1000" b="1" spc="300" kern="0" dirty="0">
                <a:solidFill>
                  <a:srgbClr val="8EC9EE"/>
                </a:solidFill>
                <a:latin typeface="Inter" pitchFamily="34" charset="0"/>
                <a:ea typeface="Inter" pitchFamily="34" charset="-122"/>
                <a:cs typeface="Inter" pitchFamily="34" charset="-120"/>
              </a:rPr>
              <a:t>AI FRAME PENDING</a:t>
            </a:r>
            <a:endParaRPr lang="en-US" sz="1000" dirty="0"/>
          </a:p>
        </p:txBody>
      </p:sp>
      <p:sp>
        <p:nvSpPr>
          <p:cNvPr id="7" name="Text 4"/>
          <p:cNvSpPr txBox="1"/>
          <p:nvPr/>
        </p:nvSpPr>
        <p:spPr>
          <a:xfrm>
            <a:off x="868680" y="4480560"/>
            <a:ext cx="2377440" cy="91440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The real watch is shown. This reel's storyboard prompt is in the prompt pack.</a:t>
            </a:r>
            <a:endParaRPr lang="en-US" sz="900" dirty="0"/>
          </a:p>
        </p:txBody>
      </p:sp>
      <p:sp>
        <p:nvSpPr>
          <p:cNvPr id="8" name="Text 5"/>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C2  ·  DETAIL · ONE-TAKE  ·  15 S  ·  9:16</a:t>
            </a:r>
            <a:endParaRPr lang="en-US" sz="900" dirty="0"/>
          </a:p>
        </p:txBody>
      </p:sp>
      <p:sp>
        <p:nvSpPr>
          <p:cNvPr id="9" name="Text 6"/>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6 FEET. 6 INCHES.</a:t>
            </a:r>
            <a:endParaRPr lang="en-US" sz="3600" dirty="0"/>
          </a:p>
        </p:txBody>
      </p:sp>
      <p:sp>
        <p:nvSpPr>
          <p:cNvPr id="10" name="Text 7"/>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Seen from six feet, felt at six inches</a:t>
            </a:r>
            <a:endParaRPr lang="en-US" sz="1100" dirty="0"/>
          </a:p>
        </p:txBody>
      </p:sp>
      <p:sp>
        <p:nvSpPr>
          <p:cNvPr id="11" name="Text 8"/>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CONCEPT</a:t>
            </a:r>
            <a:endParaRPr lang="en-US" sz="750" dirty="0"/>
          </a:p>
        </p:txBody>
      </p:sp>
      <p:sp>
        <p:nvSpPr>
          <p:cNvPr id="12" name="Text 9"/>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Lifted straight from Neetu's design rule: a watch should be spotted from six feet away, but its finishing only shows up close. One continuous push-in from six feet (full figure, the sky-blue case popping against the white shirt) to six inches (the waffle dial and the screws).</a:t>
            </a:r>
            <a:endParaRPr lang="en-US" sz="1100" dirty="0"/>
          </a:p>
        </p:txBody>
      </p:sp>
      <p:sp>
        <p:nvSpPr>
          <p:cNvPr id="13" name="Shape 10"/>
          <p:cNvSpPr/>
          <p:nvPr/>
        </p:nvSpPr>
        <p:spPr>
          <a:xfrm>
            <a:off x="3977640" y="3108960"/>
            <a:ext cx="7680960" cy="685800"/>
          </a:xfrm>
          <a:prstGeom prst="rect">
            <a:avLst/>
          </a:prstGeom>
          <a:solidFill>
            <a:srgbClr val="151513"/>
          </a:solidFill>
          <a:ln w="9525">
            <a:solidFill>
              <a:srgbClr val="2B2A26"/>
            </a:solidFill>
            <a:prstDash val="solid"/>
          </a:ln>
        </p:spPr>
      </p:sp>
      <p:sp>
        <p:nvSpPr>
          <p:cNvPr id="14" name="Text 11"/>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HOOK · FIRST 2 SECONDS</a:t>
            </a:r>
            <a:endParaRPr lang="en-US" sz="750" dirty="0"/>
          </a:p>
        </p:txBody>
      </p:sp>
      <p:sp>
        <p:nvSpPr>
          <p:cNvPr id="15" name="Text 12"/>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On-screen counter: "6 FEET" on a full-body wide — it counts down as the camera moves in.</a:t>
            </a:r>
            <a:endParaRPr lang="en-US" sz="1000" dirty="0"/>
          </a:p>
        </p:txBody>
      </p:sp>
      <p:sp>
        <p:nvSpPr>
          <p:cNvPr id="16" name="Text 13"/>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VOICE</a:t>
            </a:r>
            <a:endParaRPr lang="en-US" sz="750" dirty="0"/>
          </a:p>
        </p:txBody>
      </p:sp>
      <p:sp>
        <p:nvSpPr>
          <p:cNvPr id="17" name="Text 14"/>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No voice-over.</a:t>
            </a:r>
            <a:endParaRPr lang="en-US" sz="1150" dirty="0"/>
          </a:p>
        </p:txBody>
      </p:sp>
      <p:sp>
        <p:nvSpPr>
          <p:cNvPr id="18" name="Text 15"/>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ON SCREEN</a:t>
            </a:r>
            <a:endParaRPr lang="en-US" sz="750" dirty="0"/>
          </a:p>
        </p:txBody>
      </p:sp>
      <p:sp>
        <p:nvSpPr>
          <p:cNvPr id="19" name="Text 16"/>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6 FT → 3 FT → 1 FT → 6 IN  ·  SEEN FROM 6 FEET. FELT AT 6 INCHES.</a:t>
            </a:r>
            <a:endParaRPr lang="en-US" sz="950" dirty="0"/>
          </a:p>
        </p:txBody>
      </p:sp>
      <p:sp>
        <p:nvSpPr>
          <p:cNvPr id="20" name="Text 17"/>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 REFERENCE · TAP TO LISTEN</a:t>
            </a:r>
            <a:endParaRPr lang="en-US" sz="750" dirty="0"/>
          </a:p>
        </p:txBody>
      </p:sp>
      <p:sp>
        <p:nvSpPr>
          <p:cNvPr id="21" name="Text 18"/>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"No Time for Caution" (Interstellar)</a:t>
            </a:r>
            <a:endParaRPr lang="en-US" sz="950" dirty="0"/>
          </a:p>
        </p:txBody>
      </p:sp>
      <p:sp>
        <p:nvSpPr>
          <p:cNvPr id="22" name="Text 19"/>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Rising whoosh · single tick when the macro lands.</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36</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C2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6 FEET. 6 INCHES.</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0–10s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Gimbal push-in from full figure to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 on gimbal, one take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10–15s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Cut on motion to the macro: dial texture + screws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 / probe lens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2935224"/>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3163824"/>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Open sky or clean white wall.</a:t>
            </a:r>
            <a:endParaRPr lang="en-US" sz="950" dirty="0"/>
          </a:p>
        </p:txBody>
      </p:sp>
      <p:pic>
        <p:nvPicPr>
          <p:cNvPr id="9" name="Image 0" descr="/tmp/claude-0/-home-user-Sage-portfolio/d05fecce-977e-5eab-9cf5-7c09b306c551/scratchpad/wrdeck/img/crop_skyblu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"No Time for Caution" (Interstellar)</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push in macro transition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@panerai — scale and detail</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37</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C2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6 FEET. 6 INCHES.</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8EC9EE"/>
          </a:solidFill>
          <a:ln w="12700">
            <a:solidFill>
              <a:srgbClr val="8EC9EE"/>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Full figure on the rooftop, white shirt and navy trousers against the sky — "6 FEET"</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8EC9EE"/>
          </a:solidFill>
          <a:ln w="12700">
            <a:solidFill>
              <a:srgbClr val="8EC9EE"/>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Closer: knees up, the sky-blue case already readable — "4 FEET"</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8EC9EE"/>
          </a:solidFill>
          <a:ln w="12700">
            <a:solidFill>
              <a:srgbClr val="8EC9EE"/>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Waist up, wrist relaxed at his side — "3 FEET"</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8EC9EE"/>
          </a:solidFill>
          <a:ln w="12700">
            <a:solidFill>
              <a:srgbClr val="8EC9EE"/>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Forearm and watch — "2 FEET"</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8EC9EE"/>
          </a:solidFill>
          <a:ln w="12700">
            <a:solidFill>
              <a:srgbClr val="8EC9EE"/>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Watch fills a third of the frame — "1 FOOT"</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8EC9EE"/>
          </a:solidFill>
          <a:ln w="12700">
            <a:solidFill>
              <a:srgbClr val="8EC9EE"/>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Watch fills the frame — "6 INCHES"</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8EC9EE"/>
          </a:solidFill>
          <a:ln w="12700">
            <a:solidFill>
              <a:srgbClr val="8EC9EE"/>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eight bezel screws</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8EC9EE"/>
          </a:solidFill>
          <a:ln w="12700">
            <a:solidFill>
              <a:srgbClr val="8EC9EE"/>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waffle dial texture and WR monogram</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8EC9EE"/>
          </a:solidFill>
          <a:ln w="12700">
            <a:solidFill>
              <a:srgbClr val="8EC9EE"/>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Type card: SEEN FROM 6 FEET. FELT AT 6 INCHES.</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C2 from the prompt pack (one 3×3 grid) and send it back — it drops into these nine slots.</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38</a:t>
            </a:r>
            <a:endParaRPr lang="en-US" sz="750" dirty="0"/>
          </a:p>
        </p:txBody>
      </p:sp>
      <p:sp>
        <p:nvSpPr>
          <p:cNvPr id="4" name="Shape 2"/>
          <p:cNvSpPr/>
          <p:nvPr/>
        </p:nvSpPr>
        <p:spPr>
          <a:xfrm>
            <a:off x="548640" y="502920"/>
            <a:ext cx="3017520" cy="5394960"/>
          </a:xfrm>
          <a:prstGeom prst="rect">
            <a:avLst/>
          </a:prstGeom>
          <a:solidFill>
            <a:srgbClr val="151513"/>
          </a:solidFill>
          <a:ln w="9525">
            <a:solidFill>
              <a:srgbClr val="2B2A26"/>
            </a:solidFill>
            <a:prstDash val="solid"/>
          </a:ln>
        </p:spPr>
      </p:sp>
      <p:pic>
        <p:nvPicPr>
          <p:cNvPr id="5" name="Image 0" descr="/tmp/claude-0/-home-user-Sage-portfolio/d05fecce-977e-5eab-9cf5-7c09b306c551/scratchpad/wrdeck/img/crop_skyblue.jpg">    </p:cNvPr>
          <p:cNvPicPr>
            <a:picLocks noChangeAspect="1"/>
          </p:cNvPicPr>
          <p:nvPr/>
        </p:nvPicPr>
        <p:blipFill>
          <a:blip r:embed="rId1"/>
          <a:srcRect l="0" r="0" t="0" b="0"/>
          <a:stretch/>
        </p:blipFill>
        <p:spPr>
          <a:xfrm>
            <a:off x="868680" y="960120"/>
            <a:ext cx="2377440" cy="2926080"/>
          </a:xfrm>
          <a:prstGeom prst="rect">
            <a:avLst/>
          </a:prstGeom>
        </p:spPr>
      </p:pic>
      <p:sp>
        <p:nvSpPr>
          <p:cNvPr id="6" name="Text 3"/>
          <p:cNvSpPr txBox="1"/>
          <p:nvPr/>
        </p:nvSpPr>
        <p:spPr>
          <a:xfrm>
            <a:off x="868680" y="4160520"/>
            <a:ext cx="2377440" cy="274320"/>
          </a:xfrm>
          <a:prstGeom prst="rect">
            <a:avLst/>
          </a:prstGeom>
          <a:noFill/>
          <a:ln/>
        </p:spPr>
        <p:txBody>
          <a:bodyPr wrap="square" lIns="0" tIns="0" rIns="0" bIns="0" rtlCol="0" anchor="t"/>
          <a:lstStyle/>
          <a:p>
            <a:pPr indent="0" marL="0">
              <a:buNone/>
            </a:pPr>
            <a:r>
              <a:rPr lang="en-US" sz="1000" b="1" spc="300" kern="0" dirty="0">
                <a:solidFill>
                  <a:srgbClr val="8EC9EE"/>
                </a:solidFill>
                <a:latin typeface="Inter" pitchFamily="34" charset="0"/>
                <a:ea typeface="Inter" pitchFamily="34" charset="-122"/>
                <a:cs typeface="Inter" pitchFamily="34" charset="-120"/>
              </a:rPr>
              <a:t>AI FRAME PENDING</a:t>
            </a:r>
            <a:endParaRPr lang="en-US" sz="1000" dirty="0"/>
          </a:p>
        </p:txBody>
      </p:sp>
      <p:sp>
        <p:nvSpPr>
          <p:cNvPr id="7" name="Text 4"/>
          <p:cNvSpPr txBox="1"/>
          <p:nvPr/>
        </p:nvSpPr>
        <p:spPr>
          <a:xfrm>
            <a:off x="868680" y="4480560"/>
            <a:ext cx="2377440" cy="91440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The real watch is shown. This reel's storyboard prompt is in the prompt pack.</a:t>
            </a:r>
            <a:endParaRPr lang="en-US" sz="900" dirty="0"/>
          </a:p>
        </p:txBody>
      </p:sp>
      <p:sp>
        <p:nvSpPr>
          <p:cNvPr id="8" name="Text 5"/>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C3  ·  POV  ·  10 S  ·  9:16</a:t>
            </a:r>
            <a:endParaRPr lang="en-US" sz="900" dirty="0"/>
          </a:p>
        </p:txBody>
      </p:sp>
      <p:sp>
        <p:nvSpPr>
          <p:cNvPr id="9" name="Text 6"/>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60 SECONDS</a:t>
            </a:r>
            <a:endParaRPr lang="en-US" sz="3600" dirty="0"/>
          </a:p>
        </p:txBody>
      </p:sp>
      <p:sp>
        <p:nvSpPr>
          <p:cNvPr id="10" name="Text 7"/>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The meeting ritual</a:t>
            </a:r>
            <a:endParaRPr lang="en-US" sz="1100" dirty="0"/>
          </a:p>
        </p:txBody>
      </p:sp>
      <p:sp>
        <p:nvSpPr>
          <p:cNvPr id="11" name="Text 8"/>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CONCEPT</a:t>
            </a:r>
            <a:endParaRPr lang="en-US" sz="750" dirty="0"/>
          </a:p>
        </p:txBody>
      </p:sp>
      <p:sp>
        <p:nvSpPr>
          <p:cNvPr id="12" name="Text 9"/>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From Neetu's own story — the ritual before a decisive meeting. POV of the 60 seconds before the meeting that decides the year: collar, clasp, cuff, blazer, door. The watch is part of the armour, already on the wrist.</a:t>
            </a:r>
            <a:endParaRPr lang="en-US" sz="1100" dirty="0"/>
          </a:p>
        </p:txBody>
      </p:sp>
      <p:sp>
        <p:nvSpPr>
          <p:cNvPr id="13" name="Shape 10"/>
          <p:cNvSpPr/>
          <p:nvPr/>
        </p:nvSpPr>
        <p:spPr>
          <a:xfrm>
            <a:off x="3977640" y="3108960"/>
            <a:ext cx="7680960" cy="685800"/>
          </a:xfrm>
          <a:prstGeom prst="rect">
            <a:avLst/>
          </a:prstGeom>
          <a:solidFill>
            <a:srgbClr val="151513"/>
          </a:solidFill>
          <a:ln w="9525">
            <a:solidFill>
              <a:srgbClr val="2B2A26"/>
            </a:solidFill>
            <a:prstDash val="solid"/>
          </a:ln>
        </p:spPr>
      </p:sp>
      <p:sp>
        <p:nvSpPr>
          <p:cNvPr id="14" name="Text 11"/>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HOOK · FIRST 2 SECONDS</a:t>
            </a:r>
            <a:endParaRPr lang="en-US" sz="750" dirty="0"/>
          </a:p>
        </p:txBody>
      </p:sp>
      <p:sp>
        <p:nvSpPr>
          <p:cNvPr id="15" name="Text 12"/>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On-screen: "POV: 60 seconds before the meeting that decides your year."</a:t>
            </a:r>
            <a:endParaRPr lang="en-US" sz="1000" dirty="0"/>
          </a:p>
        </p:txBody>
      </p:sp>
      <p:sp>
        <p:nvSpPr>
          <p:cNvPr id="16" name="Text 13"/>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SCRIPT · HINGLISH</a:t>
            </a:r>
            <a:endParaRPr lang="en-US" sz="750" dirty="0"/>
          </a:p>
        </p:txBody>
      </p:sp>
      <p:sp>
        <p:nvSpPr>
          <p:cNvPr id="17" name="Text 14"/>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Optional whisper as the door opens: "Chalo."</a:t>
            </a:r>
            <a:endParaRPr lang="en-US" sz="1150" dirty="0"/>
          </a:p>
        </p:txBody>
      </p:sp>
      <p:sp>
        <p:nvSpPr>
          <p:cNvPr id="18" name="Text 15"/>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ON SCREEN</a:t>
            </a:r>
            <a:endParaRPr lang="en-US" sz="750" dirty="0"/>
          </a:p>
        </p:txBody>
      </p:sp>
      <p:sp>
        <p:nvSpPr>
          <p:cNvPr id="19" name="Text 16"/>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POV: 60 SECONDS BEFORE THE MEETING THAT DECIDES YOUR YEAR.</a:t>
            </a:r>
            <a:endParaRPr lang="en-US" sz="950" dirty="0"/>
          </a:p>
        </p:txBody>
      </p:sp>
      <p:sp>
        <p:nvSpPr>
          <p:cNvPr id="20" name="Text 17"/>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 REFERENCE · TAP TO LISTEN</a:t>
            </a:r>
            <a:endParaRPr lang="en-US" sz="750" dirty="0"/>
          </a:p>
        </p:txBody>
      </p:sp>
      <p:sp>
        <p:nvSpPr>
          <p:cNvPr id="21" name="Text 18"/>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Ludwig Göransson — "Can You Hear the Music" (Oppenheimer)</a:t>
            </a:r>
            <a:endParaRPr lang="en-US" sz="950" dirty="0"/>
          </a:p>
        </p:txBody>
      </p:sp>
      <p:sp>
        <p:nvSpPr>
          <p:cNvPr id="22" name="Text 19"/>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Clock tick speeding up · clasp click · fabric · door.</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39</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C3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60 SECONDS</a:t>
            </a:r>
            <a:endParaRPr lang="en-US" sz="3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0–2s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Mirror: top collar button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2–4s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Clasp closes on his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4–6s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Cuff pulled down, then nudged back to show the watch</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6–8s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Blazer on, shoulder roll</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8–10s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Door opens into bright light — cut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 overexposed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087368"/>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315968"/>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Mirror · navy blazer · a heavy door with bright light behind it.</a:t>
            </a:r>
            <a:endParaRPr lang="en-US" sz="950" dirty="0"/>
          </a:p>
        </p:txBody>
      </p:sp>
      <p:pic>
        <p:nvPicPr>
          <p:cNvPr id="9" name="Image 0" descr="/tmp/claude-0/-home-user-Sage-portfolio/d05fecce-977e-5eab-9cf5-7c09b306c551/scratchpad/wrdeck/img/crop_skyblu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Ludwig Göransson — "Can You Hear the Music" (Oppenheimer)</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getting ready ritual cinematic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@audemarspiguet — ritual &amp; detail</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40</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C3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60 SECONDS</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8EC9EE"/>
          </a:solidFill>
          <a:ln w="12700">
            <a:solidFill>
              <a:srgbClr val="8EC9EE"/>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Clock on the wall reads 9:59 — POV text</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8EC9EE"/>
          </a:solidFill>
          <a:ln w="12700">
            <a:solidFill>
              <a:srgbClr val="8EC9EE"/>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Mirror: he buttons the top collar</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8EC9EE"/>
          </a:solidFill>
          <a:ln w="12700">
            <a:solidFill>
              <a:srgbClr val="8EC9EE"/>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fingers settle the Cerulean on the wrist</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8EC9EE"/>
          </a:solidFill>
          <a:ln w="12700">
            <a:solidFill>
              <a:srgbClr val="8EC9EE"/>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clasp clicks shut</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8EC9EE"/>
          </a:solidFill>
          <a:ln w="12700">
            <a:solidFill>
              <a:srgbClr val="8EC9EE"/>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Cuff pulled down, then nudged back to reveal the watch</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8EC9EE"/>
          </a:solidFill>
          <a:ln w="12700">
            <a:solidFill>
              <a:srgbClr val="8EC9EE"/>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Navy blazer on, shoulder roll</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8EC9EE"/>
          </a:solidFill>
          <a:ln w="12700">
            <a:solidFill>
              <a:srgbClr val="8EC9EE"/>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Eyes closed, one breath in the mirror</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8EC9EE"/>
          </a:solidFill>
          <a:ln w="12700">
            <a:solidFill>
              <a:srgbClr val="8EC9EE"/>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hand on the door handle, the watch in focus</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8EC9EE"/>
          </a:solidFill>
          <a:ln w="12700">
            <a:solidFill>
              <a:srgbClr val="8EC9EE"/>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door opens into bright light</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C3 from the prompt pack (one 3×3 grid) and send it back — it drops into these nine slots.</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41</a:t>
            </a:r>
            <a:endParaRPr lang="en-US" sz="750" dirty="0"/>
          </a:p>
        </p:txBody>
      </p:sp>
      <p:sp>
        <p:nvSpPr>
          <p:cNvPr id="4" name="Shape 2"/>
          <p:cNvSpPr/>
          <p:nvPr/>
        </p:nvSpPr>
        <p:spPr>
          <a:xfrm>
            <a:off x="0" y="0"/>
            <a:ext cx="4206240" cy="6858000"/>
          </a:xfrm>
          <a:prstGeom prst="rect">
            <a:avLst/>
          </a:prstGeom>
          <a:solidFill>
            <a:srgbClr val="2547A8"/>
          </a:solidFill>
          <a:ln w="12700">
            <a:solidFill>
              <a:srgbClr val="2547A8"/>
            </a:solidFill>
            <a:prstDash val="solid"/>
          </a:ln>
        </p:spPr>
      </p:sp>
      <p:pic>
        <p:nvPicPr>
          <p:cNvPr id="5" name="Image 0" descr="/tmp/claude-0/-home-user-Sage-portfolio/d05fecce-977e-5eab-9cf5-7c09b306c551/scratchpad/wrdeck/img/crop_orange.jpg">    </p:cNvPr>
          <p:cNvPicPr>
            <a:picLocks noChangeAspect="1"/>
          </p:cNvPicPr>
          <p:nvPr/>
        </p:nvPicPr>
        <p:blipFill>
          <a:blip r:embed="rId1"/>
          <a:srcRect l="0" r="0" t="0" b="0"/>
          <a:stretch/>
        </p:blipFill>
        <p:spPr>
          <a:xfrm>
            <a:off x="548640" y="2103120"/>
            <a:ext cx="3108960" cy="3566160"/>
          </a:xfrm>
          <a:prstGeom prst="rect">
            <a:avLst/>
          </a:prstGeom>
        </p:spPr>
      </p:pic>
      <p:sp>
        <p:nvSpPr>
          <p:cNvPr id="6" name="Text 3"/>
          <p:cNvSpPr txBox="1"/>
          <p:nvPr/>
        </p:nvSpPr>
        <p:spPr>
          <a:xfrm>
            <a:off x="548640" y="548640"/>
            <a:ext cx="3291840" cy="274320"/>
          </a:xfrm>
          <a:prstGeom prst="rect">
            <a:avLst/>
          </a:prstGeom>
          <a:noFill/>
          <a:ln/>
        </p:spPr>
        <p:txBody>
          <a:bodyPr wrap="square" lIns="0" tIns="0" rIns="0" bIns="0" rtlCol="0" anchor="t"/>
          <a:lstStyle/>
          <a:p>
            <a:pPr indent="0" marL="0">
              <a:buNone/>
            </a:pPr>
            <a:r>
              <a:rPr lang="en-US" sz="900" b="1" spc="400" kern="0" dirty="0">
                <a:solidFill>
                  <a:srgbClr val="F28C28"/>
                </a:solidFill>
                <a:latin typeface="Inter" pitchFamily="34" charset="0"/>
                <a:ea typeface="Inter" pitchFamily="34" charset="-122"/>
                <a:cs typeface="Inter" pitchFamily="34" charset="-120"/>
              </a:rPr>
              <a:t>WORLD 04</a:t>
            </a:r>
            <a:endParaRPr lang="en-US" sz="900" dirty="0"/>
          </a:p>
        </p:txBody>
      </p:sp>
      <p:sp>
        <p:nvSpPr>
          <p:cNvPr id="7" name="Text 4"/>
          <p:cNvSpPr txBox="1"/>
          <p:nvPr/>
        </p:nvSpPr>
        <p:spPr>
          <a:xfrm>
            <a:off x="548640" y="868680"/>
            <a:ext cx="347472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UTSAV · DIWALI</a:t>
            </a:r>
            <a:endParaRPr lang="en-US" sz="3600" dirty="0"/>
          </a:p>
        </p:txBody>
      </p:sp>
      <p:sp>
        <p:nvSpPr>
          <p:cNvPr id="8" name="Text 5"/>
          <p:cNvSpPr txBox="1"/>
          <p:nvPr/>
        </p:nvSpPr>
        <p:spPr>
          <a:xfrm>
            <a:off x="548640" y="1554480"/>
            <a:ext cx="3291840" cy="320040"/>
          </a:xfrm>
          <a:prstGeom prst="rect">
            <a:avLst/>
          </a:prstGeom>
          <a:noFill/>
          <a:ln/>
        </p:spPr>
        <p:txBody>
          <a:bodyPr wrap="square" lIns="0" tIns="0" rIns="0" bIns="0" rtlCol="0" anchor="t"/>
          <a:lstStyle/>
          <a:p>
            <a:pPr indent="0" marL="0">
              <a:buNone/>
            </a:pPr>
            <a:r>
              <a:rPr lang="en-US" sz="1200" b="1" spc="200" kern="0" dirty="0">
                <a:solidFill>
                  <a:srgbClr val="F28C28"/>
                </a:solidFill>
                <a:latin typeface="Inter" pitchFamily="34" charset="0"/>
                <a:ea typeface="Inter" pitchFamily="34" charset="-122"/>
                <a:cs typeface="Inter" pitchFamily="34" charset="-120"/>
              </a:rPr>
              <a:t>ROYAL TANGERINE</a:t>
            </a:r>
            <a:endParaRPr lang="en-US" sz="1200" dirty="0"/>
          </a:p>
        </p:txBody>
      </p:sp>
      <p:sp>
        <p:nvSpPr>
          <p:cNvPr id="9" name="Shape 6"/>
          <p:cNvSpPr/>
          <p:nvPr/>
        </p:nvSpPr>
        <p:spPr>
          <a:xfrm>
            <a:off x="548640" y="5852160"/>
            <a:ext cx="640080" cy="292608"/>
          </a:xfrm>
          <a:prstGeom prst="rect">
            <a:avLst/>
          </a:prstGeom>
          <a:solidFill>
            <a:srgbClr val="2547A8"/>
          </a:solidFill>
          <a:ln w="6350">
            <a:solidFill>
              <a:srgbClr val="0B0B0A"/>
            </a:solidFill>
            <a:prstDash val="solid"/>
          </a:ln>
        </p:spPr>
      </p:sp>
      <p:sp>
        <p:nvSpPr>
          <p:cNvPr id="10" name="Text 7"/>
          <p:cNvSpPr txBox="1"/>
          <p:nvPr/>
        </p:nvSpPr>
        <p:spPr>
          <a:xfrm>
            <a:off x="548640"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Royal blue</a:t>
            </a:r>
            <a:endParaRPr lang="en-US" sz="650" dirty="0"/>
          </a:p>
        </p:txBody>
      </p:sp>
      <p:sp>
        <p:nvSpPr>
          <p:cNvPr id="11" name="Shape 8"/>
          <p:cNvSpPr/>
          <p:nvPr/>
        </p:nvSpPr>
        <p:spPr>
          <a:xfrm>
            <a:off x="1335024" y="5852160"/>
            <a:ext cx="640080" cy="292608"/>
          </a:xfrm>
          <a:prstGeom prst="rect">
            <a:avLst/>
          </a:prstGeom>
          <a:solidFill>
            <a:srgbClr val="F28C28"/>
          </a:solidFill>
          <a:ln w="6350">
            <a:solidFill>
              <a:srgbClr val="0B0B0A"/>
            </a:solidFill>
            <a:prstDash val="solid"/>
          </a:ln>
        </p:spPr>
      </p:sp>
      <p:sp>
        <p:nvSpPr>
          <p:cNvPr id="12" name="Text 9"/>
          <p:cNvSpPr txBox="1"/>
          <p:nvPr/>
        </p:nvSpPr>
        <p:spPr>
          <a:xfrm>
            <a:off x="1335024"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Marigold</a:t>
            </a:r>
            <a:endParaRPr lang="en-US" sz="650" dirty="0"/>
          </a:p>
        </p:txBody>
      </p:sp>
      <p:sp>
        <p:nvSpPr>
          <p:cNvPr id="13" name="Shape 10"/>
          <p:cNvSpPr/>
          <p:nvPr/>
        </p:nvSpPr>
        <p:spPr>
          <a:xfrm>
            <a:off x="2121408" y="5852160"/>
            <a:ext cx="640080" cy="292608"/>
          </a:xfrm>
          <a:prstGeom prst="rect">
            <a:avLst/>
          </a:prstGeom>
          <a:solidFill>
            <a:srgbClr val="C9A45C"/>
          </a:solidFill>
          <a:ln w="6350">
            <a:solidFill>
              <a:srgbClr val="0B0B0A"/>
            </a:solidFill>
            <a:prstDash val="solid"/>
          </a:ln>
        </p:spPr>
      </p:sp>
      <p:sp>
        <p:nvSpPr>
          <p:cNvPr id="14" name="Text 11"/>
          <p:cNvSpPr txBox="1"/>
          <p:nvPr/>
        </p:nvSpPr>
        <p:spPr>
          <a:xfrm>
            <a:off x="2121408"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Gold</a:t>
            </a:r>
            <a:endParaRPr lang="en-US" sz="650" dirty="0"/>
          </a:p>
        </p:txBody>
      </p:sp>
      <p:sp>
        <p:nvSpPr>
          <p:cNvPr id="15" name="Shape 12"/>
          <p:cNvSpPr/>
          <p:nvPr/>
        </p:nvSpPr>
        <p:spPr>
          <a:xfrm>
            <a:off x="2907792" y="5852160"/>
            <a:ext cx="640080" cy="292608"/>
          </a:xfrm>
          <a:prstGeom prst="rect">
            <a:avLst/>
          </a:prstGeom>
          <a:solidFill>
            <a:srgbClr val="FFB35C"/>
          </a:solidFill>
          <a:ln w="6350">
            <a:solidFill>
              <a:srgbClr val="0B0B0A"/>
            </a:solidFill>
            <a:prstDash val="solid"/>
          </a:ln>
        </p:spPr>
      </p:sp>
      <p:sp>
        <p:nvSpPr>
          <p:cNvPr id="16" name="Text 13"/>
          <p:cNvSpPr txBox="1"/>
          <p:nvPr/>
        </p:nvSpPr>
        <p:spPr>
          <a:xfrm>
            <a:off x="2907792"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Diya flame</a:t>
            </a:r>
            <a:endParaRPr lang="en-US" sz="650" dirty="0"/>
          </a:p>
        </p:txBody>
      </p:sp>
      <p:sp>
        <p:nvSpPr>
          <p:cNvPr id="17" name="Text 14"/>
          <p:cNvSpPr txBox="1"/>
          <p:nvPr/>
        </p:nvSpPr>
        <p:spPr>
          <a:xfrm>
            <a:off x="4663440" y="548640"/>
            <a:ext cx="7315200" cy="274320"/>
          </a:xfrm>
          <a:prstGeom prst="rect">
            <a:avLst/>
          </a:prstGeom>
          <a:noFill/>
          <a:ln/>
        </p:spPr>
        <p:txBody>
          <a:bodyPr wrap="square" lIns="0" tIns="0" rIns="0" bIns="0" rtlCol="0" anchor="t"/>
          <a:lstStyle/>
          <a:p>
            <a:pPr indent="0" marL="0">
              <a:buNone/>
            </a:pPr>
            <a:r>
              <a:rPr lang="en-US" sz="900" b="1" spc="400" kern="0" dirty="0">
                <a:solidFill>
                  <a:srgbClr val="F28C28"/>
                </a:solidFill>
                <a:latin typeface="Inter" pitchFamily="34" charset="0"/>
                <a:ea typeface="Inter" pitchFamily="34" charset="-122"/>
                <a:cs typeface="Inter" pitchFamily="34" charset="-120"/>
              </a:rPr>
              <a:t>AFTERNOON → DUSK · 15:15–18:30</a:t>
            </a:r>
            <a:endParaRPr lang="en-US" sz="900" dirty="0"/>
          </a:p>
        </p:txBody>
      </p:sp>
      <p:sp>
        <p:nvSpPr>
          <p:cNvPr id="18" name="Text 15"/>
          <p:cNvSpPr txBox="1"/>
          <p:nvPr/>
        </p:nvSpPr>
        <p:spPr>
          <a:xfrm>
            <a:off x="4663440" y="914400"/>
            <a:ext cx="6949440" cy="1097280"/>
          </a:xfrm>
          <a:prstGeom prst="rect">
            <a:avLst/>
          </a:prstGeom>
          <a:noFill/>
          <a:ln/>
        </p:spPr>
        <p:txBody>
          <a:bodyPr wrap="square" lIns="0" tIns="0" rIns="0" bIns="0" rtlCol="0" anchor="t"/>
          <a:lstStyle/>
          <a:p>
            <a:pPr indent="0" marL="0">
              <a:lnSpc>
                <a:spcPct val="105000"/>
              </a:lnSpc>
              <a:buNone/>
            </a:pPr>
            <a:r>
              <a:rPr lang="en-US" sz="1900" dirty="0">
                <a:solidFill>
                  <a:srgbClr val="F2EDE4"/>
                </a:solidFill>
                <a:latin typeface="Oswald" pitchFamily="34" charset="0"/>
                <a:ea typeface="Oswald" pitchFamily="34" charset="-122"/>
                <a:cs typeface="Oswald" pitchFamily="34" charset="-120"/>
              </a:rPr>
              <a:t>Jaipur in festival light — and the watch that doesn't need to shout. Shot the week before Diwali; goes live on Dhanteras (6 Nov) and Diwali (8 Nov).</a:t>
            </a:r>
            <a:endParaRPr lang="en-US" sz="1900" dirty="0"/>
          </a:p>
        </p:txBody>
      </p:sp>
      <p:sp>
        <p:nvSpPr>
          <p:cNvPr id="19" name="Text 16"/>
          <p:cNvSpPr txBox="1"/>
          <p:nvPr/>
        </p:nvSpPr>
        <p:spPr>
          <a:xfrm>
            <a:off x="4663440" y="2331720"/>
            <a:ext cx="13716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WHERE</a:t>
            </a:r>
            <a:endParaRPr lang="en-US" sz="750" dirty="0"/>
          </a:p>
        </p:txBody>
      </p:sp>
      <p:sp>
        <p:nvSpPr>
          <p:cNvPr id="20" name="Text 17"/>
          <p:cNvSpPr txBox="1"/>
          <p:nvPr/>
        </p:nvSpPr>
        <p:spPr>
          <a:xfrm>
            <a:off x="6035040" y="2304288"/>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Haveli rooftop with diyas · chowk lined with diyas · jharokha · Johari &amp; Bapu Bazaar lights (free, public)</a:t>
            </a:r>
            <a:endParaRPr lang="en-US" sz="1050" dirty="0"/>
          </a:p>
        </p:txBody>
      </p:sp>
      <p:sp>
        <p:nvSpPr>
          <p:cNvPr id="21" name="Text 18"/>
          <p:cNvSpPr txBox="1"/>
          <p:nvPr/>
        </p:nvSpPr>
        <p:spPr>
          <a:xfrm>
            <a:off x="4663440" y="2898648"/>
            <a:ext cx="13716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WARDROBE</a:t>
            </a:r>
            <a:endParaRPr lang="en-US" sz="750" dirty="0"/>
          </a:p>
        </p:txBody>
      </p:sp>
      <p:sp>
        <p:nvSpPr>
          <p:cNvPr id="22" name="Text 19"/>
          <p:cNvSpPr txBox="1"/>
          <p:nvPr/>
        </p:nvSpPr>
        <p:spPr>
          <a:xfrm>
            <a:off x="6035040" y="2871216"/>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Royal-blue bandhgala · orange leheriya safa (D3 only) · tan juttis.</a:t>
            </a:r>
            <a:endParaRPr lang="en-US" sz="1050" dirty="0"/>
          </a:p>
        </p:txBody>
      </p:sp>
      <p:sp>
        <p:nvSpPr>
          <p:cNvPr id="23" name="Text 20"/>
          <p:cNvSpPr txBox="1"/>
          <p:nvPr/>
        </p:nvSpPr>
        <p:spPr>
          <a:xfrm>
            <a:off x="4663440" y="3465576"/>
            <a:ext cx="13716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a:t>
            </a:r>
            <a:endParaRPr lang="en-US" sz="750" dirty="0"/>
          </a:p>
        </p:txBody>
      </p:sp>
      <p:sp>
        <p:nvSpPr>
          <p:cNvPr id="24" name="Text 21"/>
          <p:cNvSpPr txBox="1"/>
          <p:nvPr/>
        </p:nvSpPr>
        <p:spPr>
          <a:xfrm>
            <a:off x="6035040" y="3438144"/>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Shehnai motif, dhol tuned low.</a:t>
            </a:r>
            <a:endParaRPr lang="en-US" sz="1050" dirty="0"/>
          </a:p>
        </p:txBody>
      </p:sp>
      <p:sp>
        <p:nvSpPr>
          <p:cNvPr id="25" name="Shape 22"/>
          <p:cNvSpPr/>
          <p:nvPr/>
        </p:nvSpPr>
        <p:spPr>
          <a:xfrm>
            <a:off x="4663440" y="4206240"/>
            <a:ext cx="2240280" cy="2011680"/>
          </a:xfrm>
          <a:prstGeom prst="rect">
            <a:avLst/>
          </a:prstGeom>
          <a:solidFill>
            <a:srgbClr val="151513"/>
          </a:solidFill>
          <a:ln w="9525">
            <a:solidFill>
              <a:srgbClr val="2B2A26"/>
            </a:solidFill>
            <a:prstDash val="solid"/>
          </a:ln>
        </p:spPr>
      </p:sp>
      <p:sp>
        <p:nvSpPr>
          <p:cNvPr id="26" name="Text 23"/>
          <p:cNvSpPr txBox="1"/>
          <p:nvPr/>
        </p:nvSpPr>
        <p:spPr>
          <a:xfrm>
            <a:off x="4846320" y="4370832"/>
            <a:ext cx="914400" cy="365760"/>
          </a:xfrm>
          <a:prstGeom prst="rect">
            <a:avLst/>
          </a:prstGeom>
          <a:noFill/>
          <a:ln/>
        </p:spPr>
        <p:txBody>
          <a:bodyPr wrap="square" lIns="0" tIns="0" rIns="0" bIns="0" rtlCol="0" anchor="t"/>
          <a:lstStyle/>
          <a:p>
            <a:pPr indent="0" marL="0">
              <a:buNone/>
            </a:pPr>
            <a:r>
              <a:rPr lang="en-US" sz="1800" b="1" dirty="0">
                <a:solidFill>
                  <a:srgbClr val="F28C28"/>
                </a:solidFill>
                <a:latin typeface="Oswald" pitchFamily="34" charset="0"/>
                <a:ea typeface="Oswald" pitchFamily="34" charset="-122"/>
                <a:cs typeface="Oswald" pitchFamily="34" charset="-120"/>
              </a:rPr>
              <a:t>D1</a:t>
            </a:r>
            <a:endParaRPr lang="en-US" sz="1800" dirty="0"/>
          </a:p>
        </p:txBody>
      </p:sp>
      <p:sp>
        <p:nvSpPr>
          <p:cNvPr id="27" name="Text 24"/>
          <p:cNvSpPr txBox="1"/>
          <p:nvPr/>
        </p:nvSpPr>
        <p:spPr>
          <a:xfrm>
            <a:off x="484632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EK DIYA</a:t>
            </a:r>
            <a:endParaRPr lang="en-US" sz="1400" dirty="0"/>
          </a:p>
        </p:txBody>
      </p:sp>
      <p:sp>
        <p:nvSpPr>
          <p:cNvPr id="28" name="Text 25"/>
          <p:cNvSpPr txBox="1"/>
          <p:nvPr/>
        </p:nvSpPr>
        <p:spPr>
          <a:xfrm>
            <a:off x="484632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Diwali story reel · 30 s</a:t>
            </a:r>
            <a:endParaRPr lang="en-US" sz="850" dirty="0"/>
          </a:p>
        </p:txBody>
      </p:sp>
      <p:sp>
        <p:nvSpPr>
          <p:cNvPr id="29" name="Text 26"/>
          <p:cNvSpPr txBox="1"/>
          <p:nvPr/>
        </p:nvSpPr>
        <p:spPr>
          <a:xfrm>
            <a:off x="484632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Some are the light</a:t>
            </a:r>
            <a:endParaRPr lang="en-US" sz="900" dirty="0"/>
          </a:p>
        </p:txBody>
      </p:sp>
      <p:sp>
        <p:nvSpPr>
          <p:cNvPr id="30" name="Shape 27"/>
          <p:cNvSpPr/>
          <p:nvPr/>
        </p:nvSpPr>
        <p:spPr>
          <a:xfrm>
            <a:off x="7040880" y="4206240"/>
            <a:ext cx="2240280" cy="2011680"/>
          </a:xfrm>
          <a:prstGeom prst="rect">
            <a:avLst/>
          </a:prstGeom>
          <a:solidFill>
            <a:srgbClr val="151513"/>
          </a:solidFill>
          <a:ln w="9525">
            <a:solidFill>
              <a:srgbClr val="2B2A26"/>
            </a:solidFill>
            <a:prstDash val="solid"/>
          </a:ln>
        </p:spPr>
      </p:sp>
      <p:sp>
        <p:nvSpPr>
          <p:cNvPr id="31" name="Text 28"/>
          <p:cNvSpPr txBox="1"/>
          <p:nvPr/>
        </p:nvSpPr>
        <p:spPr>
          <a:xfrm>
            <a:off x="7223760" y="4370832"/>
            <a:ext cx="914400" cy="365760"/>
          </a:xfrm>
          <a:prstGeom prst="rect">
            <a:avLst/>
          </a:prstGeom>
          <a:noFill/>
          <a:ln/>
        </p:spPr>
        <p:txBody>
          <a:bodyPr wrap="square" lIns="0" tIns="0" rIns="0" bIns="0" rtlCol="0" anchor="t"/>
          <a:lstStyle/>
          <a:p>
            <a:pPr indent="0" marL="0">
              <a:buNone/>
            </a:pPr>
            <a:r>
              <a:rPr lang="en-US" sz="1800" b="1" dirty="0">
                <a:solidFill>
                  <a:srgbClr val="F28C28"/>
                </a:solidFill>
                <a:latin typeface="Oswald" pitchFamily="34" charset="0"/>
                <a:ea typeface="Oswald" pitchFamily="34" charset="-122"/>
                <a:cs typeface="Oswald" pitchFamily="34" charset="-120"/>
              </a:rPr>
              <a:t>D2</a:t>
            </a:r>
            <a:endParaRPr lang="en-US" sz="1800" dirty="0"/>
          </a:p>
        </p:txBody>
      </p:sp>
      <p:sp>
        <p:nvSpPr>
          <p:cNvPr id="32" name="Text 29"/>
          <p:cNvSpPr txBox="1"/>
          <p:nvPr/>
        </p:nvSpPr>
        <p:spPr>
          <a:xfrm>
            <a:off x="722376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DHANTERAS</a:t>
            </a:r>
            <a:endParaRPr lang="en-US" sz="1400" dirty="0"/>
          </a:p>
        </p:txBody>
      </p:sp>
      <p:sp>
        <p:nvSpPr>
          <p:cNvPr id="33" name="Text 30"/>
          <p:cNvSpPr txBox="1"/>
          <p:nvPr/>
        </p:nvSpPr>
        <p:spPr>
          <a:xfrm>
            <a:off x="722376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Detail · festive · 15 s</a:t>
            </a:r>
            <a:endParaRPr lang="en-US" sz="850" dirty="0"/>
          </a:p>
        </p:txBody>
      </p:sp>
      <p:sp>
        <p:nvSpPr>
          <p:cNvPr id="34" name="Text 31"/>
          <p:cNvSpPr txBox="1"/>
          <p:nvPr/>
        </p:nvSpPr>
        <p:spPr>
          <a:xfrm>
            <a:off x="722376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Buy something you've earned</a:t>
            </a:r>
            <a:endParaRPr lang="en-US" sz="900" dirty="0"/>
          </a:p>
        </p:txBody>
      </p:sp>
      <p:sp>
        <p:nvSpPr>
          <p:cNvPr id="35" name="Shape 32"/>
          <p:cNvSpPr/>
          <p:nvPr/>
        </p:nvSpPr>
        <p:spPr>
          <a:xfrm>
            <a:off x="9418320" y="4206240"/>
            <a:ext cx="2240280" cy="2011680"/>
          </a:xfrm>
          <a:prstGeom prst="rect">
            <a:avLst/>
          </a:prstGeom>
          <a:solidFill>
            <a:srgbClr val="151513"/>
          </a:solidFill>
          <a:ln w="9525">
            <a:solidFill>
              <a:srgbClr val="2B2A26"/>
            </a:solidFill>
            <a:prstDash val="solid"/>
          </a:ln>
        </p:spPr>
      </p:sp>
      <p:sp>
        <p:nvSpPr>
          <p:cNvPr id="36" name="Text 33"/>
          <p:cNvSpPr txBox="1"/>
          <p:nvPr/>
        </p:nvSpPr>
        <p:spPr>
          <a:xfrm>
            <a:off x="9601200" y="4370832"/>
            <a:ext cx="914400" cy="365760"/>
          </a:xfrm>
          <a:prstGeom prst="rect">
            <a:avLst/>
          </a:prstGeom>
          <a:noFill/>
          <a:ln/>
        </p:spPr>
        <p:txBody>
          <a:bodyPr wrap="square" lIns="0" tIns="0" rIns="0" bIns="0" rtlCol="0" anchor="t"/>
          <a:lstStyle/>
          <a:p>
            <a:pPr indent="0" marL="0">
              <a:buNone/>
            </a:pPr>
            <a:r>
              <a:rPr lang="en-US" sz="1800" b="1" dirty="0">
                <a:solidFill>
                  <a:srgbClr val="F28C28"/>
                </a:solidFill>
                <a:latin typeface="Oswald" pitchFamily="34" charset="0"/>
                <a:ea typeface="Oswald" pitchFamily="34" charset="-122"/>
                <a:cs typeface="Oswald" pitchFamily="34" charset="-120"/>
              </a:rPr>
              <a:t>D3</a:t>
            </a:r>
            <a:endParaRPr lang="en-US" sz="1800" dirty="0"/>
          </a:p>
        </p:txBody>
      </p:sp>
      <p:sp>
        <p:nvSpPr>
          <p:cNvPr id="37" name="Text 34"/>
          <p:cNvSpPr txBox="1"/>
          <p:nvPr/>
        </p:nvSpPr>
        <p:spPr>
          <a:xfrm>
            <a:off x="960120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JAIPUR SE</a:t>
            </a:r>
            <a:endParaRPr lang="en-US" sz="1400" dirty="0"/>
          </a:p>
        </p:txBody>
      </p:sp>
      <p:sp>
        <p:nvSpPr>
          <p:cNvPr id="38" name="Text 35"/>
          <p:cNvSpPr txBox="1"/>
          <p:nvPr/>
        </p:nvSpPr>
        <p:spPr>
          <a:xfrm>
            <a:off x="960120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Speed-ramp punch · 10 s</a:t>
            </a:r>
            <a:endParaRPr lang="en-US" sz="850" dirty="0"/>
          </a:p>
        </p:txBody>
      </p:sp>
      <p:sp>
        <p:nvSpPr>
          <p:cNvPr id="39" name="Text 36"/>
          <p:cNvSpPr txBox="1"/>
          <p:nvPr/>
        </p:nvSpPr>
        <p:spPr>
          <a:xfrm>
            <a:off x="960120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From Jaipur, for the world</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42</a:t>
            </a:r>
            <a:endParaRPr lang="en-US" sz="750" dirty="0"/>
          </a:p>
        </p:txBody>
      </p:sp>
      <p:pic>
        <p:nvPicPr>
          <p:cNvPr id="4" name="Image 0" descr="/tmp/claude-0/-home-user-Sage-portfolio/d05fecce-977e-5eab-9cf5-7c09b306c551/scratchpad/wrdeck/img/ai_orange_r4.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D1  ·  DIWALI STORY REEL  ·  30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EK DIYA</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Some are the light</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Diwali night: the city is pure noise — crackers, speakers, lights on everything. He climbs to the roof, switches the fairy lights off and lights one diya. In the dark, the watch's whole case glows on his wrist beside the flame. Neetu's belief: wealth doesn't have to be loud.</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Total black. A matchstick strikes; the flame lights his face.</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SCRIPT · HINGLISH</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"Is Diwali, sab roshni dikhaayenge."</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"Kuch log roshni dikhaate hain…"</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"…kuch log khud roshni hote hain."</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"Shubh Deepavali."</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SOME SHOW THEIR LIGHT. SOME ARE THE LIGHT.  →  Shubh Deepavali · WEALTH ROOTS</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A. R. Rahman — "Yeh Jo Desh Hai Tera" (Swades)</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Match strike · distant crackers (low) · silence when the lights go off · one shehnai note.</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43</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D1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EK DIYA</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0–2s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Match strike, flame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 black</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2–6s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Johari / Bapu Bazaar lit for the festival</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B-unit, handheld, public street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6–12s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walks through the chowk lined with diyas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gimbal, 50 fps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12–18s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Rooftop: he switches the fairy lights off; one diya left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wide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18–25s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sets the diya on the parapet — the case glows on his wrist beside it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lume charged 30 s with UV torch</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25–30s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Silhouette against the city. End card.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 wide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471416"/>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700016"/>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150–200 clay diyas · marigold strings · fairy lights on a switch · matchbox · UV torch to charge the lume.</a:t>
            </a:r>
            <a:endParaRPr lang="en-US" sz="950" dirty="0"/>
          </a:p>
        </p:txBody>
      </p:sp>
      <p:pic>
        <p:nvPicPr>
          <p:cNvPr id="9" name="Image 0" descr="/tmp/claude-0/-home-user-Sage-portfolio/d05fecce-977e-5eab-9cf5-7c09b306c551/scratchpad/wrdeck/img/crop_orang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A. R. Rahman — "Yeh Jo Desh Hai Tera" (Swades)</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diwali cinematic diya man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@tanishqjewellery — festive storytelling</a:t>
            </a:r>
            <a:endParaRPr lang="en-US" sz="9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44</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D1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EK DIYA</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F28C28"/>
          </a:solidFill>
          <a:ln w="12700">
            <a:solidFill>
              <a:srgbClr val="F28C28"/>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Black frame: a matchstick strikes, flame in macro</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F28C28"/>
          </a:solidFill>
          <a:ln w="12700">
            <a:solidFill>
              <a:srgbClr val="F28C28"/>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flame lights his face; royal-blue bandhgala</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F28C28"/>
          </a:solidFill>
          <a:ln w="12700">
            <a:solidFill>
              <a:srgbClr val="F28C28"/>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Johari Bazaar lit for Diwali, street level, warm bokeh</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F28C28"/>
          </a:solidFill>
          <a:ln w="12700">
            <a:solidFill>
              <a:srgbClr val="F28C28"/>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haveli chowk lined with hundreds of diyas; he walks through</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F28C28"/>
          </a:solidFill>
          <a:ln w="12700">
            <a:solidFill>
              <a:srgbClr val="F28C28"/>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Rooftop strung with fairy lights; his hand on the switch</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F28C28"/>
          </a:solidFill>
          <a:ln w="12700">
            <a:solidFill>
              <a:srgbClr val="F28C28"/>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Lights off — darkness, one diya in his hands</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F28C28"/>
          </a:solidFill>
          <a:ln w="12700">
            <a:solidFill>
              <a:srgbClr val="F28C28"/>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sets the diya on the parapet; the watch case glows green on his wrist beside the flame</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F28C28"/>
          </a:solidFill>
          <a:ln w="12700">
            <a:solidFill>
              <a:srgbClr val="F28C28"/>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Close: the glowing case and the diya flame side by side</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F28C28"/>
          </a:solidFill>
          <a:ln w="12700">
            <a:solidFill>
              <a:srgbClr val="F28C28"/>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Silhouette against the distant city lights —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D1 from the prompt pack (one 3×3 grid) and send it back — it drops into these nine slots.</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45</a:t>
            </a:r>
            <a:endParaRPr lang="en-US" sz="750" dirty="0"/>
          </a:p>
        </p:txBody>
      </p:sp>
      <p:sp>
        <p:nvSpPr>
          <p:cNvPr id="4" name="Shape 2"/>
          <p:cNvSpPr/>
          <p:nvPr/>
        </p:nvSpPr>
        <p:spPr>
          <a:xfrm>
            <a:off x="548640" y="502920"/>
            <a:ext cx="3017520" cy="5394960"/>
          </a:xfrm>
          <a:prstGeom prst="rect">
            <a:avLst/>
          </a:prstGeom>
          <a:solidFill>
            <a:srgbClr val="151513"/>
          </a:solidFill>
          <a:ln w="9525">
            <a:solidFill>
              <a:srgbClr val="2B2A26"/>
            </a:solidFill>
            <a:prstDash val="solid"/>
          </a:ln>
        </p:spPr>
      </p:sp>
      <p:pic>
        <p:nvPicPr>
          <p:cNvPr id="5" name="Image 0" descr="/tmp/claude-0/-home-user-Sage-portfolio/d05fecce-977e-5eab-9cf5-7c09b306c551/scratchpad/wrdeck/img/crop_orange.jpg">    </p:cNvPr>
          <p:cNvPicPr>
            <a:picLocks noChangeAspect="1"/>
          </p:cNvPicPr>
          <p:nvPr/>
        </p:nvPicPr>
        <p:blipFill>
          <a:blip r:embed="rId1"/>
          <a:srcRect l="0" r="0" t="0" b="0"/>
          <a:stretch/>
        </p:blipFill>
        <p:spPr>
          <a:xfrm>
            <a:off x="868680" y="960120"/>
            <a:ext cx="2377440" cy="2926080"/>
          </a:xfrm>
          <a:prstGeom prst="rect">
            <a:avLst/>
          </a:prstGeom>
        </p:spPr>
      </p:pic>
      <p:sp>
        <p:nvSpPr>
          <p:cNvPr id="6" name="Text 3"/>
          <p:cNvSpPr txBox="1"/>
          <p:nvPr/>
        </p:nvSpPr>
        <p:spPr>
          <a:xfrm>
            <a:off x="868680" y="4160520"/>
            <a:ext cx="2377440" cy="274320"/>
          </a:xfrm>
          <a:prstGeom prst="rect">
            <a:avLst/>
          </a:prstGeom>
          <a:noFill/>
          <a:ln/>
        </p:spPr>
        <p:txBody>
          <a:bodyPr wrap="square" lIns="0" tIns="0" rIns="0" bIns="0" rtlCol="0" anchor="t"/>
          <a:lstStyle/>
          <a:p>
            <a:pPr indent="0" marL="0">
              <a:buNone/>
            </a:pPr>
            <a:r>
              <a:rPr lang="en-US" sz="1000" b="1" spc="300" kern="0" dirty="0">
                <a:solidFill>
                  <a:srgbClr val="F28C28"/>
                </a:solidFill>
                <a:latin typeface="Inter" pitchFamily="34" charset="0"/>
                <a:ea typeface="Inter" pitchFamily="34" charset="-122"/>
                <a:cs typeface="Inter" pitchFamily="34" charset="-120"/>
              </a:rPr>
              <a:t>AI FRAME PENDING</a:t>
            </a:r>
            <a:endParaRPr lang="en-US" sz="1000" dirty="0"/>
          </a:p>
        </p:txBody>
      </p:sp>
      <p:sp>
        <p:nvSpPr>
          <p:cNvPr id="7" name="Text 4"/>
          <p:cNvSpPr txBox="1"/>
          <p:nvPr/>
        </p:nvSpPr>
        <p:spPr>
          <a:xfrm>
            <a:off x="868680" y="4480560"/>
            <a:ext cx="2377440" cy="91440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The real watch is shown. This reel's storyboard prompt is in the prompt pack.</a:t>
            </a:r>
            <a:endParaRPr lang="en-US" sz="900" dirty="0"/>
          </a:p>
        </p:txBody>
      </p:sp>
      <p:sp>
        <p:nvSpPr>
          <p:cNvPr id="8" name="Text 5"/>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D2  ·  DETAIL · FESTIVE  ·  15 S  ·  9:16</a:t>
            </a:r>
            <a:endParaRPr lang="en-US" sz="900" dirty="0"/>
          </a:p>
        </p:txBody>
      </p:sp>
      <p:sp>
        <p:nvSpPr>
          <p:cNvPr id="9" name="Text 6"/>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DHANTERAS</a:t>
            </a:r>
            <a:endParaRPr lang="en-US" sz="3600" dirty="0"/>
          </a:p>
        </p:txBody>
      </p:sp>
      <p:sp>
        <p:nvSpPr>
          <p:cNvPr id="10" name="Text 7"/>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Buy something you've earned</a:t>
            </a:r>
            <a:endParaRPr lang="en-US" sz="1100" dirty="0"/>
          </a:p>
        </p:txBody>
      </p:sp>
      <p:sp>
        <p:nvSpPr>
          <p:cNvPr id="11" name="Text 8"/>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CONCEPT</a:t>
            </a:r>
            <a:endParaRPr lang="en-US" sz="750" dirty="0"/>
          </a:p>
        </p:txBody>
      </p:sp>
      <p:sp>
        <p:nvSpPr>
          <p:cNvPr id="12" name="Text 9"/>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On Dhanteras India buys something precious for the year ahead. A brass thali with a silver coin, haldi, kumkum, rice and marigold — and his hands working over it, the Royal Tangerine on the wrist catching the diya. Tied to the 500 Alpha Founder pieces.</a:t>
            </a:r>
            <a:endParaRPr lang="en-US" sz="1100" dirty="0"/>
          </a:p>
        </p:txBody>
      </p:sp>
      <p:sp>
        <p:nvSpPr>
          <p:cNvPr id="13" name="Shape 10"/>
          <p:cNvSpPr/>
          <p:nvPr/>
        </p:nvSpPr>
        <p:spPr>
          <a:xfrm>
            <a:off x="3977640" y="3108960"/>
            <a:ext cx="7680960" cy="685800"/>
          </a:xfrm>
          <a:prstGeom prst="rect">
            <a:avLst/>
          </a:prstGeom>
          <a:solidFill>
            <a:srgbClr val="151513"/>
          </a:solidFill>
          <a:ln w="9525">
            <a:solidFill>
              <a:srgbClr val="2B2A26"/>
            </a:solidFill>
            <a:prstDash val="solid"/>
          </a:ln>
        </p:spPr>
      </p:sp>
      <p:sp>
        <p:nvSpPr>
          <p:cNvPr id="14" name="Text 11"/>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HOOK · FIRST 2 SECONDS</a:t>
            </a:r>
            <a:endParaRPr lang="en-US" sz="750" dirty="0"/>
          </a:p>
        </p:txBody>
      </p:sp>
      <p:sp>
        <p:nvSpPr>
          <p:cNvPr id="15" name="Text 12"/>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Rice grains fall from his fingers onto the brass thali in slow motion; the orange dial catches the flame.</a:t>
            </a:r>
            <a:endParaRPr lang="en-US" sz="1000" dirty="0"/>
          </a:p>
        </p:txBody>
      </p:sp>
      <p:sp>
        <p:nvSpPr>
          <p:cNvPr id="16" name="Text 13"/>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SCRIPT · HINGLISH</a:t>
            </a:r>
            <a:endParaRPr lang="en-US" sz="750" dirty="0"/>
          </a:p>
        </p:txBody>
      </p:sp>
      <p:sp>
        <p:nvSpPr>
          <p:cNvPr id="17" name="Text 14"/>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"Dhanteras pe kuch keemti lete hain."</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"Is baar… kuch aisa lo jo kamaaya ho. Sirf khareeda nahi."</a:t>
            </a:r>
            <a:endParaRPr lang="en-US" sz="1150" dirty="0"/>
          </a:p>
        </p:txBody>
      </p:sp>
      <p:sp>
        <p:nvSpPr>
          <p:cNvPr id="18" name="Text 15"/>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ON SCREEN</a:t>
            </a:r>
            <a:endParaRPr lang="en-US" sz="750" dirty="0"/>
          </a:p>
        </p:txBody>
      </p:sp>
      <p:sp>
        <p:nvSpPr>
          <p:cNvPr id="19" name="Text 16"/>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ONLY 500 ALPHA FOUNDER PIECES.  →  card: 001 / 500</a:t>
            </a:r>
            <a:endParaRPr lang="en-US" sz="950" dirty="0"/>
          </a:p>
        </p:txBody>
      </p:sp>
      <p:sp>
        <p:nvSpPr>
          <p:cNvPr id="20" name="Text 17"/>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 REFERENCE · TAP TO LISTEN</a:t>
            </a:r>
            <a:endParaRPr lang="en-US" sz="750" dirty="0"/>
          </a:p>
        </p:txBody>
      </p:sp>
      <p:sp>
        <p:nvSpPr>
          <p:cNvPr id="21" name="Text 18"/>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Ustad Bismillah Khan — shehnai (any morning raga)</a:t>
            </a:r>
            <a:endParaRPr lang="en-US" sz="950" dirty="0"/>
          </a:p>
        </p:txBody>
      </p:sp>
      <p:sp>
        <p:nvSpPr>
          <p:cNvPr id="22" name="Text 19"/>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Rice on brass · bell · one dhol hit.</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46</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D2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DHANTERAS</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Rice falls from his fingers onto the thali</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240 fps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3–7s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Top-down thali; his wrist with the watch over it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overhead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7–10s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Diya flame reflected across the orange dial on his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10–13s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places the silver coin on the thali</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13–15s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holds up the card: 001 / 500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Insert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087368"/>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315968"/>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Brass thali · silver coin · haldi + kumkum bowls · rice · marigold · numbered card "001/500" · diya.</a:t>
            </a:r>
            <a:endParaRPr lang="en-US" sz="950" dirty="0"/>
          </a:p>
        </p:txBody>
      </p:sp>
      <p:sp>
        <p:nvSpPr>
          <p:cNvPr id="9" name="Text 6"/>
          <p:cNvSpPr txBox="1"/>
          <p:nvPr/>
        </p:nvSpPr>
        <p:spPr>
          <a:xfrm>
            <a:off x="548640" y="4818888"/>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PRODUCTION NOTE</a:t>
            </a:r>
            <a:endParaRPr lang="en-US" sz="750" dirty="0"/>
          </a:p>
        </p:txBody>
      </p:sp>
      <p:sp>
        <p:nvSpPr>
          <p:cNvPr id="10" name="Text 7"/>
          <p:cNvSpPr txBox="1"/>
          <p:nvPr/>
        </p:nvSpPr>
        <p:spPr>
          <a:xfrm>
            <a:off x="548640" y="5047488"/>
            <a:ext cx="7498080" cy="457200"/>
          </a:xfrm>
          <a:prstGeom prst="rect">
            <a:avLst/>
          </a:prstGeom>
          <a:noFill/>
          <a:ln/>
        </p:spPr>
        <p:txBody>
          <a:bodyPr wrap="square" lIns="0" tIns="0" rIns="0" bIns="0" rtlCol="0" anchor="t"/>
          <a:lstStyle/>
          <a:p>
            <a:pPr indent="0" marL="0">
              <a:buNone/>
            </a:pPr>
            <a:r>
              <a:rPr lang="en-US" sz="950" dirty="0">
                <a:solidFill>
                  <a:srgbClr val="C9A45C"/>
                </a:solidFill>
                <a:latin typeface="Inter" pitchFamily="34" charset="0"/>
                <a:ea typeface="Inter" pitchFamily="34" charset="-122"/>
                <a:cs typeface="Inter" pitchFamily="34" charset="-120"/>
              </a:rPr>
              <a:t>Post on Dhanteras, 6 Nov. Keep it respectful: thali only, no deity on screen.</a:t>
            </a:r>
            <a:endParaRPr lang="en-US" sz="950" dirty="0"/>
          </a:p>
        </p:txBody>
      </p:sp>
      <p:pic>
        <p:nvPicPr>
          <p:cNvPr id="11" name="Image 0" descr="/tmp/claude-0/-home-user-Sage-portfolio/d05fecce-977e-5eab-9cf5-7c09b306c551/scratchpad/wrdeck/img/crop_orange.jpg">    </p:cNvPr>
          <p:cNvPicPr>
            <a:picLocks noChangeAspect="1"/>
          </p:cNvPicPr>
          <p:nvPr/>
        </p:nvPicPr>
        <p:blipFill>
          <a:blip r:embed="rId1"/>
          <a:srcRect l="0" r="0" t="0" b="0"/>
          <a:stretch/>
        </p:blipFill>
        <p:spPr>
          <a:xfrm>
            <a:off x="8412480" y="502920"/>
            <a:ext cx="3227832" cy="2651760"/>
          </a:xfrm>
          <a:prstGeom prst="rect">
            <a:avLst/>
          </a:prstGeom>
        </p:spPr>
      </p:pic>
      <p:sp>
        <p:nvSpPr>
          <p:cNvPr id="12" name="Text 8"/>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3" name="Text 9"/>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 REFERENCE</a:t>
            </a:r>
            <a:endParaRPr lang="en-US" sz="750" dirty="0"/>
          </a:p>
        </p:txBody>
      </p:sp>
      <p:sp>
        <p:nvSpPr>
          <p:cNvPr id="14" name="Text 10"/>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Ustad Bismillah Khan — shehnai (any morning raga)</a:t>
            </a:r>
            <a:endParaRPr lang="en-US" sz="950" dirty="0"/>
          </a:p>
        </p:txBody>
      </p:sp>
      <p:sp>
        <p:nvSpPr>
          <p:cNvPr id="15" name="Text 11"/>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VISUAL REFERENCES — TAP TO OPEN</a:t>
            </a:r>
            <a:endParaRPr lang="en-US" sz="750" dirty="0"/>
          </a:p>
        </p:txBody>
      </p:sp>
      <p:sp>
        <p:nvSpPr>
          <p:cNvPr id="16" name="Text 12"/>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dhanteras thali hands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Pinterest · marigold brass top view</a:t>
            </a:r>
            <a:endParaRPr lang="en-US" sz="9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47</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D2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DHANTERAS</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F28C28"/>
          </a:solidFill>
          <a:ln w="12700">
            <a:solidFill>
              <a:srgbClr val="F28C28"/>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Top-down brass thali: silver coin, haldi, kumkum, rice, marigold</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F28C28"/>
          </a:solidFill>
          <a:ln w="12700">
            <a:solidFill>
              <a:srgbClr val="F28C28"/>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fingers release rice in slow motion, the watch on the wrist</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F28C28"/>
          </a:solidFill>
          <a:ln w="12700">
            <a:solidFill>
              <a:srgbClr val="F28C28"/>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A diya is lit beside the thali</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F28C28"/>
          </a:solidFill>
          <a:ln w="12700">
            <a:solidFill>
              <a:srgbClr val="F28C28"/>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orange dial on his wrist reflecting the flame</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F28C28"/>
          </a:solidFill>
          <a:ln w="12700">
            <a:solidFill>
              <a:srgbClr val="F28C28"/>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places the silver coin on the thali; the watch in focus</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F28C28"/>
          </a:solidFill>
          <a:ln w="12700">
            <a:solidFill>
              <a:srgbClr val="F28C28"/>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Marigold petals fall past his wrist</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F28C28"/>
          </a:solidFill>
          <a:ln w="12700">
            <a:solidFill>
              <a:srgbClr val="F28C28"/>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folded hands, the watch visible at the wrist</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F28C28"/>
          </a:solidFill>
          <a:ln w="12700">
            <a:solidFill>
              <a:srgbClr val="F28C28"/>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holds up a black card printed 001 / 500</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F28C28"/>
          </a:solidFill>
          <a:ln w="12700">
            <a:solidFill>
              <a:srgbClr val="F28C28"/>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Warm marigold-and-brass frame for the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D2 from the prompt pack (one 3×3 grid) and send it back — it drops into these nine slots.</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48</a:t>
            </a:r>
            <a:endParaRPr lang="en-US" sz="750" dirty="0"/>
          </a:p>
        </p:txBody>
      </p:sp>
      <p:pic>
        <p:nvPicPr>
          <p:cNvPr id="4" name="Image 0" descr="/tmp/claude-0/-home-user-Sage-portfolio/d05fecce-977e-5eab-9cf5-7c09b306c551/scratchpad/wrdeck/img/ai_orange_r2.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D3  ·  SPEED-RAMP PUNCH  ·  10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JAIPUR SE</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From Jaipur, for the world</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The brand's own line: born in Jaipur, made for the world. At the haveli jharokha he ties the last fold of an orange leheriya safa → the camera drops to his wrist → whip-pan to the pink city — blue and orange colour-matched.</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The orange safa cloth whips into frame against the royal-blue bandhgala.</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VOICE</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No voice-over.</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JAIPUR SE. DUNIYA KE LIYE.</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A. R. Rahman — "Azeem-O-Shaan Shahenshah" (Jodhaa Akbar)</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Shehnai sting · dhol hit on the whip.</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49</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D3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JAIPUR SE</a:t>
            </a:r>
            <a:endParaRPr lang="en-US" sz="30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Safa cloth whips through frame; he ties the last fold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 120 fps → speed ramp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3–6s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Drop to wrist as he lowers his hands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tilt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6–10s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Whip-pan to Hawa Mahal from the street (free, public)</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B-unit, matched whip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3319272"/>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3547872"/>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Orange leheriya safa (pre-tied backup) · jharokha with afternoon sun.</a:t>
            </a:r>
            <a:endParaRPr lang="en-US" sz="950" dirty="0"/>
          </a:p>
        </p:txBody>
      </p:sp>
      <p:pic>
        <p:nvPicPr>
          <p:cNvPr id="9" name="Image 0" descr="/tmp/claude-0/-home-user-Sage-portfolio/d05fecce-977e-5eab-9cf5-7c09b306c551/scratchpad/wrdeck/img/crop_orang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A. R. Rahman — "Azeem-O-Shaan Shahenshah" (Jodhaa Akbar)</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rajasthani safa portrait jharokha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Pinterest · whip pan transition city</a:t>
            </a:r>
            <a:endParaRPr lang="en-US" sz="9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50</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D3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JAIPUR SE</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F28C28"/>
          </a:solidFill>
          <a:ln w="12700">
            <a:solidFill>
              <a:srgbClr val="F28C28"/>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Orange leheriya cloth whipping through frame</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F28C28"/>
          </a:solidFill>
          <a:ln w="12700">
            <a:solidFill>
              <a:srgbClr val="F28C28"/>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ties the last fold of the safa at the jharokha, royal-blue bandhgala</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F28C28"/>
          </a:solidFill>
          <a:ln w="12700">
            <a:solidFill>
              <a:srgbClr val="F28C28"/>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Hands lowering; the Royal Tangerine on his wrist</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F28C28"/>
          </a:solidFill>
          <a:ln w="12700">
            <a:solidFill>
              <a:srgbClr val="F28C28"/>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Close: the watch against the royal-blue sleeve and orange safa</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F28C28"/>
          </a:solidFill>
          <a:ln w="12700">
            <a:solidFill>
              <a:srgbClr val="F28C28"/>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Whip-pan motion blur</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F28C28"/>
          </a:solidFill>
          <a:ln w="12700">
            <a:solidFill>
              <a:srgbClr val="F28C28"/>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Hawa Mahal facade from the street, matching pink and orange</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F28C28"/>
          </a:solidFill>
          <a:ln w="12700">
            <a:solidFill>
              <a:srgbClr val="F28C28"/>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Old-city lane in afternoon light</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F28C28"/>
          </a:solidFill>
          <a:ln w="12700">
            <a:solidFill>
              <a:srgbClr val="F28C28"/>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looks out from the jharokha over the city</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F28C28"/>
          </a:solidFill>
          <a:ln w="12700">
            <a:solidFill>
              <a:srgbClr val="F28C28"/>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Type card: JAIPUR SE. DUNIYA KE LIYE.</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D3 from the prompt pack (one 3×3 grid) and send it back — it drops into these nine slots.</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51</a:t>
            </a:r>
            <a:endParaRPr lang="en-US" sz="750" dirty="0"/>
          </a:p>
        </p:txBody>
      </p:sp>
      <p:sp>
        <p:nvSpPr>
          <p:cNvPr id="4" name="Shape 2"/>
          <p:cNvSpPr/>
          <p:nvPr/>
        </p:nvSpPr>
        <p:spPr>
          <a:xfrm>
            <a:off x="0" y="0"/>
            <a:ext cx="4206240" cy="6858000"/>
          </a:xfrm>
          <a:prstGeom prst="rect">
            <a:avLst/>
          </a:prstGeom>
          <a:solidFill>
            <a:srgbClr val="1C2A55"/>
          </a:solidFill>
          <a:ln w="12700">
            <a:solidFill>
              <a:srgbClr val="1C2A55"/>
            </a:solidFill>
            <a:prstDash val="solid"/>
          </a:ln>
        </p:spPr>
      </p:sp>
      <p:pic>
        <p:nvPicPr>
          <p:cNvPr id="5" name="Image 0" descr="/tmp/claude-0/-home-user-Sage-portfolio/d05fecce-977e-5eab-9cf5-7c09b306c551/scratchpad/wrdeck/img/crop_redblue.jpg">    </p:cNvPr>
          <p:cNvPicPr>
            <a:picLocks noChangeAspect="1"/>
          </p:cNvPicPr>
          <p:nvPr/>
        </p:nvPicPr>
        <p:blipFill>
          <a:blip r:embed="rId1"/>
          <a:srcRect l="0" r="0" t="0" b="0"/>
          <a:stretch/>
        </p:blipFill>
        <p:spPr>
          <a:xfrm>
            <a:off x="548640" y="2103120"/>
            <a:ext cx="3108960" cy="3566160"/>
          </a:xfrm>
          <a:prstGeom prst="rect">
            <a:avLst/>
          </a:prstGeom>
        </p:spPr>
      </p:pic>
      <p:sp>
        <p:nvSpPr>
          <p:cNvPr id="6" name="Text 3"/>
          <p:cNvSpPr txBox="1"/>
          <p:nvPr/>
        </p:nvSpPr>
        <p:spPr>
          <a:xfrm>
            <a:off x="548640" y="548640"/>
            <a:ext cx="3291840" cy="274320"/>
          </a:xfrm>
          <a:prstGeom prst="rect">
            <a:avLst/>
          </a:prstGeom>
          <a:noFill/>
          <a:ln/>
        </p:spPr>
        <p:txBody>
          <a:bodyPr wrap="square" lIns="0" tIns="0" rIns="0" bIns="0" rtlCol="0" anchor="t"/>
          <a:lstStyle/>
          <a:p>
            <a:pPr indent="0" marL="0">
              <a:buNone/>
            </a:pPr>
            <a:r>
              <a:rPr lang="en-US" sz="900" b="1" spc="400" kern="0" dirty="0">
                <a:solidFill>
                  <a:srgbClr val="D2283A"/>
                </a:solidFill>
                <a:latin typeface="Inter" pitchFamily="34" charset="0"/>
                <a:ea typeface="Inter" pitchFamily="34" charset="-122"/>
                <a:cs typeface="Inter" pitchFamily="34" charset="-120"/>
              </a:rPr>
              <a:t>WORLD 05</a:t>
            </a:r>
            <a:endParaRPr lang="en-US" sz="900" dirty="0"/>
          </a:p>
        </p:txBody>
      </p:sp>
      <p:sp>
        <p:nvSpPr>
          <p:cNvPr id="7" name="Text 4"/>
          <p:cNvSpPr txBox="1"/>
          <p:nvPr/>
        </p:nvSpPr>
        <p:spPr>
          <a:xfrm>
            <a:off x="548640" y="868680"/>
            <a:ext cx="347472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AFTER DARK</a:t>
            </a:r>
            <a:endParaRPr lang="en-US" sz="3600" dirty="0"/>
          </a:p>
        </p:txBody>
      </p:sp>
      <p:sp>
        <p:nvSpPr>
          <p:cNvPr id="8" name="Text 5"/>
          <p:cNvSpPr txBox="1"/>
          <p:nvPr/>
        </p:nvSpPr>
        <p:spPr>
          <a:xfrm>
            <a:off x="548640" y="1554480"/>
            <a:ext cx="3291840" cy="320040"/>
          </a:xfrm>
          <a:prstGeom prst="rect">
            <a:avLst/>
          </a:prstGeom>
          <a:noFill/>
          <a:ln/>
        </p:spPr>
        <p:txBody>
          <a:bodyPr wrap="square" lIns="0" tIns="0" rIns="0" bIns="0" rtlCol="0" anchor="t"/>
          <a:lstStyle/>
          <a:p>
            <a:pPr indent="0" marL="0">
              <a:buNone/>
            </a:pPr>
            <a:r>
              <a:rPr lang="en-US" sz="1200" b="1" spc="200" kern="0" dirty="0">
                <a:solidFill>
                  <a:srgbClr val="D2283A"/>
                </a:solidFill>
                <a:latin typeface="Inter" pitchFamily="34" charset="0"/>
                <a:ea typeface="Inter" pitchFamily="34" charset="-122"/>
                <a:cs typeface="Inter" pitchFamily="34" charset="-120"/>
              </a:rPr>
              <a:t>CRIMSON NAVY</a:t>
            </a:r>
            <a:endParaRPr lang="en-US" sz="1200" dirty="0"/>
          </a:p>
        </p:txBody>
      </p:sp>
      <p:sp>
        <p:nvSpPr>
          <p:cNvPr id="9" name="Shape 6"/>
          <p:cNvSpPr/>
          <p:nvPr/>
        </p:nvSpPr>
        <p:spPr>
          <a:xfrm>
            <a:off x="548640" y="5852160"/>
            <a:ext cx="640080" cy="292608"/>
          </a:xfrm>
          <a:prstGeom prst="rect">
            <a:avLst/>
          </a:prstGeom>
          <a:solidFill>
            <a:srgbClr val="0A0A0C"/>
          </a:solidFill>
          <a:ln w="6350">
            <a:solidFill>
              <a:srgbClr val="0B0B0A"/>
            </a:solidFill>
            <a:prstDash val="solid"/>
          </a:ln>
        </p:spPr>
      </p:sp>
      <p:sp>
        <p:nvSpPr>
          <p:cNvPr id="10" name="Text 7"/>
          <p:cNvSpPr txBox="1"/>
          <p:nvPr/>
        </p:nvSpPr>
        <p:spPr>
          <a:xfrm>
            <a:off x="548640"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Black</a:t>
            </a:r>
            <a:endParaRPr lang="en-US" sz="650" dirty="0"/>
          </a:p>
        </p:txBody>
      </p:sp>
      <p:sp>
        <p:nvSpPr>
          <p:cNvPr id="11" name="Shape 8"/>
          <p:cNvSpPr/>
          <p:nvPr/>
        </p:nvSpPr>
        <p:spPr>
          <a:xfrm>
            <a:off x="1335024" y="5852160"/>
            <a:ext cx="640080" cy="292608"/>
          </a:xfrm>
          <a:prstGeom prst="rect">
            <a:avLst/>
          </a:prstGeom>
          <a:solidFill>
            <a:srgbClr val="D2283A"/>
          </a:solidFill>
          <a:ln w="6350">
            <a:solidFill>
              <a:srgbClr val="0B0B0A"/>
            </a:solidFill>
            <a:prstDash val="solid"/>
          </a:ln>
        </p:spPr>
      </p:sp>
      <p:sp>
        <p:nvSpPr>
          <p:cNvPr id="12" name="Text 9"/>
          <p:cNvSpPr txBox="1"/>
          <p:nvPr/>
        </p:nvSpPr>
        <p:spPr>
          <a:xfrm>
            <a:off x="1335024"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Red light</a:t>
            </a:r>
            <a:endParaRPr lang="en-US" sz="650" dirty="0"/>
          </a:p>
        </p:txBody>
      </p:sp>
      <p:sp>
        <p:nvSpPr>
          <p:cNvPr id="13" name="Shape 10"/>
          <p:cNvSpPr/>
          <p:nvPr/>
        </p:nvSpPr>
        <p:spPr>
          <a:xfrm>
            <a:off x="2121408" y="5852160"/>
            <a:ext cx="640080" cy="292608"/>
          </a:xfrm>
          <a:prstGeom prst="rect">
            <a:avLst/>
          </a:prstGeom>
          <a:solidFill>
            <a:srgbClr val="1C2A55"/>
          </a:solidFill>
          <a:ln w="6350">
            <a:solidFill>
              <a:srgbClr val="0B0B0A"/>
            </a:solidFill>
            <a:prstDash val="solid"/>
          </a:ln>
        </p:spPr>
      </p:sp>
      <p:sp>
        <p:nvSpPr>
          <p:cNvPr id="14" name="Text 11"/>
          <p:cNvSpPr txBox="1"/>
          <p:nvPr/>
        </p:nvSpPr>
        <p:spPr>
          <a:xfrm>
            <a:off x="2121408"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Blue light</a:t>
            </a:r>
            <a:endParaRPr lang="en-US" sz="650" dirty="0"/>
          </a:p>
        </p:txBody>
      </p:sp>
      <p:sp>
        <p:nvSpPr>
          <p:cNvPr id="15" name="Shape 12"/>
          <p:cNvSpPr/>
          <p:nvPr/>
        </p:nvSpPr>
        <p:spPr>
          <a:xfrm>
            <a:off x="2907792" y="5852160"/>
            <a:ext cx="640080" cy="292608"/>
          </a:xfrm>
          <a:prstGeom prst="rect">
            <a:avLst/>
          </a:prstGeom>
          <a:solidFill>
            <a:srgbClr val="5CFF7A"/>
          </a:solidFill>
          <a:ln w="6350">
            <a:solidFill>
              <a:srgbClr val="0B0B0A"/>
            </a:solidFill>
            <a:prstDash val="solid"/>
          </a:ln>
        </p:spPr>
      </p:sp>
      <p:sp>
        <p:nvSpPr>
          <p:cNvPr id="16" name="Text 13"/>
          <p:cNvSpPr txBox="1"/>
          <p:nvPr/>
        </p:nvSpPr>
        <p:spPr>
          <a:xfrm>
            <a:off x="2907792"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Glow green</a:t>
            </a:r>
            <a:endParaRPr lang="en-US" sz="650" dirty="0"/>
          </a:p>
        </p:txBody>
      </p:sp>
      <p:sp>
        <p:nvSpPr>
          <p:cNvPr id="17" name="Text 14"/>
          <p:cNvSpPr txBox="1"/>
          <p:nvPr/>
        </p:nvSpPr>
        <p:spPr>
          <a:xfrm>
            <a:off x="4663440" y="548640"/>
            <a:ext cx="7315200" cy="274320"/>
          </a:xfrm>
          <a:prstGeom prst="rect">
            <a:avLst/>
          </a:prstGeom>
          <a:noFill/>
          <a:ln/>
        </p:spPr>
        <p:txBody>
          <a:bodyPr wrap="square" lIns="0" tIns="0" rIns="0" bIns="0" rtlCol="0" anchor="t"/>
          <a:lstStyle/>
          <a:p>
            <a:pPr indent="0" marL="0">
              <a:buNone/>
            </a:pPr>
            <a:r>
              <a:rPr lang="en-US" sz="900" b="1" spc="400" kern="0" dirty="0">
                <a:solidFill>
                  <a:srgbClr val="D2283A"/>
                </a:solidFill>
                <a:latin typeface="Inter" pitchFamily="34" charset="0"/>
                <a:ea typeface="Inter" pitchFamily="34" charset="-122"/>
                <a:cs typeface="Inter" pitchFamily="34" charset="-120"/>
              </a:rPr>
              <a:t>NIGHT · 19:15–22:30</a:t>
            </a:r>
            <a:endParaRPr lang="en-US" sz="900" dirty="0"/>
          </a:p>
        </p:txBody>
      </p:sp>
      <p:sp>
        <p:nvSpPr>
          <p:cNvPr id="18" name="Text 15"/>
          <p:cNvSpPr txBox="1"/>
          <p:nvPr/>
        </p:nvSpPr>
        <p:spPr>
          <a:xfrm>
            <a:off x="4663440" y="914400"/>
            <a:ext cx="6949440" cy="1097280"/>
          </a:xfrm>
          <a:prstGeom prst="rect">
            <a:avLst/>
          </a:prstGeom>
          <a:noFill/>
          <a:ln/>
        </p:spPr>
        <p:txBody>
          <a:bodyPr wrap="square" lIns="0" tIns="0" rIns="0" bIns="0" rtlCol="0" anchor="t"/>
          <a:lstStyle/>
          <a:p>
            <a:pPr indent="0" marL="0">
              <a:lnSpc>
                <a:spcPct val="105000"/>
              </a:lnSpc>
              <a:buNone/>
            </a:pPr>
            <a:r>
              <a:rPr lang="en-US" sz="1900" dirty="0">
                <a:solidFill>
                  <a:srgbClr val="F2EDE4"/>
                </a:solidFill>
                <a:latin typeface="Oswald" pitchFamily="34" charset="0"/>
                <a:ea typeface="Oswald" pitchFamily="34" charset="-122"/>
                <a:cs typeface="Oswald" pitchFamily="34" charset="-120"/>
              </a:rPr>
              <a:t>The hours nobody sees. Building anything meaningful is lonely — the watch is the only witness. Ends with the glow: quiet power in the dark.</a:t>
            </a:r>
            <a:endParaRPr lang="en-US" sz="1900" dirty="0"/>
          </a:p>
        </p:txBody>
      </p:sp>
      <p:sp>
        <p:nvSpPr>
          <p:cNvPr id="19" name="Text 16"/>
          <p:cNvSpPr txBox="1"/>
          <p:nvPr/>
        </p:nvSpPr>
        <p:spPr>
          <a:xfrm>
            <a:off x="4663440" y="2331720"/>
            <a:ext cx="13716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WHERE</a:t>
            </a:r>
            <a:endParaRPr lang="en-US" sz="750" dirty="0"/>
          </a:p>
        </p:txBody>
      </p:sp>
      <p:sp>
        <p:nvSpPr>
          <p:cNvPr id="20" name="Text 17"/>
          <p:cNvSpPr txBox="1"/>
          <p:nvPr/>
        </p:nvSpPr>
        <p:spPr>
          <a:xfrm>
            <a:off x="6035040" y="2304288"/>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Blacked-out room with red + blue gels · study desk · MI Road + Albert Hall exterior (free, public)</a:t>
            </a:r>
            <a:endParaRPr lang="en-US" sz="1050" dirty="0"/>
          </a:p>
        </p:txBody>
      </p:sp>
      <p:sp>
        <p:nvSpPr>
          <p:cNvPr id="21" name="Text 18"/>
          <p:cNvSpPr txBox="1"/>
          <p:nvPr/>
        </p:nvSpPr>
        <p:spPr>
          <a:xfrm>
            <a:off x="4663440" y="2898648"/>
            <a:ext cx="13716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WARDROBE</a:t>
            </a:r>
            <a:endParaRPr lang="en-US" sz="750" dirty="0"/>
          </a:p>
        </p:txBody>
      </p:sp>
      <p:sp>
        <p:nvSpPr>
          <p:cNvPr id="22" name="Text 19"/>
          <p:cNvSpPr txBox="1"/>
          <p:nvPr/>
        </p:nvSpPr>
        <p:spPr>
          <a:xfrm>
            <a:off x="6035040" y="2871216"/>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Black suit, open collar · black knit for E2.</a:t>
            </a:r>
            <a:endParaRPr lang="en-US" sz="1050" dirty="0"/>
          </a:p>
        </p:txBody>
      </p:sp>
      <p:sp>
        <p:nvSpPr>
          <p:cNvPr id="23" name="Text 20"/>
          <p:cNvSpPr txBox="1"/>
          <p:nvPr/>
        </p:nvSpPr>
        <p:spPr>
          <a:xfrm>
            <a:off x="4663440" y="3465576"/>
            <a:ext cx="13716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a:t>
            </a:r>
            <a:endParaRPr lang="en-US" sz="750" dirty="0"/>
          </a:p>
        </p:txBody>
      </p:sp>
      <p:sp>
        <p:nvSpPr>
          <p:cNvPr id="24" name="Text 21"/>
          <p:cNvSpPr txBox="1"/>
          <p:nvPr/>
        </p:nvSpPr>
        <p:spPr>
          <a:xfrm>
            <a:off x="6035040" y="3438144"/>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Low synth, sub heartbeat.</a:t>
            </a:r>
            <a:endParaRPr lang="en-US" sz="1050" dirty="0"/>
          </a:p>
        </p:txBody>
      </p:sp>
      <p:sp>
        <p:nvSpPr>
          <p:cNvPr id="25" name="Shape 22"/>
          <p:cNvSpPr/>
          <p:nvPr/>
        </p:nvSpPr>
        <p:spPr>
          <a:xfrm>
            <a:off x="4663440" y="4206240"/>
            <a:ext cx="2240280" cy="2011680"/>
          </a:xfrm>
          <a:prstGeom prst="rect">
            <a:avLst/>
          </a:prstGeom>
          <a:solidFill>
            <a:srgbClr val="151513"/>
          </a:solidFill>
          <a:ln w="9525">
            <a:solidFill>
              <a:srgbClr val="2B2A26"/>
            </a:solidFill>
            <a:prstDash val="solid"/>
          </a:ln>
        </p:spPr>
      </p:sp>
      <p:sp>
        <p:nvSpPr>
          <p:cNvPr id="26" name="Text 23"/>
          <p:cNvSpPr txBox="1"/>
          <p:nvPr/>
        </p:nvSpPr>
        <p:spPr>
          <a:xfrm>
            <a:off x="4846320" y="4370832"/>
            <a:ext cx="914400" cy="365760"/>
          </a:xfrm>
          <a:prstGeom prst="rect">
            <a:avLst/>
          </a:prstGeom>
          <a:noFill/>
          <a:ln/>
        </p:spPr>
        <p:txBody>
          <a:bodyPr wrap="square" lIns="0" tIns="0" rIns="0" bIns="0" rtlCol="0" anchor="t"/>
          <a:lstStyle/>
          <a:p>
            <a:pPr indent="0" marL="0">
              <a:buNone/>
            </a:pPr>
            <a:r>
              <a:rPr lang="en-US" sz="1800" b="1" dirty="0">
                <a:solidFill>
                  <a:srgbClr val="D2283A"/>
                </a:solidFill>
                <a:latin typeface="Oswald" pitchFamily="34" charset="0"/>
                <a:ea typeface="Oswald" pitchFamily="34" charset="-122"/>
                <a:cs typeface="Oswald" pitchFamily="34" charset="-120"/>
              </a:rPr>
              <a:t>E1</a:t>
            </a:r>
            <a:endParaRPr lang="en-US" sz="1800" dirty="0"/>
          </a:p>
        </p:txBody>
      </p:sp>
      <p:sp>
        <p:nvSpPr>
          <p:cNvPr id="27" name="Text 24"/>
          <p:cNvSpPr txBox="1"/>
          <p:nvPr/>
        </p:nvSpPr>
        <p:spPr>
          <a:xfrm>
            <a:off x="484632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UNFINISHED</a:t>
            </a:r>
            <a:endParaRPr lang="en-US" sz="1400" dirty="0"/>
          </a:p>
        </p:txBody>
      </p:sp>
      <p:sp>
        <p:nvSpPr>
          <p:cNvPr id="28" name="Text 25"/>
          <p:cNvSpPr txBox="1"/>
          <p:nvPr/>
        </p:nvSpPr>
        <p:spPr>
          <a:xfrm>
            <a:off x="484632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Story reel · 30 s</a:t>
            </a:r>
            <a:endParaRPr lang="en-US" sz="850" dirty="0"/>
          </a:p>
        </p:txBody>
      </p:sp>
      <p:sp>
        <p:nvSpPr>
          <p:cNvPr id="29" name="Text 26"/>
          <p:cNvSpPr txBox="1"/>
          <p:nvPr/>
        </p:nvSpPr>
        <p:spPr>
          <a:xfrm>
            <a:off x="484632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Nobody sees the nights</a:t>
            </a:r>
            <a:endParaRPr lang="en-US" sz="900" dirty="0"/>
          </a:p>
        </p:txBody>
      </p:sp>
      <p:sp>
        <p:nvSpPr>
          <p:cNvPr id="30" name="Shape 27"/>
          <p:cNvSpPr/>
          <p:nvPr/>
        </p:nvSpPr>
        <p:spPr>
          <a:xfrm>
            <a:off x="7040880" y="4206240"/>
            <a:ext cx="2240280" cy="2011680"/>
          </a:xfrm>
          <a:prstGeom prst="rect">
            <a:avLst/>
          </a:prstGeom>
          <a:solidFill>
            <a:srgbClr val="151513"/>
          </a:solidFill>
          <a:ln w="9525">
            <a:solidFill>
              <a:srgbClr val="2B2A26"/>
            </a:solidFill>
            <a:prstDash val="solid"/>
          </a:ln>
        </p:spPr>
      </p:sp>
      <p:sp>
        <p:nvSpPr>
          <p:cNvPr id="31" name="Text 28"/>
          <p:cNvSpPr txBox="1"/>
          <p:nvPr/>
        </p:nvSpPr>
        <p:spPr>
          <a:xfrm>
            <a:off x="7223760" y="4370832"/>
            <a:ext cx="914400" cy="365760"/>
          </a:xfrm>
          <a:prstGeom prst="rect">
            <a:avLst/>
          </a:prstGeom>
          <a:noFill/>
          <a:ln/>
        </p:spPr>
        <p:txBody>
          <a:bodyPr wrap="square" lIns="0" tIns="0" rIns="0" bIns="0" rtlCol="0" anchor="t"/>
          <a:lstStyle/>
          <a:p>
            <a:pPr indent="0" marL="0">
              <a:buNone/>
            </a:pPr>
            <a:r>
              <a:rPr lang="en-US" sz="1800" b="1" dirty="0">
                <a:solidFill>
                  <a:srgbClr val="D2283A"/>
                </a:solidFill>
                <a:latin typeface="Oswald" pitchFamily="34" charset="0"/>
                <a:ea typeface="Oswald" pitchFamily="34" charset="-122"/>
                <a:cs typeface="Oswald" pitchFamily="34" charset="-120"/>
              </a:rPr>
              <a:t>E2</a:t>
            </a:r>
            <a:endParaRPr lang="en-US" sz="1800" dirty="0"/>
          </a:p>
        </p:txBody>
      </p:sp>
      <p:sp>
        <p:nvSpPr>
          <p:cNvPr id="32" name="Text 29"/>
          <p:cNvSpPr txBox="1"/>
          <p:nvPr/>
        </p:nvSpPr>
        <p:spPr>
          <a:xfrm>
            <a:off x="722376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RED / BLUE</a:t>
            </a:r>
            <a:endParaRPr lang="en-US" sz="1400" dirty="0"/>
          </a:p>
        </p:txBody>
      </p:sp>
      <p:sp>
        <p:nvSpPr>
          <p:cNvPr id="33" name="Text 30"/>
          <p:cNvSpPr txBox="1"/>
          <p:nvPr/>
        </p:nvSpPr>
        <p:spPr>
          <a:xfrm>
            <a:off x="722376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Detail · lighting · 15 s</a:t>
            </a:r>
            <a:endParaRPr lang="en-US" sz="850" dirty="0"/>
          </a:p>
        </p:txBody>
      </p:sp>
      <p:sp>
        <p:nvSpPr>
          <p:cNvPr id="34" name="Text 31"/>
          <p:cNvSpPr txBox="1"/>
          <p:nvPr/>
        </p:nvSpPr>
        <p:spPr>
          <a:xfrm>
            <a:off x="722376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Two lights, one watch</a:t>
            </a:r>
            <a:endParaRPr lang="en-US" sz="900" dirty="0"/>
          </a:p>
        </p:txBody>
      </p:sp>
      <p:sp>
        <p:nvSpPr>
          <p:cNvPr id="35" name="Shape 32"/>
          <p:cNvSpPr/>
          <p:nvPr/>
        </p:nvSpPr>
        <p:spPr>
          <a:xfrm>
            <a:off x="9418320" y="4206240"/>
            <a:ext cx="2240280" cy="2011680"/>
          </a:xfrm>
          <a:prstGeom prst="rect">
            <a:avLst/>
          </a:prstGeom>
          <a:solidFill>
            <a:srgbClr val="151513"/>
          </a:solidFill>
          <a:ln w="9525">
            <a:solidFill>
              <a:srgbClr val="2B2A26"/>
            </a:solidFill>
            <a:prstDash val="solid"/>
          </a:ln>
        </p:spPr>
      </p:sp>
      <p:sp>
        <p:nvSpPr>
          <p:cNvPr id="36" name="Text 33"/>
          <p:cNvSpPr txBox="1"/>
          <p:nvPr/>
        </p:nvSpPr>
        <p:spPr>
          <a:xfrm>
            <a:off x="9601200" y="4370832"/>
            <a:ext cx="914400" cy="365760"/>
          </a:xfrm>
          <a:prstGeom prst="rect">
            <a:avLst/>
          </a:prstGeom>
          <a:noFill/>
          <a:ln/>
        </p:spPr>
        <p:txBody>
          <a:bodyPr wrap="square" lIns="0" tIns="0" rIns="0" bIns="0" rtlCol="0" anchor="t"/>
          <a:lstStyle/>
          <a:p>
            <a:pPr indent="0" marL="0">
              <a:buNone/>
            </a:pPr>
            <a:r>
              <a:rPr lang="en-US" sz="1800" b="1" dirty="0">
                <a:solidFill>
                  <a:srgbClr val="D2283A"/>
                </a:solidFill>
                <a:latin typeface="Oswald" pitchFamily="34" charset="0"/>
                <a:ea typeface="Oswald" pitchFamily="34" charset="-122"/>
                <a:cs typeface="Oswald" pitchFamily="34" charset="-120"/>
              </a:rPr>
              <a:t>E3</a:t>
            </a:r>
            <a:endParaRPr lang="en-US" sz="1800" dirty="0"/>
          </a:p>
        </p:txBody>
      </p:sp>
      <p:sp>
        <p:nvSpPr>
          <p:cNvPr id="37" name="Text 34"/>
          <p:cNvSpPr txBox="1"/>
          <p:nvPr/>
        </p:nvSpPr>
        <p:spPr>
          <a:xfrm>
            <a:off x="960120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SHOR NAHI. SIGNAL.</a:t>
            </a:r>
            <a:endParaRPr lang="en-US" sz="1400" dirty="0"/>
          </a:p>
        </p:txBody>
      </p:sp>
      <p:sp>
        <p:nvSpPr>
          <p:cNvPr id="38" name="Text 35"/>
          <p:cNvSpPr txBox="1"/>
          <p:nvPr/>
        </p:nvSpPr>
        <p:spPr>
          <a:xfrm>
            <a:off x="960120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Night drive · 12 s</a:t>
            </a:r>
            <a:endParaRPr lang="en-US" sz="850" dirty="0"/>
          </a:p>
        </p:txBody>
      </p:sp>
      <p:sp>
        <p:nvSpPr>
          <p:cNvPr id="39" name="Text 36"/>
          <p:cNvSpPr txBox="1"/>
          <p:nvPr/>
        </p:nvSpPr>
        <p:spPr>
          <a:xfrm>
            <a:off x="960120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Signal, not noise</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52</a:t>
            </a:r>
            <a:endParaRPr lang="en-US" sz="750" dirty="0"/>
          </a:p>
        </p:txBody>
      </p:sp>
      <p:pic>
        <p:nvPicPr>
          <p:cNvPr id="4" name="Image 0" descr="/tmp/claude-0/-home-user-Sage-portfolio/d05fecce-977e-5eab-9cf5-7c09b306c551/scratchpad/wrdeck/img/ai_redblue_r2.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E1  ·  STORY REEL  ·  30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UNFINISHED</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Nobody sees the nights</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The night everyone else is out, he is still finishing the work that pays for it. His phone floods with invites; he turns it over. At 1:47 a.m. he switches the lamp off — and the watch glows on his wrist in the dark.</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Phone screen floods: "Bro kahan hai??" — he turns it face down.</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SCRIPT · HINGLISH</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"Raat sabki hoti hai."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"Kaam sirf kuch logon ka."</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"Jo kisi ko nahi dikhta… wahi sab kuch banata hai."</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NOBODY SEES THE NIGHTS. THE WATCH DOES.</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Trent Reznor &amp; Atticus Ross — "Hand Covers Bruise" (The Social Network)</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Notification buzzes · pen scratch · lamp switch · sub drop · silence on the glow.</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53</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E1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UNFINISHED</a:t>
            </a:r>
            <a:endParaRPr lang="en-US" sz="30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Phone notifications, his hand turns it over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3–9s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Desk, lamp pool, red neon through the window</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hazer low</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9–14s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Wrist working over papers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14–18s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Watch macro: 1:47</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18–24s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switches the lamp off — darkness — the case glows on his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 lume charged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24–30s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exhales, leans back. End card.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471416"/>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700016"/>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Phone with group-chat screens · desk lamp · papers/laptop · red neon or red LED outside the window.</a:t>
            </a:r>
            <a:endParaRPr lang="en-US" sz="950" dirty="0"/>
          </a:p>
        </p:txBody>
      </p:sp>
      <p:pic>
        <p:nvPicPr>
          <p:cNvPr id="9" name="Image 0" descr="/tmp/claude-0/-home-user-Sage-portfolio/d05fecce-977e-5eab-9cf5-7c09b306c551/scratchpad/wrdeck/img/crop_redblu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Trent Reznor &amp; Atticus Ross — "Hand Covers Bruise" (The Social Network)</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late night work cinematic neon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@hublot — bold night edits</a:t>
            </a:r>
            <a:endParaRPr lang="en-US" sz="9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54</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E1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UNFINISHED</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D2283A"/>
          </a:solidFill>
          <a:ln w="12700">
            <a:solidFill>
              <a:srgbClr val="D2283A"/>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Phone screen flooding with party invites, glowing in the dark</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D2283A"/>
          </a:solidFill>
          <a:ln w="12700">
            <a:solidFill>
              <a:srgbClr val="D2283A"/>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hand turns the phone face down</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D2283A"/>
          </a:solidFill>
          <a:ln w="12700">
            <a:solidFill>
              <a:srgbClr val="D2283A"/>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Desk under a lamp, red neon bleeding through the window, papers</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D2283A"/>
          </a:solidFill>
          <a:ln w="12700">
            <a:solidFill>
              <a:srgbClr val="D2283A"/>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wrist writing over papers, the Crimson Navy sharp</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D2283A"/>
          </a:solidFill>
          <a:ln w="12700">
            <a:solidFill>
              <a:srgbClr val="D2283A"/>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watch reading 1:47</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D2283A"/>
          </a:solidFill>
          <a:ln w="12700">
            <a:solidFill>
              <a:srgbClr val="D2283A"/>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rubs his eyes and keeps going</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D2283A"/>
          </a:solidFill>
          <a:ln w="12700">
            <a:solidFill>
              <a:srgbClr val="D2283A"/>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hand on the lamp switch</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D2283A"/>
          </a:solidFill>
          <a:ln w="12700">
            <a:solidFill>
              <a:srgbClr val="D2283A"/>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Darkness: the whole case glows green on his wrist</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D2283A"/>
          </a:solidFill>
          <a:ln w="12700">
            <a:solidFill>
              <a:srgbClr val="D2283A"/>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leans back and exhales, silhouette —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E1 from the prompt pack (one 3×3 grid) and send it back — it drops into these nine slots.</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55</a:t>
            </a:r>
            <a:endParaRPr lang="en-US" sz="750" dirty="0"/>
          </a:p>
        </p:txBody>
      </p:sp>
      <p:pic>
        <p:nvPicPr>
          <p:cNvPr id="4" name="Image 0" descr="/tmp/claude-0/-home-user-Sage-portfolio/d05fecce-977e-5eab-9cf5-7c09b306c551/scratchpad/wrdeck/img/ai_redblue_r1.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E2  ·  DETAIL · LIGHTING  ·  15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RED / BLUE</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Two lights, one watch</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Red from one side, blue from the other — the navy case and red dial on his wrist split perfectly between them. On the beat both lights cut; only the glow remains.</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Hard cuts red ↔ blue on the beat.</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VOICE</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No voice-over.</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AFTER DARK.</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Kavinsky — "Nightcall"</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Synth pulse; total silence on the glow.</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56</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E2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RED / BLUE</a:t>
            </a:r>
            <a:endParaRPr lang="en-US" sz="3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0–5s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Wrist turns in red / blue light, cut on beat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black background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5–10s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Macro of the red dial in split light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10–15s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Both lights off → the case glows alone on his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 locked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3319272"/>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3547872"/>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Two RGB tubes (red + blue) · black backdrop · whisky glass in hand.</a:t>
            </a:r>
            <a:endParaRPr lang="en-US" sz="950" dirty="0"/>
          </a:p>
        </p:txBody>
      </p:sp>
      <p:pic>
        <p:nvPicPr>
          <p:cNvPr id="9" name="Image 0" descr="/tmp/claude-0/-home-user-Sage-portfolio/d05fecce-977e-5eab-9cf5-7c09b306c551/scratchpad/wrdeck/img/crop_redblu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Kavinsky — "Nightcall"</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red blue split lighting wrist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@jacobandco — dramatic light play</a:t>
            </a:r>
            <a:endParaRPr lang="en-US" sz="9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57</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E2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RED / BLUE</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D2283A"/>
          </a:solidFill>
          <a:ln w="12700">
            <a:solidFill>
              <a:srgbClr val="D2283A"/>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Black frame: his wrist enters in pure red light</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D2283A"/>
          </a:solidFill>
          <a:ln w="12700">
            <a:solidFill>
              <a:srgbClr val="D2283A"/>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same wrist in pure blue light</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D2283A"/>
          </a:solidFill>
          <a:ln w="12700">
            <a:solidFill>
              <a:srgbClr val="D2283A"/>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Split light: half red, half blue across the case</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D2283A"/>
          </a:solidFill>
          <a:ln w="12700">
            <a:solidFill>
              <a:srgbClr val="D2283A"/>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red dial in red light</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D2283A"/>
          </a:solidFill>
          <a:ln w="12700">
            <a:solidFill>
              <a:srgbClr val="D2283A"/>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rose-gold hands catching the blue</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D2283A"/>
          </a:solidFill>
          <a:ln w="12700">
            <a:solidFill>
              <a:srgbClr val="D2283A"/>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Whisky glass in his hand, bokeh, the watch sharp</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D2283A"/>
          </a:solidFill>
          <a:ln w="12700">
            <a:solidFill>
              <a:srgbClr val="D2283A"/>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Lights cut: darkness</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D2283A"/>
          </a:solidFill>
          <a:ln w="12700">
            <a:solidFill>
              <a:srgbClr val="D2283A"/>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Glow: the case lit green on his wrist</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D2283A"/>
          </a:solidFill>
          <a:ln w="12700">
            <a:solidFill>
              <a:srgbClr val="D2283A"/>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Glow macro —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E2 from the prompt pack (one 3×3 grid) and send it back — it drops into these nine slots.</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58</a:t>
            </a:r>
            <a:endParaRPr lang="en-US" sz="750" dirty="0"/>
          </a:p>
        </p:txBody>
      </p:sp>
      <p:pic>
        <p:nvPicPr>
          <p:cNvPr id="4" name="Image 0" descr="/tmp/claude-0/-home-user-Sage-portfolio/d05fecce-977e-5eab-9cf5-7c09b306c551/scratchpad/wrdeck/img/ai_redblue_r4.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E3  ·  NIGHT DRIVE  ·  12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SHOR NAHI. SIGNAL.</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Signal, not noise</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Jaipur at night — horns, lights, noise. The car door shuts: silence. At a red light the dashboard goes dark and the case glows on his wrist on the steering wheel.</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Loud traffic → door shuts → total silence.</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VOICE</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No voice-over.</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SHOR NAHI. SIGNAL.</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Gesaffelstein — "Pursuit"</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City noise → hard silence → one low tone.</a:t>
            </a:r>
            <a:endParaRPr lang="en-US" sz="8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59</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E3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SHOR NAHI. SIGNAL.</a:t>
            </a:r>
            <a:endParaRPr lang="en-US" sz="3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MI Road traffic and the lit Albert Hall from the road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B-unit, public street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3–5s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Door shuts — silence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inside the car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5–9s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Hand on the wheel, city bokeh through the windscreen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9–12s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Dashboard off, the glow lights his jaw; signal turns green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370332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3931920"/>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Premium sedan/SUV with dark interior · driver for moving shots.</a:t>
            </a:r>
            <a:endParaRPr lang="en-US" sz="950" dirty="0"/>
          </a:p>
        </p:txBody>
      </p:sp>
      <p:sp>
        <p:nvSpPr>
          <p:cNvPr id="9" name="Text 6"/>
          <p:cNvSpPr txBox="1"/>
          <p:nvPr/>
        </p:nvSpPr>
        <p:spPr>
          <a:xfrm>
            <a:off x="548640" y="443484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PRODUCTION NOTE</a:t>
            </a:r>
            <a:endParaRPr lang="en-US" sz="750" dirty="0"/>
          </a:p>
        </p:txBody>
      </p:sp>
      <p:sp>
        <p:nvSpPr>
          <p:cNvPr id="10" name="Text 7"/>
          <p:cNvSpPr txBox="1"/>
          <p:nvPr/>
        </p:nvSpPr>
        <p:spPr>
          <a:xfrm>
            <a:off x="548640" y="4663440"/>
            <a:ext cx="7498080" cy="457200"/>
          </a:xfrm>
          <a:prstGeom prst="rect">
            <a:avLst/>
          </a:prstGeom>
          <a:noFill/>
          <a:ln/>
        </p:spPr>
        <p:txBody>
          <a:bodyPr wrap="square" lIns="0" tIns="0" rIns="0" bIns="0" rtlCol="0" anchor="t"/>
          <a:lstStyle/>
          <a:p>
            <a:pPr indent="0" marL="0">
              <a:buNone/>
            </a:pPr>
            <a:r>
              <a:rPr lang="en-US" sz="950" dirty="0">
                <a:solidFill>
                  <a:srgbClr val="C9A45C"/>
                </a:solidFill>
                <a:latin typeface="Inter" pitchFamily="34" charset="0"/>
                <a:ea typeface="Inter" pitchFamily="34" charset="-122"/>
                <a:cs typeface="Inter" pitchFamily="34" charset="-120"/>
              </a:rPr>
              <a:t>Safety: moving shots with a driver at the wheel, or parked with light passes. Mukesh never drives while we film.</a:t>
            </a:r>
            <a:endParaRPr lang="en-US" sz="950" dirty="0"/>
          </a:p>
        </p:txBody>
      </p:sp>
      <p:pic>
        <p:nvPicPr>
          <p:cNvPr id="11" name="Image 0" descr="/tmp/claude-0/-home-user-Sage-portfolio/d05fecce-977e-5eab-9cf5-7c09b306c551/scratchpad/wrdeck/img/crop_redblue.jpg">    </p:cNvPr>
          <p:cNvPicPr>
            <a:picLocks noChangeAspect="1"/>
          </p:cNvPicPr>
          <p:nvPr/>
        </p:nvPicPr>
        <p:blipFill>
          <a:blip r:embed="rId1"/>
          <a:srcRect l="0" r="0" t="0" b="0"/>
          <a:stretch/>
        </p:blipFill>
        <p:spPr>
          <a:xfrm>
            <a:off x="8412480" y="502920"/>
            <a:ext cx="3227832" cy="2651760"/>
          </a:xfrm>
          <a:prstGeom prst="rect">
            <a:avLst/>
          </a:prstGeom>
        </p:spPr>
      </p:pic>
      <p:sp>
        <p:nvSpPr>
          <p:cNvPr id="12" name="Text 8"/>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3" name="Text 9"/>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 REFERENCE</a:t>
            </a:r>
            <a:endParaRPr lang="en-US" sz="750" dirty="0"/>
          </a:p>
        </p:txBody>
      </p:sp>
      <p:sp>
        <p:nvSpPr>
          <p:cNvPr id="14" name="Text 10"/>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Gesaffelstein — "Pursuit"</a:t>
            </a:r>
            <a:endParaRPr lang="en-US" sz="950" dirty="0"/>
          </a:p>
        </p:txBody>
      </p:sp>
      <p:sp>
        <p:nvSpPr>
          <p:cNvPr id="15" name="Text 11"/>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VISUAL REFERENCES — TAP TO OPEN</a:t>
            </a:r>
            <a:endParaRPr lang="en-US" sz="750" dirty="0"/>
          </a:p>
        </p:txBody>
      </p:sp>
      <p:sp>
        <p:nvSpPr>
          <p:cNvPr id="16" name="Text 12"/>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night drive cinematic watch steering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@tagheuer — car &amp; speed</a:t>
            </a:r>
            <a:endParaRPr lang="en-US" sz="9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60</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E3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SHOR NAHI. SIGNAL.</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D2283A"/>
          </a:solidFill>
          <a:ln w="12700">
            <a:solidFill>
              <a:srgbClr val="D2283A"/>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MI Road traffic at night, streaks of light</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D2283A"/>
          </a:solidFill>
          <a:ln w="12700">
            <a:solidFill>
              <a:srgbClr val="D2283A"/>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Albert Hall lit up, seen from the road</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D2283A"/>
          </a:solidFill>
          <a:ln w="12700">
            <a:solidFill>
              <a:srgbClr val="D2283A"/>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Car door closing — inside, silence</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D2283A"/>
          </a:solidFill>
          <a:ln w="12700">
            <a:solidFill>
              <a:srgbClr val="D2283A"/>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hand on the steering wheel, city bokeh beyond</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D2283A"/>
          </a:solidFill>
          <a:ln w="12700">
            <a:solidFill>
              <a:srgbClr val="D2283A"/>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A red signal through the windscreen</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D2283A"/>
          </a:solidFill>
          <a:ln w="12700">
            <a:solidFill>
              <a:srgbClr val="D2283A"/>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switches the dashboard lights off</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D2283A"/>
          </a:solidFill>
          <a:ln w="12700">
            <a:solidFill>
              <a:srgbClr val="D2283A"/>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glow on his wrist lights his jaw</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D2283A"/>
          </a:solidFill>
          <a:ln w="12700">
            <a:solidFill>
              <a:srgbClr val="D2283A"/>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signal turns green</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D2283A"/>
          </a:solidFill>
          <a:ln w="12700">
            <a:solidFill>
              <a:srgbClr val="D2283A"/>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car pulls away, tail lights —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E3 from the prompt pack (one 3×3 grid) and send it back — it drops into these nine slots.</a:t>
            </a:r>
            <a:endParaRPr lang="en-US" sz="8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GLOW</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61</a:t>
            </a:r>
            <a:endParaRPr lang="en-US" sz="750" dirty="0"/>
          </a:p>
        </p:txBody>
      </p:sp>
      <p:pic>
        <p:nvPicPr>
          <p:cNvPr id="4" name="Image 0" descr="/tmp/claude-0/-home-user-Sage-portfolio/d05fecce-977e-5eab-9cf5-7c09b306c551/scratchpad/wrdeck/img/crop_glow.jpg">    </p:cNvPr>
          <p:cNvPicPr>
            <a:picLocks noChangeAspect="1"/>
          </p:cNvPicPr>
          <p:nvPr/>
        </p:nvPicPr>
        <p:blipFill>
          <a:blip r:embed="rId1"/>
          <a:srcRect l="0" r="0" t="0" b="0"/>
          <a:stretch/>
        </p:blipFill>
        <p:spPr>
          <a:xfrm>
            <a:off x="548640" y="502920"/>
            <a:ext cx="3017520" cy="3840480"/>
          </a:xfrm>
          <a:prstGeom prst="rect">
            <a:avLst/>
          </a:prstGeom>
        </p:spPr>
      </p:pic>
      <p:sp>
        <p:nvSpPr>
          <p:cNvPr id="5" name="Text 2"/>
          <p:cNvSpPr txBox="1"/>
          <p:nvPr/>
        </p:nvSpPr>
        <p:spPr>
          <a:xfrm>
            <a:off x="548640" y="4407408"/>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glow — reference only</a:t>
            </a:r>
            <a:endParaRPr lang="en-US" sz="750" dirty="0"/>
          </a:p>
        </p:txBody>
      </p:sp>
      <p:sp>
        <p:nvSpPr>
          <p:cNvPr id="6" name="Text 3"/>
          <p:cNvSpPr txBox="1"/>
          <p:nvPr/>
        </p:nvSpPr>
        <p:spPr>
          <a:xfrm>
            <a:off x="3977640" y="502920"/>
            <a:ext cx="7315200" cy="274320"/>
          </a:xfrm>
          <a:prstGeom prst="rect">
            <a:avLst/>
          </a:prstGeom>
          <a:noFill/>
          <a:ln/>
        </p:spPr>
        <p:txBody>
          <a:bodyPr wrap="square" lIns="0" tIns="0" rIns="0" bIns="0" rtlCol="0" anchor="t"/>
          <a:lstStyle/>
          <a:p>
            <a:pPr indent="0" marL="0">
              <a:buNone/>
            </a:pPr>
            <a:r>
              <a:rPr lang="en-US" sz="900" b="1" spc="400" kern="0" dirty="0">
                <a:solidFill>
                  <a:srgbClr val="5CFF7A"/>
                </a:solidFill>
                <a:latin typeface="Inter" pitchFamily="34" charset="0"/>
                <a:ea typeface="Inter" pitchFamily="34" charset="-122"/>
                <a:cs typeface="Inter" pitchFamily="34" charset="-120"/>
              </a:rPr>
              <a:t>THE SIGNATURE · GLOW INSERTS</a:t>
            </a:r>
            <a:endParaRPr lang="en-US" sz="900" dirty="0"/>
          </a:p>
        </p:txBody>
      </p:sp>
      <p:sp>
        <p:nvSpPr>
          <p:cNvPr id="7" name="Text 4"/>
          <p:cNvSpPr txBox="1"/>
          <p:nvPr/>
        </p:nvSpPr>
        <p:spPr>
          <a:xfrm>
            <a:off x="3977640" y="777240"/>
            <a:ext cx="768096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FIVE GLOWS, SHOT AS YOU GO.</a:t>
            </a:r>
            <a:endParaRPr lang="en-US" sz="3400" dirty="0"/>
          </a:p>
        </p:txBody>
      </p:sp>
      <p:sp>
        <p:nvSpPr>
          <p:cNvPr id="8" name="Text 5"/>
          <p:cNvSpPr txBox="1"/>
          <p:nvPr/>
        </p:nvSpPr>
        <p:spPr>
          <a:xfrm>
            <a:off x="3977640" y="1600200"/>
            <a:ext cx="7589520" cy="822960"/>
          </a:xfrm>
          <a:prstGeom prst="rect">
            <a:avLst/>
          </a:prstGeom>
          <a:noFill/>
          <a:ln/>
        </p:spPr>
        <p:txBody>
          <a:bodyPr wrap="square" lIns="0" tIns="0" rIns="0" bIns="0" rtlCol="0" anchor="t"/>
          <a:lstStyle/>
          <a:p>
            <a:pPr indent="0" marL="0">
              <a:buNone/>
            </a:pPr>
            <a:r>
              <a:rPr lang="en-US" sz="1200" dirty="0">
                <a:solidFill>
                  <a:srgbClr val="9C978E"/>
                </a:solidFill>
                <a:latin typeface="Inter" pitchFamily="34" charset="0"/>
                <a:ea typeface="Inter" pitchFamily="34" charset="-122"/>
                <a:cs typeface="Inter" pitchFamily="34" charset="-120"/>
              </a:rPr>
              <a:t>In the dark the whole case lights up — bezel, case edges, hands, indices. It's the most ownable thing these watches do, so every world gets a 5-minute glow insert in the blacked-out room — always on Mukesh ji's wrist.</a:t>
            </a:r>
            <a:endParaRPr lang="en-US" sz="1200" dirty="0"/>
          </a:p>
        </p:txBody>
      </p:sp>
      <p:sp>
        <p:nvSpPr>
          <p:cNvPr id="9" name="Shape 6"/>
          <p:cNvSpPr/>
          <p:nvPr/>
        </p:nvSpPr>
        <p:spPr>
          <a:xfrm>
            <a:off x="3977640" y="2606040"/>
            <a:ext cx="2468880" cy="1371600"/>
          </a:xfrm>
          <a:prstGeom prst="rect">
            <a:avLst/>
          </a:prstGeom>
          <a:solidFill>
            <a:srgbClr val="151513"/>
          </a:solidFill>
          <a:ln w="9525">
            <a:solidFill>
              <a:srgbClr val="2B2A26"/>
            </a:solidFill>
            <a:prstDash val="solid"/>
          </a:ln>
        </p:spPr>
      </p:sp>
      <p:sp>
        <p:nvSpPr>
          <p:cNvPr id="10" name="Text 7"/>
          <p:cNvSpPr txBox="1"/>
          <p:nvPr/>
        </p:nvSpPr>
        <p:spPr>
          <a:xfrm>
            <a:off x="4160520" y="2743200"/>
            <a:ext cx="2194560" cy="274320"/>
          </a:xfrm>
          <a:prstGeom prst="rect">
            <a:avLst/>
          </a:prstGeom>
          <a:noFill/>
          <a:ln/>
        </p:spPr>
        <p:txBody>
          <a:bodyPr wrap="square" lIns="0" tIns="0" rIns="0" bIns="0" rtlCol="0" anchor="t"/>
          <a:lstStyle/>
          <a:p>
            <a:pPr indent="0" marL="0">
              <a:buNone/>
            </a:pPr>
            <a:r>
              <a:rPr lang="en-US" sz="1100" b="1" dirty="0">
                <a:solidFill>
                  <a:srgbClr val="5CFF7A"/>
                </a:solidFill>
                <a:latin typeface="Inter" pitchFamily="34" charset="0"/>
                <a:ea typeface="Inter" pitchFamily="34" charset="-122"/>
                <a:cs typeface="Inter" pitchFamily="34" charset="-120"/>
              </a:rPr>
              <a:t>01  CHARGE</a:t>
            </a:r>
            <a:endParaRPr lang="en-US" sz="1100" dirty="0"/>
          </a:p>
        </p:txBody>
      </p:sp>
      <p:sp>
        <p:nvSpPr>
          <p:cNvPr id="11" name="Text 8"/>
          <p:cNvSpPr txBox="1"/>
          <p:nvPr/>
        </p:nvSpPr>
        <p:spPr>
          <a:xfrm>
            <a:off x="4160520" y="3108960"/>
            <a:ext cx="2148840" cy="77724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UV torch on the case for 30 s, lights already off.</a:t>
            </a:r>
            <a:endParaRPr lang="en-US" sz="950" dirty="0"/>
          </a:p>
        </p:txBody>
      </p:sp>
      <p:sp>
        <p:nvSpPr>
          <p:cNvPr id="12" name="Shape 9"/>
          <p:cNvSpPr/>
          <p:nvPr/>
        </p:nvSpPr>
        <p:spPr>
          <a:xfrm>
            <a:off x="6583680" y="2606040"/>
            <a:ext cx="2468880" cy="1371600"/>
          </a:xfrm>
          <a:prstGeom prst="rect">
            <a:avLst/>
          </a:prstGeom>
          <a:solidFill>
            <a:srgbClr val="151513"/>
          </a:solidFill>
          <a:ln w="9525">
            <a:solidFill>
              <a:srgbClr val="2B2A26"/>
            </a:solidFill>
            <a:prstDash val="solid"/>
          </a:ln>
        </p:spPr>
      </p:sp>
      <p:sp>
        <p:nvSpPr>
          <p:cNvPr id="13" name="Text 10"/>
          <p:cNvSpPr txBox="1"/>
          <p:nvPr/>
        </p:nvSpPr>
        <p:spPr>
          <a:xfrm>
            <a:off x="6766560" y="2743200"/>
            <a:ext cx="2194560" cy="274320"/>
          </a:xfrm>
          <a:prstGeom prst="rect">
            <a:avLst/>
          </a:prstGeom>
          <a:noFill/>
          <a:ln/>
        </p:spPr>
        <p:txBody>
          <a:bodyPr wrap="square" lIns="0" tIns="0" rIns="0" bIns="0" rtlCol="0" anchor="t"/>
          <a:lstStyle/>
          <a:p>
            <a:pPr indent="0" marL="0">
              <a:buNone/>
            </a:pPr>
            <a:r>
              <a:rPr lang="en-US" sz="1100" b="1" dirty="0">
                <a:solidFill>
                  <a:srgbClr val="5CFF7A"/>
                </a:solidFill>
                <a:latin typeface="Inter" pitchFamily="34" charset="0"/>
                <a:ea typeface="Inter" pitchFamily="34" charset="-122"/>
                <a:cs typeface="Inter" pitchFamily="34" charset="-120"/>
              </a:rPr>
              <a:t>02  THREE FRAMES</a:t>
            </a:r>
            <a:endParaRPr lang="en-US" sz="1100" dirty="0"/>
          </a:p>
        </p:txBody>
      </p:sp>
      <p:sp>
        <p:nvSpPr>
          <p:cNvPr id="14" name="Text 11"/>
          <p:cNvSpPr txBox="1"/>
          <p:nvPr/>
        </p:nvSpPr>
        <p:spPr>
          <a:xfrm>
            <a:off x="6766560" y="3108960"/>
            <a:ext cx="2148840" cy="77724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Wrist turn · hand resting on his knee · macro on the bezel.</a:t>
            </a:r>
            <a:endParaRPr lang="en-US" sz="950" dirty="0"/>
          </a:p>
        </p:txBody>
      </p:sp>
      <p:sp>
        <p:nvSpPr>
          <p:cNvPr id="15" name="Shape 12"/>
          <p:cNvSpPr/>
          <p:nvPr/>
        </p:nvSpPr>
        <p:spPr>
          <a:xfrm>
            <a:off x="9189720" y="2606040"/>
            <a:ext cx="2468880" cy="1371600"/>
          </a:xfrm>
          <a:prstGeom prst="rect">
            <a:avLst/>
          </a:prstGeom>
          <a:solidFill>
            <a:srgbClr val="151513"/>
          </a:solidFill>
          <a:ln w="9525">
            <a:solidFill>
              <a:srgbClr val="2B2A26"/>
            </a:solidFill>
            <a:prstDash val="solid"/>
          </a:ln>
        </p:spPr>
      </p:sp>
      <p:sp>
        <p:nvSpPr>
          <p:cNvPr id="16" name="Text 13"/>
          <p:cNvSpPr txBox="1"/>
          <p:nvPr/>
        </p:nvSpPr>
        <p:spPr>
          <a:xfrm>
            <a:off x="9372600" y="2743200"/>
            <a:ext cx="2194560" cy="274320"/>
          </a:xfrm>
          <a:prstGeom prst="rect">
            <a:avLst/>
          </a:prstGeom>
          <a:noFill/>
          <a:ln/>
        </p:spPr>
        <p:txBody>
          <a:bodyPr wrap="square" lIns="0" tIns="0" rIns="0" bIns="0" rtlCol="0" anchor="t"/>
          <a:lstStyle/>
          <a:p>
            <a:pPr indent="0" marL="0">
              <a:buNone/>
            </a:pPr>
            <a:r>
              <a:rPr lang="en-US" sz="1100" b="1" dirty="0">
                <a:solidFill>
                  <a:srgbClr val="5CFF7A"/>
                </a:solidFill>
                <a:latin typeface="Inter" pitchFamily="34" charset="0"/>
                <a:ea typeface="Inter" pitchFamily="34" charset="-122"/>
                <a:cs typeface="Inter" pitchFamily="34" charset="-120"/>
              </a:rPr>
              <a:t>03  HOLD</a:t>
            </a:r>
            <a:endParaRPr lang="en-US" sz="1100" dirty="0"/>
          </a:p>
        </p:txBody>
      </p:sp>
      <p:sp>
        <p:nvSpPr>
          <p:cNvPr id="17" name="Text 14"/>
          <p:cNvSpPr txBox="1"/>
          <p:nvPr/>
        </p:nvSpPr>
        <p:spPr>
          <a:xfrm>
            <a:off x="9372600" y="3108960"/>
            <a:ext cx="2148840" cy="77724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Locked camera, 10 s each — the glow is the only light in frame.</a:t>
            </a:r>
            <a:endParaRPr lang="en-US" sz="950" dirty="0"/>
          </a:p>
        </p:txBody>
      </p:sp>
      <p:sp>
        <p:nvSpPr>
          <p:cNvPr id="18" name="Text 15"/>
          <p:cNvSpPr txBox="1"/>
          <p:nvPr/>
        </p:nvSpPr>
        <p:spPr>
          <a:xfrm>
            <a:off x="3977640" y="4251960"/>
            <a:ext cx="3657600" cy="201168"/>
          </a:xfrm>
          <a:prstGeom prst="rect">
            <a:avLst/>
          </a:prstGeom>
          <a:noFill/>
          <a:ln/>
        </p:spPr>
        <p:txBody>
          <a:bodyPr wrap="square" lIns="0" tIns="0" rIns="0" bIns="0" rtlCol="0" anchor="t"/>
          <a:lstStyle/>
          <a:p>
            <a:pPr indent="0" marL="0">
              <a:buNone/>
            </a:pPr>
            <a:r>
              <a:rPr lang="en-US" sz="750" b="1" spc="300" kern="0" dirty="0">
                <a:solidFill>
                  <a:srgbClr val="5CFF7A"/>
                </a:solidFill>
                <a:latin typeface="Inter" pitchFamily="34" charset="0"/>
                <a:ea typeface="Inter" pitchFamily="34" charset="-122"/>
                <a:cs typeface="Inter" pitchFamily="34" charset="-120"/>
              </a:rPr>
              <a:t>WHAT IT GIVES US</a:t>
            </a:r>
            <a:endParaRPr lang="en-US" sz="750" dirty="0"/>
          </a:p>
        </p:txBody>
      </p:sp>
      <p:sp>
        <p:nvSpPr>
          <p:cNvPr id="19" name="Text 16"/>
          <p:cNvSpPr txBox="1"/>
          <p:nvPr/>
        </p:nvSpPr>
        <p:spPr>
          <a:xfrm>
            <a:off x="3977640" y="4526280"/>
            <a:ext cx="7589520" cy="128016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F2EDE4"/>
                </a:solidFill>
                <a:latin typeface="Inter" pitchFamily="34" charset="0"/>
                <a:ea typeface="Inter" pitchFamily="34" charset="-122"/>
                <a:cs typeface="Inter" pitchFamily="34" charset="-120"/>
              </a:rPr>
              <a:t>A 4th reel per watch for free — a 6-second glow loop (5 total).</a:t>
            </a:r>
            <a:endParaRPr lang="en-US" sz="1100" dirty="0"/>
          </a:p>
          <a:p>
            <a:pPr marL="152400" indent="-152400">
              <a:spcAft>
                <a:spcPts val="500"/>
              </a:spcAft>
              <a:buSzPct val="100000"/>
              <a:buChar char="•"/>
            </a:pPr>
            <a:r>
              <a:rPr lang="en-US" sz="1100" dirty="0">
                <a:solidFill>
                  <a:srgbClr val="F2EDE4"/>
                </a:solidFill>
                <a:latin typeface="Inter" pitchFamily="34" charset="0"/>
                <a:ea typeface="Inter" pitchFamily="34" charset="-122"/>
                <a:cs typeface="Inter" pitchFamily="34" charset="-120"/>
              </a:rPr>
              <a:t>"Five Glows" — a 20-second hero film cutting all five in the dark, for launch day.</a:t>
            </a:r>
            <a:endParaRPr lang="en-US" sz="1100" dirty="0"/>
          </a:p>
          <a:p>
            <a:pPr marL="152400" indent="-152400">
              <a:spcAft>
                <a:spcPts val="500"/>
              </a:spcAft>
              <a:buSzPct val="100000"/>
              <a:buChar char="•"/>
            </a:pPr>
            <a:r>
              <a:rPr lang="en-US" sz="1100" dirty="0">
                <a:solidFill>
                  <a:srgbClr val="F2EDE4"/>
                </a:solidFill>
                <a:latin typeface="Inter" pitchFamily="34" charset="0"/>
                <a:ea typeface="Inter" pitchFamily="34" charset="-122"/>
                <a:cs typeface="Inter" pitchFamily="34" charset="-120"/>
              </a:rPr>
              <a:t>The end card for E1, D1 and E2.</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DAY 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62</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DAY 2 · HALF PRODUCT, HALF NEETU</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THE WATCH ALONE. THEN THE WOMAN WHO MADE IT.</a:t>
            </a:r>
            <a:endParaRPr lang="en-US" sz="30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1463040"/>
                <a:gridCol w="8229600"/>
                <a:gridCol w="1371600"/>
              </a:tblGrid>
              <a:tr h="365760">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SETUP</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UNIT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07:30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Crew call · product sets lit (white sweep, colour sweep, macro rig) · stands ready</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08:00–09:00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Set A · white sweep e-com — all five watches on acrylic stands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09:00–10:30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Set B · colour-matched heroes on stands (navy, lime, sky, ivory/green, royal blue)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10:30–11:30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Set C · macros with focus stacking (screws, monogram, dial, crown, caseback, clasp)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11:30–12:15</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Set D · glow on a hand model's wrist + 360° turntable on a watch pillow</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12:15–13:00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Set E · packaging + unboxing (magnetic lid, 001/500 card)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13:00–14:00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Lunch · founder set dressed (library / darbar room) · Neetu HMU</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14:00–15:15</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Neetu · her story — 12 questions, two cameras, Hinglish</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Founder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15:15–16:30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Neetu · each watch in her words — five segments, the watch in her hands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Founder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16:30–17:30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Simple B-roll: sketching, loupe on a dial, numbering cards · portraits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Founder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17:30–18:00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Golden-hour portrait on the roof · wrap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Founder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DAY 2 · PRODUCT</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63</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DAY 2 · PRODUCT SHOOT (07:30–13:00)</a:t>
            </a:r>
            <a:endParaRPr lang="en-US" sz="900" dirty="0"/>
          </a:p>
        </p:txBody>
      </p:sp>
      <p:sp>
        <p:nvSpPr>
          <p:cNvPr id="5" name="Text 3"/>
          <p:cNvSpPr txBox="1"/>
          <p:nvPr/>
        </p:nvSpPr>
        <p:spPr>
          <a:xfrm>
            <a:off x="548640" y="731520"/>
            <a:ext cx="768096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SIX SETS. NEVER FLAT ON A TABLE.</a:t>
            </a:r>
            <a:endParaRPr lang="en-US" sz="30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7680960" cy="914400"/>
        </p:xfrm>
        <a:graphic>
          <a:graphicData uri="http://schemas.openxmlformats.org/drawingml/2006/table">
            <a:tbl>
              <a:tblPr/>
              <a:tblGrid>
                <a:gridCol w="1554480"/>
                <a:gridCol w="3291840"/>
                <a:gridCol w="1463040"/>
                <a:gridCol w="1371600"/>
              </a:tblGrid>
              <a:tr h="56692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SET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SHOTS</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USED FOR</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PER WATCH</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A · White sweep</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Front · 3/4 · crown side · caseback · clasp · strap — on a clear acrylic stand</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E-com + website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6 stills × 5 watches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B · Colour seamless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Each watch on its own colour (navy, lime, sky, ivory+green, royal blue), on a stand</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Hero / ads / launch</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2 stills × 5</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C · Macro rig</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Eight screws · WR monogram · waffle dial · crown · caseback crest · deployant clasp</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Detail carousels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6 stills × 5</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D · Glow</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Lume charged with UV torch, on a hand model's wrist in black</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Glow posts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1 still × 5</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E · 360° turntable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On a leather watch pillow on a lazy susan, 10 s loop</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Website + reels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1 video × 5</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F · Packaging</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Watch seated in its box · magnetic lid opening (sound) · 001/500 card</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Unboxing reel + launch</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1 set + 1 video</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pic>
        <p:nvPicPr>
          <p:cNvPr id="7" name="Image 0" descr="/tmp/claude-0/-home-user-Sage-portfolio/d05fecce-977e-5eab-9cf5-7c09b306c551/scratchpad/wrdeck/img/crop_caseback.jpg">    </p:cNvPr>
          <p:cNvPicPr>
            <a:picLocks noChangeAspect="1"/>
          </p:cNvPicPr>
          <p:nvPr/>
        </p:nvPicPr>
        <p:blipFill>
          <a:blip r:embed="rId1"/>
          <a:srcRect l="0" r="0" t="0" b="0"/>
          <a:stretch/>
        </p:blipFill>
        <p:spPr>
          <a:xfrm>
            <a:off x="8549640" y="502920"/>
            <a:ext cx="3090672" cy="2651760"/>
          </a:xfrm>
          <a:prstGeom prst="rect">
            <a:avLst/>
          </a:prstGeom>
        </p:spPr>
      </p:pic>
      <p:pic>
        <p:nvPicPr>
          <p:cNvPr id="8" name="Image 1" descr="/tmp/claude-0/-home-user-Sage-portfolio/d05fecce-977e-5eab-9cf5-7c09b306c551/scratchpad/wrdeck/img/crop_redblue.jpg">    </p:cNvPr>
          <p:cNvPicPr>
            <a:picLocks noChangeAspect="1"/>
          </p:cNvPicPr>
          <p:nvPr/>
        </p:nvPicPr>
        <p:blipFill>
          <a:blip r:embed="rId2"/>
          <a:srcRect l="0" r="0" t="0" b="0"/>
          <a:stretch/>
        </p:blipFill>
        <p:spPr>
          <a:xfrm>
            <a:off x="8549640" y="3246120"/>
            <a:ext cx="1499616" cy="1828800"/>
          </a:xfrm>
          <a:prstGeom prst="rect">
            <a:avLst/>
          </a:prstGeom>
        </p:spPr>
      </p:pic>
      <p:pic>
        <p:nvPicPr>
          <p:cNvPr id="9" name="Image 2" descr="/tmp/claude-0/-home-user-Sage-portfolio/d05fecce-977e-5eab-9cf5-7c09b306c551/scratchpad/wrdeck/img/crop_lime.jpg">    </p:cNvPr>
          <p:cNvPicPr>
            <a:picLocks noChangeAspect="1"/>
          </p:cNvPicPr>
          <p:nvPr/>
        </p:nvPicPr>
        <p:blipFill>
          <a:blip r:embed="rId3"/>
          <a:srcRect l="0" r="0" t="0" b="0"/>
          <a:stretch/>
        </p:blipFill>
        <p:spPr>
          <a:xfrm>
            <a:off x="10140696" y="3246120"/>
            <a:ext cx="1499616" cy="1828800"/>
          </a:xfrm>
          <a:prstGeom prst="rect">
            <a:avLst/>
          </a:prstGeom>
        </p:spPr>
      </p:pic>
      <p:sp>
        <p:nvSpPr>
          <p:cNvPr id="10" name="Text 4"/>
          <p:cNvSpPr txBox="1"/>
          <p:nvPr/>
        </p:nvSpPr>
        <p:spPr>
          <a:xfrm>
            <a:off x="8549640" y="5212080"/>
            <a:ext cx="3108960" cy="109728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Rule: the watch sits on a clear acrylic stand, a leather pillow, in its box, or on a hand model's wrist — never flat on a surface. Kit: 100 mm macro + focus stacking · probe lens · lazy susan · cotton gloves · blower · UV torch · 5 coloured seamless rolls.</a:t>
            </a:r>
            <a:endParaRPr lang="en-US" sz="8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DAY 2 · NEETU</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64</a:t>
            </a:r>
            <a:endParaRPr lang="en-US" sz="750" dirty="0"/>
          </a:p>
        </p:txBody>
      </p:sp>
      <p:sp>
        <p:nvSpPr>
          <p:cNvPr id="4" name="Shape 2"/>
          <p:cNvSpPr/>
          <p:nvPr/>
        </p:nvSpPr>
        <p:spPr>
          <a:xfrm>
            <a:off x="0" y="0"/>
            <a:ext cx="4206240" cy="6858000"/>
          </a:xfrm>
          <a:prstGeom prst="rect">
            <a:avLst/>
          </a:prstGeom>
          <a:solidFill>
            <a:srgbClr val="1A1712"/>
          </a:solidFill>
          <a:ln w="12700">
            <a:solidFill>
              <a:srgbClr val="1A1712"/>
            </a:solidFill>
            <a:prstDash val="solid"/>
          </a:ln>
        </p:spPr>
      </p:sp>
      <p:sp>
        <p:nvSpPr>
          <p:cNvPr id="5" name="Text 3"/>
          <p:cNvSpPr txBox="1"/>
          <p:nvPr/>
        </p:nvSpPr>
        <p:spPr>
          <a:xfrm>
            <a:off x="548640" y="54864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DAY 2 · NEETU (14:00–18:00)</a:t>
            </a:r>
            <a:endParaRPr lang="en-US" sz="900" dirty="0"/>
          </a:p>
        </p:txBody>
      </p:sp>
      <p:sp>
        <p:nvSpPr>
          <p:cNvPr id="6" name="Text 4"/>
          <p:cNvSpPr txBox="1"/>
          <p:nvPr/>
        </p:nvSpPr>
        <p:spPr>
          <a:xfrm>
            <a:off x="548640" y="914400"/>
            <a:ext cx="3474720" cy="1645920"/>
          </a:xfrm>
          <a:prstGeom prst="rect">
            <a:avLst/>
          </a:prstGeom>
          <a:noFill/>
          <a:ln/>
        </p:spPr>
        <p:txBody>
          <a:bodyPr wrap="square" lIns="0" tIns="0" rIns="0" bIns="0" rtlCol="0" anchor="t"/>
          <a:lstStyle/>
          <a:p>
            <a:pPr indent="0" marL="0">
              <a:lnSpc>
                <a:spcPct val="90000"/>
              </a:lnSpc>
              <a:buNone/>
            </a:pPr>
            <a:r>
              <a:rPr lang="en-US" sz="4800" b="1" dirty="0">
                <a:solidFill>
                  <a:srgbClr val="F2EDE4"/>
                </a:solidFill>
                <a:latin typeface="Oswald" pitchFamily="34" charset="0"/>
                <a:ea typeface="Oswald" pitchFamily="34" charset="-122"/>
                <a:cs typeface="Oswald" pitchFamily="34" charset="-120"/>
              </a:rPr>
              <a:t>THE</a:t>
            </a:r>
            <a:endParaRPr lang="en-US" sz="4800" dirty="0"/>
          </a:p>
          <a:p>
            <a:pPr indent="0" marL="0">
              <a:lnSpc>
                <a:spcPct val="90000"/>
              </a:lnSpc>
              <a:buNone/>
            </a:pPr>
            <a:r>
              <a:rPr lang="en-US" sz="4800" b="1" dirty="0">
                <a:solidFill>
                  <a:srgbClr val="F2EDE4"/>
                </a:solidFill>
                <a:latin typeface="Oswald" pitchFamily="34" charset="0"/>
                <a:ea typeface="Oswald" pitchFamily="34" charset="-122"/>
                <a:cs typeface="Oswald" pitchFamily="34" charset="-120"/>
              </a:rPr>
              <a:t>OUTSIDER</a:t>
            </a:r>
            <a:endParaRPr lang="en-US" sz="4800" dirty="0"/>
          </a:p>
        </p:txBody>
      </p:sp>
      <p:sp>
        <p:nvSpPr>
          <p:cNvPr id="7" name="Text 5"/>
          <p:cNvSpPr txBox="1"/>
          <p:nvPr/>
        </p:nvSpPr>
        <p:spPr>
          <a:xfrm>
            <a:off x="548640" y="2743200"/>
            <a:ext cx="3291840" cy="731520"/>
          </a:xfrm>
          <a:prstGeom prst="rect">
            <a:avLst/>
          </a:prstGeom>
          <a:noFill/>
          <a:ln/>
        </p:spPr>
        <p:txBody>
          <a:bodyPr wrap="square" lIns="0" tIns="0" rIns="0" bIns="0" rtlCol="0" anchor="t"/>
          <a:lstStyle/>
          <a:p>
            <a:pPr indent="0" marL="0">
              <a:buNone/>
            </a:pPr>
            <a:r>
              <a:rPr lang="en-US" sz="1800" i="1" dirty="0">
                <a:solidFill>
                  <a:srgbClr val="C9A45C"/>
                </a:solidFill>
                <a:latin typeface="Oswald" pitchFamily="34" charset="0"/>
                <a:ea typeface="Oswald" pitchFamily="34" charset="-122"/>
                <a:cs typeface="Oswald" pitchFamily="34" charset="-120"/>
              </a:rPr>
              <a:t>"Because no one expected me to."</a:t>
            </a:r>
            <a:endParaRPr lang="en-US" sz="1800" dirty="0"/>
          </a:p>
        </p:txBody>
      </p:sp>
      <p:sp>
        <p:nvSpPr>
          <p:cNvPr id="8" name="Text 6"/>
          <p:cNvSpPr txBox="1"/>
          <p:nvPr/>
        </p:nvSpPr>
        <p:spPr>
          <a:xfrm>
            <a:off x="548640" y="3657600"/>
            <a:ext cx="3291840" cy="1280160"/>
          </a:xfrm>
          <a:prstGeom prst="rect">
            <a:avLst/>
          </a:prstGeom>
          <a:noFill/>
          <a:ln/>
        </p:spPr>
        <p:txBody>
          <a:bodyPr wrap="square" lIns="0" tIns="0" rIns="0" bIns="0" rtlCol="0" anchor="t"/>
          <a:lstStyle/>
          <a:p>
            <a:pPr indent="0" marL="0">
              <a:buNone/>
            </a:pPr>
            <a:r>
              <a:rPr lang="en-US" sz="1100" dirty="0">
                <a:solidFill>
                  <a:srgbClr val="9C978E"/>
                </a:solidFill>
                <a:latin typeface="Inter" pitchFamily="34" charset="0"/>
                <a:ea typeface="Inter" pitchFamily="34" charset="-122"/>
                <a:cs typeface="Inter" pitchFamily="34" charset="-120"/>
              </a:rPr>
              <a:t>Neetu — from a government school in Dalelpura and a ₹5,000 first salary in Jaipur, to an Indian luxury house built for the builders.</a:t>
            </a:r>
            <a:endParaRPr lang="en-US" sz="1100" dirty="0"/>
          </a:p>
        </p:txBody>
      </p:sp>
      <p:sp>
        <p:nvSpPr>
          <p:cNvPr id="9" name="Text 7"/>
          <p:cNvSpPr txBox="1"/>
          <p:nvPr/>
        </p:nvSpPr>
        <p:spPr>
          <a:xfrm>
            <a:off x="4663440" y="548640"/>
            <a:ext cx="548640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ONLY TALK — NO CONCEPTS, NO ACTING</a:t>
            </a:r>
            <a:endParaRPr lang="en-US" sz="750" dirty="0"/>
          </a:p>
        </p:txBody>
      </p:sp>
      <p:sp>
        <p:nvSpPr>
          <p:cNvPr id="10" name="Text 8"/>
          <p:cNvSpPr txBox="1"/>
          <p:nvPr/>
        </p:nvSpPr>
        <p:spPr>
          <a:xfrm>
            <a:off x="4663440" y="822960"/>
            <a:ext cx="6949440" cy="640080"/>
          </a:xfrm>
          <a:prstGeom prst="rect">
            <a:avLst/>
          </a:prstGeom>
          <a:noFill/>
          <a:ln/>
        </p:spPr>
        <p:txBody>
          <a:bodyPr wrap="square" lIns="0" tIns="0" rIns="0" bIns="0" rtlCol="0" anchor="t"/>
          <a:lstStyle/>
          <a:p>
            <a:pPr indent="0" marL="0">
              <a:buNone/>
            </a:pPr>
            <a:r>
              <a:rPr lang="en-US" sz="1100" dirty="0">
                <a:solidFill>
                  <a:srgbClr val="F2EDE4"/>
                </a:solidFill>
                <a:latin typeface="Inter" pitchFamily="34" charset="0"/>
                <a:ea typeface="Inter" pitchFamily="34" charset="-122"/>
                <a:cs typeface="Inter" pitchFamily="34" charset="-120"/>
              </a:rPr>
              <a:t>Neetu is on camera only on Day 2, seated, talking: first her own story, then each of the five watches in her words. No scripted scenes, no Day 1 concepts.</a:t>
            </a:r>
            <a:endParaRPr lang="en-US" sz="1100" dirty="0"/>
          </a:p>
        </p:txBody>
      </p:sp>
      <p:sp>
        <p:nvSpPr>
          <p:cNvPr id="11" name="Text 9"/>
          <p:cNvSpPr txBox="1"/>
          <p:nvPr/>
        </p:nvSpPr>
        <p:spPr>
          <a:xfrm>
            <a:off x="4663440" y="1645920"/>
            <a:ext cx="274320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OUTPUTS</a:t>
            </a:r>
            <a:endParaRPr lang="en-US" sz="750" dirty="0"/>
          </a:p>
        </p:txBody>
      </p:sp>
      <p:sp>
        <p:nvSpPr>
          <p:cNvPr id="12" name="Text 10"/>
          <p:cNvSpPr txBox="1"/>
          <p:nvPr/>
        </p:nvSpPr>
        <p:spPr>
          <a:xfrm>
            <a:off x="4663440" y="1920240"/>
            <a:ext cx="6949440" cy="1280160"/>
          </a:xfrm>
          <a:prstGeom prst="rect">
            <a:avLst/>
          </a:prstGeom>
          <a:noFill/>
          <a:ln/>
        </p:spPr>
        <p:txBody>
          <a:bodyPr wrap="square" lIns="0" tIns="0" rIns="0" bIns="0" rtlCol="0" anchor="t"/>
          <a:lstStyle/>
          <a:p>
            <a:pPr indent="0" marL="0">
              <a:spcAft>
                <a:spcPts val="400"/>
              </a:spcAft>
              <a:buNone/>
            </a:pPr>
            <a:r>
              <a:rPr lang="en-US" sz="1050" dirty="0">
                <a:solidFill>
                  <a:srgbClr val="F2EDE4"/>
                </a:solidFill>
                <a:latin typeface="Inter" pitchFamily="34" charset="0"/>
                <a:ea typeface="Inter" pitchFamily="34" charset="-122"/>
                <a:cs typeface="Inter" pitchFamily="34" charset="-120"/>
              </a:rPr>
              <a:t>FOUNDER FILM  —  60–90 s, her whole story in her own Hinglish
</a:t>
            </a:r>
            <a:pPr indent="0" marL="0">
              <a:spcAft>
                <a:spcPts val="400"/>
              </a:spcAft>
              <a:buNone/>
            </a:pPr>
            <a:r>
              <a:rPr lang="en-US" sz="1050" dirty="0">
                <a:solidFill>
                  <a:srgbClr val="F2EDE4"/>
                </a:solidFill>
                <a:latin typeface="Inter" pitchFamily="34" charset="0"/>
                <a:ea typeface="Inter" pitchFamily="34" charset="-122"/>
                <a:cs typeface="Inter" pitchFamily="34" charset="-120"/>
              </a:rPr>
              <a:t>4 STORY REELS  —  cut from her answers — next slides
</a:t>
            </a:r>
            <a:pPr indent="0" marL="0">
              <a:spcAft>
                <a:spcPts val="400"/>
              </a:spcAft>
              <a:buNone/>
            </a:pPr>
            <a:r>
              <a:rPr lang="en-US" sz="1050" dirty="0">
                <a:solidFill>
                  <a:srgbClr val="F2EDE4"/>
                </a:solidFill>
                <a:latin typeface="Inter" pitchFamily="34" charset="0"/>
                <a:ea typeface="Inter" pitchFamily="34" charset="-122"/>
                <a:cs typeface="Inter" pitchFamily="34" charset="-120"/>
              </a:rPr>
              <a:t>5 WATCH REELS  —  Neetu on each watch, 30–40 s each
</a:t>
            </a:r>
            <a:pPr indent="0" marL="0">
              <a:spcAft>
                <a:spcPts val="400"/>
              </a:spcAft>
              <a:buNone/>
            </a:pPr>
            <a:r>
              <a:rPr lang="en-US" sz="1050" dirty="0">
                <a:solidFill>
                  <a:srgbClr val="F2EDE4"/>
                </a:solidFill>
                <a:latin typeface="Inter" pitchFamily="34" charset="0"/>
                <a:ea typeface="Inter" pitchFamily="34" charset="-122"/>
                <a:cs typeface="Inter" pitchFamily="34" charset="-120"/>
              </a:rPr>
              <a:t>12 PORTRAITS  —  press, website, LinkedIn</a:t>
            </a:r>
            <a:endParaRPr lang="en-US" sz="1050" dirty="0"/>
          </a:p>
        </p:txBody>
      </p:sp>
      <p:sp>
        <p:nvSpPr>
          <p:cNvPr id="13" name="Text 11"/>
          <p:cNvSpPr txBox="1"/>
          <p:nvPr/>
        </p:nvSpPr>
        <p:spPr>
          <a:xfrm>
            <a:off x="4663440" y="3383280"/>
            <a:ext cx="274320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HOW WE FILM HER</a:t>
            </a:r>
            <a:endParaRPr lang="en-US" sz="750" dirty="0"/>
          </a:p>
        </p:txBody>
      </p:sp>
      <p:sp>
        <p:nvSpPr>
          <p:cNvPr id="14" name="Text 12"/>
          <p:cNvSpPr txBox="1"/>
          <p:nvPr/>
        </p:nvSpPr>
        <p:spPr>
          <a:xfrm>
            <a:off x="4663440" y="3657600"/>
            <a:ext cx="6949440" cy="182880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rgbClr val="F2EDE4"/>
                </a:solidFill>
                <a:latin typeface="Inter" pitchFamily="34" charset="0"/>
                <a:ea typeface="Inter" pitchFamily="34" charset="-122"/>
                <a:cs typeface="Inter" pitchFamily="34" charset="-120"/>
              </a:rPr>
              <a:t>Seated in the library / darbar room, warm practical lamps, dark background — the same world as the watches.</a:t>
            </a:r>
            <a:endParaRPr lang="en-US" sz="1050" dirty="0"/>
          </a:p>
          <a:p>
            <a:pPr marL="152400" indent="-152400">
              <a:spcAft>
                <a:spcPts val="600"/>
              </a:spcAft>
              <a:buSzPct val="100000"/>
              <a:buChar char="•"/>
            </a:pPr>
            <a:r>
              <a:rPr lang="en-US" sz="1050" dirty="0">
                <a:solidFill>
                  <a:srgbClr val="F2EDE4"/>
                </a:solidFill>
                <a:latin typeface="Inter" pitchFamily="34" charset="0"/>
                <a:ea typeface="Inter" pitchFamily="34" charset="-122"/>
                <a:cs typeface="Inter" pitchFamily="34" charset="-120"/>
              </a:rPr>
              <a:t>Two cameras: A wide on 35 mm, B tight on 85 mm. A third, locked macro on the watch in her hands for the watch segments.</a:t>
            </a:r>
            <a:endParaRPr lang="en-US" sz="1050" dirty="0"/>
          </a:p>
          <a:p>
            <a:pPr marL="152400" indent="-152400">
              <a:spcAft>
                <a:spcPts val="600"/>
              </a:spcAft>
              <a:buSzPct val="100000"/>
              <a:buChar char="•"/>
            </a:pPr>
            <a:r>
              <a:rPr lang="en-US" sz="1050" dirty="0">
                <a:solidFill>
                  <a:srgbClr val="F2EDE4"/>
                </a:solidFill>
                <a:latin typeface="Inter" pitchFamily="34" charset="0"/>
                <a:ea typeface="Inter" pitchFamily="34" charset="-122"/>
                <a:cs typeface="Inter" pitchFamily="34" charset="-120"/>
              </a:rPr>
              <a:t>She answers in Hinglish, the way she talks — we cut from her real answers, no teleprompter.</a:t>
            </a:r>
            <a:endParaRPr lang="en-US" sz="1050" dirty="0"/>
          </a:p>
          <a:p>
            <a:pPr marL="152400" indent="-152400">
              <a:spcAft>
                <a:spcPts val="600"/>
              </a:spcAft>
              <a:buSzPct val="100000"/>
              <a:buChar char="•"/>
            </a:pPr>
            <a:r>
              <a:rPr lang="en-US" sz="1050" dirty="0">
                <a:solidFill>
                  <a:srgbClr val="F2EDE4"/>
                </a:solidFill>
                <a:latin typeface="Inter" pitchFamily="34" charset="0"/>
                <a:ea typeface="Inter" pitchFamily="34" charset="-122"/>
                <a:cs typeface="Inter" pitchFamily="34" charset="-120"/>
              </a:rPr>
              <a:t>Wardrobe her call: a structured blazer or pantsuit, or a saree with a structured blouse. Solid colours, no logos.</a:t>
            </a:r>
            <a:endParaRPr lang="en-US" sz="1050" dirty="0"/>
          </a:p>
        </p:txBody>
      </p:sp>
      <p:sp>
        <p:nvSpPr>
          <p:cNvPr id="15" name="Text 13"/>
          <p:cNvSpPr txBox="1"/>
          <p:nvPr/>
        </p:nvSpPr>
        <p:spPr>
          <a:xfrm>
            <a:off x="4663440" y="5532120"/>
            <a:ext cx="274320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B-ROLL + PORTRAITS</a:t>
            </a:r>
            <a:endParaRPr lang="en-US" sz="750" dirty="0"/>
          </a:p>
        </p:txBody>
      </p:sp>
      <p:sp>
        <p:nvSpPr>
          <p:cNvPr id="16" name="Text 14"/>
          <p:cNvSpPr txBox="1"/>
          <p:nvPr/>
        </p:nvSpPr>
        <p:spPr>
          <a:xfrm>
            <a:off x="4663440" y="5760720"/>
            <a:ext cx="6949440" cy="45720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Sketching the square case · a jeweller's loupe on a dial · numbering cards 001–500 · window-light portrait · golden hour on the roof.</a:t>
            </a:r>
            <a:endParaRPr lang="en-US" sz="9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DAY 2 · NEETU</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65</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PART 1 · HER STORY · 12 QUESTIONS IN HINGLISH</a:t>
            </a:r>
            <a:endParaRPr lang="en-US" sz="900" dirty="0"/>
          </a:p>
        </p:txBody>
      </p:sp>
      <p:sp>
        <p:nvSpPr>
          <p:cNvPr id="5" name="Text 3"/>
          <p:cNvSpPr txBox="1"/>
          <p:nvPr/>
        </p:nvSpPr>
        <p:spPr>
          <a:xfrm>
            <a:off x="548640" y="731520"/>
            <a:ext cx="109728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ASK LIKE A CONVERSATION. LISTEN FOR THESE.</a:t>
            </a:r>
            <a:endParaRPr lang="en-US" sz="28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457200"/>
                <a:gridCol w="5120640"/>
                <a:gridCol w="5486400"/>
              </a:tblGrid>
              <a:tr h="365760">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QUESTION (HINGLISH)</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WHAT WE'RE LISTENING FOR (FROM HER BRIEF)</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01</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Dalelpura se Jaipur — woh pehla din yaad hai?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Studied in a village government school; moved to Jaipur.</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02</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Pehli salary ₹5,000 thi. Tab time ki value kaise samjhi?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"When you have no safety net, time is your only real currency."</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03</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Ek ladki, men's luxury watch brand — logon ne kya kaha?</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Polite smiles, "vanity hobby" — she answered with drawings, tolerances, sourcing.</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04</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Aapke liye "dominance" ka matlab kya hai?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"Restraint. The loudest man in the room is usually the most insecure."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05</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Ghadi bolne se pehle insaan ke baare mein kya batati hai?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"It tells you their relationship with time."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06</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Pehli ghadi jo aap chahti thi — jo mili hi nahi?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"It didn't exist, which is why Wealth Roots exists."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07</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Aapne ghadi ki taaqat pehli baar kab samjhi?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Her husband reaching for one watch before a decisive meeting, like a ritual.</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08</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Sirf 500 Alpha Founder pieces kyun? Advisors ne kya kaha?</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"500 lifetime advocates over early vanity sales."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09</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Woh packaging wala kissa — poori run kyun reject ki?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"Luxury is obsessive, unglamorous friction."</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10</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Wealth Roots kaun pehnega?</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The founder in a seed round, the architect, the surgeon — people with grit.</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11</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Paanch saal baad London ya Dubai mein koi caseback palte — kya dikhe?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"Roots in Jaipur" — Indian horology on the world stage.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12</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Pehle din wali Neetu ko aaj kya kahengi?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"Stop questioning whether you belong in the room."</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DAY 2 · NEETU</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66</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PART 1 · STORY REELS · CUT FROM HER REAL ANSWERS</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FOUR REELS, IN HER VOICE.</a:t>
            </a:r>
            <a:endParaRPr lang="en-US" sz="3000" dirty="0"/>
          </a:p>
        </p:txBody>
      </p:sp>
      <p:sp>
        <p:nvSpPr>
          <p:cNvPr id="6" name="Shape 4"/>
          <p:cNvSpPr/>
          <p:nvPr/>
        </p:nvSpPr>
        <p:spPr>
          <a:xfrm>
            <a:off x="548640" y="1463040"/>
            <a:ext cx="5440680" cy="2057400"/>
          </a:xfrm>
          <a:prstGeom prst="rect">
            <a:avLst/>
          </a:prstGeom>
          <a:solidFill>
            <a:srgbClr val="151513"/>
          </a:solidFill>
          <a:ln w="9525">
            <a:solidFill>
              <a:srgbClr val="2B2A26"/>
            </a:solidFill>
            <a:prstDash val="solid"/>
          </a:ln>
        </p:spPr>
      </p:sp>
      <p:sp>
        <p:nvSpPr>
          <p:cNvPr id="7" name="Text 5"/>
          <p:cNvSpPr txBox="1"/>
          <p:nvPr/>
        </p:nvSpPr>
        <p:spPr>
          <a:xfrm>
            <a:off x="777240" y="1645920"/>
            <a:ext cx="731520" cy="365760"/>
          </a:xfrm>
          <a:prstGeom prst="rect">
            <a:avLst/>
          </a:prstGeom>
          <a:noFill/>
          <a:ln/>
        </p:spPr>
        <p:txBody>
          <a:bodyPr wrap="square" lIns="0" tIns="0" rIns="0" bIns="0" rtlCol="0" anchor="t"/>
          <a:lstStyle/>
          <a:p>
            <a:pPr indent="0" marL="0">
              <a:buNone/>
            </a:pPr>
            <a:r>
              <a:rPr lang="en-US" sz="1800" b="1" dirty="0">
                <a:solidFill>
                  <a:srgbClr val="C9A45C"/>
                </a:solidFill>
                <a:latin typeface="Oswald" pitchFamily="34" charset="0"/>
                <a:ea typeface="Oswald" pitchFamily="34" charset="-122"/>
                <a:cs typeface="Oswald" pitchFamily="34" charset="-120"/>
              </a:rPr>
              <a:t>F1</a:t>
            </a:r>
            <a:endParaRPr lang="en-US" sz="1800" dirty="0"/>
          </a:p>
        </p:txBody>
      </p:sp>
      <p:sp>
        <p:nvSpPr>
          <p:cNvPr id="8" name="Text 6"/>
          <p:cNvSpPr txBox="1"/>
          <p:nvPr/>
        </p:nvSpPr>
        <p:spPr>
          <a:xfrm>
            <a:off x="1463040" y="1664208"/>
            <a:ext cx="3291840" cy="365760"/>
          </a:xfrm>
          <a:prstGeom prst="rect">
            <a:avLst/>
          </a:prstGeom>
          <a:noFill/>
          <a:ln/>
        </p:spPr>
        <p:txBody>
          <a:bodyPr wrap="square" lIns="0" tIns="0" rIns="0" bIns="0" rtlCol="0" anchor="t"/>
          <a:lstStyle/>
          <a:p>
            <a:pPr indent="0" marL="0">
              <a:buNone/>
            </a:pPr>
            <a:r>
              <a:rPr lang="en-US" sz="1700" b="1" dirty="0">
                <a:solidFill>
                  <a:srgbClr val="F2EDE4"/>
                </a:solidFill>
                <a:latin typeface="Oswald" pitchFamily="34" charset="0"/>
                <a:ea typeface="Oswald" pitchFamily="34" charset="-122"/>
                <a:cs typeface="Oswald" pitchFamily="34" charset="-120"/>
              </a:rPr>
              <a:t>₹5,000 SE</a:t>
            </a:r>
            <a:endParaRPr lang="en-US" sz="1700" dirty="0"/>
          </a:p>
        </p:txBody>
      </p:sp>
      <p:sp>
        <p:nvSpPr>
          <p:cNvPr id="9" name="Text 7"/>
          <p:cNvSpPr txBox="1"/>
          <p:nvPr/>
        </p:nvSpPr>
        <p:spPr>
          <a:xfrm>
            <a:off x="4572000" y="1719072"/>
            <a:ext cx="1234440" cy="274320"/>
          </a:xfrm>
          <a:prstGeom prst="rect">
            <a:avLst/>
          </a:prstGeom>
          <a:noFill/>
          <a:ln/>
        </p:spPr>
        <p:txBody>
          <a:bodyPr wrap="square" lIns="0" tIns="0" rIns="0" bIns="0" rtlCol="0" anchor="t"/>
          <a:lstStyle/>
          <a:p>
            <a:pPr algn="r" indent="0" marL="0">
              <a:buNone/>
            </a:pPr>
            <a:r>
              <a:rPr lang="en-US" sz="800" b="1" spc="200" kern="0" dirty="0">
                <a:solidFill>
                  <a:srgbClr val="9C978E"/>
                </a:solidFill>
                <a:latin typeface="Inter" pitchFamily="34" charset="0"/>
                <a:ea typeface="Inter" pitchFamily="34" charset="-122"/>
                <a:cs typeface="Inter" pitchFamily="34" charset="-120"/>
              </a:rPr>
              <a:t>HER STORY</a:t>
            </a:r>
            <a:endParaRPr lang="en-US" sz="800" dirty="0"/>
          </a:p>
        </p:txBody>
      </p:sp>
      <p:sp>
        <p:nvSpPr>
          <p:cNvPr id="10" name="Text 8"/>
          <p:cNvSpPr txBox="1"/>
          <p:nvPr/>
        </p:nvSpPr>
        <p:spPr>
          <a:xfrm>
            <a:off x="777240" y="2148840"/>
            <a:ext cx="4983480" cy="1280160"/>
          </a:xfrm>
          <a:prstGeom prst="rect">
            <a:avLst/>
          </a:prstGeom>
          <a:noFill/>
          <a:ln/>
        </p:spPr>
        <p:txBody>
          <a:bodyPr wrap="square" lIns="0" tIns="0" rIns="0" bIns="0" rtlCol="0" anchor="t"/>
          <a:lstStyle/>
          <a:p>
            <a:pPr indent="0" marL="0">
              <a:lnSpc>
                <a:spcPct val="115000"/>
              </a:lnSpc>
              <a:buNone/>
            </a:pPr>
            <a:r>
              <a:rPr lang="en-US" sz="1050" i="1" dirty="0">
                <a:solidFill>
                  <a:srgbClr val="F2EDE4"/>
                </a:solidFill>
                <a:latin typeface="Inter" pitchFamily="34" charset="0"/>
                <a:ea typeface="Inter" pitchFamily="34" charset="-122"/>
                <a:cs typeface="Inter" pitchFamily="34" charset="-120"/>
              </a:rPr>
              <a:t>"Dalelpura ke sarkari school se padhi. Jaipur mein pehli naukri — ₹5,000 mahina. Tab samjha: jab koi safety net nahi hota, toh time hi asli currency hai. Wealth Roots wahin se aaya."</a:t>
            </a:r>
            <a:endParaRPr lang="en-US" sz="1050" dirty="0"/>
          </a:p>
        </p:txBody>
      </p:sp>
      <p:sp>
        <p:nvSpPr>
          <p:cNvPr id="11" name="Shape 9"/>
          <p:cNvSpPr/>
          <p:nvPr/>
        </p:nvSpPr>
        <p:spPr>
          <a:xfrm>
            <a:off x="6172200" y="1463040"/>
            <a:ext cx="5440680" cy="2057400"/>
          </a:xfrm>
          <a:prstGeom prst="rect">
            <a:avLst/>
          </a:prstGeom>
          <a:solidFill>
            <a:srgbClr val="151513"/>
          </a:solidFill>
          <a:ln w="9525">
            <a:solidFill>
              <a:srgbClr val="2B2A26"/>
            </a:solidFill>
            <a:prstDash val="solid"/>
          </a:ln>
        </p:spPr>
      </p:sp>
      <p:sp>
        <p:nvSpPr>
          <p:cNvPr id="12" name="Text 10"/>
          <p:cNvSpPr txBox="1"/>
          <p:nvPr/>
        </p:nvSpPr>
        <p:spPr>
          <a:xfrm>
            <a:off x="6400800" y="1645920"/>
            <a:ext cx="731520" cy="365760"/>
          </a:xfrm>
          <a:prstGeom prst="rect">
            <a:avLst/>
          </a:prstGeom>
          <a:noFill/>
          <a:ln/>
        </p:spPr>
        <p:txBody>
          <a:bodyPr wrap="square" lIns="0" tIns="0" rIns="0" bIns="0" rtlCol="0" anchor="t"/>
          <a:lstStyle/>
          <a:p>
            <a:pPr indent="0" marL="0">
              <a:buNone/>
            </a:pPr>
            <a:r>
              <a:rPr lang="en-US" sz="1800" b="1" dirty="0">
                <a:solidFill>
                  <a:srgbClr val="C9A45C"/>
                </a:solidFill>
                <a:latin typeface="Oswald" pitchFamily="34" charset="0"/>
                <a:ea typeface="Oswald" pitchFamily="34" charset="-122"/>
                <a:cs typeface="Oswald" pitchFamily="34" charset="-120"/>
              </a:rPr>
              <a:t>F2</a:t>
            </a:r>
            <a:endParaRPr lang="en-US" sz="1800" dirty="0"/>
          </a:p>
        </p:txBody>
      </p:sp>
      <p:sp>
        <p:nvSpPr>
          <p:cNvPr id="13" name="Text 11"/>
          <p:cNvSpPr txBox="1"/>
          <p:nvPr/>
        </p:nvSpPr>
        <p:spPr>
          <a:xfrm>
            <a:off x="7086600" y="1664208"/>
            <a:ext cx="3291840" cy="365760"/>
          </a:xfrm>
          <a:prstGeom prst="rect">
            <a:avLst/>
          </a:prstGeom>
          <a:noFill/>
          <a:ln/>
        </p:spPr>
        <p:txBody>
          <a:bodyPr wrap="square" lIns="0" tIns="0" rIns="0" bIns="0" rtlCol="0" anchor="t"/>
          <a:lstStyle/>
          <a:p>
            <a:pPr indent="0" marL="0">
              <a:buNone/>
            </a:pPr>
            <a:r>
              <a:rPr lang="en-US" sz="1700" b="1" dirty="0">
                <a:solidFill>
                  <a:srgbClr val="F2EDE4"/>
                </a:solidFill>
                <a:latin typeface="Oswald" pitchFamily="34" charset="0"/>
                <a:ea typeface="Oswald" pitchFamily="34" charset="-122"/>
                <a:cs typeface="Oswald" pitchFamily="34" charset="-120"/>
              </a:rPr>
              <a:t>DOMINANCE = RESTRAINT</a:t>
            </a:r>
            <a:endParaRPr lang="en-US" sz="1700" dirty="0"/>
          </a:p>
        </p:txBody>
      </p:sp>
      <p:sp>
        <p:nvSpPr>
          <p:cNvPr id="14" name="Text 12"/>
          <p:cNvSpPr txBox="1"/>
          <p:nvPr/>
        </p:nvSpPr>
        <p:spPr>
          <a:xfrm>
            <a:off x="10195560" y="1719072"/>
            <a:ext cx="1234440" cy="274320"/>
          </a:xfrm>
          <a:prstGeom prst="rect">
            <a:avLst/>
          </a:prstGeom>
          <a:noFill/>
          <a:ln/>
        </p:spPr>
        <p:txBody>
          <a:bodyPr wrap="square" lIns="0" tIns="0" rIns="0" bIns="0" rtlCol="0" anchor="t"/>
          <a:lstStyle/>
          <a:p>
            <a:pPr algn="r" indent="0" marL="0">
              <a:buNone/>
            </a:pPr>
            <a:r>
              <a:rPr lang="en-US" sz="800" b="1" spc="200" kern="0" dirty="0">
                <a:solidFill>
                  <a:srgbClr val="9C978E"/>
                </a:solidFill>
                <a:latin typeface="Inter" pitchFamily="34" charset="0"/>
                <a:ea typeface="Inter" pitchFamily="34" charset="-122"/>
                <a:cs typeface="Inter" pitchFamily="34" charset="-120"/>
              </a:rPr>
              <a:t>HER BELIEF</a:t>
            </a:r>
            <a:endParaRPr lang="en-US" sz="800" dirty="0"/>
          </a:p>
        </p:txBody>
      </p:sp>
      <p:sp>
        <p:nvSpPr>
          <p:cNvPr id="15" name="Text 13"/>
          <p:cNvSpPr txBox="1"/>
          <p:nvPr/>
        </p:nvSpPr>
        <p:spPr>
          <a:xfrm>
            <a:off x="6400800" y="2148840"/>
            <a:ext cx="4983480" cy="1280160"/>
          </a:xfrm>
          <a:prstGeom prst="rect">
            <a:avLst/>
          </a:prstGeom>
          <a:noFill/>
          <a:ln/>
        </p:spPr>
        <p:txBody>
          <a:bodyPr wrap="square" lIns="0" tIns="0" rIns="0" bIns="0" rtlCol="0" anchor="t"/>
          <a:lstStyle/>
          <a:p>
            <a:pPr indent="0" marL="0">
              <a:lnSpc>
                <a:spcPct val="115000"/>
              </a:lnSpc>
              <a:buNone/>
            </a:pPr>
            <a:r>
              <a:rPr lang="en-US" sz="1050" i="1" dirty="0">
                <a:solidFill>
                  <a:srgbClr val="F2EDE4"/>
                </a:solidFill>
                <a:latin typeface="Inter" pitchFamily="34" charset="0"/>
                <a:ea typeface="Inter" pitchFamily="34" charset="-122"/>
                <a:cs typeface="Inter" pitchFamily="34" charset="-120"/>
              </a:rPr>
              <a:t>"Mere liye dominance ka matlab hai restraint. Room ka sabse loud aadmi aksar sabse insecure hota hai. Asli power — apne calendar, emotions aur standards pe control."</a:t>
            </a:r>
            <a:endParaRPr lang="en-US" sz="1050" dirty="0"/>
          </a:p>
        </p:txBody>
      </p:sp>
      <p:sp>
        <p:nvSpPr>
          <p:cNvPr id="16" name="Shape 14"/>
          <p:cNvSpPr/>
          <p:nvPr/>
        </p:nvSpPr>
        <p:spPr>
          <a:xfrm>
            <a:off x="548640" y="3657600"/>
            <a:ext cx="5440680" cy="2057400"/>
          </a:xfrm>
          <a:prstGeom prst="rect">
            <a:avLst/>
          </a:prstGeom>
          <a:solidFill>
            <a:srgbClr val="151513"/>
          </a:solidFill>
          <a:ln w="9525">
            <a:solidFill>
              <a:srgbClr val="2B2A26"/>
            </a:solidFill>
            <a:prstDash val="solid"/>
          </a:ln>
        </p:spPr>
      </p:sp>
      <p:sp>
        <p:nvSpPr>
          <p:cNvPr id="17" name="Text 15"/>
          <p:cNvSpPr txBox="1"/>
          <p:nvPr/>
        </p:nvSpPr>
        <p:spPr>
          <a:xfrm>
            <a:off x="777240" y="3840480"/>
            <a:ext cx="731520" cy="365760"/>
          </a:xfrm>
          <a:prstGeom prst="rect">
            <a:avLst/>
          </a:prstGeom>
          <a:noFill/>
          <a:ln/>
        </p:spPr>
        <p:txBody>
          <a:bodyPr wrap="square" lIns="0" tIns="0" rIns="0" bIns="0" rtlCol="0" anchor="t"/>
          <a:lstStyle/>
          <a:p>
            <a:pPr indent="0" marL="0">
              <a:buNone/>
            </a:pPr>
            <a:r>
              <a:rPr lang="en-US" sz="1800" b="1" dirty="0">
                <a:solidFill>
                  <a:srgbClr val="C9A45C"/>
                </a:solidFill>
                <a:latin typeface="Oswald" pitchFamily="34" charset="0"/>
                <a:ea typeface="Oswald" pitchFamily="34" charset="-122"/>
                <a:cs typeface="Oswald" pitchFamily="34" charset="-120"/>
              </a:rPr>
              <a:t>F3</a:t>
            </a:r>
            <a:endParaRPr lang="en-US" sz="1800" dirty="0"/>
          </a:p>
        </p:txBody>
      </p:sp>
      <p:sp>
        <p:nvSpPr>
          <p:cNvPr id="18" name="Text 16"/>
          <p:cNvSpPr txBox="1"/>
          <p:nvPr/>
        </p:nvSpPr>
        <p:spPr>
          <a:xfrm>
            <a:off x="1463040" y="3858768"/>
            <a:ext cx="3291840" cy="365760"/>
          </a:xfrm>
          <a:prstGeom prst="rect">
            <a:avLst/>
          </a:prstGeom>
          <a:noFill/>
          <a:ln/>
        </p:spPr>
        <p:txBody>
          <a:bodyPr wrap="square" lIns="0" tIns="0" rIns="0" bIns="0" rtlCol="0" anchor="t"/>
          <a:lstStyle/>
          <a:p>
            <a:pPr indent="0" marL="0">
              <a:buNone/>
            </a:pPr>
            <a:r>
              <a:rPr lang="en-US" sz="1700" b="1" dirty="0">
                <a:solidFill>
                  <a:srgbClr val="F2EDE4"/>
                </a:solidFill>
                <a:latin typeface="Oswald" pitchFamily="34" charset="0"/>
                <a:ea typeface="Oswald" pitchFamily="34" charset="-122"/>
                <a:cs typeface="Oswald" pitchFamily="34" charset="-120"/>
              </a:rPr>
              <a:t>SIRF 500</a:t>
            </a:r>
            <a:endParaRPr lang="en-US" sz="1700" dirty="0"/>
          </a:p>
        </p:txBody>
      </p:sp>
      <p:sp>
        <p:nvSpPr>
          <p:cNvPr id="19" name="Text 17"/>
          <p:cNvSpPr txBox="1"/>
          <p:nvPr/>
        </p:nvSpPr>
        <p:spPr>
          <a:xfrm>
            <a:off x="4572000" y="3913632"/>
            <a:ext cx="1234440" cy="274320"/>
          </a:xfrm>
          <a:prstGeom prst="rect">
            <a:avLst/>
          </a:prstGeom>
          <a:noFill/>
          <a:ln/>
        </p:spPr>
        <p:txBody>
          <a:bodyPr wrap="square" lIns="0" tIns="0" rIns="0" bIns="0" rtlCol="0" anchor="t"/>
          <a:lstStyle/>
          <a:p>
            <a:pPr algn="r" indent="0" marL="0">
              <a:buNone/>
            </a:pPr>
            <a:r>
              <a:rPr lang="en-US" sz="800" b="1" spc="200" kern="0" dirty="0">
                <a:solidFill>
                  <a:srgbClr val="9C978E"/>
                </a:solidFill>
                <a:latin typeface="Inter" pitchFamily="34" charset="0"/>
                <a:ea typeface="Inter" pitchFamily="34" charset="-122"/>
                <a:cs typeface="Inter" pitchFamily="34" charset="-120"/>
              </a:rPr>
              <a:t>HER DECISION</a:t>
            </a:r>
            <a:endParaRPr lang="en-US" sz="800" dirty="0"/>
          </a:p>
        </p:txBody>
      </p:sp>
      <p:sp>
        <p:nvSpPr>
          <p:cNvPr id="20" name="Text 18"/>
          <p:cNvSpPr txBox="1"/>
          <p:nvPr/>
        </p:nvSpPr>
        <p:spPr>
          <a:xfrm>
            <a:off x="777240" y="4343400"/>
            <a:ext cx="4983480" cy="1280160"/>
          </a:xfrm>
          <a:prstGeom prst="rect">
            <a:avLst/>
          </a:prstGeom>
          <a:noFill/>
          <a:ln/>
        </p:spPr>
        <p:txBody>
          <a:bodyPr wrap="square" lIns="0" tIns="0" rIns="0" bIns="0" rtlCol="0" anchor="t"/>
          <a:lstStyle/>
          <a:p>
            <a:pPr indent="0" marL="0">
              <a:lnSpc>
                <a:spcPct val="115000"/>
              </a:lnSpc>
              <a:buNone/>
            </a:pPr>
            <a:r>
              <a:rPr lang="en-US" sz="1050" i="1" dirty="0">
                <a:solidFill>
                  <a:srgbClr val="F2EDE4"/>
                </a:solidFill>
                <a:latin typeface="Inter" pitchFamily="34" charset="0"/>
                <a:ea typeface="Inter" pitchFamily="34" charset="-122"/>
                <a:cs typeface="Inter" pitchFamily="34" charset="-120"/>
              </a:rPr>
              <a:t>"Advisors ne kaha production badhao, cost giraao. Maine mana kar diya. Pehle 500 log invoice ki line item nahi hain — woh is brand ki neev hain."</a:t>
            </a:r>
            <a:endParaRPr lang="en-US" sz="1050" dirty="0"/>
          </a:p>
        </p:txBody>
      </p:sp>
      <p:sp>
        <p:nvSpPr>
          <p:cNvPr id="21" name="Shape 19"/>
          <p:cNvSpPr/>
          <p:nvPr/>
        </p:nvSpPr>
        <p:spPr>
          <a:xfrm>
            <a:off x="6172200" y="3657600"/>
            <a:ext cx="5440680" cy="2057400"/>
          </a:xfrm>
          <a:prstGeom prst="rect">
            <a:avLst/>
          </a:prstGeom>
          <a:solidFill>
            <a:srgbClr val="151513"/>
          </a:solidFill>
          <a:ln w="9525">
            <a:solidFill>
              <a:srgbClr val="2B2A26"/>
            </a:solidFill>
            <a:prstDash val="solid"/>
          </a:ln>
        </p:spPr>
      </p:sp>
      <p:sp>
        <p:nvSpPr>
          <p:cNvPr id="22" name="Text 20"/>
          <p:cNvSpPr txBox="1"/>
          <p:nvPr/>
        </p:nvSpPr>
        <p:spPr>
          <a:xfrm>
            <a:off x="6400800" y="3840480"/>
            <a:ext cx="731520" cy="365760"/>
          </a:xfrm>
          <a:prstGeom prst="rect">
            <a:avLst/>
          </a:prstGeom>
          <a:noFill/>
          <a:ln/>
        </p:spPr>
        <p:txBody>
          <a:bodyPr wrap="square" lIns="0" tIns="0" rIns="0" bIns="0" rtlCol="0" anchor="t"/>
          <a:lstStyle/>
          <a:p>
            <a:pPr indent="0" marL="0">
              <a:buNone/>
            </a:pPr>
            <a:r>
              <a:rPr lang="en-US" sz="1800" b="1" dirty="0">
                <a:solidFill>
                  <a:srgbClr val="C9A45C"/>
                </a:solidFill>
                <a:latin typeface="Oswald" pitchFamily="34" charset="0"/>
                <a:ea typeface="Oswald" pitchFamily="34" charset="-122"/>
                <a:cs typeface="Oswald" pitchFamily="34" charset="-120"/>
              </a:rPr>
              <a:t>F4</a:t>
            </a:r>
            <a:endParaRPr lang="en-US" sz="1800" dirty="0"/>
          </a:p>
        </p:txBody>
      </p:sp>
      <p:sp>
        <p:nvSpPr>
          <p:cNvPr id="23" name="Text 21"/>
          <p:cNvSpPr txBox="1"/>
          <p:nvPr/>
        </p:nvSpPr>
        <p:spPr>
          <a:xfrm>
            <a:off x="7086600" y="3858768"/>
            <a:ext cx="3291840" cy="365760"/>
          </a:xfrm>
          <a:prstGeom prst="rect">
            <a:avLst/>
          </a:prstGeom>
          <a:noFill/>
          <a:ln/>
        </p:spPr>
        <p:txBody>
          <a:bodyPr wrap="square" lIns="0" tIns="0" rIns="0" bIns="0" rtlCol="0" anchor="t"/>
          <a:lstStyle/>
          <a:p>
            <a:pPr indent="0" marL="0">
              <a:buNone/>
            </a:pPr>
            <a:r>
              <a:rPr lang="en-US" sz="1700" b="1" dirty="0">
                <a:solidFill>
                  <a:srgbClr val="F2EDE4"/>
                </a:solidFill>
                <a:latin typeface="Oswald" pitchFamily="34" charset="0"/>
                <a:ea typeface="Oswald" pitchFamily="34" charset="-122"/>
                <a:cs typeface="Oswald" pitchFamily="34" charset="-120"/>
              </a:rPr>
              <a:t>LUXURY IS FRICTION</a:t>
            </a:r>
            <a:endParaRPr lang="en-US" sz="1700" dirty="0"/>
          </a:p>
        </p:txBody>
      </p:sp>
      <p:sp>
        <p:nvSpPr>
          <p:cNvPr id="24" name="Text 22"/>
          <p:cNvSpPr txBox="1"/>
          <p:nvPr/>
        </p:nvSpPr>
        <p:spPr>
          <a:xfrm>
            <a:off x="10195560" y="3913632"/>
            <a:ext cx="1234440" cy="274320"/>
          </a:xfrm>
          <a:prstGeom prst="rect">
            <a:avLst/>
          </a:prstGeom>
          <a:noFill/>
          <a:ln/>
        </p:spPr>
        <p:txBody>
          <a:bodyPr wrap="square" lIns="0" tIns="0" rIns="0" bIns="0" rtlCol="0" anchor="t"/>
          <a:lstStyle/>
          <a:p>
            <a:pPr algn="r" indent="0" marL="0">
              <a:buNone/>
            </a:pPr>
            <a:r>
              <a:rPr lang="en-US" sz="800" b="1" spc="200" kern="0" dirty="0">
                <a:solidFill>
                  <a:srgbClr val="9C978E"/>
                </a:solidFill>
                <a:latin typeface="Inter" pitchFamily="34" charset="0"/>
                <a:ea typeface="Inter" pitchFamily="34" charset="-122"/>
                <a:cs typeface="Inter" pitchFamily="34" charset="-120"/>
              </a:rPr>
              <a:t>HER CRAFT</a:t>
            </a:r>
            <a:endParaRPr lang="en-US" sz="800" dirty="0"/>
          </a:p>
        </p:txBody>
      </p:sp>
      <p:sp>
        <p:nvSpPr>
          <p:cNvPr id="25" name="Text 23"/>
          <p:cNvSpPr txBox="1"/>
          <p:nvPr/>
        </p:nvSpPr>
        <p:spPr>
          <a:xfrm>
            <a:off x="6400800" y="4343400"/>
            <a:ext cx="4983480" cy="1280160"/>
          </a:xfrm>
          <a:prstGeom prst="rect">
            <a:avLst/>
          </a:prstGeom>
          <a:noFill/>
          <a:ln/>
        </p:spPr>
        <p:txBody>
          <a:bodyPr wrap="square" lIns="0" tIns="0" rIns="0" bIns="0" rtlCol="0" anchor="t"/>
          <a:lstStyle/>
          <a:p>
            <a:pPr indent="0" marL="0">
              <a:lnSpc>
                <a:spcPct val="115000"/>
              </a:lnSpc>
              <a:buNone/>
            </a:pPr>
            <a:r>
              <a:rPr lang="en-US" sz="1050" i="1" dirty="0">
                <a:solidFill>
                  <a:srgbClr val="F2EDE4"/>
                </a:solidFill>
                <a:latin typeface="Inter" pitchFamily="34" charset="0"/>
                <a:ea typeface="Inter" pitchFamily="34" charset="-122"/>
                <a:cs typeface="Inter" pitchFamily="34" charset="-120"/>
              </a:rPr>
              <a:t>"Luxury gold plating nahi hai. Ek poori packaging run phenk di, kyunki magnet sahi resistance se band nahi ho raha tha. Jo detail kisi ko nahi dikhti — wahi asli quality hai."</a:t>
            </a:r>
            <a:endParaRPr lang="en-US" sz="1050" dirty="0"/>
          </a:p>
        </p:txBody>
      </p:sp>
      <p:sp>
        <p:nvSpPr>
          <p:cNvPr id="26" name="Text 24"/>
          <p:cNvSpPr txBox="1"/>
          <p:nvPr/>
        </p:nvSpPr>
        <p:spPr>
          <a:xfrm>
            <a:off x="548640" y="5943600"/>
            <a:ext cx="10972800" cy="32004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These are the lines to steer toward — she says them her way on the day. Music for all founder cuts: Ludovico Einaudi — "Nuvole Bianche" (reference).</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DAY 2 · NEETU</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67</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PART 2 · EACH WATCH, IN HER WORDS</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FIVE WATCHES. FIVE SHORT TALKS.</a:t>
            </a:r>
            <a:endParaRPr lang="en-US" sz="3000" dirty="0"/>
          </a:p>
        </p:txBody>
      </p:sp>
      <p:sp>
        <p:nvSpPr>
          <p:cNvPr id="6" name="Shape 4"/>
          <p:cNvSpPr/>
          <p:nvPr/>
        </p:nvSpPr>
        <p:spPr>
          <a:xfrm>
            <a:off x="548640" y="1508760"/>
            <a:ext cx="2103120" cy="4343400"/>
          </a:xfrm>
          <a:prstGeom prst="rect">
            <a:avLst/>
          </a:prstGeom>
          <a:solidFill>
            <a:srgbClr val="151513"/>
          </a:solidFill>
          <a:ln w="9525">
            <a:solidFill>
              <a:srgbClr val="2B2A26"/>
            </a:solidFill>
            <a:prstDash val="solid"/>
          </a:ln>
        </p:spPr>
      </p:sp>
      <p:pic>
        <p:nvPicPr>
          <p:cNvPr id="7" name="Image 0" descr="/tmp/claude-0/-home-user-Sage-portfolio/d05fecce-977e-5eab-9cf5-7c09b306c551/scratchpad/wrdeck/img/crop_green.jpg">    </p:cNvPr>
          <p:cNvPicPr>
            <a:picLocks noChangeAspect="1"/>
          </p:cNvPicPr>
          <p:nvPr/>
        </p:nvPicPr>
        <p:blipFill>
          <a:blip r:embed="rId1"/>
          <a:srcRect l="0" r="0" t="0" b="0"/>
          <a:stretch/>
        </p:blipFill>
        <p:spPr>
          <a:xfrm>
            <a:off x="685800" y="1645920"/>
            <a:ext cx="1828800" cy="1463040"/>
          </a:xfrm>
          <a:prstGeom prst="rect">
            <a:avLst/>
          </a:prstGeom>
        </p:spPr>
      </p:pic>
      <p:sp>
        <p:nvSpPr>
          <p:cNvPr id="8" name="Shape 5"/>
          <p:cNvSpPr/>
          <p:nvPr/>
        </p:nvSpPr>
        <p:spPr>
          <a:xfrm>
            <a:off x="548640" y="3182112"/>
            <a:ext cx="2103120" cy="45720"/>
          </a:xfrm>
          <a:prstGeom prst="rect">
            <a:avLst/>
          </a:prstGeom>
          <a:solidFill>
            <a:srgbClr val="E8DFC8"/>
          </a:solidFill>
          <a:ln w="12700">
            <a:solidFill>
              <a:srgbClr val="E8DFC8"/>
            </a:solidFill>
            <a:prstDash val="solid"/>
          </a:ln>
        </p:spPr>
      </p:sp>
      <p:sp>
        <p:nvSpPr>
          <p:cNvPr id="9" name="Text 6"/>
          <p:cNvSpPr txBox="1"/>
          <p:nvPr/>
        </p:nvSpPr>
        <p:spPr>
          <a:xfrm>
            <a:off x="731520" y="3310128"/>
            <a:ext cx="1828800" cy="274320"/>
          </a:xfrm>
          <a:prstGeom prst="rect">
            <a:avLst/>
          </a:prstGeom>
          <a:noFill/>
          <a:ln/>
        </p:spPr>
        <p:txBody>
          <a:bodyPr wrap="square" lIns="0" tIns="0" rIns="0" bIns="0" rtlCol="0" anchor="t"/>
          <a:lstStyle/>
          <a:p>
            <a:pPr indent="0" marL="0">
              <a:buNone/>
            </a:pPr>
            <a:r>
              <a:rPr lang="en-US" sz="1300" b="1" dirty="0">
                <a:solidFill>
                  <a:srgbClr val="F2EDE4"/>
                </a:solidFill>
                <a:latin typeface="Oswald" pitchFamily="34" charset="0"/>
                <a:ea typeface="Oswald" pitchFamily="34" charset="-122"/>
                <a:cs typeface="Oswald" pitchFamily="34" charset="-120"/>
              </a:rPr>
              <a:t>FOREST IVORY</a:t>
            </a:r>
            <a:endParaRPr lang="en-US" sz="1300" dirty="0"/>
          </a:p>
        </p:txBody>
      </p:sp>
      <p:sp>
        <p:nvSpPr>
          <p:cNvPr id="10" name="Text 7"/>
          <p:cNvSpPr txBox="1"/>
          <p:nvPr/>
        </p:nvSpPr>
        <p:spPr>
          <a:xfrm>
            <a:off x="731520" y="3584448"/>
            <a:ext cx="1828800" cy="228600"/>
          </a:xfrm>
          <a:prstGeom prst="rect">
            <a:avLst/>
          </a:prstGeom>
          <a:noFill/>
          <a:ln/>
        </p:spPr>
        <p:txBody>
          <a:bodyPr wrap="square" lIns="0" tIns="0" rIns="0" bIns="0" rtlCol="0" anchor="t"/>
          <a:lstStyle/>
          <a:p>
            <a:pPr indent="0" marL="0">
              <a:buNone/>
            </a:pPr>
            <a:r>
              <a:rPr lang="en-US" sz="800" b="1" spc="200" kern="0" dirty="0">
                <a:solidFill>
                  <a:srgbClr val="C9A45C"/>
                </a:solidFill>
                <a:latin typeface="Inter" pitchFamily="34" charset="0"/>
                <a:ea typeface="Inter" pitchFamily="34" charset="-122"/>
                <a:cs typeface="Inter" pitchFamily="34" charset="-120"/>
              </a:rPr>
              <a:t>ROOTS</a:t>
            </a:r>
            <a:endParaRPr lang="en-US" sz="800" dirty="0"/>
          </a:p>
        </p:txBody>
      </p:sp>
      <p:sp>
        <p:nvSpPr>
          <p:cNvPr id="11" name="Text 8"/>
          <p:cNvSpPr txBox="1"/>
          <p:nvPr/>
        </p:nvSpPr>
        <p:spPr>
          <a:xfrm>
            <a:off x="731520" y="3858768"/>
            <a:ext cx="1783080" cy="1280160"/>
          </a:xfrm>
          <a:prstGeom prst="rect">
            <a:avLst/>
          </a:prstGeom>
          <a:noFill/>
          <a:ln/>
        </p:spPr>
        <p:txBody>
          <a:bodyPr wrap="square" lIns="0" tIns="0" rIns="0" bIns="0" rtlCol="0" anchor="t"/>
          <a:lstStyle/>
          <a:p>
            <a:pPr indent="0" marL="0">
              <a:buNone/>
            </a:pPr>
            <a:r>
              <a:rPr lang="en-US" sz="900" i="1" dirty="0">
                <a:solidFill>
                  <a:srgbClr val="F2EDE4"/>
                </a:solidFill>
                <a:latin typeface="Inter" pitchFamily="34" charset="0"/>
                <a:ea typeface="Inter" pitchFamily="34" charset="-122"/>
                <a:cs typeface="Inter" pitchFamily="34" charset="-120"/>
              </a:rPr>
              <a:t>"Ivory aur bottle green hi kyun? Is ghadi mein aapki apni jaddein kahan dikhti hain?"</a:t>
            </a:r>
            <a:endParaRPr lang="en-US" sz="900" dirty="0"/>
          </a:p>
        </p:txBody>
      </p:sp>
      <p:sp>
        <p:nvSpPr>
          <p:cNvPr id="12" name="Text 9"/>
          <p:cNvSpPr txBox="1"/>
          <p:nvPr/>
        </p:nvSpPr>
        <p:spPr>
          <a:xfrm>
            <a:off x="731520" y="5212080"/>
            <a:ext cx="178308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Dalelpura → Jaipur; an heirloom someone has to start.</a:t>
            </a:r>
            <a:endParaRPr lang="en-US" sz="850" dirty="0"/>
          </a:p>
        </p:txBody>
      </p:sp>
      <p:sp>
        <p:nvSpPr>
          <p:cNvPr id="13" name="Shape 10"/>
          <p:cNvSpPr/>
          <p:nvPr/>
        </p:nvSpPr>
        <p:spPr>
          <a:xfrm>
            <a:off x="2807208" y="1508760"/>
            <a:ext cx="2103120" cy="4343400"/>
          </a:xfrm>
          <a:prstGeom prst="rect">
            <a:avLst/>
          </a:prstGeom>
          <a:solidFill>
            <a:srgbClr val="151513"/>
          </a:solidFill>
          <a:ln w="9525">
            <a:solidFill>
              <a:srgbClr val="2B2A26"/>
            </a:solidFill>
            <a:prstDash val="solid"/>
          </a:ln>
        </p:spPr>
      </p:sp>
      <p:pic>
        <p:nvPicPr>
          <p:cNvPr id="14" name="Image 1" descr="/tmp/claude-0/-home-user-Sage-portfolio/d05fecce-977e-5eab-9cf5-7c09b306c551/scratchpad/wrdeck/img/crop_lime.jpg">    </p:cNvPr>
          <p:cNvPicPr>
            <a:picLocks noChangeAspect="1"/>
          </p:cNvPicPr>
          <p:nvPr/>
        </p:nvPicPr>
        <p:blipFill>
          <a:blip r:embed="rId2"/>
          <a:srcRect l="0" r="0" t="0" b="0"/>
          <a:stretch/>
        </p:blipFill>
        <p:spPr>
          <a:xfrm>
            <a:off x="2944368" y="1645920"/>
            <a:ext cx="1828800" cy="1463040"/>
          </a:xfrm>
          <a:prstGeom prst="rect">
            <a:avLst/>
          </a:prstGeom>
        </p:spPr>
      </p:pic>
      <p:sp>
        <p:nvSpPr>
          <p:cNvPr id="15" name="Shape 11"/>
          <p:cNvSpPr/>
          <p:nvPr/>
        </p:nvSpPr>
        <p:spPr>
          <a:xfrm>
            <a:off x="2807208" y="3182112"/>
            <a:ext cx="2103120" cy="45720"/>
          </a:xfrm>
          <a:prstGeom prst="rect">
            <a:avLst/>
          </a:prstGeom>
          <a:solidFill>
            <a:srgbClr val="D7F25A"/>
          </a:solidFill>
          <a:ln w="12700">
            <a:solidFill>
              <a:srgbClr val="D7F25A"/>
            </a:solidFill>
            <a:prstDash val="solid"/>
          </a:ln>
        </p:spPr>
      </p:sp>
      <p:sp>
        <p:nvSpPr>
          <p:cNvPr id="16" name="Text 12"/>
          <p:cNvSpPr txBox="1"/>
          <p:nvPr/>
        </p:nvSpPr>
        <p:spPr>
          <a:xfrm>
            <a:off x="2990088" y="3310128"/>
            <a:ext cx="1828800" cy="274320"/>
          </a:xfrm>
          <a:prstGeom prst="rect">
            <a:avLst/>
          </a:prstGeom>
          <a:noFill/>
          <a:ln/>
        </p:spPr>
        <p:txBody>
          <a:bodyPr wrap="square" lIns="0" tIns="0" rIns="0" bIns="0" rtlCol="0" anchor="t"/>
          <a:lstStyle/>
          <a:p>
            <a:pPr indent="0" marL="0">
              <a:buNone/>
            </a:pPr>
            <a:r>
              <a:rPr lang="en-US" sz="1300" b="1" dirty="0">
                <a:solidFill>
                  <a:srgbClr val="F2EDE4"/>
                </a:solidFill>
                <a:latin typeface="Oswald" pitchFamily="34" charset="0"/>
                <a:ea typeface="Oswald" pitchFamily="34" charset="-122"/>
                <a:cs typeface="Oswald" pitchFamily="34" charset="-120"/>
              </a:rPr>
              <a:t>CITRUS MINT</a:t>
            </a:r>
            <a:endParaRPr lang="en-US" sz="1300" dirty="0"/>
          </a:p>
        </p:txBody>
      </p:sp>
      <p:sp>
        <p:nvSpPr>
          <p:cNvPr id="17" name="Text 13"/>
          <p:cNvSpPr txBox="1"/>
          <p:nvPr/>
        </p:nvSpPr>
        <p:spPr>
          <a:xfrm>
            <a:off x="2990088" y="3584448"/>
            <a:ext cx="1828800" cy="228600"/>
          </a:xfrm>
          <a:prstGeom prst="rect">
            <a:avLst/>
          </a:prstGeom>
          <a:noFill/>
          <a:ln/>
        </p:spPr>
        <p:txBody>
          <a:bodyPr wrap="square" lIns="0" tIns="0" rIns="0" bIns="0" rtlCol="0" anchor="t"/>
          <a:lstStyle/>
          <a:p>
            <a:pPr indent="0" marL="0">
              <a:buNone/>
            </a:pPr>
            <a:r>
              <a:rPr lang="en-US" sz="800" b="1" spc="200" kern="0" dirty="0">
                <a:solidFill>
                  <a:srgbClr val="C9A45C"/>
                </a:solidFill>
                <a:latin typeface="Inter" pitchFamily="34" charset="0"/>
                <a:ea typeface="Inter" pitchFamily="34" charset="-122"/>
                <a:cs typeface="Inter" pitchFamily="34" charset="-120"/>
              </a:rPr>
              <a:t>DISCIPLINE</a:t>
            </a:r>
            <a:endParaRPr lang="en-US" sz="800" dirty="0"/>
          </a:p>
        </p:txBody>
      </p:sp>
      <p:sp>
        <p:nvSpPr>
          <p:cNvPr id="18" name="Text 14"/>
          <p:cNvSpPr txBox="1"/>
          <p:nvPr/>
        </p:nvSpPr>
        <p:spPr>
          <a:xfrm>
            <a:off x="2990088" y="3858768"/>
            <a:ext cx="1783080" cy="1280160"/>
          </a:xfrm>
          <a:prstGeom prst="rect">
            <a:avLst/>
          </a:prstGeom>
          <a:noFill/>
          <a:ln/>
        </p:spPr>
        <p:txBody>
          <a:bodyPr wrap="square" lIns="0" tIns="0" rIns="0" bIns="0" rtlCol="0" anchor="t"/>
          <a:lstStyle/>
          <a:p>
            <a:pPr indent="0" marL="0">
              <a:buNone/>
            </a:pPr>
            <a:r>
              <a:rPr lang="en-US" sz="900" i="1" dirty="0">
                <a:solidFill>
                  <a:srgbClr val="F2EDE4"/>
                </a:solidFill>
                <a:latin typeface="Inter" pitchFamily="34" charset="0"/>
                <a:ea typeface="Inter" pitchFamily="34" charset="-122"/>
                <a:cs typeface="Inter" pitchFamily="34" charset="-120"/>
              </a:rPr>
              <a:t>"Ye ghadi kis aadmi ke liye hai — jo subah 5 baje uthta hai?"</a:t>
            </a:r>
            <a:endParaRPr lang="en-US" sz="900" dirty="0"/>
          </a:p>
        </p:txBody>
      </p:sp>
      <p:sp>
        <p:nvSpPr>
          <p:cNvPr id="19" name="Text 15"/>
          <p:cNvSpPr txBox="1"/>
          <p:nvPr/>
        </p:nvSpPr>
        <p:spPr>
          <a:xfrm>
            <a:off x="2990088" y="5212080"/>
            <a:ext cx="178308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Command over your own calendar.</a:t>
            </a:r>
            <a:endParaRPr lang="en-US" sz="850" dirty="0"/>
          </a:p>
        </p:txBody>
      </p:sp>
      <p:sp>
        <p:nvSpPr>
          <p:cNvPr id="20" name="Shape 16"/>
          <p:cNvSpPr/>
          <p:nvPr/>
        </p:nvSpPr>
        <p:spPr>
          <a:xfrm>
            <a:off x="5065776" y="1508760"/>
            <a:ext cx="2103120" cy="4343400"/>
          </a:xfrm>
          <a:prstGeom prst="rect">
            <a:avLst/>
          </a:prstGeom>
          <a:solidFill>
            <a:srgbClr val="151513"/>
          </a:solidFill>
          <a:ln w="9525">
            <a:solidFill>
              <a:srgbClr val="2B2A26"/>
            </a:solidFill>
            <a:prstDash val="solid"/>
          </a:ln>
        </p:spPr>
      </p:sp>
      <p:pic>
        <p:nvPicPr>
          <p:cNvPr id="21" name="Image 2" descr="/tmp/claude-0/-home-user-Sage-portfolio/d05fecce-977e-5eab-9cf5-7c09b306c551/scratchpad/wrdeck/img/crop_skyblue.jpg">    </p:cNvPr>
          <p:cNvPicPr>
            <a:picLocks noChangeAspect="1"/>
          </p:cNvPicPr>
          <p:nvPr/>
        </p:nvPicPr>
        <p:blipFill>
          <a:blip r:embed="rId3"/>
          <a:srcRect l="0" r="0" t="0" b="0"/>
          <a:stretch/>
        </p:blipFill>
        <p:spPr>
          <a:xfrm>
            <a:off x="5202936" y="1645920"/>
            <a:ext cx="1828800" cy="1463040"/>
          </a:xfrm>
          <a:prstGeom prst="rect">
            <a:avLst/>
          </a:prstGeom>
        </p:spPr>
      </p:pic>
      <p:sp>
        <p:nvSpPr>
          <p:cNvPr id="22" name="Shape 17"/>
          <p:cNvSpPr/>
          <p:nvPr/>
        </p:nvSpPr>
        <p:spPr>
          <a:xfrm>
            <a:off x="5065776" y="3182112"/>
            <a:ext cx="2103120" cy="45720"/>
          </a:xfrm>
          <a:prstGeom prst="rect">
            <a:avLst/>
          </a:prstGeom>
          <a:solidFill>
            <a:srgbClr val="8EC9EE"/>
          </a:solidFill>
          <a:ln w="12700">
            <a:solidFill>
              <a:srgbClr val="8EC9EE"/>
            </a:solidFill>
            <a:prstDash val="solid"/>
          </a:ln>
        </p:spPr>
      </p:sp>
      <p:sp>
        <p:nvSpPr>
          <p:cNvPr id="23" name="Text 18"/>
          <p:cNvSpPr txBox="1"/>
          <p:nvPr/>
        </p:nvSpPr>
        <p:spPr>
          <a:xfrm>
            <a:off x="5248656" y="3310128"/>
            <a:ext cx="1828800" cy="274320"/>
          </a:xfrm>
          <a:prstGeom prst="rect">
            <a:avLst/>
          </a:prstGeom>
          <a:noFill/>
          <a:ln/>
        </p:spPr>
        <p:txBody>
          <a:bodyPr wrap="square" lIns="0" tIns="0" rIns="0" bIns="0" rtlCol="0" anchor="t"/>
          <a:lstStyle/>
          <a:p>
            <a:pPr indent="0" marL="0">
              <a:buNone/>
            </a:pPr>
            <a:r>
              <a:rPr lang="en-US" sz="1300" b="1" dirty="0">
                <a:solidFill>
                  <a:srgbClr val="F2EDE4"/>
                </a:solidFill>
                <a:latin typeface="Oswald" pitchFamily="34" charset="0"/>
                <a:ea typeface="Oswald" pitchFamily="34" charset="-122"/>
                <a:cs typeface="Oswald" pitchFamily="34" charset="-120"/>
              </a:rPr>
              <a:t>CERULEAN</a:t>
            </a:r>
            <a:endParaRPr lang="en-US" sz="1300" dirty="0"/>
          </a:p>
        </p:txBody>
      </p:sp>
      <p:sp>
        <p:nvSpPr>
          <p:cNvPr id="24" name="Text 19"/>
          <p:cNvSpPr txBox="1"/>
          <p:nvPr/>
        </p:nvSpPr>
        <p:spPr>
          <a:xfrm>
            <a:off x="5248656" y="3584448"/>
            <a:ext cx="1828800" cy="228600"/>
          </a:xfrm>
          <a:prstGeom prst="rect">
            <a:avLst/>
          </a:prstGeom>
          <a:noFill/>
          <a:ln/>
        </p:spPr>
        <p:txBody>
          <a:bodyPr wrap="square" lIns="0" tIns="0" rIns="0" bIns="0" rtlCol="0" anchor="t"/>
          <a:lstStyle/>
          <a:p>
            <a:pPr indent="0" marL="0">
              <a:buNone/>
            </a:pPr>
            <a:r>
              <a:rPr lang="en-US" sz="800" b="1" spc="200" kern="0" dirty="0">
                <a:solidFill>
                  <a:srgbClr val="C9A45C"/>
                </a:solidFill>
                <a:latin typeface="Inter" pitchFamily="34" charset="0"/>
                <a:ea typeface="Inter" pitchFamily="34" charset="-122"/>
                <a:cs typeface="Inter" pitchFamily="34" charset="-120"/>
              </a:rPr>
              <a:t>BUILD</a:t>
            </a:r>
            <a:endParaRPr lang="en-US" sz="800" dirty="0"/>
          </a:p>
        </p:txBody>
      </p:sp>
      <p:sp>
        <p:nvSpPr>
          <p:cNvPr id="25" name="Text 20"/>
          <p:cNvSpPr txBox="1"/>
          <p:nvPr/>
        </p:nvSpPr>
        <p:spPr>
          <a:xfrm>
            <a:off x="5248656" y="3858768"/>
            <a:ext cx="1783080" cy="1280160"/>
          </a:xfrm>
          <a:prstGeom prst="rect">
            <a:avLst/>
          </a:prstGeom>
          <a:noFill/>
          <a:ln/>
        </p:spPr>
        <p:txBody>
          <a:bodyPr wrap="square" lIns="0" tIns="0" rIns="0" bIns="0" rtlCol="0" anchor="t"/>
          <a:lstStyle/>
          <a:p>
            <a:pPr indent="0" marL="0">
              <a:buNone/>
            </a:pPr>
            <a:r>
              <a:rPr lang="en-US" sz="900" i="1" dirty="0">
                <a:solidFill>
                  <a:srgbClr val="F2EDE4"/>
                </a:solidFill>
                <a:latin typeface="Inter" pitchFamily="34" charset="0"/>
                <a:ea typeface="Inter" pitchFamily="34" charset="-122"/>
                <a:cs typeface="Inter" pitchFamily="34" charset="-120"/>
              </a:rPr>
              <a:t>"Builders ke liye ghadi — founder, architect, surgeon. Cerulean unhe kya bolti hai?"</a:t>
            </a:r>
            <a:endParaRPr lang="en-US" sz="900" dirty="0"/>
          </a:p>
        </p:txBody>
      </p:sp>
      <p:sp>
        <p:nvSpPr>
          <p:cNvPr id="26" name="Text 21"/>
          <p:cNvSpPr txBox="1"/>
          <p:nvPr/>
        </p:nvSpPr>
        <p:spPr>
          <a:xfrm>
            <a:off x="5248656" y="5212080"/>
            <a:ext cx="178308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Built for people laying their own foundations.</a:t>
            </a:r>
            <a:endParaRPr lang="en-US" sz="850" dirty="0"/>
          </a:p>
        </p:txBody>
      </p:sp>
      <p:sp>
        <p:nvSpPr>
          <p:cNvPr id="27" name="Shape 22"/>
          <p:cNvSpPr/>
          <p:nvPr/>
        </p:nvSpPr>
        <p:spPr>
          <a:xfrm>
            <a:off x="7324344" y="1508760"/>
            <a:ext cx="2103120" cy="4343400"/>
          </a:xfrm>
          <a:prstGeom prst="rect">
            <a:avLst/>
          </a:prstGeom>
          <a:solidFill>
            <a:srgbClr val="151513"/>
          </a:solidFill>
          <a:ln w="9525">
            <a:solidFill>
              <a:srgbClr val="2B2A26"/>
            </a:solidFill>
            <a:prstDash val="solid"/>
          </a:ln>
        </p:spPr>
      </p:sp>
      <p:pic>
        <p:nvPicPr>
          <p:cNvPr id="28" name="Image 3" descr="/tmp/claude-0/-home-user-Sage-portfolio/d05fecce-977e-5eab-9cf5-7c09b306c551/scratchpad/wrdeck/img/crop_orange.jpg">    </p:cNvPr>
          <p:cNvPicPr>
            <a:picLocks noChangeAspect="1"/>
          </p:cNvPicPr>
          <p:nvPr/>
        </p:nvPicPr>
        <p:blipFill>
          <a:blip r:embed="rId4"/>
          <a:srcRect l="0" r="0" t="0" b="0"/>
          <a:stretch/>
        </p:blipFill>
        <p:spPr>
          <a:xfrm>
            <a:off x="7461504" y="1645920"/>
            <a:ext cx="1828800" cy="1463040"/>
          </a:xfrm>
          <a:prstGeom prst="rect">
            <a:avLst/>
          </a:prstGeom>
        </p:spPr>
      </p:pic>
      <p:sp>
        <p:nvSpPr>
          <p:cNvPr id="29" name="Shape 23"/>
          <p:cNvSpPr/>
          <p:nvPr/>
        </p:nvSpPr>
        <p:spPr>
          <a:xfrm>
            <a:off x="7324344" y="3182112"/>
            <a:ext cx="2103120" cy="45720"/>
          </a:xfrm>
          <a:prstGeom prst="rect">
            <a:avLst/>
          </a:prstGeom>
          <a:solidFill>
            <a:srgbClr val="F28C28"/>
          </a:solidFill>
          <a:ln w="12700">
            <a:solidFill>
              <a:srgbClr val="F28C28"/>
            </a:solidFill>
            <a:prstDash val="solid"/>
          </a:ln>
        </p:spPr>
      </p:sp>
      <p:sp>
        <p:nvSpPr>
          <p:cNvPr id="30" name="Text 24"/>
          <p:cNvSpPr txBox="1"/>
          <p:nvPr/>
        </p:nvSpPr>
        <p:spPr>
          <a:xfrm>
            <a:off x="7507224" y="3310128"/>
            <a:ext cx="1828800" cy="274320"/>
          </a:xfrm>
          <a:prstGeom prst="rect">
            <a:avLst/>
          </a:prstGeom>
          <a:noFill/>
          <a:ln/>
        </p:spPr>
        <p:txBody>
          <a:bodyPr wrap="square" lIns="0" tIns="0" rIns="0" bIns="0" rtlCol="0" anchor="t"/>
          <a:lstStyle/>
          <a:p>
            <a:pPr indent="0" marL="0">
              <a:buNone/>
            </a:pPr>
            <a:r>
              <a:rPr lang="en-US" sz="1300" b="1" dirty="0">
                <a:solidFill>
                  <a:srgbClr val="F2EDE4"/>
                </a:solidFill>
                <a:latin typeface="Oswald" pitchFamily="34" charset="0"/>
                <a:ea typeface="Oswald" pitchFamily="34" charset="-122"/>
                <a:cs typeface="Oswald" pitchFamily="34" charset="-120"/>
              </a:rPr>
              <a:t>ROYAL TANGERINE</a:t>
            </a:r>
            <a:endParaRPr lang="en-US" sz="1300" dirty="0"/>
          </a:p>
        </p:txBody>
      </p:sp>
      <p:sp>
        <p:nvSpPr>
          <p:cNvPr id="31" name="Text 25"/>
          <p:cNvSpPr txBox="1"/>
          <p:nvPr/>
        </p:nvSpPr>
        <p:spPr>
          <a:xfrm>
            <a:off x="7507224" y="3584448"/>
            <a:ext cx="1828800" cy="228600"/>
          </a:xfrm>
          <a:prstGeom prst="rect">
            <a:avLst/>
          </a:prstGeom>
          <a:noFill/>
          <a:ln/>
        </p:spPr>
        <p:txBody>
          <a:bodyPr wrap="square" lIns="0" tIns="0" rIns="0" bIns="0" rtlCol="0" anchor="t"/>
          <a:lstStyle/>
          <a:p>
            <a:pPr indent="0" marL="0">
              <a:buNone/>
            </a:pPr>
            <a:r>
              <a:rPr lang="en-US" sz="800" b="1" spc="200" kern="0" dirty="0">
                <a:solidFill>
                  <a:srgbClr val="C9A45C"/>
                </a:solidFill>
                <a:latin typeface="Inter" pitchFamily="34" charset="0"/>
                <a:ea typeface="Inter" pitchFamily="34" charset="-122"/>
                <a:cs typeface="Inter" pitchFamily="34" charset="-120"/>
              </a:rPr>
              <a:t>UTSAV</a:t>
            </a:r>
            <a:endParaRPr lang="en-US" sz="800" dirty="0"/>
          </a:p>
        </p:txBody>
      </p:sp>
      <p:sp>
        <p:nvSpPr>
          <p:cNvPr id="32" name="Text 26"/>
          <p:cNvSpPr txBox="1"/>
          <p:nvPr/>
        </p:nvSpPr>
        <p:spPr>
          <a:xfrm>
            <a:off x="7507224" y="3858768"/>
            <a:ext cx="1783080" cy="1280160"/>
          </a:xfrm>
          <a:prstGeom prst="rect">
            <a:avLst/>
          </a:prstGeom>
          <a:noFill/>
          <a:ln/>
        </p:spPr>
        <p:txBody>
          <a:bodyPr wrap="square" lIns="0" tIns="0" rIns="0" bIns="0" rtlCol="0" anchor="t"/>
          <a:lstStyle/>
          <a:p>
            <a:pPr indent="0" marL="0">
              <a:buNone/>
            </a:pPr>
            <a:r>
              <a:rPr lang="en-US" sz="900" i="1" dirty="0">
                <a:solidFill>
                  <a:srgbClr val="F2EDE4"/>
                </a:solidFill>
                <a:latin typeface="Inter" pitchFamily="34" charset="0"/>
                <a:ea typeface="Inter" pitchFamily="34" charset="-122"/>
                <a:cs typeface="Inter" pitchFamily="34" charset="-120"/>
              </a:rPr>
              <a:t>"Jaipur ki royalty, tyohaar, aur 500 Alpha Founder pieces — ye ghadi un sabko kaise jodti hai?"</a:t>
            </a:r>
            <a:endParaRPr lang="en-US" sz="900" dirty="0"/>
          </a:p>
        </p:txBody>
      </p:sp>
      <p:sp>
        <p:nvSpPr>
          <p:cNvPr id="33" name="Text 27"/>
          <p:cNvSpPr txBox="1"/>
          <p:nvPr/>
        </p:nvSpPr>
        <p:spPr>
          <a:xfrm>
            <a:off x="7507224" y="5212080"/>
            <a:ext cx="178308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Born in Jaipur, made for the world.</a:t>
            </a:r>
            <a:endParaRPr lang="en-US" sz="850" dirty="0"/>
          </a:p>
        </p:txBody>
      </p:sp>
      <p:sp>
        <p:nvSpPr>
          <p:cNvPr id="34" name="Shape 28"/>
          <p:cNvSpPr/>
          <p:nvPr/>
        </p:nvSpPr>
        <p:spPr>
          <a:xfrm>
            <a:off x="9582912" y="1508760"/>
            <a:ext cx="2103120" cy="4343400"/>
          </a:xfrm>
          <a:prstGeom prst="rect">
            <a:avLst/>
          </a:prstGeom>
          <a:solidFill>
            <a:srgbClr val="151513"/>
          </a:solidFill>
          <a:ln w="9525">
            <a:solidFill>
              <a:srgbClr val="2B2A26"/>
            </a:solidFill>
            <a:prstDash val="solid"/>
          </a:ln>
        </p:spPr>
      </p:sp>
      <p:pic>
        <p:nvPicPr>
          <p:cNvPr id="35" name="Image 4" descr="/tmp/claude-0/-home-user-Sage-portfolio/d05fecce-977e-5eab-9cf5-7c09b306c551/scratchpad/wrdeck/img/crop_redblue.jpg">    </p:cNvPr>
          <p:cNvPicPr>
            <a:picLocks noChangeAspect="1"/>
          </p:cNvPicPr>
          <p:nvPr/>
        </p:nvPicPr>
        <p:blipFill>
          <a:blip r:embed="rId5"/>
          <a:srcRect l="0" r="0" t="0" b="0"/>
          <a:stretch/>
        </p:blipFill>
        <p:spPr>
          <a:xfrm>
            <a:off x="9720072" y="1645920"/>
            <a:ext cx="1828800" cy="1463040"/>
          </a:xfrm>
          <a:prstGeom prst="rect">
            <a:avLst/>
          </a:prstGeom>
        </p:spPr>
      </p:pic>
      <p:sp>
        <p:nvSpPr>
          <p:cNvPr id="36" name="Shape 29"/>
          <p:cNvSpPr/>
          <p:nvPr/>
        </p:nvSpPr>
        <p:spPr>
          <a:xfrm>
            <a:off x="9582912" y="3182112"/>
            <a:ext cx="2103120" cy="45720"/>
          </a:xfrm>
          <a:prstGeom prst="rect">
            <a:avLst/>
          </a:prstGeom>
          <a:solidFill>
            <a:srgbClr val="D2283A"/>
          </a:solidFill>
          <a:ln w="12700">
            <a:solidFill>
              <a:srgbClr val="D2283A"/>
            </a:solidFill>
            <a:prstDash val="solid"/>
          </a:ln>
        </p:spPr>
      </p:sp>
      <p:sp>
        <p:nvSpPr>
          <p:cNvPr id="37" name="Text 30"/>
          <p:cNvSpPr txBox="1"/>
          <p:nvPr/>
        </p:nvSpPr>
        <p:spPr>
          <a:xfrm>
            <a:off x="9765792" y="3310128"/>
            <a:ext cx="1828800" cy="274320"/>
          </a:xfrm>
          <a:prstGeom prst="rect">
            <a:avLst/>
          </a:prstGeom>
          <a:noFill/>
          <a:ln/>
        </p:spPr>
        <p:txBody>
          <a:bodyPr wrap="square" lIns="0" tIns="0" rIns="0" bIns="0" rtlCol="0" anchor="t"/>
          <a:lstStyle/>
          <a:p>
            <a:pPr indent="0" marL="0">
              <a:buNone/>
            </a:pPr>
            <a:r>
              <a:rPr lang="en-US" sz="1300" b="1" dirty="0">
                <a:solidFill>
                  <a:srgbClr val="F2EDE4"/>
                </a:solidFill>
                <a:latin typeface="Oswald" pitchFamily="34" charset="0"/>
                <a:ea typeface="Oswald" pitchFamily="34" charset="-122"/>
                <a:cs typeface="Oswald" pitchFamily="34" charset="-120"/>
              </a:rPr>
              <a:t>CRIMSON NAVY</a:t>
            </a:r>
            <a:endParaRPr lang="en-US" sz="1300" dirty="0"/>
          </a:p>
        </p:txBody>
      </p:sp>
      <p:sp>
        <p:nvSpPr>
          <p:cNvPr id="38" name="Text 31"/>
          <p:cNvSpPr txBox="1"/>
          <p:nvPr/>
        </p:nvSpPr>
        <p:spPr>
          <a:xfrm>
            <a:off x="9765792" y="3584448"/>
            <a:ext cx="1828800" cy="228600"/>
          </a:xfrm>
          <a:prstGeom prst="rect">
            <a:avLst/>
          </a:prstGeom>
          <a:noFill/>
          <a:ln/>
        </p:spPr>
        <p:txBody>
          <a:bodyPr wrap="square" lIns="0" tIns="0" rIns="0" bIns="0" rtlCol="0" anchor="t"/>
          <a:lstStyle/>
          <a:p>
            <a:pPr indent="0" marL="0">
              <a:buNone/>
            </a:pPr>
            <a:r>
              <a:rPr lang="en-US" sz="800" b="1" spc="200" kern="0" dirty="0">
                <a:solidFill>
                  <a:srgbClr val="C9A45C"/>
                </a:solidFill>
                <a:latin typeface="Inter" pitchFamily="34" charset="0"/>
                <a:ea typeface="Inter" pitchFamily="34" charset="-122"/>
                <a:cs typeface="Inter" pitchFamily="34" charset="-120"/>
              </a:rPr>
              <a:t>AFTER DARK</a:t>
            </a:r>
            <a:endParaRPr lang="en-US" sz="800" dirty="0"/>
          </a:p>
        </p:txBody>
      </p:sp>
      <p:sp>
        <p:nvSpPr>
          <p:cNvPr id="39" name="Text 32"/>
          <p:cNvSpPr txBox="1"/>
          <p:nvPr/>
        </p:nvSpPr>
        <p:spPr>
          <a:xfrm>
            <a:off x="9765792" y="3858768"/>
            <a:ext cx="1783080" cy="1280160"/>
          </a:xfrm>
          <a:prstGeom prst="rect">
            <a:avLst/>
          </a:prstGeom>
          <a:noFill/>
          <a:ln/>
        </p:spPr>
        <p:txBody>
          <a:bodyPr wrap="square" lIns="0" tIns="0" rIns="0" bIns="0" rtlCol="0" anchor="t"/>
          <a:lstStyle/>
          <a:p>
            <a:pPr indent="0" marL="0">
              <a:buNone/>
            </a:pPr>
            <a:r>
              <a:rPr lang="en-US" sz="900" i="1" dirty="0">
                <a:solidFill>
                  <a:srgbClr val="F2EDE4"/>
                </a:solidFill>
                <a:latin typeface="Inter" pitchFamily="34" charset="0"/>
                <a:ea typeface="Inter" pitchFamily="34" charset="-122"/>
                <a:cs typeface="Inter" pitchFamily="34" charset="-120"/>
              </a:rPr>
              <a:t>"Raat ki mehnat jo kisi ko nahi dikhti — aur ye glow. Iska matlab kya hai aapke liye?"</a:t>
            </a:r>
            <a:endParaRPr lang="en-US" sz="900" dirty="0"/>
          </a:p>
        </p:txBody>
      </p:sp>
      <p:sp>
        <p:nvSpPr>
          <p:cNvPr id="40" name="Text 33"/>
          <p:cNvSpPr txBox="1"/>
          <p:nvPr/>
        </p:nvSpPr>
        <p:spPr>
          <a:xfrm>
            <a:off x="9765792" y="5212080"/>
            <a:ext cx="178308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Building is lonely; the watch is the witness.</a:t>
            </a:r>
            <a:endParaRPr lang="en-US" sz="850" dirty="0"/>
          </a:p>
        </p:txBody>
      </p:sp>
      <p:sp>
        <p:nvSpPr>
          <p:cNvPr id="41" name="Text 34"/>
          <p:cNvSpPr txBox="1"/>
          <p:nvPr/>
        </p:nvSpPr>
        <p:spPr>
          <a:xfrm>
            <a:off x="548640" y="5989320"/>
            <a:ext cx="10972800" cy="27432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Format: she holds the watch while she talks; camera C stays on the watch in her hands. One question per watch, 3–4 minutes each, cut to 30–40 s.</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PRODUCTION</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68</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CREW &amp; KIT</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TWO UNITS, ONE DAY.</a:t>
            </a:r>
            <a:endParaRPr lang="en-US" sz="3000" dirty="0"/>
          </a:p>
        </p:txBody>
      </p:sp>
      <p:sp>
        <p:nvSpPr>
          <p:cNvPr id="6" name="Shape 4"/>
          <p:cNvSpPr/>
          <p:nvPr/>
        </p:nvSpPr>
        <p:spPr>
          <a:xfrm>
            <a:off x="548640" y="1508760"/>
            <a:ext cx="3566160" cy="4480560"/>
          </a:xfrm>
          <a:prstGeom prst="rect">
            <a:avLst/>
          </a:prstGeom>
          <a:solidFill>
            <a:srgbClr val="151513"/>
          </a:solidFill>
          <a:ln w="9525">
            <a:solidFill>
              <a:srgbClr val="2B2A26"/>
            </a:solidFill>
            <a:prstDash val="solid"/>
          </a:ln>
        </p:spPr>
      </p:sp>
      <p:sp>
        <p:nvSpPr>
          <p:cNvPr id="7" name="Text 5"/>
          <p:cNvSpPr txBox="1"/>
          <p:nvPr/>
        </p:nvSpPr>
        <p:spPr>
          <a:xfrm>
            <a:off x="777240" y="1691640"/>
            <a:ext cx="310896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MAIN UNIT</a:t>
            </a:r>
            <a:endParaRPr lang="en-US" sz="750" dirty="0"/>
          </a:p>
        </p:txBody>
      </p:sp>
      <p:sp>
        <p:nvSpPr>
          <p:cNvPr id="8" name="Text 6"/>
          <p:cNvSpPr txBox="1"/>
          <p:nvPr/>
        </p:nvSpPr>
        <p:spPr>
          <a:xfrm>
            <a:off x="777240" y="2011680"/>
            <a:ext cx="3154680" cy="3840480"/>
          </a:xfrm>
          <a:prstGeom prst="rect">
            <a:avLst/>
          </a:prstGeom>
          <a:noFill/>
          <a:ln/>
        </p:spPr>
        <p:txBody>
          <a:bodyPr wrap="square" lIns="0" tIns="0" rIns="0" bIns="0" rtlCol="0" anchor="t"/>
          <a:lstStyle/>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DOP + 1st AC (A cam)</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Gaffer + 2 light assistants</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Sound: lav + boom (A3, interviews)</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Stylist (5 looks) + HMU</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Watch handler — gloves, cloths, log sheet</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Director / creative lead (Sage Media)</a:t>
            </a:r>
            <a:endParaRPr lang="en-US" sz="1050" dirty="0"/>
          </a:p>
        </p:txBody>
      </p:sp>
      <p:sp>
        <p:nvSpPr>
          <p:cNvPr id="9" name="Shape 7"/>
          <p:cNvSpPr/>
          <p:nvPr/>
        </p:nvSpPr>
        <p:spPr>
          <a:xfrm>
            <a:off x="4297680" y="1508760"/>
            <a:ext cx="3566160" cy="4480560"/>
          </a:xfrm>
          <a:prstGeom prst="rect">
            <a:avLst/>
          </a:prstGeom>
          <a:solidFill>
            <a:srgbClr val="151513"/>
          </a:solidFill>
          <a:ln w="9525">
            <a:solidFill>
              <a:srgbClr val="2B2A26"/>
            </a:solidFill>
            <a:prstDash val="solid"/>
          </a:ln>
        </p:spPr>
      </p:sp>
      <p:sp>
        <p:nvSpPr>
          <p:cNvPr id="10" name="Text 8"/>
          <p:cNvSpPr txBox="1"/>
          <p:nvPr/>
        </p:nvSpPr>
        <p:spPr>
          <a:xfrm>
            <a:off x="4526280" y="1691640"/>
            <a:ext cx="310896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B-UNIT</a:t>
            </a:r>
            <a:endParaRPr lang="en-US" sz="750" dirty="0"/>
          </a:p>
        </p:txBody>
      </p:sp>
      <p:sp>
        <p:nvSpPr>
          <p:cNvPr id="11" name="Text 9"/>
          <p:cNvSpPr txBox="1"/>
          <p:nvPr/>
        </p:nvSpPr>
        <p:spPr>
          <a:xfrm>
            <a:off x="4526280" y="2011680"/>
            <a:ext cx="3154680" cy="3840480"/>
          </a:xfrm>
          <a:prstGeom prst="rect">
            <a:avLst/>
          </a:prstGeom>
          <a:noFill/>
          <a:ln/>
        </p:spPr>
        <p:txBody>
          <a:bodyPr wrap="square" lIns="0" tIns="0" rIns="0" bIns="0" rtlCol="0" anchor="t"/>
          <a:lstStyle/>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Camera op + assistant</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Free city shots: Hawa Mahal, old-city lanes, bazaar lights, MI Road</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Inserts and cutaways for the main unit</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Art / props: 200 diyas, marigold, thali, blueprint, limes</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Runner + driver</a:t>
            </a:r>
            <a:endParaRPr lang="en-US" sz="1050" dirty="0"/>
          </a:p>
        </p:txBody>
      </p:sp>
      <p:sp>
        <p:nvSpPr>
          <p:cNvPr id="12" name="Shape 10"/>
          <p:cNvSpPr/>
          <p:nvPr/>
        </p:nvSpPr>
        <p:spPr>
          <a:xfrm>
            <a:off x="8046720" y="1508760"/>
            <a:ext cx="3566160" cy="4480560"/>
          </a:xfrm>
          <a:prstGeom prst="rect">
            <a:avLst/>
          </a:prstGeom>
          <a:solidFill>
            <a:srgbClr val="151513"/>
          </a:solidFill>
          <a:ln w="9525">
            <a:solidFill>
              <a:srgbClr val="2B2A26"/>
            </a:solidFill>
            <a:prstDash val="solid"/>
          </a:ln>
        </p:spPr>
      </p:sp>
      <p:sp>
        <p:nvSpPr>
          <p:cNvPr id="13" name="Text 11"/>
          <p:cNvSpPr txBox="1"/>
          <p:nvPr/>
        </p:nvSpPr>
        <p:spPr>
          <a:xfrm>
            <a:off x="8275320" y="1691640"/>
            <a:ext cx="310896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KIT</a:t>
            </a:r>
            <a:endParaRPr lang="en-US" sz="750" dirty="0"/>
          </a:p>
        </p:txBody>
      </p:sp>
      <p:sp>
        <p:nvSpPr>
          <p:cNvPr id="14" name="Text 12"/>
          <p:cNvSpPr txBox="1"/>
          <p:nvPr/>
        </p:nvSpPr>
        <p:spPr>
          <a:xfrm>
            <a:off x="8275320" y="2011680"/>
            <a:ext cx="3154680" cy="3840480"/>
          </a:xfrm>
          <a:prstGeom prst="rect">
            <a:avLst/>
          </a:prstGeom>
          <a:noFill/>
          <a:ln/>
        </p:spPr>
        <p:txBody>
          <a:bodyPr wrap="square" lIns="0" tIns="0" rIns="0" bIns="0" rtlCol="0" anchor="t"/>
          <a:lstStyle/>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Cine camera ×2 (4K 10-bit, 120 fps)</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24 · 35 · 50 · 85 mm + 100 mm macro + probe lens</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Gimbal · slider · lazy susan</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2 × 600 W + RGB tubes (red/blue gels) + hazer</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Blackout cloth · UV torch for the lume</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Watch stands + leather pillow (Day 2) · blower · microfibre</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PRODUCTION</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69</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BEFORE WE LOCK · TO CONFIRM</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EIGHT ANSWERS WE NEED THIS WEEK.</a:t>
            </a:r>
            <a:endParaRPr lang="en-US" sz="30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548640"/>
                <a:gridCol w="4297680"/>
                <a:gridCol w="6217920"/>
              </a:tblGrid>
              <a:tr h="47548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QUESTION</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WHY IT MATTERS</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01</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Water-resistance rating of the watches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Decides whether B1 can keep the face splash — no water near the watch without it.</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02</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Final watch names + which five are launching</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Locks on-screen names, captions and Neetu's five talks.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03</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Samode Haveli recce + fee (backup: Alsisar Haveli)</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Book 05:00–23:30 with diya, flame and hazer permission and one blackout room.</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04</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One elder extra for A3</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Local, 60+; face can stay out of frame.</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05</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Premium car + driver for E3</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Dark interior, Mukesh ji never drives on camera.</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06</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Two pieces of each watch on set</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Backup if one scratches; one stays charged for glows.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07</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Music: original score or licensed library</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The tracks in this deck are mood references — brand accounts can't post them (next slide).</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08</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The 15 storyboard grids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Run the prompt pack; we drop the frames into every reel before the shoot.</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RELEASE</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70</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RELEASE ORDER</a:t>
            </a:r>
            <a:endParaRPr lang="en-US" sz="900" dirty="0"/>
          </a:p>
        </p:txBody>
      </p:sp>
      <p:sp>
        <p:nvSpPr>
          <p:cNvPr id="5" name="Text 3"/>
          <p:cNvSpPr txBox="1"/>
          <p:nvPr/>
        </p:nvSpPr>
        <p:spPr>
          <a:xfrm>
            <a:off x="548640" y="731520"/>
            <a:ext cx="109728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STORY FIRST, DETAIL BETWEEN, FESTIVE ON THE DAY.</a:t>
            </a:r>
            <a:endParaRPr lang="en-US" sz="28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377440"/>
                <a:gridCol w="4846320"/>
                <a:gridCol w="3840480"/>
              </a:tblGrid>
              <a:tr h="457200">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WHEN</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REEL</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WHY HERE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Launch day</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Five Glows (hero film) + A1 Pehli Ghadi</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Signature + origin story together</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+1</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C2 6 Feet. 6 Inches.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Shows the watch at every distance</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+2</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B1 4:59</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Discipline, early in the week</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+3</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A3 Kitne Ki Hai?</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The most shareable line we have</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Fri 6 Nov · Dhanteras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D2 Dhanteras + 500 Alpha Founder push</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The day India buys something precious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Sun 8 Nov · Diwali</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D1 Ek Diya</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Goes live at dusk</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After Diwali</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E1 Unfinished → C1 Neev → founder film</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Back to work, back to building</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Then, every 1–2 days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Details + punches: A2, B2, B3, C3, D3, E2, E3 · Neetu: F1–F4 + five watch talks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Keeps the grid colour-balanced</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MUSIC</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71</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MUSIC · EVERY REEL HAS A REFERENCE TRACK</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REFERENCE TO EDIT TO. LICENSED TO POST.</a:t>
            </a:r>
            <a:endParaRPr lang="en-US" sz="30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640080"/>
                <a:gridCol w="2194560"/>
                <a:gridCol w="4114800"/>
              </a:tblGrid>
              <a:tr h="265176">
                <a:tc>
                  <a:txBody>
                    <a:bodyPr/>
                    <a:lstStyle/>
                    <a:p>
                      <a:pPr indent="0" marL="0">
                        <a:buNone/>
                      </a:pPr>
                      <a:r>
                        <a:rPr lang="en-US" sz="750" b="1" dirty="0">
                          <a:solidFill>
                            <a:srgbClr val="C9A45C"/>
                          </a:solidFill>
                          <a:latin typeface="Inter" pitchFamily="34" charset="0"/>
                          <a:ea typeface="Inter" pitchFamily="34" charset="-122"/>
                          <a:cs typeface="Inter" pitchFamily="34" charset="-120"/>
                        </a:rPr>
                        <a:t>REEL</a:t>
                      </a:r>
                      <a:endParaRPr lang="en-US" sz="75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750" b="1" dirty="0">
                          <a:solidFill>
                            <a:srgbClr val="C9A45C"/>
                          </a:solidFill>
                          <a:latin typeface="Inter" pitchFamily="34" charset="0"/>
                          <a:ea typeface="Inter" pitchFamily="34" charset="-122"/>
                          <a:cs typeface="Inter" pitchFamily="34" charset="-120"/>
                        </a:rPr>
                        <a:t>TITLE</a:t>
                      </a:r>
                      <a:endParaRPr lang="en-US" sz="75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750" b="1" dirty="0">
                          <a:solidFill>
                            <a:srgbClr val="C9A45C"/>
                          </a:solidFill>
                          <a:latin typeface="Inter" pitchFamily="34" charset="0"/>
                          <a:ea typeface="Inter" pitchFamily="34" charset="-122"/>
                          <a:cs typeface="Inter" pitchFamily="34" charset="-120"/>
                        </a:rPr>
                        <a:t>REFERENCE TRACK — TAP TO LISTEN</a:t>
                      </a:r>
                      <a:endParaRPr lang="en-US" sz="75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A1</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Pehli Ghadi</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 invalidUrl="" action="" tgtFrame="" tooltip="" history="1" highlightClick="0" endSnd="0">
                            <a:extLst>
                              <a:ext uri="{A12FA001-AC4F-418D-AE19-62706E023703}">
                                <ahyp:hlinkClr xmlns:ahyp="http://schemas.microsoft.com/office/drawing/2018/hyperlinkcolor" val="tx"/>
                              </a:ext>
                            </a:extLst>
                          </a:hlinkClick>
                        </a:rPr>
                        <a:t>Hans Zimmer — "Time" (Inception)</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A2</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Jaali</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Max Richter — "On the Nature of Daylight"</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A3</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Kitne Ki Hai?</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Nicholas Britell — "Succession (Main Title Theme)"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B1</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4:59</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Hans Zimmer — "Mountains" (Interstellar)</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B2</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Cold. Sharp. On Time.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Kendrick Lamar — "HUMBLE." (instrumental)</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B3</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Jal Mahal, 6:50</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6" invalidUrl="" action="" tgtFrame="" tooltip="" history="1" highlightClick="0" endSnd="0">
                            <a:extLst>
                              <a:ext uri="{A12FA001-AC4F-418D-AE19-62706E023703}">
                                <ahyp:hlinkClr xmlns:ahyp="http://schemas.microsoft.com/office/drawing/2018/hyperlinkcolor" val="tx"/>
                              </a:ext>
                            </a:extLst>
                          </a:hlinkClick>
                        </a:rPr>
                        <a:t>Hans Zimmer — "Dream of Arrakis" (Dune)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C1</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Neev</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7" invalidUrl="" action="" tgtFrame="" tooltip="" history="1" highlightClick="0" endSnd="0">
                            <a:extLst>
                              <a:ext uri="{A12FA001-AC4F-418D-AE19-62706E023703}">
                                <ahyp:hlinkClr xmlns:ahyp="http://schemas.microsoft.com/office/drawing/2018/hyperlinkcolor" val="tx"/>
                              </a:ext>
                            </a:extLst>
                          </a:hlinkClick>
                        </a:rPr>
                        <a:t>Ludovico Einaudi — "Experience"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C2</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6 Feet. 6 Inches.</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8" invalidUrl="" action="" tgtFrame="" tooltip="" history="1" highlightClick="0" endSnd="0">
                            <a:extLst>
                              <a:ext uri="{A12FA001-AC4F-418D-AE19-62706E023703}">
                                <ahyp:hlinkClr xmlns:ahyp="http://schemas.microsoft.com/office/drawing/2018/hyperlinkcolor" val="tx"/>
                              </a:ext>
                            </a:extLst>
                          </a:hlinkClick>
                        </a:rPr>
                        <a:t>Hans Zimmer — "No Time for Caution" (Interstellar)</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C3</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60 Seconds</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9" invalidUrl="" action="" tgtFrame="" tooltip="" history="1" highlightClick="0" endSnd="0">
                            <a:extLst>
                              <a:ext uri="{A12FA001-AC4F-418D-AE19-62706E023703}">
                                <ahyp:hlinkClr xmlns:ahyp="http://schemas.microsoft.com/office/drawing/2018/hyperlinkcolor" val="tx"/>
                              </a:ext>
                            </a:extLst>
                          </a:hlinkClick>
                        </a:rPr>
                        <a:t>Ludwig Göransson — "Can You Hear the Music" (Oppenheimer)</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D1</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Ek Diya</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0" invalidUrl="" action="" tgtFrame="" tooltip="" history="1" highlightClick="0" endSnd="0">
                            <a:extLst>
                              <a:ext uri="{A12FA001-AC4F-418D-AE19-62706E023703}">
                                <ahyp:hlinkClr xmlns:ahyp="http://schemas.microsoft.com/office/drawing/2018/hyperlinkcolor" val="tx"/>
                              </a:ext>
                            </a:extLst>
                          </a:hlinkClick>
                        </a:rPr>
                        <a:t>A. R. Rahman — "Yeh Jo Desh Hai Tera" (Swades)</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D2</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Dhanteras</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1" invalidUrl="" action="" tgtFrame="" tooltip="" history="1" highlightClick="0" endSnd="0">
                            <a:extLst>
                              <a:ext uri="{A12FA001-AC4F-418D-AE19-62706E023703}">
                                <ahyp:hlinkClr xmlns:ahyp="http://schemas.microsoft.com/office/drawing/2018/hyperlinkcolor" val="tx"/>
                              </a:ext>
                            </a:extLst>
                          </a:hlinkClick>
                        </a:rPr>
                        <a:t>Ustad Bismillah Khan — shehnai (any morning raga)</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D3</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Jaipur Se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2" invalidUrl="" action="" tgtFrame="" tooltip="" history="1" highlightClick="0" endSnd="0">
                            <a:extLst>
                              <a:ext uri="{A12FA001-AC4F-418D-AE19-62706E023703}">
                                <ahyp:hlinkClr xmlns:ahyp="http://schemas.microsoft.com/office/drawing/2018/hyperlinkcolor" val="tx"/>
                              </a:ext>
                            </a:extLst>
                          </a:hlinkClick>
                        </a:rPr>
                        <a:t>A. R. Rahman — "Azeem-O-Shaan Shahenshah" (Jodhaa Akbar)</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E1</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Unfinished</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3" invalidUrl="" action="" tgtFrame="" tooltip="" history="1" highlightClick="0" endSnd="0">
                            <a:extLst>
                              <a:ext uri="{A12FA001-AC4F-418D-AE19-62706E023703}">
                                <ahyp:hlinkClr xmlns:ahyp="http://schemas.microsoft.com/office/drawing/2018/hyperlinkcolor" val="tx"/>
                              </a:ext>
                            </a:extLst>
                          </a:hlinkClick>
                        </a:rPr>
                        <a:t>Trent Reznor &amp; Atticus Ross — "Hand Covers Bruise" (The Social Network)</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E2</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Red / Blue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4" invalidUrl="" action="" tgtFrame="" tooltip="" history="1" highlightClick="0" endSnd="0">
                            <a:extLst>
                              <a:ext uri="{A12FA001-AC4F-418D-AE19-62706E023703}">
                                <ahyp:hlinkClr xmlns:ahyp="http://schemas.microsoft.com/office/drawing/2018/hyperlinkcolor" val="tx"/>
                              </a:ext>
                            </a:extLst>
                          </a:hlinkClick>
                        </a:rPr>
                        <a:t>Kavinsky — "Nightcall"</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E3</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Shor Nahi. Signal.</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5" invalidUrl="" action="" tgtFrame="" tooltip="" history="1" highlightClick="0" endSnd="0">
                            <a:extLst>
                              <a:ext uri="{A12FA001-AC4F-418D-AE19-62706E023703}">
                                <ahyp:hlinkClr xmlns:ahyp="http://schemas.microsoft.com/office/drawing/2018/hyperlinkcolor" val="tx"/>
                              </a:ext>
                            </a:extLst>
                          </a:hlinkClick>
                        </a:rPr>
                        <a:t>Gesaffelstein — "Pursuit"</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bl>
          </a:graphicData>
        </a:graphic>
      </p:graphicFrame>
      <p:sp>
        <p:nvSpPr>
          <p:cNvPr id="7" name="Shape 4"/>
          <p:cNvSpPr/>
          <p:nvPr/>
        </p:nvSpPr>
        <p:spPr>
          <a:xfrm>
            <a:off x="7863840" y="1417320"/>
            <a:ext cx="3776472" cy="4343400"/>
          </a:xfrm>
          <a:prstGeom prst="rect">
            <a:avLst/>
          </a:prstGeom>
          <a:solidFill>
            <a:srgbClr val="151513"/>
          </a:solidFill>
          <a:ln w="9525">
            <a:solidFill>
              <a:srgbClr val="2B2A26"/>
            </a:solidFill>
            <a:prstDash val="solid"/>
          </a:ln>
        </p:spPr>
      </p:sp>
      <p:sp>
        <p:nvSpPr>
          <p:cNvPr id="8" name="Text 5"/>
          <p:cNvSpPr txBox="1"/>
          <p:nvPr/>
        </p:nvSpPr>
        <p:spPr>
          <a:xfrm>
            <a:off x="8092440" y="1600200"/>
            <a:ext cx="329184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BEFORE ANYTHING GOES LIVE</a:t>
            </a:r>
            <a:endParaRPr lang="en-US" sz="750" dirty="0"/>
          </a:p>
        </p:txBody>
      </p:sp>
      <p:sp>
        <p:nvSpPr>
          <p:cNvPr id="9" name="Text 6"/>
          <p:cNvSpPr txBox="1"/>
          <p:nvPr/>
        </p:nvSpPr>
        <p:spPr>
          <a:xfrm>
            <a:off x="8092440" y="1920240"/>
            <a:ext cx="3383280" cy="3749040"/>
          </a:xfrm>
          <a:prstGeom prst="rect">
            <a:avLst/>
          </a:prstGeom>
          <a:noFill/>
          <a:ln/>
        </p:spPr>
        <p:txBody>
          <a:bodyPr wrap="square" lIns="0" tIns="0" rIns="0" bIns="0" rtlCol="0" anchor="t"/>
          <a:lstStyle/>
          <a:p>
            <a:pPr marL="152400" indent="-152400">
              <a:spcAft>
                <a:spcPts val="800"/>
              </a:spcAft>
              <a:buSzPct val="100000"/>
              <a:buChar char="•"/>
            </a:pPr>
            <a:r>
              <a:rPr lang="en-US" sz="1000" dirty="0">
                <a:solidFill>
                  <a:srgbClr val="F2EDE4"/>
                </a:solidFill>
                <a:latin typeface="Inter" pitchFamily="34" charset="0"/>
                <a:ea typeface="Inter" pitchFamily="34" charset="-122"/>
                <a:cs typeface="Inter" pitchFamily="34" charset="-120"/>
              </a:rPr>
              <a:t>These tracks are for the editor — they set the mood, pace and cut points.</a:t>
            </a:r>
            <a:endParaRPr lang="en-US" sz="1000" dirty="0"/>
          </a:p>
          <a:p>
            <a:pPr marL="152400" indent="-152400">
              <a:spcAft>
                <a:spcPts val="800"/>
              </a:spcAft>
              <a:buSzPct val="100000"/>
              <a:buChar char="•"/>
            </a:pPr>
            <a:r>
              <a:rPr lang="en-US" sz="1000" dirty="0">
                <a:solidFill>
                  <a:srgbClr val="F2EDE4"/>
                </a:solidFill>
                <a:latin typeface="Inter" pitchFamily="34" charset="0"/>
                <a:ea typeface="Inter" pitchFamily="34" charset="-122"/>
                <a:cs typeface="Inter" pitchFamily="34" charset="-120"/>
              </a:rPr>
              <a:t>Wealth Roots posts from a business account: Instagram only allows its own licensed library there, and copyrighted film scores get muted or blocked.</a:t>
            </a:r>
            <a:endParaRPr lang="en-US" sz="1000" dirty="0"/>
          </a:p>
          <a:p>
            <a:pPr marL="152400" indent="-152400">
              <a:spcAft>
                <a:spcPts val="800"/>
              </a:spcAft>
              <a:buSzPct val="100000"/>
              <a:buChar char="•"/>
            </a:pPr>
            <a:r>
              <a:rPr lang="en-US" sz="1000" dirty="0">
                <a:solidFill>
                  <a:srgbClr val="F2EDE4"/>
                </a:solidFill>
                <a:latin typeface="Inter" pitchFamily="34" charset="0"/>
                <a:ea typeface="Inter" pitchFamily="34" charset="-122"/>
                <a:cs typeface="Inter" pitchFamily="34" charset="-120"/>
              </a:rPr>
              <a:t>So each final reel uses a licensed sound-alike (Artlist / Epidemic / Meta Sound Collection) or a short original score.</a:t>
            </a:r>
            <a:endParaRPr lang="en-US" sz="1000" dirty="0"/>
          </a:p>
          <a:p>
            <a:pPr marL="152400" indent="-152400">
              <a:spcAft>
                <a:spcPts val="800"/>
              </a:spcAft>
              <a:buSzPct val="100000"/>
              <a:buChar char="•"/>
            </a:pPr>
            <a:r>
              <a:rPr lang="en-US" sz="1000" dirty="0">
                <a:solidFill>
                  <a:srgbClr val="F2EDE4"/>
                </a:solidFill>
                <a:latin typeface="Inter" pitchFamily="34" charset="0"/>
                <a:ea typeface="Inter" pitchFamily="34" charset="-122"/>
                <a:cs typeface="Inter" pitchFamily="34" charset="-120"/>
              </a:rPr>
              <a:t>For the Diwali and Dhanteras drops, lock the licensed track before the edit — those dates can't slip.</a:t>
            </a:r>
            <a:endParaRPr lang="en-US" sz="10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APPENDIX</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72</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APPENDIX · THE STORYBOARD FRAMES</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135 FRAMES, 15 PROMPTS.</a:t>
            </a:r>
            <a:endParaRPr lang="en-US" sz="3000" dirty="0"/>
          </a:p>
        </p:txBody>
      </p:sp>
      <p:sp>
        <p:nvSpPr>
          <p:cNvPr id="6" name="Text 4"/>
          <p:cNvSpPr txBox="1"/>
          <p:nvPr/>
        </p:nvSpPr>
        <p:spPr>
          <a:xfrm>
            <a:off x="548640" y="1463040"/>
            <a:ext cx="10972800" cy="640080"/>
          </a:xfrm>
          <a:prstGeom prst="rect">
            <a:avLst/>
          </a:prstGeom>
          <a:noFill/>
          <a:ln/>
        </p:spPr>
        <p:txBody>
          <a:bodyPr wrap="square" lIns="0" tIns="0" rIns="0" bIns="0" rtlCol="0" anchor="t"/>
          <a:lstStyle/>
          <a:p>
            <a:pPr indent="0" marL="0">
              <a:buNone/>
            </a:pPr>
            <a:r>
              <a:rPr lang="en-US" sz="1150" dirty="0">
                <a:solidFill>
                  <a:srgbClr val="9C978E"/>
                </a:solidFill>
                <a:latin typeface="Inter" pitchFamily="34" charset="0"/>
                <a:ea typeface="Inter" pitchFamily="34" charset="-122"/>
                <a:cs typeface="Inter" pitchFamily="34" charset="-120"/>
              </a:rPr>
              <a:t>Every reel has a 9-frame storyboard. The frames come from one image prompt per reel that returns a 3×3 grid — the same way the mood frames in this deck were made, so the watch stays exact.</a:t>
            </a:r>
            <a:endParaRPr lang="en-US" sz="1150" dirty="0"/>
          </a:p>
        </p:txBody>
      </p:sp>
      <p:sp>
        <p:nvSpPr>
          <p:cNvPr id="7" name="Shape 5"/>
          <p:cNvSpPr/>
          <p:nvPr/>
        </p:nvSpPr>
        <p:spPr>
          <a:xfrm>
            <a:off x="548640" y="2331720"/>
            <a:ext cx="2651760" cy="2377440"/>
          </a:xfrm>
          <a:prstGeom prst="rect">
            <a:avLst/>
          </a:prstGeom>
          <a:solidFill>
            <a:srgbClr val="151513"/>
          </a:solidFill>
          <a:ln w="9525">
            <a:solidFill>
              <a:srgbClr val="2B2A26"/>
            </a:solidFill>
            <a:prstDash val="solid"/>
          </a:ln>
        </p:spPr>
      </p:sp>
      <p:sp>
        <p:nvSpPr>
          <p:cNvPr id="8" name="Text 6"/>
          <p:cNvSpPr txBox="1"/>
          <p:nvPr/>
        </p:nvSpPr>
        <p:spPr>
          <a:xfrm>
            <a:off x="777240" y="2514600"/>
            <a:ext cx="914400" cy="457200"/>
          </a:xfrm>
          <a:prstGeom prst="rect">
            <a:avLst/>
          </a:prstGeom>
          <a:noFill/>
          <a:ln/>
        </p:spPr>
        <p:txBody>
          <a:bodyPr wrap="square" lIns="0" tIns="0" rIns="0" bIns="0" rtlCol="0" anchor="t"/>
          <a:lstStyle/>
          <a:p>
            <a:pPr indent="0" marL="0">
              <a:buNone/>
            </a:pPr>
            <a:r>
              <a:rPr lang="en-US" sz="2400" b="1" dirty="0">
                <a:solidFill>
                  <a:srgbClr val="C9A45C"/>
                </a:solidFill>
                <a:latin typeface="Oswald" pitchFamily="34" charset="0"/>
                <a:ea typeface="Oswald" pitchFamily="34" charset="-122"/>
                <a:cs typeface="Oswald" pitchFamily="34" charset="-120"/>
              </a:rPr>
              <a:t>01</a:t>
            </a:r>
            <a:endParaRPr lang="en-US" sz="2400" dirty="0"/>
          </a:p>
        </p:txBody>
      </p:sp>
      <p:sp>
        <p:nvSpPr>
          <p:cNvPr id="9" name="Text 7"/>
          <p:cNvSpPr txBox="1"/>
          <p:nvPr/>
        </p:nvSpPr>
        <p:spPr>
          <a:xfrm>
            <a:off x="777240" y="3063240"/>
            <a:ext cx="2286000" cy="457200"/>
          </a:xfrm>
          <a:prstGeom prst="rect">
            <a:avLst/>
          </a:prstGeom>
          <a:noFill/>
          <a:ln/>
        </p:spPr>
        <p:txBody>
          <a:bodyPr wrap="square" lIns="0" tIns="0" rIns="0" bIns="0" rtlCol="0" anchor="t"/>
          <a:lstStyle/>
          <a:p>
            <a:pPr indent="0" marL="0">
              <a:buNone/>
            </a:pPr>
            <a:r>
              <a:rPr lang="en-US" sz="1050" b="1" dirty="0">
                <a:solidFill>
                  <a:srgbClr val="F2EDE4"/>
                </a:solidFill>
                <a:latin typeface="Inter" pitchFamily="34" charset="0"/>
                <a:ea typeface="Inter" pitchFamily="34" charset="-122"/>
                <a:cs typeface="Inter" pitchFamily="34" charset="-120"/>
              </a:rPr>
              <a:t>OPEN THE PROMPT PACK</a:t>
            </a:r>
            <a:endParaRPr lang="en-US" sz="1050" dirty="0"/>
          </a:p>
        </p:txBody>
      </p:sp>
      <p:sp>
        <p:nvSpPr>
          <p:cNvPr id="10" name="Text 8"/>
          <p:cNvSpPr txBox="1"/>
          <p:nvPr/>
        </p:nvSpPr>
        <p:spPr>
          <a:xfrm>
            <a:off x="777240" y="3566160"/>
            <a:ext cx="2240280" cy="109728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Wealth-Roots-Storyboard-Prompts.md — one prompt per reel, A1 to E3.</a:t>
            </a:r>
            <a:endParaRPr lang="en-US" sz="950" dirty="0"/>
          </a:p>
        </p:txBody>
      </p:sp>
      <p:sp>
        <p:nvSpPr>
          <p:cNvPr id="11" name="Shape 9"/>
          <p:cNvSpPr/>
          <p:nvPr/>
        </p:nvSpPr>
        <p:spPr>
          <a:xfrm>
            <a:off x="3355848" y="2331720"/>
            <a:ext cx="2651760" cy="2377440"/>
          </a:xfrm>
          <a:prstGeom prst="rect">
            <a:avLst/>
          </a:prstGeom>
          <a:solidFill>
            <a:srgbClr val="151513"/>
          </a:solidFill>
          <a:ln w="9525">
            <a:solidFill>
              <a:srgbClr val="2B2A26"/>
            </a:solidFill>
            <a:prstDash val="solid"/>
          </a:ln>
        </p:spPr>
      </p:sp>
      <p:sp>
        <p:nvSpPr>
          <p:cNvPr id="12" name="Text 10"/>
          <p:cNvSpPr txBox="1"/>
          <p:nvPr/>
        </p:nvSpPr>
        <p:spPr>
          <a:xfrm>
            <a:off x="3584448" y="2514600"/>
            <a:ext cx="914400" cy="457200"/>
          </a:xfrm>
          <a:prstGeom prst="rect">
            <a:avLst/>
          </a:prstGeom>
          <a:noFill/>
          <a:ln/>
        </p:spPr>
        <p:txBody>
          <a:bodyPr wrap="square" lIns="0" tIns="0" rIns="0" bIns="0" rtlCol="0" anchor="t"/>
          <a:lstStyle/>
          <a:p>
            <a:pPr indent="0" marL="0">
              <a:buNone/>
            </a:pPr>
            <a:r>
              <a:rPr lang="en-US" sz="2400" b="1" dirty="0">
                <a:solidFill>
                  <a:srgbClr val="C9A45C"/>
                </a:solidFill>
                <a:latin typeface="Oswald" pitchFamily="34" charset="0"/>
                <a:ea typeface="Oswald" pitchFamily="34" charset="-122"/>
                <a:cs typeface="Oswald" pitchFamily="34" charset="-120"/>
              </a:rPr>
              <a:t>02</a:t>
            </a:r>
            <a:endParaRPr lang="en-US" sz="2400" dirty="0"/>
          </a:p>
        </p:txBody>
      </p:sp>
      <p:sp>
        <p:nvSpPr>
          <p:cNvPr id="13" name="Text 11"/>
          <p:cNvSpPr txBox="1"/>
          <p:nvPr/>
        </p:nvSpPr>
        <p:spPr>
          <a:xfrm>
            <a:off x="3584448" y="3063240"/>
            <a:ext cx="2286000" cy="457200"/>
          </a:xfrm>
          <a:prstGeom prst="rect">
            <a:avLst/>
          </a:prstGeom>
          <a:noFill/>
          <a:ln/>
        </p:spPr>
        <p:txBody>
          <a:bodyPr wrap="square" lIns="0" tIns="0" rIns="0" bIns="0" rtlCol="0" anchor="t"/>
          <a:lstStyle/>
          <a:p>
            <a:pPr indent="0" marL="0">
              <a:buNone/>
            </a:pPr>
            <a:r>
              <a:rPr lang="en-US" sz="1050" b="1" dirty="0">
                <a:solidFill>
                  <a:srgbClr val="F2EDE4"/>
                </a:solidFill>
                <a:latin typeface="Inter" pitchFamily="34" charset="0"/>
                <a:ea typeface="Inter" pitchFamily="34" charset="-122"/>
                <a:cs typeface="Inter" pitchFamily="34" charset="-120"/>
              </a:rPr>
              <a:t>ATTACH THE WATCH PHOTO</a:t>
            </a:r>
            <a:endParaRPr lang="en-US" sz="1050" dirty="0"/>
          </a:p>
        </p:txBody>
      </p:sp>
      <p:sp>
        <p:nvSpPr>
          <p:cNvPr id="14" name="Text 12"/>
          <p:cNvSpPr txBox="1"/>
          <p:nvPr/>
        </p:nvSpPr>
        <p:spPr>
          <a:xfrm>
            <a:off x="3584448" y="3566160"/>
            <a:ext cx="2240280" cy="109728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The crop_*.jpg still named in each prompt, so the case, screws and colours are copied, not invented.</a:t>
            </a:r>
            <a:endParaRPr lang="en-US" sz="950" dirty="0"/>
          </a:p>
        </p:txBody>
      </p:sp>
      <p:sp>
        <p:nvSpPr>
          <p:cNvPr id="15" name="Shape 13"/>
          <p:cNvSpPr/>
          <p:nvPr/>
        </p:nvSpPr>
        <p:spPr>
          <a:xfrm>
            <a:off x="6163056" y="2331720"/>
            <a:ext cx="2651760" cy="2377440"/>
          </a:xfrm>
          <a:prstGeom prst="rect">
            <a:avLst/>
          </a:prstGeom>
          <a:solidFill>
            <a:srgbClr val="151513"/>
          </a:solidFill>
          <a:ln w="9525">
            <a:solidFill>
              <a:srgbClr val="2B2A26"/>
            </a:solidFill>
            <a:prstDash val="solid"/>
          </a:ln>
        </p:spPr>
      </p:sp>
      <p:sp>
        <p:nvSpPr>
          <p:cNvPr id="16" name="Text 14"/>
          <p:cNvSpPr txBox="1"/>
          <p:nvPr/>
        </p:nvSpPr>
        <p:spPr>
          <a:xfrm>
            <a:off x="6391656" y="2514600"/>
            <a:ext cx="914400" cy="457200"/>
          </a:xfrm>
          <a:prstGeom prst="rect">
            <a:avLst/>
          </a:prstGeom>
          <a:noFill/>
          <a:ln/>
        </p:spPr>
        <p:txBody>
          <a:bodyPr wrap="square" lIns="0" tIns="0" rIns="0" bIns="0" rtlCol="0" anchor="t"/>
          <a:lstStyle/>
          <a:p>
            <a:pPr indent="0" marL="0">
              <a:buNone/>
            </a:pPr>
            <a:r>
              <a:rPr lang="en-US" sz="2400" b="1" dirty="0">
                <a:solidFill>
                  <a:srgbClr val="C9A45C"/>
                </a:solidFill>
                <a:latin typeface="Oswald" pitchFamily="34" charset="0"/>
                <a:ea typeface="Oswald" pitchFamily="34" charset="-122"/>
                <a:cs typeface="Oswald" pitchFamily="34" charset="-120"/>
              </a:rPr>
              <a:t>03</a:t>
            </a:r>
            <a:endParaRPr lang="en-US" sz="2400" dirty="0"/>
          </a:p>
        </p:txBody>
      </p:sp>
      <p:sp>
        <p:nvSpPr>
          <p:cNvPr id="17" name="Text 15"/>
          <p:cNvSpPr txBox="1"/>
          <p:nvPr/>
        </p:nvSpPr>
        <p:spPr>
          <a:xfrm>
            <a:off x="6391656" y="3063240"/>
            <a:ext cx="2286000" cy="457200"/>
          </a:xfrm>
          <a:prstGeom prst="rect">
            <a:avLst/>
          </a:prstGeom>
          <a:noFill/>
          <a:ln/>
        </p:spPr>
        <p:txBody>
          <a:bodyPr wrap="square" lIns="0" tIns="0" rIns="0" bIns="0" rtlCol="0" anchor="t"/>
          <a:lstStyle/>
          <a:p>
            <a:pPr indent="0" marL="0">
              <a:buNone/>
            </a:pPr>
            <a:r>
              <a:rPr lang="en-US" sz="1050" b="1" dirty="0">
                <a:solidFill>
                  <a:srgbClr val="F2EDE4"/>
                </a:solidFill>
                <a:latin typeface="Inter" pitchFamily="34" charset="0"/>
                <a:ea typeface="Inter" pitchFamily="34" charset="-122"/>
                <a:cs typeface="Inter" pitchFamily="34" charset="-120"/>
              </a:rPr>
              <a:t>GENERATE ONE 3×3 GRID PER REEL</a:t>
            </a:r>
            <a:endParaRPr lang="en-US" sz="1050" dirty="0"/>
          </a:p>
        </p:txBody>
      </p:sp>
      <p:sp>
        <p:nvSpPr>
          <p:cNvPr id="18" name="Text 16"/>
          <p:cNvSpPr txBox="1"/>
          <p:nvPr/>
        </p:nvSpPr>
        <p:spPr>
          <a:xfrm>
            <a:off x="6391656" y="3566160"/>
            <a:ext cx="2240280" cy="109728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Portrait frames, numbered 1–9 in reading order. Regenerate any frame that changes the watch.</a:t>
            </a:r>
            <a:endParaRPr lang="en-US" sz="950" dirty="0"/>
          </a:p>
        </p:txBody>
      </p:sp>
      <p:sp>
        <p:nvSpPr>
          <p:cNvPr id="19" name="Shape 17"/>
          <p:cNvSpPr/>
          <p:nvPr/>
        </p:nvSpPr>
        <p:spPr>
          <a:xfrm>
            <a:off x="8970264" y="2331720"/>
            <a:ext cx="2651760" cy="2377440"/>
          </a:xfrm>
          <a:prstGeom prst="rect">
            <a:avLst/>
          </a:prstGeom>
          <a:solidFill>
            <a:srgbClr val="151513"/>
          </a:solidFill>
          <a:ln w="9525">
            <a:solidFill>
              <a:srgbClr val="2B2A26"/>
            </a:solidFill>
            <a:prstDash val="solid"/>
          </a:ln>
        </p:spPr>
      </p:sp>
      <p:sp>
        <p:nvSpPr>
          <p:cNvPr id="20" name="Text 18"/>
          <p:cNvSpPr txBox="1"/>
          <p:nvPr/>
        </p:nvSpPr>
        <p:spPr>
          <a:xfrm>
            <a:off x="9198864" y="2514600"/>
            <a:ext cx="914400" cy="457200"/>
          </a:xfrm>
          <a:prstGeom prst="rect">
            <a:avLst/>
          </a:prstGeom>
          <a:noFill/>
          <a:ln/>
        </p:spPr>
        <p:txBody>
          <a:bodyPr wrap="square" lIns="0" tIns="0" rIns="0" bIns="0" rtlCol="0" anchor="t"/>
          <a:lstStyle/>
          <a:p>
            <a:pPr indent="0" marL="0">
              <a:buNone/>
            </a:pPr>
            <a:r>
              <a:rPr lang="en-US" sz="2400" b="1" dirty="0">
                <a:solidFill>
                  <a:srgbClr val="C9A45C"/>
                </a:solidFill>
                <a:latin typeface="Oswald" pitchFamily="34" charset="0"/>
                <a:ea typeface="Oswald" pitchFamily="34" charset="-122"/>
                <a:cs typeface="Oswald" pitchFamily="34" charset="-120"/>
              </a:rPr>
              <a:t>04</a:t>
            </a:r>
            <a:endParaRPr lang="en-US" sz="2400" dirty="0"/>
          </a:p>
        </p:txBody>
      </p:sp>
      <p:sp>
        <p:nvSpPr>
          <p:cNvPr id="21" name="Text 19"/>
          <p:cNvSpPr txBox="1"/>
          <p:nvPr/>
        </p:nvSpPr>
        <p:spPr>
          <a:xfrm>
            <a:off x="9198864" y="3063240"/>
            <a:ext cx="2286000" cy="457200"/>
          </a:xfrm>
          <a:prstGeom prst="rect">
            <a:avLst/>
          </a:prstGeom>
          <a:noFill/>
          <a:ln/>
        </p:spPr>
        <p:txBody>
          <a:bodyPr wrap="square" lIns="0" tIns="0" rIns="0" bIns="0" rtlCol="0" anchor="t"/>
          <a:lstStyle/>
          <a:p>
            <a:pPr indent="0" marL="0">
              <a:buNone/>
            </a:pPr>
            <a:r>
              <a:rPr lang="en-US" sz="1050" b="1" dirty="0">
                <a:solidFill>
                  <a:srgbClr val="F2EDE4"/>
                </a:solidFill>
                <a:latin typeface="Inter" pitchFamily="34" charset="0"/>
                <a:ea typeface="Inter" pitchFamily="34" charset="-122"/>
                <a:cs typeface="Inter" pitchFamily="34" charset="-120"/>
              </a:rPr>
              <a:t>SEND US THE 15 GRIDS</a:t>
            </a:r>
            <a:endParaRPr lang="en-US" sz="1050" dirty="0"/>
          </a:p>
        </p:txBody>
      </p:sp>
      <p:sp>
        <p:nvSpPr>
          <p:cNvPr id="22" name="Text 20"/>
          <p:cNvSpPr txBox="1"/>
          <p:nvPr/>
        </p:nvSpPr>
        <p:spPr>
          <a:xfrm>
            <a:off x="9198864" y="3566160"/>
            <a:ext cx="2240280" cy="109728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We split them and they drop into the nine slots on each storyboard slide.</a:t>
            </a:r>
            <a:endParaRPr lang="en-US" sz="950" dirty="0"/>
          </a:p>
        </p:txBody>
      </p:sp>
      <p:sp>
        <p:nvSpPr>
          <p:cNvPr id="23" name="Text 21"/>
          <p:cNvSpPr txBox="1"/>
          <p:nvPr/>
        </p:nvSpPr>
        <p:spPr>
          <a:xfrm>
            <a:off x="548640" y="4983480"/>
            <a:ext cx="10972800" cy="731520"/>
          </a:xfrm>
          <a:prstGeom prst="rect">
            <a:avLst/>
          </a:prstGeom>
          <a:noFill/>
          <a:ln/>
        </p:spPr>
        <p:txBody>
          <a:bodyPr wrap="square" lIns="0" tIns="0" rIns="0" bIns="0" rtlCol="0" anchor="t"/>
          <a:lstStyle/>
          <a:p>
            <a:pPr indent="0" marL="0">
              <a:buNone/>
            </a:pPr>
            <a:r>
              <a:rPr lang="en-US" sz="1000" dirty="0">
                <a:solidFill>
                  <a:srgbClr val="C9A45C"/>
                </a:solidFill>
                <a:latin typeface="Inter" pitchFamily="34" charset="0"/>
                <a:ea typeface="Inter" pitchFamily="34" charset="-122"/>
                <a:cs typeface="Inter" pitchFamily="34" charset="-120"/>
              </a:rPr>
              <a:t>Rules baked into every prompt: the watch is always on the wrist (never lying on a surface) · Indian man, mid-30s, athletic, short beard — a stand-in for Mukesh ji · Jaipur haveli and free public locations only · photoreal, cinematic, no text in the frames.</a:t>
            </a:r>
            <a:endParaRPr lang="en-US" sz="1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73</a:t>
            </a:r>
            <a:endParaRPr lang="en-US" sz="750" dirty="0"/>
          </a:p>
        </p:txBody>
      </p:sp>
      <p:pic>
        <p:nvPicPr>
          <p:cNvPr id="4" name="Image 0" descr="/tmp/claude-0/-home-user-Sage-portfolio/d05fecce-977e-5eab-9cf5-7c09b306c551/scratchpad/wrdeck/img/crop_glow.jpg">    </p:cNvPr>
          <p:cNvPicPr>
            <a:picLocks noChangeAspect="1"/>
          </p:cNvPicPr>
          <p:nvPr/>
        </p:nvPicPr>
        <p:blipFill>
          <a:blip r:embed="rId1"/>
          <a:srcRect l="0" r="0" t="0" b="0"/>
          <a:stretch/>
        </p:blipFill>
        <p:spPr>
          <a:xfrm>
            <a:off x="7589520" y="0"/>
            <a:ext cx="4599432" cy="6858000"/>
          </a:xfrm>
          <a:prstGeom prst="rect">
            <a:avLst/>
          </a:prstGeom>
        </p:spPr>
      </p:pic>
      <p:sp>
        <p:nvSpPr>
          <p:cNvPr id="5" name="Text 2"/>
          <p:cNvSpPr txBox="1"/>
          <p:nvPr/>
        </p:nvSpPr>
        <p:spPr>
          <a:xfrm>
            <a:off x="548640" y="128016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WEALTH ROOTS</a:t>
            </a:r>
            <a:endParaRPr lang="en-US" sz="900" dirty="0"/>
          </a:p>
        </p:txBody>
      </p:sp>
      <p:sp>
        <p:nvSpPr>
          <p:cNvPr id="6" name="Text 3"/>
          <p:cNvSpPr txBox="1"/>
          <p:nvPr/>
        </p:nvSpPr>
        <p:spPr>
          <a:xfrm>
            <a:off x="548640" y="1645920"/>
            <a:ext cx="6858000" cy="2926080"/>
          </a:xfrm>
          <a:prstGeom prst="rect">
            <a:avLst/>
          </a:prstGeom>
          <a:noFill/>
          <a:ln/>
        </p:spPr>
        <p:txBody>
          <a:bodyPr wrap="square" lIns="0" tIns="0" rIns="0" bIns="0" rtlCol="0" anchor="t"/>
          <a:lstStyle/>
          <a:p>
            <a:pPr indent="0" marL="0">
              <a:lnSpc>
                <a:spcPct val="100000"/>
              </a:lnSpc>
              <a:buNone/>
            </a:pPr>
            <a:r>
              <a:rPr lang="en-US" sz="4000" b="1" dirty="0">
                <a:solidFill>
                  <a:srgbClr val="F2EDE4"/>
                </a:solidFill>
                <a:latin typeface="Oswald" pitchFamily="34" charset="0"/>
                <a:ea typeface="Oswald" pitchFamily="34" charset="-122"/>
                <a:cs typeface="Oswald" pitchFamily="34" charset="-120"/>
              </a:rPr>
              <a:t>WEAR YOUR TIME.</a:t>
            </a:r>
            <a:endParaRPr lang="en-US" sz="4000" dirty="0"/>
          </a:p>
          <a:p>
            <a:pPr indent="0" marL="0">
              <a:lnSpc>
                <a:spcPct val="100000"/>
              </a:lnSpc>
              <a:buNone/>
            </a:pPr>
            <a:r>
              <a:rPr lang="en-US" sz="4000" b="1" dirty="0">
                <a:solidFill>
                  <a:srgbClr val="F2EDE4"/>
                </a:solidFill>
                <a:latin typeface="Oswald" pitchFamily="34" charset="0"/>
                <a:ea typeface="Oswald" pitchFamily="34" charset="-122"/>
                <a:cs typeface="Oswald" pitchFamily="34" charset="-120"/>
              </a:rPr>
              <a:t>COMMAND YOUR PRESENCE.</a:t>
            </a:r>
            <a:endParaRPr lang="en-US" sz="4000" dirty="0"/>
          </a:p>
          <a:p>
            <a:pPr indent="0" marL="0">
              <a:lnSpc>
                <a:spcPct val="100000"/>
              </a:lnSpc>
              <a:buNone/>
            </a:pPr>
            <a:r>
              <a:rPr lang="en-US" sz="4000" b="1" dirty="0">
                <a:solidFill>
                  <a:srgbClr val="F2EDE4"/>
                </a:solidFill>
                <a:latin typeface="Oswald" pitchFamily="34" charset="0"/>
                <a:ea typeface="Oswald" pitchFamily="34" charset="-122"/>
                <a:cs typeface="Oswald" pitchFamily="34" charset="-120"/>
              </a:rPr>
              <a:t>BUILD YOUR LEGACY.</a:t>
            </a:r>
            <a:endParaRPr lang="en-US" sz="4000" dirty="0"/>
          </a:p>
        </p:txBody>
      </p:sp>
      <p:sp>
        <p:nvSpPr>
          <p:cNvPr id="7" name="Text 4"/>
          <p:cNvSpPr txBox="1"/>
          <p:nvPr/>
        </p:nvSpPr>
        <p:spPr>
          <a:xfrm>
            <a:off x="548640" y="5029200"/>
            <a:ext cx="6766560" cy="27432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Shoot plan by Sage Media  ·  Jaipur  ·  business@sagemedia.in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Oswa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73</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73</vt:i4>
      </vt:variant>
    </vt:vector>
  </HeadingPairs>
  <TitlesOfParts>
    <vt:vector size="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vector>
  </TitlesOfParts>
  <Company>Sage Media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Wealth Roots × Mukesh Gupta — Jaipur Shoot Plan</dc:title>
  <dc:subject>PptxGenJS Presentation</dc:subject>
  <dc:creator>Sage Media</dc:creator>
  <cp:lastModifiedBy>Sage Media</cp:lastModifiedBy>
  <cp:revision>1</cp:revision>
  <dcterms:created xsi:type="dcterms:W3CDTF">2026-10-18T12:29:13Z</dcterms:created>
  <dcterms:modified xsi:type="dcterms:W3CDTF">2026-10-18T12:29:13Z</dcterms:modified>
</cp:coreProperties>
</file>