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1" Type="http://schemas.openxmlformats.org/officeDocument/2006/relationships/image" Target="../media/image-12-1.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3" Type="http://schemas.openxmlformats.org/officeDocument/2006/relationships/hyperlink" Target="https://www.pinterest.com/search/pins/?q=haveli%20jaali%20light%20portrait%20man" TargetMode="External"/><Relationship Id="rId4" Type="http://schemas.openxmlformats.org/officeDocument/2006/relationships/hyperlink" Target="https://www.pinterest.com/search/pins/?q=vintage%20watch%20box%20heirloom" TargetMode="External"/><Relationship Id="rId5" Type="http://schemas.openxmlformats.org/officeDocument/2006/relationships/hyperlink" Target="https://www.instagram.com/sabyasachiofficial/reels/" TargetMode="External"/><Relationship Id="rId6" Type="http://schemas.openxmlformats.org/officeDocument/2006/relationships/hyperlink" Target="https://www.instagram.com/rolex/reels/" TargetMode="External"/><Relationship Id="rId1" Type="http://schemas.openxmlformats.org/officeDocument/2006/relationships/image" Target="../media/image-13-1.jp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image" Target="../media/image-14-8.jpg"/><Relationship Id="rId9" Type="http://schemas.openxmlformats.org/officeDocument/2006/relationships/image" Target="../media/image-14-9.jp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1" Type="http://schemas.openxmlformats.org/officeDocument/2006/relationships/image" Target="../media/image-15-1.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pinterest.com/search/pins/?q=jaali%20window%20light%20beams%20haveli" TargetMode="External"/><Relationship Id="rId4" Type="http://schemas.openxmlformats.org/officeDocument/2006/relationships/hyperlink" Target="https://www.pinterest.com/search/pins/?q=luxury%20watch%20wrist%20light%20pattern%20shadow" TargetMode="External"/><Relationship Id="rId5" Type="http://schemas.openxmlformats.org/officeDocument/2006/relationships/hyperlink" Target="https://www.instagram.com/cartier/reels/" TargetMode="External"/><Relationship Id="rId1" Type="http://schemas.openxmlformats.org/officeDocument/2006/relationships/image" Target="../media/image-16-1.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jpg"/><Relationship Id="rId6" Type="http://schemas.openxmlformats.org/officeDocument/2006/relationships/image" Target="../media/image-17-6.jpg"/><Relationship Id="rId7" Type="http://schemas.openxmlformats.org/officeDocument/2006/relationships/image" Target="../media/image-17-7.jpg"/><Relationship Id="rId8" Type="http://schemas.openxmlformats.org/officeDocument/2006/relationships/image" Target="../media/image-17-8.jpg"/><Relationship Id="rId9" Type="http://schemas.openxmlformats.org/officeDocument/2006/relationships/image" Target="../media/image-17-9.jp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1" Type="http://schemas.openxmlformats.org/officeDocument/2006/relationships/image" Target="../media/image-18-1.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3" Type="http://schemas.openxmlformats.org/officeDocument/2006/relationships/hyperlink" Target="https://www.pinterest.com/search/pins/?q=indian%20courtyard%20chai%20cinematic" TargetMode="External"/><Relationship Id="rId4" Type="http://schemas.openxmlformats.org/officeDocument/2006/relationships/hyperlink" Target="https://www.instagram.com/mukesh_gupta14/reels/" TargetMode="External"/><Relationship Id="rId1" Type="http://schemas.openxmlformats.org/officeDocument/2006/relationships/image" Target="../media/image-19-1.jp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jpg"/><Relationship Id="rId6" Type="http://schemas.openxmlformats.org/officeDocument/2006/relationships/image" Target="../media/image-20-6.jpg"/><Relationship Id="rId7" Type="http://schemas.openxmlformats.org/officeDocument/2006/relationships/image" Target="../media/image-20-7.jpg"/><Relationship Id="rId8" Type="http://schemas.openxmlformats.org/officeDocument/2006/relationships/image" Target="../media/image-20-8.jpg"/><Relationship Id="rId9" Type="http://schemas.openxmlformats.org/officeDocument/2006/relationships/image" Target="../media/image-20-9.jp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1" Type="http://schemas.openxmlformats.org/officeDocument/2006/relationships/image" Target="../media/image-22-1.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3" Type="http://schemas.openxmlformats.org/officeDocument/2006/relationships/hyperlink" Target="https://www.pinterest.com/search/pins/?q=5am%20routine%20cinematic%20rooftop%20sunrise%20man" TargetMode="External"/><Relationship Id="rId4" Type="http://schemas.openxmlformats.org/officeDocument/2006/relationships/hyperlink" Target="https://www.instagram.com/tagheuer/reels/" TargetMode="External"/><Relationship Id="rId1" Type="http://schemas.openxmlformats.org/officeDocument/2006/relationships/image" Target="../media/image-23-1.jp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image" Target="../media/image-24-4.jpg"/><Relationship Id="rId5" Type="http://schemas.openxmlformats.org/officeDocument/2006/relationships/image" Target="../media/image-24-5.jpg"/><Relationship Id="rId6" Type="http://schemas.openxmlformats.org/officeDocument/2006/relationships/image" Target="../media/image-24-6.jpg"/><Relationship Id="rId7" Type="http://schemas.openxmlformats.org/officeDocument/2006/relationships/image" Target="../media/image-24-7.jpg"/><Relationship Id="rId8" Type="http://schemas.openxmlformats.org/officeDocument/2006/relationships/image" Target="../media/image-24-8.jpg"/><Relationship Id="rId9" Type="http://schemas.openxmlformats.org/officeDocument/2006/relationships/image" Target="../media/image-24-9.jp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1" Type="http://schemas.openxmlformats.org/officeDocument/2006/relationships/image" Target="../media/image-25-1.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3" Type="http://schemas.openxmlformats.org/officeDocument/2006/relationships/hyperlink" Target="https://www.pinterest.com/search/pins/?q=lime%20mint%20ice%20marble%20hands%20cinematic" TargetMode="External"/><Relationship Id="rId4" Type="http://schemas.openxmlformats.org/officeDocument/2006/relationships/hyperlink" Target="https://www.instagram.com/omega/reels/" TargetMode="External"/><Relationship Id="rId1" Type="http://schemas.openxmlformats.org/officeDocument/2006/relationships/image" Target="../media/image-26-1.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image" Target="../media/image-27-5.jpg"/><Relationship Id="rId6" Type="http://schemas.openxmlformats.org/officeDocument/2006/relationships/image" Target="../media/image-27-6.jpg"/><Relationship Id="rId7" Type="http://schemas.openxmlformats.org/officeDocument/2006/relationships/image" Target="../media/image-27-7.jpg"/><Relationship Id="rId8" Type="http://schemas.openxmlformats.org/officeDocument/2006/relationships/image" Target="../media/image-27-8.jpg"/><Relationship Id="rId9" Type="http://schemas.openxmlformats.org/officeDocument/2006/relationships/image" Target="../media/image-27-9.jp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1" Type="http://schemas.openxmlformats.org/officeDocument/2006/relationships/image" Target="../media/image-28-1.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3" Type="http://schemas.openxmlformats.org/officeDocument/2006/relationships/hyperlink" Target="https://www.pinterest.com/search/pins/?q=sunrise%20run%20cinematic%20lake%20man" TargetMode="External"/><Relationship Id="rId4" Type="http://schemas.openxmlformats.org/officeDocument/2006/relationships/hyperlink" Target="https://www.pinterest.com/search/pins/?q=jal%20mahal%20jaipur%20morning%20mist" TargetMode="External"/><Relationship Id="rId1" Type="http://schemas.openxmlformats.org/officeDocument/2006/relationships/image" Target="../media/image-29-1.jp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1" Type="http://schemas.openxmlformats.org/officeDocument/2006/relationships/image" Target="../media/image-32-1.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3" Type="http://schemas.openxmlformats.org/officeDocument/2006/relationships/hyperlink" Target="https://www.pinterest.com/search/pins/?q=architect%20blueprint%20cinematic%20man%20watch" TargetMode="External"/><Relationship Id="rId4" Type="http://schemas.openxmlformats.org/officeDocument/2006/relationships/hyperlink" Target="https://www.instagram.com/iwcwatches/reels/" TargetMode="External"/><Relationship Id="rId1" Type="http://schemas.openxmlformats.org/officeDocument/2006/relationships/image" Target="../media/image-33-1.jp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1" Type="http://schemas.openxmlformats.org/officeDocument/2006/relationships/image" Target="../media/image-35-1.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3" Type="http://schemas.openxmlformats.org/officeDocument/2006/relationships/hyperlink" Target="https://www.pinterest.com/search/pins/?q=push%20in%20macro%20transition%20watch%20reel" TargetMode="External"/><Relationship Id="rId4" Type="http://schemas.openxmlformats.org/officeDocument/2006/relationships/hyperlink" Target="https://www.instagram.com/panerai/reels/" TargetMode="External"/><Relationship Id="rId1" Type="http://schemas.openxmlformats.org/officeDocument/2006/relationships/image" Target="../media/image-36-1.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1" Type="http://schemas.openxmlformats.org/officeDocument/2006/relationships/image" Target="../media/image-38-1.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3" Type="http://schemas.openxmlformats.org/officeDocument/2006/relationships/hyperlink" Target="https://www.pinterest.com/search/pins/?q=getting%20ready%20ritual%20cinematic%20watch%20man" TargetMode="External"/><Relationship Id="rId4" Type="http://schemas.openxmlformats.org/officeDocument/2006/relationships/hyperlink" Target="https://www.instagram.com/audemarspiguet/reels/" TargetMode="External"/><Relationship Id="rId1" Type="http://schemas.openxmlformats.org/officeDocument/2006/relationships/image" Target="../media/image-39-1.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1" Type="http://schemas.openxmlformats.org/officeDocument/2006/relationships/image" Target="../media/image-42-1.jp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3" Type="http://schemas.openxmlformats.org/officeDocument/2006/relationships/hyperlink" Target="https://www.pinterest.com/search/pins/?q=diwali%20cinematic%20diya%20man%20night" TargetMode="External"/><Relationship Id="rId4" Type="http://schemas.openxmlformats.org/officeDocument/2006/relationships/hyperlink" Target="https://www.instagram.com/tanishqjewellery/reels/" TargetMode="External"/><Relationship Id="rId1" Type="http://schemas.openxmlformats.org/officeDocument/2006/relationships/image" Target="../media/image-43-1.jp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1" Type="http://schemas.openxmlformats.org/officeDocument/2006/relationships/image" Target="../media/image-45-1.jp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3" Type="http://schemas.openxmlformats.org/officeDocument/2006/relationships/hyperlink" Target="https://www.pinterest.com/search/pins/?q=dhanteras%20thali%20hands%20brass%20diya" TargetMode="External"/><Relationship Id="rId4" Type="http://schemas.openxmlformats.org/officeDocument/2006/relationships/hyperlink" Target="https://www.pinterest.com/search/pins/?q=marigold%20brass%20thali%20top%20view" TargetMode="External"/><Relationship Id="rId1" Type="http://schemas.openxmlformats.org/officeDocument/2006/relationships/image" Target="../media/image-46-1.jp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1" Type="http://schemas.openxmlformats.org/officeDocument/2006/relationships/image" Target="../media/image-48-1.jp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3" Type="http://schemas.openxmlformats.org/officeDocument/2006/relationships/hyperlink" Target="https://www.pinterest.com/search/pins/?q=rajasthani%20safa%20portrait%20jharokha" TargetMode="External"/><Relationship Id="rId4" Type="http://schemas.openxmlformats.org/officeDocument/2006/relationships/hyperlink" Target="https://www.pinterest.com/search/pins/?q=whip%20pan%20transition%20city%20reel" TargetMode="External"/><Relationship Id="rId1" Type="http://schemas.openxmlformats.org/officeDocument/2006/relationships/image" Target="../media/image-49-1.jp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1" Type="http://schemas.openxmlformats.org/officeDocument/2006/relationships/image" Target="../media/image-52-1.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3" Type="http://schemas.openxmlformats.org/officeDocument/2006/relationships/hyperlink" Target="https://www.pinterest.com/search/pins/?q=late%20night%20work%20cinematic%20red%20neon%20man" TargetMode="External"/><Relationship Id="rId4" Type="http://schemas.openxmlformats.org/officeDocument/2006/relationships/hyperlink" Target="https://www.instagram.com/hublot/reels/" TargetMode="External"/><Relationship Id="rId1" Type="http://schemas.openxmlformats.org/officeDocument/2006/relationships/image" Target="../media/image-53-1.jp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1" Type="http://schemas.openxmlformats.org/officeDocument/2006/relationships/image" Target="../media/image-55-1.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3" Type="http://schemas.openxmlformats.org/officeDocument/2006/relationships/hyperlink" Target="https://www.pinterest.com/search/pins/?q=red%20blue%20split%20lighting%20watch%20wrist" TargetMode="External"/><Relationship Id="rId4" Type="http://schemas.openxmlformats.org/officeDocument/2006/relationships/hyperlink" Target="https://www.instagram.com/jacobandco/reels/" TargetMode="External"/><Relationship Id="rId1" Type="http://schemas.openxmlformats.org/officeDocument/2006/relationships/image" Target="../media/image-56-1.jp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1" Type="http://schemas.openxmlformats.org/officeDocument/2006/relationships/image" Target="../media/image-58-1.jp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3" Type="http://schemas.openxmlformats.org/officeDocument/2006/relationships/hyperlink" Target="https://www.pinterest.com/search/pins/?q=night%20drive%20cinematic%20watch%20steering%20wheel" TargetMode="External"/><Relationship Id="rId4" Type="http://schemas.openxmlformats.org/officeDocument/2006/relationships/hyperlink" Target="https://www.instagram.com/tagheuer/reels/" TargetMode="External"/><Relationship Id="rId1" Type="http://schemas.openxmlformats.org/officeDocument/2006/relationships/image" Target="../media/image-59-1.jp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image" Target="../media/image-63-2.jpg"/><Relationship Id="rId3" Type="http://schemas.openxmlformats.org/officeDocument/2006/relationships/image" Target="../media/image-63-3.jp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image" Target="../media/image-67-2.jpg"/><Relationship Id="rId3" Type="http://schemas.openxmlformats.org/officeDocument/2006/relationships/image" Target="../media/image-67-3.jpg"/><Relationship Id="rId4" Type="http://schemas.openxmlformats.org/officeDocument/2006/relationships/image" Target="../media/image-67-4.jpg"/><Relationship Id="rId5" Type="http://schemas.openxmlformats.org/officeDocument/2006/relationships/image" Target="../media/image-67-5.jp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www.youtube.com/results?search_query=Hans%20Zimmer%20Time%20Inception" TargetMode="External"/><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youtube.com/results?search_query=Succession%20main%20title%20theme%20Nicholas%20Britell" TargetMode="External"/><Relationship Id="rId4" Type="http://schemas.openxmlformats.org/officeDocument/2006/relationships/hyperlink" Target="https://www.youtube.com/results?search_query=Hans%20Zimmer%20Mountains%20Interstellar" TargetMode="External"/><Relationship Id="rId5" Type="http://schemas.openxmlformats.org/officeDocument/2006/relationships/hyperlink" Target="https://www.youtube.com/results?search_query=Kendrick%20Lamar%20HUMBLE%20instrumental" TargetMode="External"/><Relationship Id="rId6" Type="http://schemas.openxmlformats.org/officeDocument/2006/relationships/hyperlink" Target="https://www.youtube.com/results?search_query=Hans%20Zimmer%20Dream%20of%20Arrakis%20Dune" TargetMode="External"/><Relationship Id="rId7" Type="http://schemas.openxmlformats.org/officeDocument/2006/relationships/hyperlink" Target="https://www.youtube.com/results?search_query=Ludovico%20Einaudi%20Experience" TargetMode="External"/><Relationship Id="rId8" Type="http://schemas.openxmlformats.org/officeDocument/2006/relationships/hyperlink" Target="https://www.youtube.com/results?search_query=Hans%20Zimmer%20No%20Time%20for%20Caution" TargetMode="External"/><Relationship Id="rId9" Type="http://schemas.openxmlformats.org/officeDocument/2006/relationships/hyperlink" Target="https://www.youtube.com/results?search_query=Ludwig%20Goransson%20Can%20You%20Hear%20The%20Music" TargetMode="External"/><Relationship Id="rId10" Type="http://schemas.openxmlformats.org/officeDocument/2006/relationships/hyperlink" Target="https://www.youtube.com/results?search_query=AR%20Rahman%20Yeh%20Jo%20Desh%20Hai%20Tera%20Swades%20shehnai" TargetMode="External"/><Relationship Id="rId11" Type="http://schemas.openxmlformats.org/officeDocument/2006/relationships/hyperlink" Target="https://www.youtube.com/results?search_query=Ustad%20Bismillah%20Khan%20shehnai" TargetMode="External"/><Relationship Id="rId12" Type="http://schemas.openxmlformats.org/officeDocument/2006/relationships/hyperlink" Target="https://www.youtube.com/results?search_query=AR%20Rahman%20Azeem%20O%20Shaan%20Shahenshah" TargetMode="External"/><Relationship Id="rId13" Type="http://schemas.openxmlformats.org/officeDocument/2006/relationships/hyperlink" Target="https://www.youtube.com/results?search_query=Hand%20Covers%20Bruise%20Trent%20Reznor%20Atticus%20Ross" TargetMode="External"/><Relationship Id="rId14" Type="http://schemas.openxmlformats.org/officeDocument/2006/relationships/hyperlink" Target="https://www.youtube.com/results?search_query=Kavinsky%20Nightcall" TargetMode="External"/><Relationship Id="rId15" Type="http://schemas.openxmlformats.org/officeDocument/2006/relationships/hyperlink" Target="https://www.youtube.com/results?search_query=Gesaffelstein%20Pursuit" TargetMode="External"/><Relationship Id="rId16" Type="http://schemas.openxmlformats.org/officeDocument/2006/relationships/slideLayout" Target="../slideLayouts/slideLayout1.xml"/><Relationship Id="rId1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01</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6400800" y="0"/>
            <a:ext cx="1920240" cy="3456432"/>
          </a:xfrm>
          <a:prstGeom prst="rect">
            <a:avLst/>
          </a:prstGeom>
        </p:spPr>
      </p:pic>
      <p:pic>
        <p:nvPicPr>
          <p:cNvPr id="5" name="Image 1" descr="/tmp/claude-0/-home-user-Sage-portfolio/d05fecce-977e-5eab-9cf5-7c09b306c551/scratchpad/wrdeck/img/ai_orange_r2.jpg">    </p:cNvPr>
          <p:cNvPicPr>
            <a:picLocks noChangeAspect="1"/>
          </p:cNvPicPr>
          <p:nvPr/>
        </p:nvPicPr>
        <p:blipFill>
          <a:blip r:embed="rId2"/>
          <a:srcRect l="0" r="0" t="0" b="0"/>
          <a:stretch/>
        </p:blipFill>
        <p:spPr>
          <a:xfrm>
            <a:off x="8366760" y="0"/>
            <a:ext cx="1920240" cy="3456432"/>
          </a:xfrm>
          <a:prstGeom prst="rect">
            <a:avLst/>
          </a:prstGeom>
        </p:spPr>
      </p:pic>
      <p:pic>
        <p:nvPicPr>
          <p:cNvPr id="6" name="Image 2" descr="/tmp/claude-0/-home-user-Sage-portfolio/d05fecce-977e-5eab-9cf5-7c09b306c551/scratchpad/wrdeck/img/ai_green_r2.jpg">    </p:cNvPr>
          <p:cNvPicPr>
            <a:picLocks noChangeAspect="1"/>
          </p:cNvPicPr>
          <p:nvPr/>
        </p:nvPicPr>
        <p:blipFill>
          <a:blip r:embed="rId3"/>
          <a:srcRect l="0" r="0" t="0" b="0"/>
          <a:stretch/>
        </p:blipFill>
        <p:spPr>
          <a:xfrm>
            <a:off x="10332720" y="0"/>
            <a:ext cx="1856232" cy="3456432"/>
          </a:xfrm>
          <a:prstGeom prst="rect">
            <a:avLst/>
          </a:prstGeom>
        </p:spPr>
      </p:pic>
      <p:pic>
        <p:nvPicPr>
          <p:cNvPr id="7" name="Image 3" descr="/tmp/claude-0/-home-user-Sage-portfolio/d05fecce-977e-5eab-9cf5-7c09b306c551/scratchpad/wrdeck/img/ai_lime_r2.jpg">    </p:cNvPr>
          <p:cNvPicPr>
            <a:picLocks noChangeAspect="1"/>
          </p:cNvPicPr>
          <p:nvPr/>
        </p:nvPicPr>
        <p:blipFill>
          <a:blip r:embed="rId4"/>
          <a:srcRect l="0" r="0" t="0" b="0"/>
          <a:stretch/>
        </p:blipFill>
        <p:spPr>
          <a:xfrm>
            <a:off x="6400800" y="3502152"/>
            <a:ext cx="1920240" cy="3355848"/>
          </a:xfrm>
          <a:prstGeom prst="rect">
            <a:avLst/>
          </a:prstGeom>
        </p:spPr>
      </p:pic>
      <p:pic>
        <p:nvPicPr>
          <p:cNvPr id="8" name="Image 4" descr="/tmp/claude-0/-home-user-Sage-portfolio/d05fecce-977e-5eab-9cf5-7c09b306c551/scratchpad/wrdeck/img/ai_orange_r4.jpg">    </p:cNvPr>
          <p:cNvPicPr>
            <a:picLocks noChangeAspect="1"/>
          </p:cNvPicPr>
          <p:nvPr/>
        </p:nvPicPr>
        <p:blipFill>
          <a:blip r:embed="rId5"/>
          <a:srcRect l="0" r="0" t="0" b="0"/>
          <a:stretch/>
        </p:blipFill>
        <p:spPr>
          <a:xfrm>
            <a:off x="8366760" y="3502152"/>
            <a:ext cx="1920240" cy="3355848"/>
          </a:xfrm>
          <a:prstGeom prst="rect">
            <a:avLst/>
          </a:prstGeom>
        </p:spPr>
      </p:pic>
      <p:pic>
        <p:nvPicPr>
          <p:cNvPr id="9" name="Image 5" descr="/tmp/claude-0/-home-user-Sage-portfolio/d05fecce-977e-5eab-9cf5-7c09b306c551/scratchpad/wrdeck/img/ai_redblue_r4.jpg">    </p:cNvPr>
          <p:cNvPicPr>
            <a:picLocks noChangeAspect="1"/>
          </p:cNvPicPr>
          <p:nvPr/>
        </p:nvPicPr>
        <p:blipFill>
          <a:blip r:embed="rId6"/>
          <a:srcRect l="0" r="0" t="0" b="0"/>
          <a:stretch/>
        </p:blipFill>
        <p:spPr>
          <a:xfrm>
            <a:off x="10332720" y="3502152"/>
            <a:ext cx="1856232" cy="3355848"/>
          </a:xfrm>
          <a:prstGeom prst="rect">
            <a:avLst/>
          </a:prstGeom>
        </p:spPr>
      </p:pic>
      <p:sp>
        <p:nvSpPr>
          <p:cNvPr id="10" name="Text 2"/>
          <p:cNvSpPr txBox="1"/>
          <p:nvPr/>
        </p:nvSpPr>
        <p:spPr>
          <a:xfrm>
            <a:off x="548640" y="6400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  ·  JAIPUR SHOOT PLAN</a:t>
            </a:r>
            <a:endParaRPr lang="en-US" sz="900" dirty="0"/>
          </a:p>
        </p:txBody>
      </p:sp>
      <p:sp>
        <p:nvSpPr>
          <p:cNvPr id="11" name="Text 3"/>
          <p:cNvSpPr txBox="1"/>
          <p:nvPr/>
        </p:nvSpPr>
        <p:spPr>
          <a:xfrm>
            <a:off x="548640" y="1097280"/>
            <a:ext cx="5486400" cy="3108960"/>
          </a:xfrm>
          <a:prstGeom prst="rect">
            <a:avLst/>
          </a:prstGeom>
          <a:noFill/>
          <a:ln/>
        </p:spPr>
        <p:txBody>
          <a:bodyPr wrap="square" lIns="0" tIns="0" rIns="0" bIns="0" rtlCol="0" anchor="t"/>
          <a:lstStyle/>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BOLD.</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ALPHA.</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TIME.</a:t>
            </a:r>
            <a:endParaRPr lang="en-US" sz="7200" dirty="0"/>
          </a:p>
        </p:txBody>
      </p:sp>
      <p:sp>
        <p:nvSpPr>
          <p:cNvPr id="12" name="Text 4"/>
          <p:cNvSpPr txBox="1"/>
          <p:nvPr/>
        </p:nvSpPr>
        <p:spPr>
          <a:xfrm>
            <a:off x="548640" y="4343400"/>
            <a:ext cx="5394960" cy="822960"/>
          </a:xfrm>
          <a:prstGeom prst="rect">
            <a:avLst/>
          </a:prstGeom>
          <a:noFill/>
          <a:ln/>
        </p:spPr>
        <p:txBody>
          <a:bodyPr wrap="square" lIns="0" tIns="0" rIns="0" bIns="0" rtlCol="0" anchor="t"/>
          <a:lstStyle/>
          <a:p>
            <a:pPr indent="0" marL="0">
              <a:buNone/>
            </a:pPr>
            <a:r>
              <a:rPr lang="en-US" sz="1300" dirty="0">
                <a:solidFill>
                  <a:srgbClr val="F2EDE4"/>
                </a:solidFill>
                <a:latin typeface="Inter" pitchFamily="34" charset="0"/>
                <a:ea typeface="Inter" pitchFamily="34" charset="-122"/>
                <a:cs typeface="Inter" pitchFamily="34" charset="-120"/>
              </a:rPr>
              <a:t>One man, one Jaipur day, five watches. Mukesh ji carries every reel on Day 1; Day 2 is the product shoot and Neetu's founder film.</a:t>
            </a:r>
            <a:endParaRPr lang="en-US" sz="1300" dirty="0"/>
          </a:p>
        </p:txBody>
      </p:sp>
      <p:sp>
        <p:nvSpPr>
          <p:cNvPr id="13" name="Shape 5"/>
          <p:cNvSpPr/>
          <p:nvPr/>
        </p:nvSpPr>
        <p:spPr>
          <a:xfrm>
            <a:off x="548640" y="5349240"/>
            <a:ext cx="548640" cy="36576"/>
          </a:xfrm>
          <a:prstGeom prst="rect">
            <a:avLst/>
          </a:prstGeom>
          <a:solidFill>
            <a:srgbClr val="C9A45C"/>
          </a:solidFill>
          <a:ln w="12700">
            <a:solidFill>
              <a:srgbClr val="C9A45C"/>
            </a:solidFill>
            <a:prstDash val="solid"/>
          </a:ln>
        </p:spPr>
      </p:sp>
      <p:sp>
        <p:nvSpPr>
          <p:cNvPr id="14" name="Text 6"/>
          <p:cNvSpPr txBox="1"/>
          <p:nvPr/>
        </p:nvSpPr>
        <p:spPr>
          <a:xfrm>
            <a:off x="548640" y="5486400"/>
            <a:ext cx="5486400" cy="5486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week of 26 Oct 2026  ·  Dhanteras 6 Nov  ·  Diwali 8 Nov</a:t>
            </a:r>
            <a:endParaRPr lang="en-US" sz="1000" dirty="0"/>
          </a:p>
          <a:p>
            <a:pPr indent="0" marL="0">
              <a:buNone/>
            </a:pPr>
            <a:r>
              <a:rPr lang="en-US" sz="1000" dirty="0">
                <a:solidFill>
                  <a:srgbClr val="9C978E"/>
                </a:solidFill>
                <a:latin typeface="Inter" pitchFamily="34" charset="0"/>
                <a:ea typeface="Inter" pitchFamily="34" charset="-122"/>
                <a:cs typeface="Inter" pitchFamily="34" charset="-120"/>
              </a:rPr>
              <a:t>Prepared by Sage Media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OVERVIEW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02</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WHAT WE'RE MAKING</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TWO DAYS. ONE FACE. FIVE WATCHES.</a:t>
            </a:r>
            <a:endParaRPr lang="en-US" sz="3400" dirty="0"/>
          </a:p>
        </p:txBody>
      </p:sp>
      <p:sp>
        <p:nvSpPr>
          <p:cNvPr id="6" name="Shape 4"/>
          <p:cNvSpPr/>
          <p:nvPr/>
        </p:nvSpPr>
        <p:spPr>
          <a:xfrm>
            <a:off x="548640" y="1920240"/>
            <a:ext cx="3566160" cy="1874520"/>
          </a:xfrm>
          <a:prstGeom prst="rect">
            <a:avLst/>
          </a:prstGeom>
          <a:solidFill>
            <a:srgbClr val="151513"/>
          </a:solidFill>
          <a:ln w="9525">
            <a:solidFill>
              <a:srgbClr val="2B2A26"/>
            </a:solidFill>
            <a:prstDash val="solid"/>
          </a:ln>
        </p:spPr>
      </p:sp>
      <p:sp>
        <p:nvSpPr>
          <p:cNvPr id="7" name="Text 5"/>
          <p:cNvSpPr txBox="1"/>
          <p:nvPr/>
        </p:nvSpPr>
        <p:spPr>
          <a:xfrm>
            <a:off x="82296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15</a:t>
            </a:r>
            <a:endParaRPr lang="en-US" sz="4400" dirty="0"/>
          </a:p>
        </p:txBody>
      </p:sp>
      <p:sp>
        <p:nvSpPr>
          <p:cNvPr id="8" name="Text 6"/>
          <p:cNvSpPr txBox="1"/>
          <p:nvPr/>
        </p:nvSpPr>
        <p:spPr>
          <a:xfrm>
            <a:off x="82296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REELS ON DAY 1</a:t>
            </a:r>
            <a:endParaRPr lang="en-US" sz="1100" dirty="0"/>
          </a:p>
        </p:txBody>
      </p:sp>
      <p:sp>
        <p:nvSpPr>
          <p:cNvPr id="9" name="Text 7"/>
          <p:cNvSpPr txBox="1"/>
          <p:nvPr/>
        </p:nvSpPr>
        <p:spPr>
          <a:xfrm>
            <a:off x="82296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3 per watch, all Mukesh ji</a:t>
            </a:r>
            <a:endParaRPr lang="en-US" sz="1000" dirty="0"/>
          </a:p>
        </p:txBody>
      </p:sp>
      <p:sp>
        <p:nvSpPr>
          <p:cNvPr id="10" name="Shape 8"/>
          <p:cNvSpPr/>
          <p:nvPr/>
        </p:nvSpPr>
        <p:spPr>
          <a:xfrm>
            <a:off x="4297680" y="1920240"/>
            <a:ext cx="3566160" cy="1874520"/>
          </a:xfrm>
          <a:prstGeom prst="rect">
            <a:avLst/>
          </a:prstGeom>
          <a:solidFill>
            <a:srgbClr val="151513"/>
          </a:solidFill>
          <a:ln w="9525">
            <a:solidFill>
              <a:srgbClr val="2B2A26"/>
            </a:solidFill>
            <a:prstDash val="solid"/>
          </a:ln>
        </p:spPr>
      </p:sp>
      <p:sp>
        <p:nvSpPr>
          <p:cNvPr id="11" name="Text 9"/>
          <p:cNvSpPr txBox="1"/>
          <p:nvPr/>
        </p:nvSpPr>
        <p:spPr>
          <a:xfrm>
            <a:off x="457200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5 + 1</a:t>
            </a:r>
            <a:endParaRPr lang="en-US" sz="4400" dirty="0"/>
          </a:p>
        </p:txBody>
      </p:sp>
      <p:sp>
        <p:nvSpPr>
          <p:cNvPr id="12" name="Text 10"/>
          <p:cNvSpPr txBox="1"/>
          <p:nvPr/>
        </p:nvSpPr>
        <p:spPr>
          <a:xfrm>
            <a:off x="457200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GLOW LOOPS + HERO FILM</a:t>
            </a:r>
            <a:endParaRPr lang="en-US" sz="1100" dirty="0"/>
          </a:p>
        </p:txBody>
      </p:sp>
      <p:sp>
        <p:nvSpPr>
          <p:cNvPr id="13" name="Text 11"/>
          <p:cNvSpPr txBox="1"/>
          <p:nvPr/>
        </p:nvSpPr>
        <p:spPr>
          <a:xfrm>
            <a:off x="457200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Shot as inserts, cut free</a:t>
            </a:r>
            <a:endParaRPr lang="en-US" sz="1000" dirty="0"/>
          </a:p>
        </p:txBody>
      </p:sp>
      <p:sp>
        <p:nvSpPr>
          <p:cNvPr id="14" name="Shape 12"/>
          <p:cNvSpPr/>
          <p:nvPr/>
        </p:nvSpPr>
        <p:spPr>
          <a:xfrm>
            <a:off x="8046720" y="1920240"/>
            <a:ext cx="3566160" cy="1874520"/>
          </a:xfrm>
          <a:prstGeom prst="rect">
            <a:avLst/>
          </a:prstGeom>
          <a:solidFill>
            <a:srgbClr val="151513"/>
          </a:solidFill>
          <a:ln w="9525">
            <a:solidFill>
              <a:srgbClr val="2B2A26"/>
            </a:solidFill>
            <a:prstDash val="solid"/>
          </a:ln>
        </p:spPr>
      </p:sp>
      <p:sp>
        <p:nvSpPr>
          <p:cNvPr id="15" name="Text 13"/>
          <p:cNvSpPr txBox="1"/>
          <p:nvPr/>
        </p:nvSpPr>
        <p:spPr>
          <a:xfrm>
            <a:off x="832104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+ 5</a:t>
            </a:r>
            <a:endParaRPr lang="en-US" sz="4400" dirty="0"/>
          </a:p>
        </p:txBody>
      </p:sp>
      <p:sp>
        <p:nvSpPr>
          <p:cNvPr id="16" name="Text 14"/>
          <p:cNvSpPr txBox="1"/>
          <p:nvPr/>
        </p:nvSpPr>
        <p:spPr>
          <a:xfrm>
            <a:off x="832104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RENTED HAVELI + FREE SPOTS</a:t>
            </a:r>
            <a:endParaRPr lang="en-US" sz="1100" dirty="0"/>
          </a:p>
        </p:txBody>
      </p:sp>
      <p:sp>
        <p:nvSpPr>
          <p:cNvPr id="17" name="Text 15"/>
          <p:cNvSpPr txBox="1"/>
          <p:nvPr/>
        </p:nvSpPr>
        <p:spPr>
          <a:xfrm>
            <a:off x="832104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Every city shot is public, no ticket</a:t>
            </a:r>
            <a:endParaRPr lang="en-US" sz="1000" dirty="0"/>
          </a:p>
        </p:txBody>
      </p:sp>
      <p:sp>
        <p:nvSpPr>
          <p:cNvPr id="18" name="Shape 16"/>
          <p:cNvSpPr/>
          <p:nvPr/>
        </p:nvSpPr>
        <p:spPr>
          <a:xfrm>
            <a:off x="548640" y="3977640"/>
            <a:ext cx="3566160" cy="1874520"/>
          </a:xfrm>
          <a:prstGeom prst="rect">
            <a:avLst/>
          </a:prstGeom>
          <a:solidFill>
            <a:srgbClr val="151513"/>
          </a:solidFill>
          <a:ln w="9525">
            <a:solidFill>
              <a:srgbClr val="2B2A26"/>
            </a:solidFill>
            <a:prstDash val="solid"/>
          </a:ln>
        </p:spPr>
      </p:sp>
      <p:sp>
        <p:nvSpPr>
          <p:cNvPr id="19" name="Text 17"/>
          <p:cNvSpPr txBox="1"/>
          <p:nvPr/>
        </p:nvSpPr>
        <p:spPr>
          <a:xfrm>
            <a:off x="82296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80+</a:t>
            </a:r>
            <a:endParaRPr lang="en-US" sz="4400" dirty="0"/>
          </a:p>
        </p:txBody>
      </p:sp>
      <p:sp>
        <p:nvSpPr>
          <p:cNvPr id="20" name="Text 18"/>
          <p:cNvSpPr txBox="1"/>
          <p:nvPr/>
        </p:nvSpPr>
        <p:spPr>
          <a:xfrm>
            <a:off x="82296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PRODUCT STILLS</a:t>
            </a:r>
            <a:endParaRPr lang="en-US" sz="1100" dirty="0"/>
          </a:p>
        </p:txBody>
      </p:sp>
      <p:sp>
        <p:nvSpPr>
          <p:cNvPr id="21" name="Text 19"/>
          <p:cNvSpPr txBox="1"/>
          <p:nvPr/>
        </p:nvSpPr>
        <p:spPr>
          <a:xfrm>
            <a:off x="82296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 turntables and unboxing</a:t>
            </a:r>
            <a:endParaRPr lang="en-US" sz="1000" dirty="0"/>
          </a:p>
        </p:txBody>
      </p:sp>
      <p:sp>
        <p:nvSpPr>
          <p:cNvPr id="22" name="Shape 20"/>
          <p:cNvSpPr/>
          <p:nvPr/>
        </p:nvSpPr>
        <p:spPr>
          <a:xfrm>
            <a:off x="4297680" y="3977640"/>
            <a:ext cx="3566160" cy="1874520"/>
          </a:xfrm>
          <a:prstGeom prst="rect">
            <a:avLst/>
          </a:prstGeom>
          <a:solidFill>
            <a:srgbClr val="151513"/>
          </a:solidFill>
          <a:ln w="9525">
            <a:solidFill>
              <a:srgbClr val="2B2A26"/>
            </a:solidFill>
            <a:prstDash val="solid"/>
          </a:ln>
        </p:spPr>
      </p:sp>
      <p:sp>
        <p:nvSpPr>
          <p:cNvPr id="23" name="Text 21"/>
          <p:cNvSpPr txBox="1"/>
          <p:nvPr/>
        </p:nvSpPr>
        <p:spPr>
          <a:xfrm>
            <a:off x="457200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+ 9</a:t>
            </a:r>
            <a:endParaRPr lang="en-US" sz="4400" dirty="0"/>
          </a:p>
        </p:txBody>
      </p:sp>
      <p:sp>
        <p:nvSpPr>
          <p:cNvPr id="24" name="Text 22"/>
          <p:cNvSpPr txBox="1"/>
          <p:nvPr/>
        </p:nvSpPr>
        <p:spPr>
          <a:xfrm>
            <a:off x="457200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FOUNDER FILM + REELS</a:t>
            </a:r>
            <a:endParaRPr lang="en-US" sz="1100" dirty="0"/>
          </a:p>
        </p:txBody>
      </p:sp>
      <p:sp>
        <p:nvSpPr>
          <p:cNvPr id="25" name="Text 23"/>
          <p:cNvSpPr txBox="1"/>
          <p:nvPr/>
        </p:nvSpPr>
        <p:spPr>
          <a:xfrm>
            <a:off x="457200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Neetu, Day 2 only — story + each watch</a:t>
            </a:r>
            <a:endParaRPr lang="en-US" sz="1000" dirty="0"/>
          </a:p>
        </p:txBody>
      </p:sp>
      <p:sp>
        <p:nvSpPr>
          <p:cNvPr id="26" name="Shape 24"/>
          <p:cNvSpPr/>
          <p:nvPr/>
        </p:nvSpPr>
        <p:spPr>
          <a:xfrm>
            <a:off x="8046720" y="3977640"/>
            <a:ext cx="3566160" cy="1874520"/>
          </a:xfrm>
          <a:prstGeom prst="rect">
            <a:avLst/>
          </a:prstGeom>
          <a:solidFill>
            <a:srgbClr val="151513"/>
          </a:solidFill>
          <a:ln w="9525">
            <a:solidFill>
              <a:srgbClr val="2B2A26"/>
            </a:solidFill>
            <a:prstDash val="solid"/>
          </a:ln>
        </p:spPr>
      </p:sp>
      <p:sp>
        <p:nvSpPr>
          <p:cNvPr id="27" name="Text 25"/>
          <p:cNvSpPr txBox="1"/>
          <p:nvPr/>
        </p:nvSpPr>
        <p:spPr>
          <a:xfrm>
            <a:off x="832104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2</a:t>
            </a:r>
            <a:endParaRPr lang="en-US" sz="4400" dirty="0"/>
          </a:p>
        </p:txBody>
      </p:sp>
      <p:sp>
        <p:nvSpPr>
          <p:cNvPr id="28" name="Text 26"/>
          <p:cNvSpPr txBox="1"/>
          <p:nvPr/>
        </p:nvSpPr>
        <p:spPr>
          <a:xfrm>
            <a:off x="832104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FESTIVE DROPS</a:t>
            </a:r>
            <a:endParaRPr lang="en-US" sz="1100" dirty="0"/>
          </a:p>
        </p:txBody>
      </p:sp>
      <p:sp>
        <p:nvSpPr>
          <p:cNvPr id="29" name="Text 27"/>
          <p:cNvSpPr txBox="1"/>
          <p:nvPr/>
        </p:nvSpPr>
        <p:spPr>
          <a:xfrm>
            <a:off x="832104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Dhanteras · Diwali</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IDEA</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03</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IDEA</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MAN. ONE DAY. FIVE WATCHES.</a:t>
            </a:r>
            <a:endParaRPr lang="en-US" sz="3400" dirty="0"/>
          </a:p>
        </p:txBody>
      </p:sp>
      <p:sp>
        <p:nvSpPr>
          <p:cNvPr id="6" name="Text 4"/>
          <p:cNvSpPr txBox="1"/>
          <p:nvPr/>
        </p:nvSpPr>
        <p:spPr>
          <a:xfrm>
            <a:off x="548640" y="1600200"/>
            <a:ext cx="7863840" cy="822960"/>
          </a:xfrm>
          <a:prstGeom prst="rect">
            <a:avLst/>
          </a:prstGeom>
          <a:noFill/>
          <a:ln/>
        </p:spPr>
        <p:txBody>
          <a:bodyPr wrap="square" lIns="0" tIns="0" rIns="0" bIns="0" rtlCol="0" anchor="t"/>
          <a:lstStyle/>
          <a:p>
            <a:pPr indent="0" marL="0">
              <a:buNone/>
            </a:pPr>
            <a:r>
              <a:rPr lang="en-US" sz="1250" dirty="0">
                <a:solidFill>
                  <a:srgbClr val="9C978E"/>
                </a:solidFill>
                <a:latin typeface="Inter" pitchFamily="34" charset="0"/>
                <a:ea typeface="Inter" pitchFamily="34" charset="-122"/>
                <a:cs typeface="Inter" pitchFamily="34" charset="-120"/>
              </a:rPr>
              <a:t>Day 1 follows Mukesh ji through a single Jaipur day, first light to after midnight. Each watch owns an hour — its own light, wardrobe, corner of the haveli and colour story. Fifteen reels that work alone, and read as one man's day when you scroll the grid.</a:t>
            </a:r>
            <a:endParaRPr lang="en-US" sz="1250" dirty="0"/>
          </a:p>
        </p:txBody>
      </p:sp>
      <p:sp>
        <p:nvSpPr>
          <p:cNvPr id="7" name="Shape 5"/>
          <p:cNvSpPr/>
          <p:nvPr/>
        </p:nvSpPr>
        <p:spPr>
          <a:xfrm>
            <a:off x="822960" y="3611880"/>
            <a:ext cx="10607040" cy="27432"/>
          </a:xfrm>
          <a:prstGeom prst="rect">
            <a:avLst/>
          </a:prstGeom>
          <a:solidFill>
            <a:srgbClr val="2B2A26"/>
          </a:solidFill>
          <a:ln w="12700">
            <a:solidFill>
              <a:srgbClr val="2B2A26"/>
            </a:solidFill>
            <a:prstDash val="solid"/>
          </a:ln>
        </p:spPr>
      </p:sp>
      <p:sp>
        <p:nvSpPr>
          <p:cNvPr id="8" name="Shape 6"/>
          <p:cNvSpPr/>
          <p:nvPr/>
        </p:nvSpPr>
        <p:spPr>
          <a:xfrm>
            <a:off x="685800" y="3456432"/>
            <a:ext cx="329184" cy="329184"/>
          </a:xfrm>
          <a:prstGeom prst="ellipse">
            <a:avLst/>
          </a:prstGeom>
          <a:solidFill>
            <a:srgbClr val="D7F25A"/>
          </a:solidFill>
          <a:ln w="31750">
            <a:solidFill>
              <a:srgbClr val="8FE3C3"/>
            </a:solidFill>
            <a:prstDash val="solid"/>
          </a:ln>
        </p:spPr>
      </p:sp>
      <p:sp>
        <p:nvSpPr>
          <p:cNvPr id="9" name="Text 7"/>
          <p:cNvSpPr txBox="1"/>
          <p:nvPr/>
        </p:nvSpPr>
        <p:spPr>
          <a:xfrm>
            <a:off x="54864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FIRST LIGHT</a:t>
            </a:r>
            <a:endParaRPr lang="en-US" sz="900" dirty="0"/>
          </a:p>
        </p:txBody>
      </p:sp>
      <p:sp>
        <p:nvSpPr>
          <p:cNvPr id="10" name="Text 8"/>
          <p:cNvSpPr txBox="1"/>
          <p:nvPr/>
        </p:nvSpPr>
        <p:spPr>
          <a:xfrm>
            <a:off x="548640" y="3977640"/>
            <a:ext cx="2148840" cy="411480"/>
          </a:xfrm>
          <a:prstGeom prst="rect">
            <a:avLst/>
          </a:prstGeom>
          <a:noFill/>
          <a:ln/>
        </p:spPr>
        <p:txBody>
          <a:bodyPr wrap="square" lIns="0" tIns="0" rIns="0" bIns="0" rtlCol="0" anchor="t"/>
          <a:lstStyle/>
          <a:p>
            <a:pPr indent="0" marL="0">
              <a:buNone/>
            </a:pPr>
            <a:r>
              <a:rPr lang="en-US" sz="2000" b="1" dirty="0">
                <a:solidFill>
                  <a:srgbClr val="D7F25A"/>
                </a:solidFill>
                <a:latin typeface="Oswald" pitchFamily="34" charset="0"/>
                <a:ea typeface="Oswald" pitchFamily="34" charset="-122"/>
                <a:cs typeface="Oswald" pitchFamily="34" charset="-120"/>
              </a:rPr>
              <a:t>DISCIPLINE</a:t>
            </a:r>
            <a:endParaRPr lang="en-US" sz="2000" dirty="0"/>
          </a:p>
        </p:txBody>
      </p:sp>
      <p:sp>
        <p:nvSpPr>
          <p:cNvPr id="11" name="Text 9"/>
          <p:cNvSpPr txBox="1"/>
          <p:nvPr/>
        </p:nvSpPr>
        <p:spPr>
          <a:xfrm>
            <a:off x="54864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Citrus Mint</a:t>
            </a:r>
            <a:endParaRPr lang="en-US" sz="1100" dirty="0"/>
          </a:p>
        </p:txBody>
      </p:sp>
      <p:sp>
        <p:nvSpPr>
          <p:cNvPr id="12" name="Text 10"/>
          <p:cNvSpPr txBox="1"/>
          <p:nvPr/>
        </p:nvSpPr>
        <p:spPr>
          <a:xfrm>
            <a:off x="54864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B1  4:59</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B2  Cold. Sharp. On Time.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B3  Jal Mahal, 6:50</a:t>
            </a:r>
            <a:endParaRPr lang="en-US" sz="950" dirty="0"/>
          </a:p>
        </p:txBody>
      </p:sp>
      <p:sp>
        <p:nvSpPr>
          <p:cNvPr id="13" name="Shape 11"/>
          <p:cNvSpPr/>
          <p:nvPr/>
        </p:nvSpPr>
        <p:spPr>
          <a:xfrm>
            <a:off x="2926080" y="3456432"/>
            <a:ext cx="329184" cy="329184"/>
          </a:xfrm>
          <a:prstGeom prst="ellipse">
            <a:avLst/>
          </a:prstGeom>
          <a:solidFill>
            <a:srgbClr val="E8DFC8"/>
          </a:solidFill>
          <a:ln w="31750">
            <a:solidFill>
              <a:srgbClr val="2F5D46"/>
            </a:solidFill>
            <a:prstDash val="solid"/>
          </a:ln>
        </p:spPr>
      </p:sp>
      <p:sp>
        <p:nvSpPr>
          <p:cNvPr id="14" name="Text 12"/>
          <p:cNvSpPr txBox="1"/>
          <p:nvPr/>
        </p:nvSpPr>
        <p:spPr>
          <a:xfrm>
            <a:off x="278892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MORNING LIGHT</a:t>
            </a:r>
            <a:endParaRPr lang="en-US" sz="900" dirty="0"/>
          </a:p>
        </p:txBody>
      </p:sp>
      <p:sp>
        <p:nvSpPr>
          <p:cNvPr id="15" name="Text 13"/>
          <p:cNvSpPr txBox="1"/>
          <p:nvPr/>
        </p:nvSpPr>
        <p:spPr>
          <a:xfrm>
            <a:off x="2788920" y="3977640"/>
            <a:ext cx="2148840" cy="411480"/>
          </a:xfrm>
          <a:prstGeom prst="rect">
            <a:avLst/>
          </a:prstGeom>
          <a:noFill/>
          <a:ln/>
        </p:spPr>
        <p:txBody>
          <a:bodyPr wrap="square" lIns="0" tIns="0" rIns="0" bIns="0" rtlCol="0" anchor="t"/>
          <a:lstStyle/>
          <a:p>
            <a:pPr indent="0" marL="0">
              <a:buNone/>
            </a:pPr>
            <a:r>
              <a:rPr lang="en-US" sz="2000" b="1" dirty="0">
                <a:solidFill>
                  <a:srgbClr val="E8DFC8"/>
                </a:solidFill>
                <a:latin typeface="Oswald" pitchFamily="34" charset="0"/>
                <a:ea typeface="Oswald" pitchFamily="34" charset="-122"/>
                <a:cs typeface="Oswald" pitchFamily="34" charset="-120"/>
              </a:rPr>
              <a:t>ROOTS</a:t>
            </a:r>
            <a:endParaRPr lang="en-US" sz="2000" dirty="0"/>
          </a:p>
        </p:txBody>
      </p:sp>
      <p:sp>
        <p:nvSpPr>
          <p:cNvPr id="16" name="Text 14"/>
          <p:cNvSpPr txBox="1"/>
          <p:nvPr/>
        </p:nvSpPr>
        <p:spPr>
          <a:xfrm>
            <a:off x="278892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Forest Ivory</a:t>
            </a:r>
            <a:endParaRPr lang="en-US" sz="1100" dirty="0"/>
          </a:p>
        </p:txBody>
      </p:sp>
      <p:sp>
        <p:nvSpPr>
          <p:cNvPr id="17" name="Text 15"/>
          <p:cNvSpPr txBox="1"/>
          <p:nvPr/>
        </p:nvSpPr>
        <p:spPr>
          <a:xfrm>
            <a:off x="278892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A1  Pehli Ghadi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A2  Jaali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A3  Kitne Ki Hai?</a:t>
            </a:r>
            <a:endParaRPr lang="en-US" sz="950" dirty="0"/>
          </a:p>
        </p:txBody>
      </p:sp>
      <p:sp>
        <p:nvSpPr>
          <p:cNvPr id="18" name="Shape 16"/>
          <p:cNvSpPr/>
          <p:nvPr/>
        </p:nvSpPr>
        <p:spPr>
          <a:xfrm>
            <a:off x="5166360" y="3456432"/>
            <a:ext cx="329184" cy="329184"/>
          </a:xfrm>
          <a:prstGeom prst="ellipse">
            <a:avLst/>
          </a:prstGeom>
          <a:solidFill>
            <a:srgbClr val="8EC9EE"/>
          </a:solidFill>
          <a:ln w="31750">
            <a:solidFill>
              <a:srgbClr val="1E3A6B"/>
            </a:solidFill>
            <a:prstDash val="solid"/>
          </a:ln>
        </p:spPr>
      </p:sp>
      <p:sp>
        <p:nvSpPr>
          <p:cNvPr id="19" name="Text 17"/>
          <p:cNvSpPr txBox="1"/>
          <p:nvPr/>
        </p:nvSpPr>
        <p:spPr>
          <a:xfrm>
            <a:off x="502920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MIDDAY</a:t>
            </a:r>
            <a:endParaRPr lang="en-US" sz="900" dirty="0"/>
          </a:p>
        </p:txBody>
      </p:sp>
      <p:sp>
        <p:nvSpPr>
          <p:cNvPr id="20" name="Text 18"/>
          <p:cNvSpPr txBox="1"/>
          <p:nvPr/>
        </p:nvSpPr>
        <p:spPr>
          <a:xfrm>
            <a:off x="5029200" y="3977640"/>
            <a:ext cx="2148840" cy="411480"/>
          </a:xfrm>
          <a:prstGeom prst="rect">
            <a:avLst/>
          </a:prstGeom>
          <a:noFill/>
          <a:ln/>
        </p:spPr>
        <p:txBody>
          <a:bodyPr wrap="square" lIns="0" tIns="0" rIns="0" bIns="0" rtlCol="0" anchor="t"/>
          <a:lstStyle/>
          <a:p>
            <a:pPr indent="0" marL="0">
              <a:buNone/>
            </a:pPr>
            <a:r>
              <a:rPr lang="en-US" sz="2000" b="1" dirty="0">
                <a:solidFill>
                  <a:srgbClr val="8EC9EE"/>
                </a:solidFill>
                <a:latin typeface="Oswald" pitchFamily="34" charset="0"/>
                <a:ea typeface="Oswald" pitchFamily="34" charset="-122"/>
                <a:cs typeface="Oswald" pitchFamily="34" charset="-120"/>
              </a:rPr>
              <a:t>BUILD</a:t>
            </a:r>
            <a:endParaRPr lang="en-US" sz="2000" dirty="0"/>
          </a:p>
        </p:txBody>
      </p:sp>
      <p:sp>
        <p:nvSpPr>
          <p:cNvPr id="21" name="Text 19"/>
          <p:cNvSpPr txBox="1"/>
          <p:nvPr/>
        </p:nvSpPr>
        <p:spPr>
          <a:xfrm>
            <a:off x="502920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Cerulean</a:t>
            </a:r>
            <a:endParaRPr lang="en-US" sz="1100" dirty="0"/>
          </a:p>
        </p:txBody>
      </p:sp>
      <p:sp>
        <p:nvSpPr>
          <p:cNvPr id="22" name="Text 20"/>
          <p:cNvSpPr txBox="1"/>
          <p:nvPr/>
        </p:nvSpPr>
        <p:spPr>
          <a:xfrm>
            <a:off x="502920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C1  Neev</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C2  6 Feet. 6 Inches.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C3  60 Seconds</a:t>
            </a:r>
            <a:endParaRPr lang="en-US" sz="950" dirty="0"/>
          </a:p>
        </p:txBody>
      </p:sp>
      <p:sp>
        <p:nvSpPr>
          <p:cNvPr id="23" name="Shape 21"/>
          <p:cNvSpPr/>
          <p:nvPr/>
        </p:nvSpPr>
        <p:spPr>
          <a:xfrm>
            <a:off x="7406640" y="3456432"/>
            <a:ext cx="329184" cy="329184"/>
          </a:xfrm>
          <a:prstGeom prst="ellipse">
            <a:avLst/>
          </a:prstGeom>
          <a:solidFill>
            <a:srgbClr val="F28C28"/>
          </a:solidFill>
          <a:ln w="31750">
            <a:solidFill>
              <a:srgbClr val="2547A8"/>
            </a:solidFill>
            <a:prstDash val="solid"/>
          </a:ln>
        </p:spPr>
      </p:sp>
      <p:sp>
        <p:nvSpPr>
          <p:cNvPr id="24" name="Text 22"/>
          <p:cNvSpPr txBox="1"/>
          <p:nvPr/>
        </p:nvSpPr>
        <p:spPr>
          <a:xfrm>
            <a:off x="726948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AFTERNOON → DUSK</a:t>
            </a:r>
            <a:endParaRPr lang="en-US" sz="900" dirty="0"/>
          </a:p>
        </p:txBody>
      </p:sp>
      <p:sp>
        <p:nvSpPr>
          <p:cNvPr id="25" name="Text 23"/>
          <p:cNvSpPr txBox="1"/>
          <p:nvPr/>
        </p:nvSpPr>
        <p:spPr>
          <a:xfrm>
            <a:off x="7269480" y="3977640"/>
            <a:ext cx="2148840" cy="411480"/>
          </a:xfrm>
          <a:prstGeom prst="rect">
            <a:avLst/>
          </a:prstGeom>
          <a:noFill/>
          <a:ln/>
        </p:spPr>
        <p:txBody>
          <a:bodyPr wrap="square" lIns="0" tIns="0" rIns="0" bIns="0" rtlCol="0" anchor="t"/>
          <a:lstStyle/>
          <a:p>
            <a:pPr indent="0" marL="0">
              <a:buNone/>
            </a:pPr>
            <a:r>
              <a:rPr lang="en-US" sz="2000" b="1" dirty="0">
                <a:solidFill>
                  <a:srgbClr val="F28C28"/>
                </a:solidFill>
                <a:latin typeface="Oswald" pitchFamily="34" charset="0"/>
                <a:ea typeface="Oswald" pitchFamily="34" charset="-122"/>
                <a:cs typeface="Oswald" pitchFamily="34" charset="-120"/>
              </a:rPr>
              <a:t>UTSAV · DIWALI</a:t>
            </a:r>
            <a:endParaRPr lang="en-US" sz="2000" dirty="0"/>
          </a:p>
        </p:txBody>
      </p:sp>
      <p:sp>
        <p:nvSpPr>
          <p:cNvPr id="26" name="Text 24"/>
          <p:cNvSpPr txBox="1"/>
          <p:nvPr/>
        </p:nvSpPr>
        <p:spPr>
          <a:xfrm>
            <a:off x="726948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Royal Tangerine</a:t>
            </a:r>
            <a:endParaRPr lang="en-US" sz="1100" dirty="0"/>
          </a:p>
        </p:txBody>
      </p:sp>
      <p:sp>
        <p:nvSpPr>
          <p:cNvPr id="27" name="Text 25"/>
          <p:cNvSpPr txBox="1"/>
          <p:nvPr/>
        </p:nvSpPr>
        <p:spPr>
          <a:xfrm>
            <a:off x="726948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D1  Ek Diya</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D2  Dhanteras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D3  Jaipur Se</a:t>
            </a:r>
            <a:endParaRPr lang="en-US" sz="950" dirty="0"/>
          </a:p>
        </p:txBody>
      </p:sp>
      <p:sp>
        <p:nvSpPr>
          <p:cNvPr id="28" name="Shape 26"/>
          <p:cNvSpPr/>
          <p:nvPr/>
        </p:nvSpPr>
        <p:spPr>
          <a:xfrm>
            <a:off x="9646920" y="3456432"/>
            <a:ext cx="329184" cy="329184"/>
          </a:xfrm>
          <a:prstGeom prst="ellipse">
            <a:avLst/>
          </a:prstGeom>
          <a:solidFill>
            <a:srgbClr val="D2283A"/>
          </a:solidFill>
          <a:ln w="31750">
            <a:solidFill>
              <a:srgbClr val="1C2A55"/>
            </a:solidFill>
            <a:prstDash val="solid"/>
          </a:ln>
        </p:spPr>
      </p:sp>
      <p:sp>
        <p:nvSpPr>
          <p:cNvPr id="29" name="Text 27"/>
          <p:cNvSpPr txBox="1"/>
          <p:nvPr/>
        </p:nvSpPr>
        <p:spPr>
          <a:xfrm>
            <a:off x="950976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NIGHT</a:t>
            </a:r>
            <a:endParaRPr lang="en-US" sz="900" dirty="0"/>
          </a:p>
        </p:txBody>
      </p:sp>
      <p:sp>
        <p:nvSpPr>
          <p:cNvPr id="30" name="Text 28"/>
          <p:cNvSpPr txBox="1"/>
          <p:nvPr/>
        </p:nvSpPr>
        <p:spPr>
          <a:xfrm>
            <a:off x="9509760" y="3977640"/>
            <a:ext cx="2148840" cy="411480"/>
          </a:xfrm>
          <a:prstGeom prst="rect">
            <a:avLst/>
          </a:prstGeom>
          <a:noFill/>
          <a:ln/>
        </p:spPr>
        <p:txBody>
          <a:bodyPr wrap="square" lIns="0" tIns="0" rIns="0" bIns="0" rtlCol="0" anchor="t"/>
          <a:lstStyle/>
          <a:p>
            <a:pPr indent="0" marL="0">
              <a:buNone/>
            </a:pPr>
            <a:r>
              <a:rPr lang="en-US" sz="2000" b="1" dirty="0">
                <a:solidFill>
                  <a:srgbClr val="D2283A"/>
                </a:solidFill>
                <a:latin typeface="Oswald" pitchFamily="34" charset="0"/>
                <a:ea typeface="Oswald" pitchFamily="34" charset="-122"/>
                <a:cs typeface="Oswald" pitchFamily="34" charset="-120"/>
              </a:rPr>
              <a:t>AFTER DARK</a:t>
            </a:r>
            <a:endParaRPr lang="en-US" sz="2000" dirty="0"/>
          </a:p>
        </p:txBody>
      </p:sp>
      <p:sp>
        <p:nvSpPr>
          <p:cNvPr id="31" name="Text 29"/>
          <p:cNvSpPr txBox="1"/>
          <p:nvPr/>
        </p:nvSpPr>
        <p:spPr>
          <a:xfrm>
            <a:off x="950976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Crimson Navy</a:t>
            </a:r>
            <a:endParaRPr lang="en-US" sz="1100" dirty="0"/>
          </a:p>
        </p:txBody>
      </p:sp>
      <p:sp>
        <p:nvSpPr>
          <p:cNvPr id="32" name="Text 30"/>
          <p:cNvSpPr txBox="1"/>
          <p:nvPr/>
        </p:nvSpPr>
        <p:spPr>
          <a:xfrm>
            <a:off x="950976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E1  Unfinished</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E2  Red / Blue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E3  Shor Nahi. Signal.</a:t>
            </a:r>
            <a:endParaRPr lang="en-US" sz="950" dirty="0"/>
          </a:p>
        </p:txBody>
      </p:sp>
      <p:sp>
        <p:nvSpPr>
          <p:cNvPr id="33" name="Text 31"/>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1050" b="1" spc="100" kern="0" dirty="0">
                <a:solidFill>
                  <a:srgbClr val="C9A45C"/>
                </a:solidFill>
                <a:latin typeface="Inter" pitchFamily="34" charset="0"/>
                <a:ea typeface="Inter" pitchFamily="34" charset="-122"/>
                <a:cs typeface="Inter" pitchFamily="34" charset="-120"/>
              </a:rPr>
              <a:t>Every reel ends on the same promise:  WEAR YOUR TIME. COMMAND YOUR PRESENCE. BUILD YOUR LEGACY.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TONE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04</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BOLD. ALPHA. TIME. — THE RULES ON SET</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POWER IS FELT, NOT ANNOUNCED.</a:t>
            </a:r>
            <a:endParaRPr lang="en-US" sz="3400" dirty="0"/>
          </a:p>
        </p:txBody>
      </p:sp>
      <p:sp>
        <p:nvSpPr>
          <p:cNvPr id="6" name="Text 4"/>
          <p:cNvSpPr txBox="1"/>
          <p:nvPr/>
        </p:nvSpPr>
        <p:spPr>
          <a:xfrm>
            <a:off x="54864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01</a:t>
            </a:r>
            <a:endParaRPr lang="en-US" sz="2000" dirty="0"/>
          </a:p>
        </p:txBody>
      </p:sp>
      <p:sp>
        <p:nvSpPr>
          <p:cNvPr id="7" name="Text 5"/>
          <p:cNvSpPr txBox="1"/>
          <p:nvPr/>
        </p:nvSpPr>
        <p:spPr>
          <a:xfrm>
            <a:off x="118872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WATCH IS ALWAYS WORN</a:t>
            </a:r>
            <a:endParaRPr lang="en-US" sz="1200" dirty="0"/>
          </a:p>
        </p:txBody>
      </p:sp>
      <p:sp>
        <p:nvSpPr>
          <p:cNvPr id="8" name="Text 6"/>
          <p:cNvSpPr txBox="1"/>
          <p:nvPr/>
        </p:nvSpPr>
        <p:spPr>
          <a:xfrm>
            <a:off x="118872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It never lies on a floor, table, thali or cloth. In every reel it is on Mukesh ji's wrist; in the product shoot it sits on a stand or a pillow.</a:t>
            </a:r>
            <a:endParaRPr lang="en-US" sz="1050" dirty="0"/>
          </a:p>
        </p:txBody>
      </p:sp>
      <p:sp>
        <p:nvSpPr>
          <p:cNvPr id="9" name="Text 7"/>
          <p:cNvSpPr txBox="1"/>
          <p:nvPr/>
        </p:nvSpPr>
        <p:spPr>
          <a:xfrm>
            <a:off x="617220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02</a:t>
            </a:r>
            <a:endParaRPr lang="en-US" sz="2000" dirty="0"/>
          </a:p>
        </p:txBody>
      </p:sp>
      <p:sp>
        <p:nvSpPr>
          <p:cNvPr id="10" name="Text 8"/>
          <p:cNvSpPr txBox="1"/>
          <p:nvPr/>
        </p:nvSpPr>
        <p:spPr>
          <a:xfrm>
            <a:off x="681228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RESTRAINT OVER NOISE</a:t>
            </a:r>
            <a:endParaRPr lang="en-US" sz="1200" dirty="0"/>
          </a:p>
        </p:txBody>
      </p:sp>
      <p:sp>
        <p:nvSpPr>
          <p:cNvPr id="11" name="Text 9"/>
          <p:cNvSpPr txBox="1"/>
          <p:nvPr/>
        </p:nvSpPr>
        <p:spPr>
          <a:xfrm>
            <a:off x="681228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Neetu: "The loudest man in the room is usually the most insecure." No shouting, no flexing, no money-gun energy. Stillness reads as power.</a:t>
            </a:r>
            <a:endParaRPr lang="en-US" sz="1050" dirty="0"/>
          </a:p>
        </p:txBody>
      </p:sp>
      <p:sp>
        <p:nvSpPr>
          <p:cNvPr id="12" name="Text 10"/>
          <p:cNvSpPr txBox="1"/>
          <p:nvPr/>
        </p:nvSpPr>
        <p:spPr>
          <a:xfrm>
            <a:off x="54864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03</a:t>
            </a:r>
            <a:endParaRPr lang="en-US" sz="2000" dirty="0"/>
          </a:p>
        </p:txBody>
      </p:sp>
      <p:sp>
        <p:nvSpPr>
          <p:cNvPr id="13" name="Text 11"/>
          <p:cNvSpPr txBox="1"/>
          <p:nvPr/>
        </p:nvSpPr>
        <p:spPr>
          <a:xfrm>
            <a:off x="118872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CASE IS ALWAYS SHARP</a:t>
            </a:r>
            <a:endParaRPr lang="en-US" sz="1200" dirty="0"/>
          </a:p>
        </p:txBody>
      </p:sp>
      <p:sp>
        <p:nvSpPr>
          <p:cNvPr id="14" name="Text 12"/>
          <p:cNvSpPr txBox="1"/>
          <p:nvPr/>
        </p:nvSpPr>
        <p:spPr>
          <a:xfrm>
            <a:off x="118872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Every reel has at least one macro where the eight bezel screws and the WR monogram are in focus.</a:t>
            </a:r>
            <a:endParaRPr lang="en-US" sz="1050" dirty="0"/>
          </a:p>
        </p:txBody>
      </p:sp>
      <p:sp>
        <p:nvSpPr>
          <p:cNvPr id="15" name="Text 13"/>
          <p:cNvSpPr txBox="1"/>
          <p:nvPr/>
        </p:nvSpPr>
        <p:spPr>
          <a:xfrm>
            <a:off x="617220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04</a:t>
            </a:r>
            <a:endParaRPr lang="en-US" sz="2000" dirty="0"/>
          </a:p>
        </p:txBody>
      </p:sp>
      <p:sp>
        <p:nvSpPr>
          <p:cNvPr id="16" name="Text 14"/>
          <p:cNvSpPr txBox="1"/>
          <p:nvPr/>
        </p:nvSpPr>
        <p:spPr>
          <a:xfrm>
            <a:off x="681228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ONE COLOUR STORY PER WATCH</a:t>
            </a:r>
            <a:endParaRPr lang="en-US" sz="1200" dirty="0"/>
          </a:p>
        </p:txBody>
      </p:sp>
      <p:sp>
        <p:nvSpPr>
          <p:cNvPr id="17" name="Text 15"/>
          <p:cNvSpPr txBox="1"/>
          <p:nvPr/>
        </p:nvSpPr>
        <p:spPr>
          <a:xfrm>
            <a:off x="681228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Wardrobe, props and light take their colours from the dial. Nothing in frame fights the watch.</a:t>
            </a:r>
            <a:endParaRPr lang="en-US" sz="1050" dirty="0"/>
          </a:p>
        </p:txBody>
      </p:sp>
      <p:sp>
        <p:nvSpPr>
          <p:cNvPr id="18" name="Text 16"/>
          <p:cNvSpPr txBox="1"/>
          <p:nvPr/>
        </p:nvSpPr>
        <p:spPr>
          <a:xfrm>
            <a:off x="54864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05</a:t>
            </a:r>
            <a:endParaRPr lang="en-US" sz="2000" dirty="0"/>
          </a:p>
        </p:txBody>
      </p:sp>
      <p:sp>
        <p:nvSpPr>
          <p:cNvPr id="19" name="Text 17"/>
          <p:cNvSpPr txBox="1"/>
          <p:nvPr/>
        </p:nvSpPr>
        <p:spPr>
          <a:xfrm>
            <a:off x="118872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HINGLISH, LOW AND SLOW</a:t>
            </a:r>
            <a:endParaRPr lang="en-US" sz="1200" dirty="0"/>
          </a:p>
        </p:txBody>
      </p:sp>
      <p:sp>
        <p:nvSpPr>
          <p:cNvPr id="20" name="Text 18"/>
          <p:cNvSpPr txBox="1"/>
          <p:nvPr/>
        </p:nvSpPr>
        <p:spPr>
          <a:xfrm>
            <a:off x="118872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Mukesh ji speaks like he isn't trying to convince anyone. Short lines, pauses, no smile on the last word.</a:t>
            </a:r>
            <a:endParaRPr lang="en-US" sz="1050" dirty="0"/>
          </a:p>
        </p:txBody>
      </p:sp>
      <p:sp>
        <p:nvSpPr>
          <p:cNvPr id="21" name="Text 19"/>
          <p:cNvSpPr txBox="1"/>
          <p:nvPr/>
        </p:nvSpPr>
        <p:spPr>
          <a:xfrm>
            <a:off x="617220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06</a:t>
            </a:r>
            <a:endParaRPr lang="en-US" sz="2000" dirty="0"/>
          </a:p>
        </p:txBody>
      </p:sp>
      <p:sp>
        <p:nvSpPr>
          <p:cNvPr id="22" name="Text 20"/>
          <p:cNvSpPr txBox="1"/>
          <p:nvPr/>
        </p:nvSpPr>
        <p:spPr>
          <a:xfrm>
            <a:off x="681228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SIGNATURE SOUND + ONE ENGLISH LINE</a:t>
            </a:r>
            <a:endParaRPr lang="en-US" sz="1200" dirty="0"/>
          </a:p>
        </p:txBody>
      </p:sp>
      <p:sp>
        <p:nvSpPr>
          <p:cNvPr id="23" name="Text 21"/>
          <p:cNvSpPr txBox="1"/>
          <p:nvPr/>
        </p:nvSpPr>
        <p:spPr>
          <a:xfrm>
            <a:off x="681228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The clasp click or one dry tick in every reel. Hinglish lives in the voice; the screen carries one English line, never more than 8 words.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WATCHES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05</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FIVE WATCHES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EACH ONE OWNS AN HOUR.</a:t>
            </a:r>
            <a:endParaRPr lang="en-US" sz="3400" dirty="0"/>
          </a:p>
        </p:txBody>
      </p:sp>
      <p:pic>
        <p:nvPicPr>
          <p:cNvPr id="6" name="Image 0" descr="/tmp/claude-0/-home-user-Sage-portfolio/d05fecce-977e-5eab-9cf5-7c09b306c551/scratchpad/wrdeck/img/crop_green.jpg">    </p:cNvPr>
          <p:cNvPicPr>
            <a:picLocks noChangeAspect="1"/>
          </p:cNvPicPr>
          <p:nvPr/>
        </p:nvPicPr>
        <p:blipFill>
          <a:blip r:embed="rId1"/>
          <a:srcRect l="0" r="0" t="0" b="0"/>
          <a:stretch/>
        </p:blipFill>
        <p:spPr>
          <a:xfrm>
            <a:off x="548640" y="1691640"/>
            <a:ext cx="2103120" cy="2560320"/>
          </a:xfrm>
          <a:prstGeom prst="rect">
            <a:avLst/>
          </a:prstGeom>
        </p:spPr>
      </p:pic>
      <p:sp>
        <p:nvSpPr>
          <p:cNvPr id="7" name="Shape 4"/>
          <p:cNvSpPr/>
          <p:nvPr/>
        </p:nvSpPr>
        <p:spPr>
          <a:xfrm>
            <a:off x="548640" y="4315968"/>
            <a:ext cx="2103120" cy="54864"/>
          </a:xfrm>
          <a:prstGeom prst="rect">
            <a:avLst/>
          </a:prstGeom>
          <a:solidFill>
            <a:srgbClr val="E8DFC8"/>
          </a:solidFill>
          <a:ln w="12700">
            <a:solidFill>
              <a:srgbClr val="E8DFC8"/>
            </a:solidFill>
            <a:prstDash val="solid"/>
          </a:ln>
        </p:spPr>
      </p:sp>
      <p:sp>
        <p:nvSpPr>
          <p:cNvPr id="8" name="Text 5"/>
          <p:cNvSpPr txBox="1"/>
          <p:nvPr/>
        </p:nvSpPr>
        <p:spPr>
          <a:xfrm>
            <a:off x="548640"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FOREST IVORY</a:t>
            </a:r>
            <a:endParaRPr lang="en-US" sz="1600" dirty="0"/>
          </a:p>
        </p:txBody>
      </p:sp>
      <p:sp>
        <p:nvSpPr>
          <p:cNvPr id="9" name="Text 6"/>
          <p:cNvSpPr txBox="1"/>
          <p:nvPr/>
        </p:nvSpPr>
        <p:spPr>
          <a:xfrm>
            <a:off x="548640"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Ivory case · white waffle dial · bottle-green strap</a:t>
            </a:r>
            <a:endParaRPr lang="en-US" sz="950" dirty="0"/>
          </a:p>
        </p:txBody>
      </p:sp>
      <p:sp>
        <p:nvSpPr>
          <p:cNvPr id="10" name="Text 7"/>
          <p:cNvSpPr txBox="1"/>
          <p:nvPr/>
        </p:nvSpPr>
        <p:spPr>
          <a:xfrm>
            <a:off x="548640"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ROOTS  ·  Morning light</a:t>
            </a:r>
            <a:endParaRPr lang="en-US" sz="900" dirty="0"/>
          </a:p>
        </p:txBody>
      </p:sp>
      <p:pic>
        <p:nvPicPr>
          <p:cNvPr id="11" name="Image 1" descr="/tmp/claude-0/-home-user-Sage-portfolio/d05fecce-977e-5eab-9cf5-7c09b306c551/scratchpad/wrdeck/img/crop_lime.jpg">    </p:cNvPr>
          <p:cNvPicPr>
            <a:picLocks noChangeAspect="1"/>
          </p:cNvPicPr>
          <p:nvPr/>
        </p:nvPicPr>
        <p:blipFill>
          <a:blip r:embed="rId2"/>
          <a:srcRect l="0" r="0" t="0" b="0"/>
          <a:stretch/>
        </p:blipFill>
        <p:spPr>
          <a:xfrm>
            <a:off x="2807208" y="1691640"/>
            <a:ext cx="2103120" cy="2560320"/>
          </a:xfrm>
          <a:prstGeom prst="rect">
            <a:avLst/>
          </a:prstGeom>
        </p:spPr>
      </p:pic>
      <p:sp>
        <p:nvSpPr>
          <p:cNvPr id="12" name="Shape 8"/>
          <p:cNvSpPr/>
          <p:nvPr/>
        </p:nvSpPr>
        <p:spPr>
          <a:xfrm>
            <a:off x="2807208" y="4315968"/>
            <a:ext cx="2103120" cy="54864"/>
          </a:xfrm>
          <a:prstGeom prst="rect">
            <a:avLst/>
          </a:prstGeom>
          <a:solidFill>
            <a:srgbClr val="D7F25A"/>
          </a:solidFill>
          <a:ln w="12700">
            <a:solidFill>
              <a:srgbClr val="D7F25A"/>
            </a:solidFill>
            <a:prstDash val="solid"/>
          </a:ln>
        </p:spPr>
      </p:sp>
      <p:sp>
        <p:nvSpPr>
          <p:cNvPr id="13" name="Text 9"/>
          <p:cNvSpPr txBox="1"/>
          <p:nvPr/>
        </p:nvSpPr>
        <p:spPr>
          <a:xfrm>
            <a:off x="2807208"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CITRUS MINT</a:t>
            </a:r>
            <a:endParaRPr lang="en-US" sz="1600" dirty="0"/>
          </a:p>
        </p:txBody>
      </p:sp>
      <p:sp>
        <p:nvSpPr>
          <p:cNvPr id="14" name="Text 10"/>
          <p:cNvSpPr txBox="1"/>
          <p:nvPr/>
        </p:nvSpPr>
        <p:spPr>
          <a:xfrm>
            <a:off x="2807208"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Lime case · mint waffle dial · mint strap</a:t>
            </a:r>
            <a:endParaRPr lang="en-US" sz="950" dirty="0"/>
          </a:p>
        </p:txBody>
      </p:sp>
      <p:sp>
        <p:nvSpPr>
          <p:cNvPr id="15" name="Text 11"/>
          <p:cNvSpPr txBox="1"/>
          <p:nvPr/>
        </p:nvSpPr>
        <p:spPr>
          <a:xfrm>
            <a:off x="2807208"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DISCIPLINE  ·  First light</a:t>
            </a:r>
            <a:endParaRPr lang="en-US" sz="900" dirty="0"/>
          </a:p>
        </p:txBody>
      </p:sp>
      <p:pic>
        <p:nvPicPr>
          <p:cNvPr id="16" name="Image 2" descr="/tmp/claude-0/-home-user-Sage-portfolio/d05fecce-977e-5eab-9cf5-7c09b306c551/scratchpad/wrdeck/img/crop_skyblue.jpg">    </p:cNvPr>
          <p:cNvPicPr>
            <a:picLocks noChangeAspect="1"/>
          </p:cNvPicPr>
          <p:nvPr/>
        </p:nvPicPr>
        <p:blipFill>
          <a:blip r:embed="rId3"/>
          <a:srcRect l="0" r="0" t="0" b="0"/>
          <a:stretch/>
        </p:blipFill>
        <p:spPr>
          <a:xfrm>
            <a:off x="5065776" y="1691640"/>
            <a:ext cx="2103120" cy="2560320"/>
          </a:xfrm>
          <a:prstGeom prst="rect">
            <a:avLst/>
          </a:prstGeom>
        </p:spPr>
      </p:pic>
      <p:sp>
        <p:nvSpPr>
          <p:cNvPr id="17" name="Shape 12"/>
          <p:cNvSpPr/>
          <p:nvPr/>
        </p:nvSpPr>
        <p:spPr>
          <a:xfrm>
            <a:off x="5065776" y="4315968"/>
            <a:ext cx="2103120" cy="54864"/>
          </a:xfrm>
          <a:prstGeom prst="rect">
            <a:avLst/>
          </a:prstGeom>
          <a:solidFill>
            <a:srgbClr val="8EC9EE"/>
          </a:solidFill>
          <a:ln w="12700">
            <a:solidFill>
              <a:srgbClr val="8EC9EE"/>
            </a:solidFill>
            <a:prstDash val="solid"/>
          </a:ln>
        </p:spPr>
      </p:sp>
      <p:sp>
        <p:nvSpPr>
          <p:cNvPr id="18" name="Text 13"/>
          <p:cNvSpPr txBox="1"/>
          <p:nvPr/>
        </p:nvSpPr>
        <p:spPr>
          <a:xfrm>
            <a:off x="5065776"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CERULEAN</a:t>
            </a:r>
            <a:endParaRPr lang="en-US" sz="1600" dirty="0"/>
          </a:p>
        </p:txBody>
      </p:sp>
      <p:sp>
        <p:nvSpPr>
          <p:cNvPr id="19" name="Text 14"/>
          <p:cNvSpPr txBox="1"/>
          <p:nvPr/>
        </p:nvSpPr>
        <p:spPr>
          <a:xfrm>
            <a:off x="5065776"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Sky-blue case · white waffle dial · navy strap</a:t>
            </a:r>
            <a:endParaRPr lang="en-US" sz="950" dirty="0"/>
          </a:p>
        </p:txBody>
      </p:sp>
      <p:sp>
        <p:nvSpPr>
          <p:cNvPr id="20" name="Text 15"/>
          <p:cNvSpPr txBox="1"/>
          <p:nvPr/>
        </p:nvSpPr>
        <p:spPr>
          <a:xfrm>
            <a:off x="5065776"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BUILD  ·  Midday</a:t>
            </a:r>
            <a:endParaRPr lang="en-US" sz="900" dirty="0"/>
          </a:p>
        </p:txBody>
      </p:sp>
      <p:pic>
        <p:nvPicPr>
          <p:cNvPr id="21" name="Image 3" descr="/tmp/claude-0/-home-user-Sage-portfolio/d05fecce-977e-5eab-9cf5-7c09b306c551/scratchpad/wrdeck/img/crop_orange.jpg">    </p:cNvPr>
          <p:cNvPicPr>
            <a:picLocks noChangeAspect="1"/>
          </p:cNvPicPr>
          <p:nvPr/>
        </p:nvPicPr>
        <p:blipFill>
          <a:blip r:embed="rId4"/>
          <a:srcRect l="0" r="0" t="0" b="0"/>
          <a:stretch/>
        </p:blipFill>
        <p:spPr>
          <a:xfrm>
            <a:off x="7324344" y="1691640"/>
            <a:ext cx="2103120" cy="2560320"/>
          </a:xfrm>
          <a:prstGeom prst="rect">
            <a:avLst/>
          </a:prstGeom>
        </p:spPr>
      </p:pic>
      <p:sp>
        <p:nvSpPr>
          <p:cNvPr id="22" name="Shape 16"/>
          <p:cNvSpPr/>
          <p:nvPr/>
        </p:nvSpPr>
        <p:spPr>
          <a:xfrm>
            <a:off x="7324344" y="4315968"/>
            <a:ext cx="2103120" cy="54864"/>
          </a:xfrm>
          <a:prstGeom prst="rect">
            <a:avLst/>
          </a:prstGeom>
          <a:solidFill>
            <a:srgbClr val="F28C28"/>
          </a:solidFill>
          <a:ln w="12700">
            <a:solidFill>
              <a:srgbClr val="F28C28"/>
            </a:solidFill>
            <a:prstDash val="solid"/>
          </a:ln>
        </p:spPr>
      </p:sp>
      <p:sp>
        <p:nvSpPr>
          <p:cNvPr id="23" name="Text 17"/>
          <p:cNvSpPr txBox="1"/>
          <p:nvPr/>
        </p:nvSpPr>
        <p:spPr>
          <a:xfrm>
            <a:off x="7324344"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ROYAL TANGERINE</a:t>
            </a:r>
            <a:endParaRPr lang="en-US" sz="1600" dirty="0"/>
          </a:p>
        </p:txBody>
      </p:sp>
      <p:sp>
        <p:nvSpPr>
          <p:cNvPr id="24" name="Text 18"/>
          <p:cNvSpPr txBox="1"/>
          <p:nvPr/>
        </p:nvSpPr>
        <p:spPr>
          <a:xfrm>
            <a:off x="7324344"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Royal-blue case · orange striped dial · orange strap</a:t>
            </a:r>
            <a:endParaRPr lang="en-US" sz="950" dirty="0"/>
          </a:p>
        </p:txBody>
      </p:sp>
      <p:sp>
        <p:nvSpPr>
          <p:cNvPr id="25" name="Text 19"/>
          <p:cNvSpPr txBox="1"/>
          <p:nvPr/>
        </p:nvSpPr>
        <p:spPr>
          <a:xfrm>
            <a:off x="7324344"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UTSAV · DIWALI  ·  Afternoon → dusk</a:t>
            </a:r>
            <a:endParaRPr lang="en-US" sz="900" dirty="0"/>
          </a:p>
        </p:txBody>
      </p:sp>
      <p:pic>
        <p:nvPicPr>
          <p:cNvPr id="26" name="Image 4" descr="/tmp/claude-0/-home-user-Sage-portfolio/d05fecce-977e-5eab-9cf5-7c09b306c551/scratchpad/wrdeck/img/crop_redblue.jpg">    </p:cNvPr>
          <p:cNvPicPr>
            <a:picLocks noChangeAspect="1"/>
          </p:cNvPicPr>
          <p:nvPr/>
        </p:nvPicPr>
        <p:blipFill>
          <a:blip r:embed="rId5"/>
          <a:srcRect l="0" r="0" t="0" b="0"/>
          <a:stretch/>
        </p:blipFill>
        <p:spPr>
          <a:xfrm>
            <a:off x="9582912" y="1691640"/>
            <a:ext cx="2103120" cy="2560320"/>
          </a:xfrm>
          <a:prstGeom prst="rect">
            <a:avLst/>
          </a:prstGeom>
        </p:spPr>
      </p:pic>
      <p:sp>
        <p:nvSpPr>
          <p:cNvPr id="27" name="Shape 20"/>
          <p:cNvSpPr/>
          <p:nvPr/>
        </p:nvSpPr>
        <p:spPr>
          <a:xfrm>
            <a:off x="9582912" y="4315968"/>
            <a:ext cx="2103120" cy="54864"/>
          </a:xfrm>
          <a:prstGeom prst="rect">
            <a:avLst/>
          </a:prstGeom>
          <a:solidFill>
            <a:srgbClr val="D2283A"/>
          </a:solidFill>
          <a:ln w="12700">
            <a:solidFill>
              <a:srgbClr val="D2283A"/>
            </a:solidFill>
            <a:prstDash val="solid"/>
          </a:ln>
        </p:spPr>
      </p:sp>
      <p:sp>
        <p:nvSpPr>
          <p:cNvPr id="28" name="Text 21"/>
          <p:cNvSpPr txBox="1"/>
          <p:nvPr/>
        </p:nvSpPr>
        <p:spPr>
          <a:xfrm>
            <a:off x="9582912"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CRIMSON NAVY</a:t>
            </a:r>
            <a:endParaRPr lang="en-US" sz="1600" dirty="0"/>
          </a:p>
        </p:txBody>
      </p:sp>
      <p:sp>
        <p:nvSpPr>
          <p:cNvPr id="29" name="Text 22"/>
          <p:cNvSpPr txBox="1"/>
          <p:nvPr/>
        </p:nvSpPr>
        <p:spPr>
          <a:xfrm>
            <a:off x="9582912"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Navy case · red textured dial · red strap · rose-gold hands</a:t>
            </a:r>
            <a:endParaRPr lang="en-US" sz="950" dirty="0"/>
          </a:p>
        </p:txBody>
      </p:sp>
      <p:sp>
        <p:nvSpPr>
          <p:cNvPr id="30" name="Text 23"/>
          <p:cNvSpPr txBox="1"/>
          <p:nvPr/>
        </p:nvSpPr>
        <p:spPr>
          <a:xfrm>
            <a:off x="9582912"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AFTER DARK  ·  Night</a:t>
            </a:r>
            <a:endParaRPr lang="en-US" sz="900" dirty="0"/>
          </a:p>
        </p:txBody>
      </p:sp>
      <p:sp>
        <p:nvSpPr>
          <p:cNvPr id="31" name="Text 24"/>
          <p:cNvSpPr txBox="1"/>
          <p:nvPr/>
        </p:nvSpPr>
        <p:spPr>
          <a:xfrm>
            <a:off x="548640" y="5943600"/>
            <a:ext cx="10972800" cy="274320"/>
          </a:xfrm>
          <a:prstGeom prst="rect">
            <a:avLst/>
          </a:prstGeom>
          <a:noFill/>
          <a:ln/>
        </p:spPr>
        <p:txBody>
          <a:bodyPr wrap="square" lIns="0" tIns="0" rIns="0" bIns="0" rtlCol="0" anchor="t"/>
          <a:lstStyle/>
          <a:p>
            <a:pPr indent="0" marL="0">
              <a:buNone/>
            </a:pPr>
            <a:r>
              <a:rPr lang="en-US" sz="1000" dirty="0">
                <a:solidFill>
                  <a:srgbClr val="5CFF7A"/>
                </a:solidFill>
                <a:latin typeface="Inter" pitchFamily="34" charset="0"/>
                <a:ea typeface="Inter" pitchFamily="34" charset="-122"/>
                <a:cs typeface="Inter" pitchFamily="34" charset="-120"/>
              </a:rPr>
              <a:t>All five carry the full-case night glow — charge the lume with a UV torch for 30 s before every glow shot.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06</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LOCATION · ONE RENTED HAVELI + FREE PUBLIC SPOTS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ROOF. FIVE HOURS OF LIGHT.</a:t>
            </a:r>
            <a:endParaRPr lang="en-US" sz="3400" dirty="0"/>
          </a:p>
        </p:txBody>
      </p:sp>
      <p:sp>
        <p:nvSpPr>
          <p:cNvPr id="6" name="Shape 4"/>
          <p:cNvSpPr/>
          <p:nvPr/>
        </p:nvSpPr>
        <p:spPr>
          <a:xfrm>
            <a:off x="548640" y="1691640"/>
            <a:ext cx="6400800" cy="2377440"/>
          </a:xfrm>
          <a:prstGeom prst="rect">
            <a:avLst/>
          </a:prstGeom>
          <a:solidFill>
            <a:srgbClr val="151513"/>
          </a:solidFill>
          <a:ln w="9525">
            <a:solidFill>
              <a:srgbClr val="2B2A26"/>
            </a:solidFill>
            <a:prstDash val="solid"/>
          </a:ln>
        </p:spPr>
      </p:sp>
      <p:sp>
        <p:nvSpPr>
          <p:cNvPr id="7" name="Text 5"/>
          <p:cNvSpPr txBox="1"/>
          <p:nvPr/>
        </p:nvSpPr>
        <p:spPr>
          <a:xfrm>
            <a:off x="777240" y="1828800"/>
            <a:ext cx="18288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OUR PICK</a:t>
            </a:r>
            <a:endParaRPr lang="en-US" sz="750" dirty="0"/>
          </a:p>
        </p:txBody>
      </p:sp>
      <p:sp>
        <p:nvSpPr>
          <p:cNvPr id="8" name="Text 6"/>
          <p:cNvSpPr txBox="1"/>
          <p:nvPr/>
        </p:nvSpPr>
        <p:spPr>
          <a:xfrm>
            <a:off x="777240" y="2057400"/>
            <a:ext cx="4114800" cy="457200"/>
          </a:xfrm>
          <a:prstGeom prst="rect">
            <a:avLst/>
          </a:prstGeom>
          <a:noFill/>
          <a:ln/>
        </p:spPr>
        <p:txBody>
          <a:bodyPr wrap="square" lIns="0" tIns="0" rIns="0" bIns="0" rtlCol="0" anchor="t"/>
          <a:lstStyle/>
          <a:p>
            <a:pPr indent="0" marL="0">
              <a:buNone/>
            </a:pPr>
            <a:r>
              <a:rPr lang="en-US" sz="2600" b="1" dirty="0">
                <a:solidFill>
                  <a:srgbClr val="F2EDE4"/>
                </a:solidFill>
                <a:latin typeface="Oswald" pitchFamily="34" charset="0"/>
                <a:ea typeface="Oswald" pitchFamily="34" charset="-122"/>
                <a:cs typeface="Oswald" pitchFamily="34" charset="-120"/>
              </a:rPr>
              <a:t>SAMODE HAVELI</a:t>
            </a:r>
            <a:endParaRPr lang="en-US" sz="2600" dirty="0"/>
          </a:p>
        </p:txBody>
      </p:sp>
      <p:sp>
        <p:nvSpPr>
          <p:cNvPr id="9" name="Text 7"/>
          <p:cNvSpPr txBox="1"/>
          <p:nvPr/>
        </p:nvSpPr>
        <p:spPr>
          <a:xfrm>
            <a:off x="777240" y="2560320"/>
            <a:ext cx="5943600" cy="27432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Gangapole, inside the walled city</a:t>
            </a:r>
            <a:endParaRPr lang="en-US" sz="950" dirty="0"/>
          </a:p>
        </p:txBody>
      </p:sp>
      <p:sp>
        <p:nvSpPr>
          <p:cNvPr id="10" name="Text 8"/>
          <p:cNvSpPr txBox="1"/>
          <p:nvPr/>
        </p:nvSpPr>
        <p:spPr>
          <a:xfrm>
            <a:off x="777240" y="2880360"/>
            <a:ext cx="5943600" cy="1097280"/>
          </a:xfrm>
          <a:prstGeom prst="rect">
            <a:avLst/>
          </a:prstGeom>
          <a:noFill/>
          <a:ln/>
        </p:spPr>
        <p:txBody>
          <a:bodyPr wrap="square" lIns="0" tIns="0" rIns="0" bIns="0" rtlCol="0" anchor="t"/>
          <a:lstStyle/>
          <a:p>
            <a:pPr indent="0" marL="0">
              <a:lnSpc>
                <a:spcPct val="112000"/>
              </a:lnSpc>
              <a:buNone/>
            </a:pPr>
            <a:r>
              <a:rPr lang="en-US" sz="1050" dirty="0">
                <a:solidFill>
                  <a:srgbClr val="F2EDE4"/>
                </a:solidFill>
                <a:latin typeface="Inter" pitchFamily="34" charset="0"/>
                <a:ea typeface="Inter" pitchFamily="34" charset="-122"/>
                <a:cs typeface="Inter" pitchFamily="34" charset="-120"/>
              </a:rPr>
              <a:t>A 19th-century haveli hotel: courtyards, painted rooms, rooftop terraces over the old city, a pool and dark interiors — every one of the five worlds under one roof, and Hawa Mahal and the bazaars are minutes away for the free city shots.</a:t>
            </a:r>
            <a:endParaRPr lang="en-US" sz="1050" dirty="0"/>
          </a:p>
        </p:txBody>
      </p:sp>
      <p:sp>
        <p:nvSpPr>
          <p:cNvPr id="11" name="Shape 9"/>
          <p:cNvSpPr/>
          <p:nvPr/>
        </p:nvSpPr>
        <p:spPr>
          <a:xfrm>
            <a:off x="548640" y="4206240"/>
            <a:ext cx="6400800" cy="1234440"/>
          </a:xfrm>
          <a:prstGeom prst="rect">
            <a:avLst/>
          </a:prstGeom>
          <a:solidFill>
            <a:srgbClr val="151513"/>
          </a:solidFill>
          <a:ln w="9525">
            <a:solidFill>
              <a:srgbClr val="2B2A26"/>
            </a:solidFill>
            <a:prstDash val="solid"/>
          </a:ln>
        </p:spPr>
      </p:sp>
      <p:sp>
        <p:nvSpPr>
          <p:cNvPr id="12" name="Text 10"/>
          <p:cNvSpPr txBox="1"/>
          <p:nvPr/>
        </p:nvSpPr>
        <p:spPr>
          <a:xfrm>
            <a:off x="777240" y="4343400"/>
            <a:ext cx="1828800" cy="201168"/>
          </a:xfrm>
          <a:prstGeom prst="rect">
            <a:avLst/>
          </a:prstGeom>
          <a:noFill/>
          <a:ln/>
        </p:spPr>
        <p:txBody>
          <a:bodyPr wrap="square" lIns="0" tIns="0" rIns="0" bIns="0" rtlCol="0" anchor="t"/>
          <a:lstStyle/>
          <a:p>
            <a:pPr indent="0" marL="0">
              <a:buNone/>
            </a:pPr>
            <a:r>
              <a:rPr lang="en-US" sz="750" b="1" spc="300" kern="0" dirty="0">
                <a:solidFill>
                  <a:srgbClr val="9C978E"/>
                </a:solidFill>
                <a:latin typeface="Inter" pitchFamily="34" charset="0"/>
                <a:ea typeface="Inter" pitchFamily="34" charset="-122"/>
                <a:cs typeface="Inter" pitchFamily="34" charset="-120"/>
              </a:rPr>
              <a:t>BACKUP</a:t>
            </a:r>
            <a:endParaRPr lang="en-US" sz="750" dirty="0"/>
          </a:p>
        </p:txBody>
      </p:sp>
      <p:sp>
        <p:nvSpPr>
          <p:cNvPr id="13" name="Text 11"/>
          <p:cNvSpPr txBox="1"/>
          <p:nvPr/>
        </p:nvSpPr>
        <p:spPr>
          <a:xfrm>
            <a:off x="777240" y="4572000"/>
            <a:ext cx="59436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ALSISAR HAVELI  ·  Sansar Chandra Rd</a:t>
            </a:r>
            <a:endParaRPr lang="en-US" sz="1400" dirty="0"/>
          </a:p>
        </p:txBody>
      </p:sp>
      <p:sp>
        <p:nvSpPr>
          <p:cNvPr id="14" name="Text 12"/>
          <p:cNvSpPr txBox="1"/>
          <p:nvPr/>
        </p:nvSpPr>
        <p:spPr>
          <a:xfrm>
            <a:off x="777240" y="4919472"/>
            <a:ext cx="594360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Courtyard, jaali work, pool and a central location. Same plan works; slightly less rooftop drama.</a:t>
            </a:r>
            <a:endParaRPr lang="en-US" sz="950" dirty="0"/>
          </a:p>
        </p:txBody>
      </p:sp>
      <p:sp>
        <p:nvSpPr>
          <p:cNvPr id="15" name="Text 13"/>
          <p:cNvSpPr txBox="1"/>
          <p:nvPr/>
        </p:nvSpPr>
        <p:spPr>
          <a:xfrm>
            <a:off x="548640" y="5623560"/>
            <a:ext cx="6400800" cy="457200"/>
          </a:xfrm>
          <a:prstGeom prst="rect">
            <a:avLst/>
          </a:prstGeom>
          <a:noFill/>
          <a:ln/>
        </p:spPr>
        <p:txBody>
          <a:bodyPr wrap="square" lIns="0" tIns="0" rIns="0" bIns="0" rtlCol="0" anchor="t"/>
          <a:lstStyle/>
          <a:p>
            <a:pPr indent="0" marL="0">
              <a:buNone/>
            </a:pPr>
            <a:r>
              <a:rPr lang="en-US" sz="900" dirty="0">
                <a:solidFill>
                  <a:srgbClr val="C9A45C"/>
                </a:solidFill>
                <a:latin typeface="Inter" pitchFamily="34" charset="0"/>
                <a:ea typeface="Inter" pitchFamily="34" charset="-122"/>
                <a:cs typeface="Inter" pitchFamily="34" charset="-120"/>
              </a:rPr>
              <a:t>Book after a recce this week. It is a working hotel — confirm the fee and access in writing.</a:t>
            </a:r>
            <a:endParaRPr lang="en-US" sz="900" dirty="0"/>
          </a:p>
        </p:txBody>
      </p:sp>
      <p:sp>
        <p:nvSpPr>
          <p:cNvPr id="16" name="Shape 14"/>
          <p:cNvSpPr/>
          <p:nvPr/>
        </p:nvSpPr>
        <p:spPr>
          <a:xfrm>
            <a:off x="7269480" y="1691640"/>
            <a:ext cx="4370832" cy="3749040"/>
          </a:xfrm>
          <a:prstGeom prst="rect">
            <a:avLst/>
          </a:prstGeom>
          <a:solidFill>
            <a:srgbClr val="151513"/>
          </a:solidFill>
          <a:ln w="9525">
            <a:solidFill>
              <a:srgbClr val="2B2A26"/>
            </a:solidFill>
            <a:prstDash val="solid"/>
          </a:ln>
        </p:spPr>
      </p:sp>
      <p:sp>
        <p:nvSpPr>
          <p:cNvPr id="17" name="Text 15"/>
          <p:cNvSpPr txBox="1"/>
          <p:nvPr/>
        </p:nvSpPr>
        <p:spPr>
          <a:xfrm>
            <a:off x="7498080" y="1874520"/>
            <a:ext cx="393192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ASK THE HAVELI FOR</a:t>
            </a:r>
            <a:endParaRPr lang="en-US" sz="750" dirty="0"/>
          </a:p>
        </p:txBody>
      </p:sp>
      <p:sp>
        <p:nvSpPr>
          <p:cNvPr id="18" name="Text 16"/>
          <p:cNvSpPr txBox="1"/>
          <p:nvPr/>
        </p:nvSpPr>
        <p:spPr>
          <a:xfrm>
            <a:off x="7498080" y="2194560"/>
            <a:ext cx="3931920" cy="310896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Shoot fee + full-day access 05:00–23:30</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Permission for 200 diyas, a matchstick and a small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One room we can black out completely</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Rooftop + jharokha + study + pool all included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Parking for the car and the kit van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07</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ZONE MAP</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WHICH CORNER SHOOTS WHICH REEL.</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194560"/>
                <a:gridCol w="4572000"/>
                <a:gridCol w="1920240"/>
                <a:gridCol w="237744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ZONE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LIGHT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Haveli rooftop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B1 4:59 · A1 sunrise cutaway · C1 Neev · C2 6 Feet. 6 Inches. · D1 Ek Diya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06:15 · 11:00 · 17:45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First light · hard noon sky · blue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Darwaza + jaali corridor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Pehli Ghadi · A2 Jaali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Low east sun through stone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Chowk (courtyard)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A3 Kitne Ki Hai · D1 diya walk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09:30 · 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Soft bounce · 200 diyas at dusk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Pool-side marble counter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B2 Cold. Sharp. On Time.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10:00–11:00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Bright, clean daylight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Study / library + mirror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empty box · C1 drafting · C3 60 Seconds · E1 desk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08:30 · 11:30 · 19:15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Window → practical lamp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Jharokha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Jaipur Se · D2 thali by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15:15–17:15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Blacked-out room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E2 Red / Blue · all glow inserts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14:15 · 20:00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Red + blue tubes · total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Free public spots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Jal Mahal · D3 Hawa Mahal · D1 bazaars · E3 MI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See next slide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JAIPUR</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08</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JAIPUR CITY SHOTS · ONLY FREE, PUBLIC PLACES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NO TICKETS, NO PERMITS, NO DRONE.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463040"/>
                <a:gridCol w="2926080"/>
                <a:gridCol w="3108960"/>
                <a:gridCol w="3566160"/>
              </a:tblGrid>
              <a:tr h="54864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NOTE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06:50–07:30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sunrise run (with Mukesh ji)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 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Hawa Mahal from the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whip-pan · facade (east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tripod on the pavement.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lanes (Tripolia / Chandpole)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Spare B-roll, colour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18:30–19:30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D1 festival lights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Handheld only; crowds after 7 pm.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21:00–21:30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 Albert Hall exterior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E3 night traffic, lit facade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drone.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516636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Dropped on purpose: Jantar Mantar, Nahargarh, Amer and the Albert Hall interior all need tickets or camera permits. Everything above is shot from public roads and promenades — handheld, crew of three, in and out in under an hour.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MUKESH JI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09</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MUKESH JI · FIVE LOOKS, ONE PER WATCH</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DRESSED BY THE DIAL.</a:t>
            </a:r>
            <a:endParaRPr lang="en-US" sz="3400" dirty="0"/>
          </a:p>
        </p:txBody>
      </p:sp>
      <p:sp>
        <p:nvSpPr>
          <p:cNvPr id="6" name="Shape 4"/>
          <p:cNvSpPr/>
          <p:nvPr/>
        </p:nvSpPr>
        <p:spPr>
          <a:xfrm>
            <a:off x="548640" y="1691640"/>
            <a:ext cx="2103120" cy="4023360"/>
          </a:xfrm>
          <a:prstGeom prst="rect">
            <a:avLst/>
          </a:prstGeom>
          <a:solidFill>
            <a:srgbClr val="151513"/>
          </a:solidFill>
          <a:ln w="9525">
            <a:solidFill>
              <a:srgbClr val="2B2A26"/>
            </a:solidFill>
            <a:prstDash val="solid"/>
          </a:ln>
        </p:spPr>
      </p:sp>
      <p:sp>
        <p:nvSpPr>
          <p:cNvPr id="7" name="Shape 5"/>
          <p:cNvSpPr/>
          <p:nvPr/>
        </p:nvSpPr>
        <p:spPr>
          <a:xfrm>
            <a:off x="548640" y="1691640"/>
            <a:ext cx="2103120" cy="109728"/>
          </a:xfrm>
          <a:prstGeom prst="rect">
            <a:avLst/>
          </a:prstGeom>
          <a:solidFill>
            <a:srgbClr val="E8DFC8"/>
          </a:solidFill>
          <a:ln w="12700">
            <a:solidFill>
              <a:srgbClr val="E8DFC8"/>
            </a:solidFill>
            <a:prstDash val="solid"/>
          </a:ln>
        </p:spPr>
      </p:sp>
      <p:sp>
        <p:nvSpPr>
          <p:cNvPr id="8" name="Text 6"/>
          <p:cNvSpPr txBox="1"/>
          <p:nvPr/>
        </p:nvSpPr>
        <p:spPr>
          <a:xfrm>
            <a:off x="731520"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FOREST IVORY</a:t>
            </a:r>
            <a:endParaRPr lang="en-US" sz="1400" dirty="0"/>
          </a:p>
        </p:txBody>
      </p:sp>
      <p:sp>
        <p:nvSpPr>
          <p:cNvPr id="9" name="Text 7"/>
          <p:cNvSpPr txBox="1"/>
          <p:nvPr/>
        </p:nvSpPr>
        <p:spPr>
          <a:xfrm>
            <a:off x="731520"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ROOTS</a:t>
            </a:r>
            <a:endParaRPr lang="en-US" sz="850" dirty="0"/>
          </a:p>
        </p:txBody>
      </p:sp>
      <p:sp>
        <p:nvSpPr>
          <p:cNvPr id="10" name="Text 8"/>
          <p:cNvSpPr txBox="1"/>
          <p:nvPr/>
        </p:nvSpPr>
        <p:spPr>
          <a:xfrm>
            <a:off x="731520"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950" dirty="0"/>
          </a:p>
        </p:txBody>
      </p:sp>
      <p:sp>
        <p:nvSpPr>
          <p:cNvPr id="11" name="Shape 9"/>
          <p:cNvSpPr/>
          <p:nvPr/>
        </p:nvSpPr>
        <p:spPr>
          <a:xfrm>
            <a:off x="731520" y="5074920"/>
            <a:ext cx="365760" cy="365760"/>
          </a:xfrm>
          <a:prstGeom prst="rect">
            <a:avLst/>
          </a:prstGeom>
          <a:solidFill>
            <a:srgbClr val="E8DFC8"/>
          </a:solidFill>
          <a:ln w="6350">
            <a:solidFill>
              <a:srgbClr val="2B2A26"/>
            </a:solidFill>
            <a:prstDash val="solid"/>
          </a:ln>
        </p:spPr>
      </p:sp>
      <p:sp>
        <p:nvSpPr>
          <p:cNvPr id="12" name="Shape 10"/>
          <p:cNvSpPr/>
          <p:nvPr/>
        </p:nvSpPr>
        <p:spPr>
          <a:xfrm>
            <a:off x="1188720" y="5074920"/>
            <a:ext cx="365760" cy="365760"/>
          </a:xfrm>
          <a:prstGeom prst="rect">
            <a:avLst/>
          </a:prstGeom>
          <a:solidFill>
            <a:srgbClr val="C9A27A"/>
          </a:solidFill>
          <a:ln w="6350">
            <a:solidFill>
              <a:srgbClr val="2B2A26"/>
            </a:solidFill>
            <a:prstDash val="solid"/>
          </a:ln>
        </p:spPr>
      </p:sp>
      <p:sp>
        <p:nvSpPr>
          <p:cNvPr id="13" name="Shape 11"/>
          <p:cNvSpPr/>
          <p:nvPr/>
        </p:nvSpPr>
        <p:spPr>
          <a:xfrm>
            <a:off x="1645920" y="5074920"/>
            <a:ext cx="365760" cy="365760"/>
          </a:xfrm>
          <a:prstGeom prst="rect">
            <a:avLst/>
          </a:prstGeom>
          <a:solidFill>
            <a:srgbClr val="2F5D46"/>
          </a:solidFill>
          <a:ln w="6350">
            <a:solidFill>
              <a:srgbClr val="2B2A26"/>
            </a:solidFill>
            <a:prstDash val="solid"/>
          </a:ln>
        </p:spPr>
      </p:sp>
      <p:sp>
        <p:nvSpPr>
          <p:cNvPr id="14" name="Shape 12"/>
          <p:cNvSpPr/>
          <p:nvPr/>
        </p:nvSpPr>
        <p:spPr>
          <a:xfrm>
            <a:off x="2103120" y="5074920"/>
            <a:ext cx="365760" cy="365760"/>
          </a:xfrm>
          <a:prstGeom prst="rect">
            <a:avLst/>
          </a:prstGeom>
          <a:solidFill>
            <a:srgbClr val="B08D57"/>
          </a:solidFill>
          <a:ln w="6350">
            <a:solidFill>
              <a:srgbClr val="2B2A26"/>
            </a:solidFill>
            <a:prstDash val="solid"/>
          </a:ln>
        </p:spPr>
      </p:sp>
      <p:sp>
        <p:nvSpPr>
          <p:cNvPr id="15" name="Shape 13"/>
          <p:cNvSpPr/>
          <p:nvPr/>
        </p:nvSpPr>
        <p:spPr>
          <a:xfrm>
            <a:off x="2807208" y="1691640"/>
            <a:ext cx="2103120" cy="4023360"/>
          </a:xfrm>
          <a:prstGeom prst="rect">
            <a:avLst/>
          </a:prstGeom>
          <a:solidFill>
            <a:srgbClr val="151513"/>
          </a:solidFill>
          <a:ln w="9525">
            <a:solidFill>
              <a:srgbClr val="2B2A26"/>
            </a:solidFill>
            <a:prstDash val="solid"/>
          </a:ln>
        </p:spPr>
      </p:sp>
      <p:sp>
        <p:nvSpPr>
          <p:cNvPr id="16" name="Shape 14"/>
          <p:cNvSpPr/>
          <p:nvPr/>
        </p:nvSpPr>
        <p:spPr>
          <a:xfrm>
            <a:off x="2807208" y="1691640"/>
            <a:ext cx="2103120" cy="109728"/>
          </a:xfrm>
          <a:prstGeom prst="rect">
            <a:avLst/>
          </a:prstGeom>
          <a:solidFill>
            <a:srgbClr val="D7F25A"/>
          </a:solidFill>
          <a:ln w="12700">
            <a:solidFill>
              <a:srgbClr val="D7F25A"/>
            </a:solidFill>
            <a:prstDash val="solid"/>
          </a:ln>
        </p:spPr>
      </p:sp>
      <p:sp>
        <p:nvSpPr>
          <p:cNvPr id="17" name="Text 15"/>
          <p:cNvSpPr txBox="1"/>
          <p:nvPr/>
        </p:nvSpPr>
        <p:spPr>
          <a:xfrm>
            <a:off x="2990088"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CITRUS MINT</a:t>
            </a:r>
            <a:endParaRPr lang="en-US" sz="1400" dirty="0"/>
          </a:p>
        </p:txBody>
      </p:sp>
      <p:sp>
        <p:nvSpPr>
          <p:cNvPr id="18" name="Text 16"/>
          <p:cNvSpPr txBox="1"/>
          <p:nvPr/>
        </p:nvSpPr>
        <p:spPr>
          <a:xfrm>
            <a:off x="2990088"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DISCIPLINE</a:t>
            </a:r>
            <a:endParaRPr lang="en-US" sz="850" dirty="0"/>
          </a:p>
        </p:txBody>
      </p:sp>
      <p:sp>
        <p:nvSpPr>
          <p:cNvPr id="19" name="Text 17"/>
          <p:cNvSpPr txBox="1"/>
          <p:nvPr/>
        </p:nvSpPr>
        <p:spPr>
          <a:xfrm>
            <a:off x="2990088"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950" dirty="0"/>
          </a:p>
        </p:txBody>
      </p:sp>
      <p:sp>
        <p:nvSpPr>
          <p:cNvPr id="20" name="Shape 18"/>
          <p:cNvSpPr/>
          <p:nvPr/>
        </p:nvSpPr>
        <p:spPr>
          <a:xfrm>
            <a:off x="2990088" y="5074920"/>
            <a:ext cx="365760" cy="365760"/>
          </a:xfrm>
          <a:prstGeom prst="rect">
            <a:avLst/>
          </a:prstGeom>
          <a:solidFill>
            <a:srgbClr val="FFFFFF"/>
          </a:solidFill>
          <a:ln w="6350">
            <a:solidFill>
              <a:srgbClr val="2B2A26"/>
            </a:solidFill>
            <a:prstDash val="solid"/>
          </a:ln>
        </p:spPr>
      </p:sp>
      <p:sp>
        <p:nvSpPr>
          <p:cNvPr id="21" name="Shape 19"/>
          <p:cNvSpPr/>
          <p:nvPr/>
        </p:nvSpPr>
        <p:spPr>
          <a:xfrm>
            <a:off x="3447288" y="5074920"/>
            <a:ext cx="365760" cy="365760"/>
          </a:xfrm>
          <a:prstGeom prst="rect">
            <a:avLst/>
          </a:prstGeom>
          <a:solidFill>
            <a:srgbClr val="D7F25A"/>
          </a:solidFill>
          <a:ln w="6350">
            <a:solidFill>
              <a:srgbClr val="2B2A26"/>
            </a:solidFill>
            <a:prstDash val="solid"/>
          </a:ln>
        </p:spPr>
      </p:sp>
      <p:sp>
        <p:nvSpPr>
          <p:cNvPr id="22" name="Shape 20"/>
          <p:cNvSpPr/>
          <p:nvPr/>
        </p:nvSpPr>
        <p:spPr>
          <a:xfrm>
            <a:off x="3904488" y="5074920"/>
            <a:ext cx="365760" cy="365760"/>
          </a:xfrm>
          <a:prstGeom prst="rect">
            <a:avLst/>
          </a:prstGeom>
          <a:solidFill>
            <a:srgbClr val="8FE3C3"/>
          </a:solidFill>
          <a:ln w="6350">
            <a:solidFill>
              <a:srgbClr val="2B2A26"/>
            </a:solidFill>
            <a:prstDash val="solid"/>
          </a:ln>
        </p:spPr>
      </p:sp>
      <p:sp>
        <p:nvSpPr>
          <p:cNvPr id="23" name="Shape 21"/>
          <p:cNvSpPr/>
          <p:nvPr/>
        </p:nvSpPr>
        <p:spPr>
          <a:xfrm>
            <a:off x="4361688" y="5074920"/>
            <a:ext cx="365760" cy="365760"/>
          </a:xfrm>
          <a:prstGeom prst="rect">
            <a:avLst/>
          </a:prstGeom>
          <a:solidFill>
            <a:srgbClr val="E9D9B8"/>
          </a:solidFill>
          <a:ln w="6350">
            <a:solidFill>
              <a:srgbClr val="2B2A26"/>
            </a:solidFill>
            <a:prstDash val="solid"/>
          </a:ln>
        </p:spPr>
      </p:sp>
      <p:sp>
        <p:nvSpPr>
          <p:cNvPr id="24" name="Shape 22"/>
          <p:cNvSpPr/>
          <p:nvPr/>
        </p:nvSpPr>
        <p:spPr>
          <a:xfrm>
            <a:off x="5065776" y="1691640"/>
            <a:ext cx="2103120" cy="4023360"/>
          </a:xfrm>
          <a:prstGeom prst="rect">
            <a:avLst/>
          </a:prstGeom>
          <a:solidFill>
            <a:srgbClr val="151513"/>
          </a:solidFill>
          <a:ln w="9525">
            <a:solidFill>
              <a:srgbClr val="2B2A26"/>
            </a:solidFill>
            <a:prstDash val="solid"/>
          </a:ln>
        </p:spPr>
      </p:sp>
      <p:sp>
        <p:nvSpPr>
          <p:cNvPr id="25" name="Shape 23"/>
          <p:cNvSpPr/>
          <p:nvPr/>
        </p:nvSpPr>
        <p:spPr>
          <a:xfrm>
            <a:off x="5065776" y="1691640"/>
            <a:ext cx="2103120" cy="109728"/>
          </a:xfrm>
          <a:prstGeom prst="rect">
            <a:avLst/>
          </a:prstGeom>
          <a:solidFill>
            <a:srgbClr val="8EC9EE"/>
          </a:solidFill>
          <a:ln w="12700">
            <a:solidFill>
              <a:srgbClr val="8EC9EE"/>
            </a:solidFill>
            <a:prstDash val="solid"/>
          </a:ln>
        </p:spPr>
      </p:sp>
      <p:sp>
        <p:nvSpPr>
          <p:cNvPr id="26" name="Text 24"/>
          <p:cNvSpPr txBox="1"/>
          <p:nvPr/>
        </p:nvSpPr>
        <p:spPr>
          <a:xfrm>
            <a:off x="5248656"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CERULEAN</a:t>
            </a:r>
            <a:endParaRPr lang="en-US" sz="1400" dirty="0"/>
          </a:p>
        </p:txBody>
      </p:sp>
      <p:sp>
        <p:nvSpPr>
          <p:cNvPr id="27" name="Text 25"/>
          <p:cNvSpPr txBox="1"/>
          <p:nvPr/>
        </p:nvSpPr>
        <p:spPr>
          <a:xfrm>
            <a:off x="5248656"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BUILD</a:t>
            </a:r>
            <a:endParaRPr lang="en-US" sz="850" dirty="0"/>
          </a:p>
        </p:txBody>
      </p:sp>
      <p:sp>
        <p:nvSpPr>
          <p:cNvPr id="28" name="Text 26"/>
          <p:cNvSpPr txBox="1"/>
          <p:nvPr/>
        </p:nvSpPr>
        <p:spPr>
          <a:xfrm>
            <a:off x="5248656"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950" dirty="0"/>
          </a:p>
        </p:txBody>
      </p:sp>
      <p:sp>
        <p:nvSpPr>
          <p:cNvPr id="29" name="Shape 27"/>
          <p:cNvSpPr/>
          <p:nvPr/>
        </p:nvSpPr>
        <p:spPr>
          <a:xfrm>
            <a:off x="5248656" y="5074920"/>
            <a:ext cx="365760" cy="365760"/>
          </a:xfrm>
          <a:prstGeom prst="rect">
            <a:avLst/>
          </a:prstGeom>
          <a:solidFill>
            <a:srgbClr val="8EC9EE"/>
          </a:solidFill>
          <a:ln w="6350">
            <a:solidFill>
              <a:srgbClr val="2B2A26"/>
            </a:solidFill>
            <a:prstDash val="solid"/>
          </a:ln>
        </p:spPr>
      </p:sp>
      <p:sp>
        <p:nvSpPr>
          <p:cNvPr id="30" name="Shape 28"/>
          <p:cNvSpPr/>
          <p:nvPr/>
        </p:nvSpPr>
        <p:spPr>
          <a:xfrm>
            <a:off x="5705856" y="5074920"/>
            <a:ext cx="365760" cy="365760"/>
          </a:xfrm>
          <a:prstGeom prst="rect">
            <a:avLst/>
          </a:prstGeom>
          <a:solidFill>
            <a:srgbClr val="FFFFFF"/>
          </a:solidFill>
          <a:ln w="6350">
            <a:solidFill>
              <a:srgbClr val="2B2A26"/>
            </a:solidFill>
            <a:prstDash val="solid"/>
          </a:ln>
        </p:spPr>
      </p:sp>
      <p:sp>
        <p:nvSpPr>
          <p:cNvPr id="31" name="Shape 29"/>
          <p:cNvSpPr/>
          <p:nvPr/>
        </p:nvSpPr>
        <p:spPr>
          <a:xfrm>
            <a:off x="6163056" y="5074920"/>
            <a:ext cx="365760" cy="365760"/>
          </a:xfrm>
          <a:prstGeom prst="rect">
            <a:avLst/>
          </a:prstGeom>
          <a:solidFill>
            <a:srgbClr val="1E3A6B"/>
          </a:solidFill>
          <a:ln w="6350">
            <a:solidFill>
              <a:srgbClr val="2B2A26"/>
            </a:solidFill>
            <a:prstDash val="solid"/>
          </a:ln>
        </p:spPr>
      </p:sp>
      <p:sp>
        <p:nvSpPr>
          <p:cNvPr id="32" name="Shape 30"/>
          <p:cNvSpPr/>
          <p:nvPr/>
        </p:nvSpPr>
        <p:spPr>
          <a:xfrm>
            <a:off x="6620256" y="5074920"/>
            <a:ext cx="365760" cy="365760"/>
          </a:xfrm>
          <a:prstGeom prst="rect">
            <a:avLst/>
          </a:prstGeom>
          <a:solidFill>
            <a:srgbClr val="EDE6D6"/>
          </a:solidFill>
          <a:ln w="6350">
            <a:solidFill>
              <a:srgbClr val="2B2A26"/>
            </a:solidFill>
            <a:prstDash val="solid"/>
          </a:ln>
        </p:spPr>
      </p:sp>
      <p:sp>
        <p:nvSpPr>
          <p:cNvPr id="33" name="Shape 31"/>
          <p:cNvSpPr/>
          <p:nvPr/>
        </p:nvSpPr>
        <p:spPr>
          <a:xfrm>
            <a:off x="7324344" y="1691640"/>
            <a:ext cx="2103120" cy="4023360"/>
          </a:xfrm>
          <a:prstGeom prst="rect">
            <a:avLst/>
          </a:prstGeom>
          <a:solidFill>
            <a:srgbClr val="151513"/>
          </a:solidFill>
          <a:ln w="9525">
            <a:solidFill>
              <a:srgbClr val="2B2A26"/>
            </a:solidFill>
            <a:prstDash val="solid"/>
          </a:ln>
        </p:spPr>
      </p:sp>
      <p:sp>
        <p:nvSpPr>
          <p:cNvPr id="34" name="Shape 32"/>
          <p:cNvSpPr/>
          <p:nvPr/>
        </p:nvSpPr>
        <p:spPr>
          <a:xfrm>
            <a:off x="7324344" y="1691640"/>
            <a:ext cx="2103120" cy="109728"/>
          </a:xfrm>
          <a:prstGeom prst="rect">
            <a:avLst/>
          </a:prstGeom>
          <a:solidFill>
            <a:srgbClr val="F28C28"/>
          </a:solidFill>
          <a:ln w="12700">
            <a:solidFill>
              <a:srgbClr val="F28C28"/>
            </a:solidFill>
            <a:prstDash val="solid"/>
          </a:ln>
        </p:spPr>
      </p:sp>
      <p:sp>
        <p:nvSpPr>
          <p:cNvPr id="35" name="Text 33"/>
          <p:cNvSpPr txBox="1"/>
          <p:nvPr/>
        </p:nvSpPr>
        <p:spPr>
          <a:xfrm>
            <a:off x="7507224"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ROYAL TANGERINE</a:t>
            </a:r>
            <a:endParaRPr lang="en-US" sz="1400" dirty="0"/>
          </a:p>
        </p:txBody>
      </p:sp>
      <p:sp>
        <p:nvSpPr>
          <p:cNvPr id="36" name="Text 34"/>
          <p:cNvSpPr txBox="1"/>
          <p:nvPr/>
        </p:nvSpPr>
        <p:spPr>
          <a:xfrm>
            <a:off x="7507224"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UTSAV · DIWALI</a:t>
            </a:r>
            <a:endParaRPr lang="en-US" sz="850" dirty="0"/>
          </a:p>
        </p:txBody>
      </p:sp>
      <p:sp>
        <p:nvSpPr>
          <p:cNvPr id="37" name="Text 35"/>
          <p:cNvSpPr txBox="1"/>
          <p:nvPr/>
        </p:nvSpPr>
        <p:spPr>
          <a:xfrm>
            <a:off x="7507224"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Royal-blue bandhgala · orange leheriya safa (D3 only) · tan juttis.</a:t>
            </a:r>
            <a:endParaRPr lang="en-US" sz="950" dirty="0"/>
          </a:p>
        </p:txBody>
      </p:sp>
      <p:sp>
        <p:nvSpPr>
          <p:cNvPr id="38" name="Shape 36"/>
          <p:cNvSpPr/>
          <p:nvPr/>
        </p:nvSpPr>
        <p:spPr>
          <a:xfrm>
            <a:off x="7507224" y="5074920"/>
            <a:ext cx="365760" cy="365760"/>
          </a:xfrm>
          <a:prstGeom prst="rect">
            <a:avLst/>
          </a:prstGeom>
          <a:solidFill>
            <a:srgbClr val="2547A8"/>
          </a:solidFill>
          <a:ln w="6350">
            <a:solidFill>
              <a:srgbClr val="2B2A26"/>
            </a:solidFill>
            <a:prstDash val="solid"/>
          </a:ln>
        </p:spPr>
      </p:sp>
      <p:sp>
        <p:nvSpPr>
          <p:cNvPr id="39" name="Shape 37"/>
          <p:cNvSpPr/>
          <p:nvPr/>
        </p:nvSpPr>
        <p:spPr>
          <a:xfrm>
            <a:off x="7964424" y="5074920"/>
            <a:ext cx="365760" cy="365760"/>
          </a:xfrm>
          <a:prstGeom prst="rect">
            <a:avLst/>
          </a:prstGeom>
          <a:solidFill>
            <a:srgbClr val="F28C28"/>
          </a:solidFill>
          <a:ln w="6350">
            <a:solidFill>
              <a:srgbClr val="2B2A26"/>
            </a:solidFill>
            <a:prstDash val="solid"/>
          </a:ln>
        </p:spPr>
      </p:sp>
      <p:sp>
        <p:nvSpPr>
          <p:cNvPr id="40" name="Shape 38"/>
          <p:cNvSpPr/>
          <p:nvPr/>
        </p:nvSpPr>
        <p:spPr>
          <a:xfrm>
            <a:off x="8421624" y="5074920"/>
            <a:ext cx="365760" cy="365760"/>
          </a:xfrm>
          <a:prstGeom prst="rect">
            <a:avLst/>
          </a:prstGeom>
          <a:solidFill>
            <a:srgbClr val="C9A45C"/>
          </a:solidFill>
          <a:ln w="6350">
            <a:solidFill>
              <a:srgbClr val="2B2A26"/>
            </a:solidFill>
            <a:prstDash val="solid"/>
          </a:ln>
        </p:spPr>
      </p:sp>
      <p:sp>
        <p:nvSpPr>
          <p:cNvPr id="41" name="Shape 39"/>
          <p:cNvSpPr/>
          <p:nvPr/>
        </p:nvSpPr>
        <p:spPr>
          <a:xfrm>
            <a:off x="8878824" y="5074920"/>
            <a:ext cx="365760" cy="365760"/>
          </a:xfrm>
          <a:prstGeom prst="rect">
            <a:avLst/>
          </a:prstGeom>
          <a:solidFill>
            <a:srgbClr val="FFB35C"/>
          </a:solidFill>
          <a:ln w="6350">
            <a:solidFill>
              <a:srgbClr val="2B2A26"/>
            </a:solidFill>
            <a:prstDash val="solid"/>
          </a:ln>
        </p:spPr>
      </p:sp>
      <p:sp>
        <p:nvSpPr>
          <p:cNvPr id="42" name="Shape 40"/>
          <p:cNvSpPr/>
          <p:nvPr/>
        </p:nvSpPr>
        <p:spPr>
          <a:xfrm>
            <a:off x="9582912" y="1691640"/>
            <a:ext cx="2103120" cy="4023360"/>
          </a:xfrm>
          <a:prstGeom prst="rect">
            <a:avLst/>
          </a:prstGeom>
          <a:solidFill>
            <a:srgbClr val="151513"/>
          </a:solidFill>
          <a:ln w="9525">
            <a:solidFill>
              <a:srgbClr val="2B2A26"/>
            </a:solidFill>
            <a:prstDash val="solid"/>
          </a:ln>
        </p:spPr>
      </p:sp>
      <p:sp>
        <p:nvSpPr>
          <p:cNvPr id="43" name="Shape 41"/>
          <p:cNvSpPr/>
          <p:nvPr/>
        </p:nvSpPr>
        <p:spPr>
          <a:xfrm>
            <a:off x="9582912" y="1691640"/>
            <a:ext cx="2103120" cy="109728"/>
          </a:xfrm>
          <a:prstGeom prst="rect">
            <a:avLst/>
          </a:prstGeom>
          <a:solidFill>
            <a:srgbClr val="D2283A"/>
          </a:solidFill>
          <a:ln w="12700">
            <a:solidFill>
              <a:srgbClr val="D2283A"/>
            </a:solidFill>
            <a:prstDash val="solid"/>
          </a:ln>
        </p:spPr>
      </p:sp>
      <p:sp>
        <p:nvSpPr>
          <p:cNvPr id="44" name="Text 42"/>
          <p:cNvSpPr txBox="1"/>
          <p:nvPr/>
        </p:nvSpPr>
        <p:spPr>
          <a:xfrm>
            <a:off x="9765792"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CRIMSON NAVY</a:t>
            </a:r>
            <a:endParaRPr lang="en-US" sz="1400" dirty="0"/>
          </a:p>
        </p:txBody>
      </p:sp>
      <p:sp>
        <p:nvSpPr>
          <p:cNvPr id="45" name="Text 43"/>
          <p:cNvSpPr txBox="1"/>
          <p:nvPr/>
        </p:nvSpPr>
        <p:spPr>
          <a:xfrm>
            <a:off x="9765792"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AFTER DARK</a:t>
            </a:r>
            <a:endParaRPr lang="en-US" sz="850" dirty="0"/>
          </a:p>
        </p:txBody>
      </p:sp>
      <p:sp>
        <p:nvSpPr>
          <p:cNvPr id="46" name="Text 44"/>
          <p:cNvSpPr txBox="1"/>
          <p:nvPr/>
        </p:nvSpPr>
        <p:spPr>
          <a:xfrm>
            <a:off x="9765792"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Black suit, open collar · black knit for E2.</a:t>
            </a:r>
            <a:endParaRPr lang="en-US" sz="950" dirty="0"/>
          </a:p>
        </p:txBody>
      </p:sp>
      <p:sp>
        <p:nvSpPr>
          <p:cNvPr id="47" name="Shape 45"/>
          <p:cNvSpPr/>
          <p:nvPr/>
        </p:nvSpPr>
        <p:spPr>
          <a:xfrm>
            <a:off x="9765792" y="5074920"/>
            <a:ext cx="365760" cy="365760"/>
          </a:xfrm>
          <a:prstGeom prst="rect">
            <a:avLst/>
          </a:prstGeom>
          <a:solidFill>
            <a:srgbClr val="0A0A0C"/>
          </a:solidFill>
          <a:ln w="6350">
            <a:solidFill>
              <a:srgbClr val="2B2A26"/>
            </a:solidFill>
            <a:prstDash val="solid"/>
          </a:ln>
        </p:spPr>
      </p:sp>
      <p:sp>
        <p:nvSpPr>
          <p:cNvPr id="48" name="Shape 46"/>
          <p:cNvSpPr/>
          <p:nvPr/>
        </p:nvSpPr>
        <p:spPr>
          <a:xfrm>
            <a:off x="10222992" y="5074920"/>
            <a:ext cx="365760" cy="365760"/>
          </a:xfrm>
          <a:prstGeom prst="rect">
            <a:avLst/>
          </a:prstGeom>
          <a:solidFill>
            <a:srgbClr val="D2283A"/>
          </a:solidFill>
          <a:ln w="6350">
            <a:solidFill>
              <a:srgbClr val="2B2A26"/>
            </a:solidFill>
            <a:prstDash val="solid"/>
          </a:ln>
        </p:spPr>
      </p:sp>
      <p:sp>
        <p:nvSpPr>
          <p:cNvPr id="49" name="Shape 47"/>
          <p:cNvSpPr/>
          <p:nvPr/>
        </p:nvSpPr>
        <p:spPr>
          <a:xfrm>
            <a:off x="10680192" y="5074920"/>
            <a:ext cx="365760" cy="365760"/>
          </a:xfrm>
          <a:prstGeom prst="rect">
            <a:avLst/>
          </a:prstGeom>
          <a:solidFill>
            <a:srgbClr val="1C2A55"/>
          </a:solidFill>
          <a:ln w="6350">
            <a:solidFill>
              <a:srgbClr val="2B2A26"/>
            </a:solidFill>
            <a:prstDash val="solid"/>
          </a:ln>
        </p:spPr>
      </p:sp>
      <p:sp>
        <p:nvSpPr>
          <p:cNvPr id="50" name="Shape 48"/>
          <p:cNvSpPr/>
          <p:nvPr/>
        </p:nvSpPr>
        <p:spPr>
          <a:xfrm>
            <a:off x="11137392" y="5074920"/>
            <a:ext cx="365760" cy="365760"/>
          </a:xfrm>
          <a:prstGeom prst="rect">
            <a:avLst/>
          </a:prstGeom>
          <a:solidFill>
            <a:srgbClr val="5CFF7A"/>
          </a:solidFill>
          <a:ln w="6350">
            <a:solidFill>
              <a:srgbClr val="2B2A26"/>
            </a:solidFill>
            <a:prstDash val="solid"/>
          </a:ln>
        </p:spPr>
      </p:sp>
      <p:sp>
        <p:nvSpPr>
          <p:cNvPr id="51" name="Text 49"/>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Grooming: short beard trimmed the night before · no rings on the watch hand · nails clean and buffed — the wrist is in macro in every reel.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10</a:t>
            </a:r>
            <a:endParaRPr lang="en-US" sz="750" dirty="0"/>
          </a:p>
        </p:txBody>
      </p:sp>
      <p:sp>
        <p:nvSpPr>
          <p:cNvPr id="4" name="Text 2"/>
          <p:cNvSpPr txBox="1"/>
          <p:nvPr/>
        </p:nvSpPr>
        <p:spPr>
          <a:xfrm>
            <a:off x="548640" y="4114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1 · RUN OF SHOW</a:t>
            </a:r>
            <a:endParaRPr lang="en-US" sz="900" dirty="0"/>
          </a:p>
        </p:txBody>
      </p:sp>
      <p:sp>
        <p:nvSpPr>
          <p:cNvPr id="5" name="Text 3"/>
          <p:cNvSpPr txBox="1"/>
          <p:nvPr/>
        </p:nvSpPr>
        <p:spPr>
          <a:xfrm>
            <a:off x="548640" y="658368"/>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FIFTEEN REELS, SUN TO MIDNIGHT.</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463040"/>
                <a:gridCol w="8229600"/>
                <a:gridCol w="1371600"/>
              </a:tblGrid>
              <a:tr h="2286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Crew call at the haveli · lume UV torch charged</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Mukesh ji ready (black training look)</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06:15–06:45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B1 · 4:59 — haveli rooftop at first light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06:45–07:30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To Jal Mahal (15 min) · B3 sunrise run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07:30–08:00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Back to the haveli · change → ivory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08:00–10:00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A1 Pehli Ghadi · A2 Jaali · A3 Kitne Ki Hai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08:00–09:30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Hawa Mahal + old-city lanes (D3, B-roll)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10:00–11:00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B2 Cold. Sharp. On Time. (white linen)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11:00–13:30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C1 Neev · C2 6 Feet. 6 Inches. · C3 60 Seconds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13:30–14:15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Lunch · change → royal-blue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Glow inserts A, B, C in the blacked-out room</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Dress the chowk: 200 diyas, marigold, rooftop fairy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Art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15:15–16:15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D2 Dhanteras (hands over the thali)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16:15–17:15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D3 Jaipur Se — jharokha, golden hour</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17:15–18:30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D1 Ek Diya — chowk walk → rooftop lights-off → glow</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Johari / Bapu Bazaar festival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Dinner · change → black suit · gels + hazer set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19:15–21:00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E1 Unfinished · E2 Red / Blue · glow inserts D, E</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21:00–22:30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E3 night drive — MI Road, Albert Hall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23:00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Wrap · cards backed up ×2 · watches checked back 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11</a:t>
            </a:r>
            <a:endParaRPr lang="en-US" sz="750" dirty="0"/>
          </a:p>
        </p:txBody>
      </p:sp>
      <p:sp>
        <p:nvSpPr>
          <p:cNvPr id="4" name="Shape 2"/>
          <p:cNvSpPr/>
          <p:nvPr/>
        </p:nvSpPr>
        <p:spPr>
          <a:xfrm>
            <a:off x="0" y="0"/>
            <a:ext cx="4206240" cy="6858000"/>
          </a:xfrm>
          <a:prstGeom prst="rect">
            <a:avLst/>
          </a:prstGeom>
          <a:solidFill>
            <a:srgbClr val="2F5D46"/>
          </a:solidFill>
          <a:ln w="12700">
            <a:solidFill>
              <a:srgbClr val="2F5D46"/>
            </a:solidFill>
            <a:prstDash val="solid"/>
          </a:ln>
        </p:spPr>
      </p:sp>
      <p:pic>
        <p:nvPicPr>
          <p:cNvPr id="5" name="Image 0" descr="/tmp/claude-0/-home-user-Sage-portfolio/d05fecce-977e-5eab-9cf5-7c09b306c551/scratchpad/wrdeck/img/crop_green.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WORLD 01</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ROOTS</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E8DFC8"/>
                </a:solidFill>
                <a:latin typeface="Inter" pitchFamily="34" charset="0"/>
                <a:ea typeface="Inter" pitchFamily="34" charset="-122"/>
                <a:cs typeface="Inter" pitchFamily="34" charset="-120"/>
              </a:rPr>
              <a:t>FOREST IVORY</a:t>
            </a:r>
            <a:endParaRPr lang="en-US" sz="1200" dirty="0"/>
          </a:p>
        </p:txBody>
      </p:sp>
      <p:sp>
        <p:nvSpPr>
          <p:cNvPr id="9" name="Shape 6"/>
          <p:cNvSpPr/>
          <p:nvPr/>
        </p:nvSpPr>
        <p:spPr>
          <a:xfrm>
            <a:off x="548640" y="5852160"/>
            <a:ext cx="640080" cy="292608"/>
          </a:xfrm>
          <a:prstGeom prst="rect">
            <a:avLst/>
          </a:prstGeom>
          <a:solidFill>
            <a:srgbClr val="E8DFC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Ivory</a:t>
            </a:r>
            <a:endParaRPr lang="en-US" sz="650" dirty="0"/>
          </a:p>
        </p:txBody>
      </p:sp>
      <p:sp>
        <p:nvSpPr>
          <p:cNvPr id="11" name="Shape 8"/>
          <p:cNvSpPr/>
          <p:nvPr/>
        </p:nvSpPr>
        <p:spPr>
          <a:xfrm>
            <a:off x="1335024" y="5852160"/>
            <a:ext cx="640080" cy="292608"/>
          </a:xfrm>
          <a:prstGeom prst="rect">
            <a:avLst/>
          </a:prstGeom>
          <a:solidFill>
            <a:srgbClr val="C9A27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Sandstone</a:t>
            </a:r>
            <a:endParaRPr lang="en-US" sz="650" dirty="0"/>
          </a:p>
        </p:txBody>
      </p:sp>
      <p:sp>
        <p:nvSpPr>
          <p:cNvPr id="13" name="Shape 10"/>
          <p:cNvSpPr/>
          <p:nvPr/>
        </p:nvSpPr>
        <p:spPr>
          <a:xfrm>
            <a:off x="2121408" y="5852160"/>
            <a:ext cx="640080" cy="292608"/>
          </a:xfrm>
          <a:prstGeom prst="rect">
            <a:avLst/>
          </a:prstGeom>
          <a:solidFill>
            <a:srgbClr val="2F5D46"/>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Bottle green</a:t>
            </a:r>
            <a:endParaRPr lang="en-US" sz="650" dirty="0"/>
          </a:p>
        </p:txBody>
      </p:sp>
      <p:sp>
        <p:nvSpPr>
          <p:cNvPr id="15" name="Shape 12"/>
          <p:cNvSpPr/>
          <p:nvPr/>
        </p:nvSpPr>
        <p:spPr>
          <a:xfrm>
            <a:off x="2907792" y="5852160"/>
            <a:ext cx="640080" cy="292608"/>
          </a:xfrm>
          <a:prstGeom prst="rect">
            <a:avLst/>
          </a:prstGeom>
          <a:solidFill>
            <a:srgbClr val="B08D57"/>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Brass</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MORNING LIGHT · 08:00–10:00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Where it all starts. A haveli in morning light — jaali shadows, an old family portrait, an empty watch box. The man who will become the family's first heirloom-maker.</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Darwaza + jaali corridor · chowk (courtyard) · old study</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Tanpura drone, one sarangi phrase. No beat drop.</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PEHLI GHADI</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first heirloom</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JAALI</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ASMR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It waits for you to step closer</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KITNE KI HAI?</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Dialogue punch · 10–12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Price vs position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12</a:t>
            </a:r>
            <a:endParaRPr lang="en-US" sz="750" dirty="0"/>
          </a:p>
        </p:txBody>
      </p:sp>
      <p:pic>
        <p:nvPicPr>
          <p:cNvPr id="4" name="Image 0" descr="/tmp/claude-0/-home-user-Sage-portfolio/d05fecce-977e-5eab-9cf5-7c09b306c551/scratchpad/wrdeck/img/ai_green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PEHLI GHADI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first heirloom</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Every Indian family has one watch everyone calls "Dadaji ki ghadi". Somebody had to buy the first one. Mukesh is that man — the first-generation builder whose watch becomes the heirloom. Roots are not inherited; they are planted.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Extreme close-up of a sepia family photo in a brass frame. His hand — the Forest Ivory on the wrist — enters and rests beside it. VO starts on frame one.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"Har ghar mein ek ghadi hoti hai… jise sab 'Dadaji ki ghadi' kehte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"Par kabhi socha hai — pehli kisne khareedi thi?"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"Virasat milti nahi. Banaayi jaati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ghar ki pehli ghadi… main pehen raha hoon."</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EVERY HEIRLOOM WAS NEW ONCE.  →  end card: WEALTH ROOTS · Build your legacy.</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Tanpura bed · pigeons · darwaza creak · clasp click lifted in the mix.</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PEHLI GHADI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Sepia photo; his hand with the watch enters and rests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top light,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rooftops at sunrise from the haveli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slow pan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Haveli darwaza swings open; he walks in, back to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follow, waist height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10–14s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corridor — sun patterns slide over his wrist as he walks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side track,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14–20s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 study: he opens the family watch box — every slot empty — and closes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 shot, 35mm, slow push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20–25s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click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sound 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looks up into lens.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static,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855464"/>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508406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Sepia family portrait in brass frame · wooden watch box with empty velvet slots · old ledger · brass desk lamp.</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haveli jaali light portrait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vintage watch box heirloom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@sabyasachiofficial — heritage pacing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@rolex — slow craft reveals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PEHLI GHADI</a:t>
            </a:r>
            <a:endParaRPr lang="en-US" sz="2800" dirty="0"/>
          </a:p>
        </p:txBody>
      </p:sp>
      <p:pic>
        <p:nvPicPr>
          <p:cNvPr id="6" name="Image 0" descr="/tmp/claude-0/-home-user-Sage-portfolio/d05fecce-977e-5eab-9cf5-7c09b306c551/scratchpad/wrdeck/img/sb_A1_1.jpg">    </p:cNvPr>
          <p:cNvPicPr>
            <a:picLocks noChangeAspect="1"/>
          </p:cNvPicPr>
          <p:nvPr/>
        </p:nvPicPr>
        <p:blipFill>
          <a:blip r:embed="rId1"/>
          <a:srcRect l="0" r="0" t="0" b="0"/>
          <a:stretch/>
        </p:blipFill>
        <p:spPr>
          <a:xfrm>
            <a:off x="548640" y="1417320"/>
            <a:ext cx="1143000" cy="2029968"/>
          </a:xfrm>
          <a:prstGeom prst="rect">
            <a:avLst/>
          </a:prstGeom>
        </p:spPr>
      </p:pic>
      <p:sp>
        <p:nvSpPr>
          <p:cNvPr id="7" name="Shape 4"/>
          <p:cNvSpPr/>
          <p:nvPr/>
        </p:nvSpPr>
        <p:spPr>
          <a:xfrm>
            <a:off x="548640" y="3520440"/>
            <a:ext cx="1143000" cy="27432"/>
          </a:xfrm>
          <a:prstGeom prst="rect">
            <a:avLst/>
          </a:prstGeom>
          <a:solidFill>
            <a:srgbClr val="E8DFC8"/>
          </a:solidFill>
          <a:ln w="12700">
            <a:solidFill>
              <a:srgbClr val="E8DFC8"/>
            </a:solidFill>
            <a:prstDash val="solid"/>
          </a:ln>
        </p:spPr>
      </p:sp>
      <p:sp>
        <p:nvSpPr>
          <p:cNvPr id="8" name="Text 5"/>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9" name="Text 6"/>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ECU: sepia family portrait in a brass frame; his hand with the Forest Ivory on the wrist rests beside it</a:t>
            </a:r>
            <a:endParaRPr lang="en-US" sz="800" dirty="0"/>
          </a:p>
        </p:txBody>
      </p:sp>
      <p:pic>
        <p:nvPicPr>
          <p:cNvPr id="10" name="Image 1" descr="/tmp/claude-0/-home-user-Sage-portfolio/d05fecce-977e-5eab-9cf5-7c09b306c551/scratchpad/wrdeck/img/sb_A1_2.jpg">    </p:cNvPr>
          <p:cNvPicPr>
            <a:picLocks noChangeAspect="1"/>
          </p:cNvPicPr>
          <p:nvPr/>
        </p:nvPicPr>
        <p:blipFill>
          <a:blip r:embed="rId2"/>
          <a:srcRect l="0" r="0" t="0" b="0"/>
          <a:stretch/>
        </p:blipFill>
        <p:spPr>
          <a:xfrm>
            <a:off x="1783080" y="1417320"/>
            <a:ext cx="1143000" cy="2029968"/>
          </a:xfrm>
          <a:prstGeom prst="rect">
            <a:avLst/>
          </a:prstGeom>
        </p:spPr>
      </p:pic>
      <p:sp>
        <p:nvSpPr>
          <p:cNvPr id="11" name="Shape 7"/>
          <p:cNvSpPr/>
          <p:nvPr/>
        </p:nvSpPr>
        <p:spPr>
          <a:xfrm>
            <a:off x="1783080" y="3520440"/>
            <a:ext cx="1143000" cy="27432"/>
          </a:xfrm>
          <a:prstGeom prst="rect">
            <a:avLst/>
          </a:prstGeom>
          <a:solidFill>
            <a:srgbClr val="E8DFC8"/>
          </a:solidFill>
          <a:ln w="12700">
            <a:solidFill>
              <a:srgbClr val="E8DFC8"/>
            </a:solidFill>
            <a:prstDash val="solid"/>
          </a:ln>
        </p:spPr>
      </p:sp>
      <p:sp>
        <p:nvSpPr>
          <p:cNvPr id="12" name="Text 8"/>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3" name="Text 9"/>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Sunrise over the old-city rooftops from the haveli roof, soft haze</a:t>
            </a:r>
            <a:endParaRPr lang="en-US" sz="800" dirty="0"/>
          </a:p>
        </p:txBody>
      </p:sp>
      <p:pic>
        <p:nvPicPr>
          <p:cNvPr id="14" name="Image 2" descr="/tmp/claude-0/-home-user-Sage-portfolio/d05fecce-977e-5eab-9cf5-7c09b306c551/scratchpad/wrdeck/img/sb_A1_3.jpg">    </p:cNvPr>
          <p:cNvPicPr>
            <a:picLocks noChangeAspect="1"/>
          </p:cNvPicPr>
          <p:nvPr/>
        </p:nvPicPr>
        <p:blipFill>
          <a:blip r:embed="rId3"/>
          <a:srcRect l="0" r="0" t="0" b="0"/>
          <a:stretch/>
        </p:blipFill>
        <p:spPr>
          <a:xfrm>
            <a:off x="3017520" y="1417320"/>
            <a:ext cx="1143000" cy="2029968"/>
          </a:xfrm>
          <a:prstGeom prst="rect">
            <a:avLst/>
          </a:prstGeom>
        </p:spPr>
      </p:pic>
      <p:sp>
        <p:nvSpPr>
          <p:cNvPr id="15" name="Shape 10"/>
          <p:cNvSpPr/>
          <p:nvPr/>
        </p:nvSpPr>
        <p:spPr>
          <a:xfrm>
            <a:off x="3017520" y="3520440"/>
            <a:ext cx="1143000" cy="27432"/>
          </a:xfrm>
          <a:prstGeom prst="rect">
            <a:avLst/>
          </a:prstGeom>
          <a:solidFill>
            <a:srgbClr val="E8DFC8"/>
          </a:solidFill>
          <a:ln w="12700">
            <a:solidFill>
              <a:srgbClr val="E8DFC8"/>
            </a:solidFill>
            <a:prstDash val="solid"/>
          </a:ln>
        </p:spPr>
      </p:sp>
      <p:sp>
        <p:nvSpPr>
          <p:cNvPr id="16" name="Text 11"/>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17" name="Text 12"/>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haveli darwaza swinging open; his silhouette in an ivory bandhgala, back to camera</a:t>
            </a:r>
            <a:endParaRPr lang="en-US" sz="800" dirty="0"/>
          </a:p>
        </p:txBody>
      </p:sp>
      <p:pic>
        <p:nvPicPr>
          <p:cNvPr id="18" name="Image 3" descr="/tmp/claude-0/-home-user-Sage-portfolio/d05fecce-977e-5eab-9cf5-7c09b306c551/scratchpad/wrdeck/img/sb_A1_4.jpg">    </p:cNvPr>
          <p:cNvPicPr>
            <a:picLocks noChangeAspect="1"/>
          </p:cNvPicPr>
          <p:nvPr/>
        </p:nvPicPr>
        <p:blipFill>
          <a:blip r:embed="rId4"/>
          <a:srcRect l="0" r="0" t="0" b="0"/>
          <a:stretch/>
        </p:blipFill>
        <p:spPr>
          <a:xfrm>
            <a:off x="4251960" y="1417320"/>
            <a:ext cx="1143000" cy="2029968"/>
          </a:xfrm>
          <a:prstGeom prst="rect">
            <a:avLst/>
          </a:prstGeom>
        </p:spPr>
      </p:pic>
      <p:sp>
        <p:nvSpPr>
          <p:cNvPr id="19" name="Shape 13"/>
          <p:cNvSpPr/>
          <p:nvPr/>
        </p:nvSpPr>
        <p:spPr>
          <a:xfrm>
            <a:off x="4251960" y="3520440"/>
            <a:ext cx="1143000" cy="27432"/>
          </a:xfrm>
          <a:prstGeom prst="rect">
            <a:avLst/>
          </a:prstGeom>
          <a:solidFill>
            <a:srgbClr val="E8DFC8"/>
          </a:solidFill>
          <a:ln w="12700">
            <a:solidFill>
              <a:srgbClr val="E8DFC8"/>
            </a:solidFill>
            <a:prstDash val="solid"/>
          </a:ln>
        </p:spPr>
      </p:sp>
      <p:sp>
        <p:nvSpPr>
          <p:cNvPr id="20" name="Text 14"/>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1" name="Text 15"/>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Jaali corridor: star-shaped light patterns across his ivory sleeve as he walks</a:t>
            </a:r>
            <a:endParaRPr lang="en-US" sz="800" dirty="0"/>
          </a:p>
        </p:txBody>
      </p:sp>
      <p:pic>
        <p:nvPicPr>
          <p:cNvPr id="22" name="Image 4" descr="/tmp/claude-0/-home-user-Sage-portfolio/d05fecce-977e-5eab-9cf5-7c09b306c551/scratchpad/wrdeck/img/sb_A1_5.jpg">    </p:cNvPr>
          <p:cNvPicPr>
            <a:picLocks noChangeAspect="1"/>
          </p:cNvPicPr>
          <p:nvPr/>
        </p:nvPicPr>
        <p:blipFill>
          <a:blip r:embed="rId5"/>
          <a:srcRect l="0" r="0" t="0" b="0"/>
          <a:stretch/>
        </p:blipFill>
        <p:spPr>
          <a:xfrm>
            <a:off x="5486400" y="1417320"/>
            <a:ext cx="1143000" cy="2029968"/>
          </a:xfrm>
          <a:prstGeom prst="rect">
            <a:avLst/>
          </a:prstGeom>
        </p:spPr>
      </p:pic>
      <p:sp>
        <p:nvSpPr>
          <p:cNvPr id="23" name="Shape 16"/>
          <p:cNvSpPr/>
          <p:nvPr/>
        </p:nvSpPr>
        <p:spPr>
          <a:xfrm>
            <a:off x="5486400" y="3520440"/>
            <a:ext cx="1143000" cy="27432"/>
          </a:xfrm>
          <a:prstGeom prst="rect">
            <a:avLst/>
          </a:prstGeom>
          <a:solidFill>
            <a:srgbClr val="E8DFC8"/>
          </a:solidFill>
          <a:ln w="12700">
            <a:solidFill>
              <a:srgbClr val="E8DFC8"/>
            </a:solidFill>
            <a:prstDash val="solid"/>
          </a:ln>
        </p:spPr>
      </p:sp>
      <p:sp>
        <p:nvSpPr>
          <p:cNvPr id="24" name="Text 1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25" name="Text 1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catching a patch of jaali light, screws razor sharp</a:t>
            </a:r>
            <a:endParaRPr lang="en-US" sz="800" dirty="0"/>
          </a:p>
        </p:txBody>
      </p:sp>
      <p:pic>
        <p:nvPicPr>
          <p:cNvPr id="26" name="Image 5" descr="/tmp/claude-0/-home-user-Sage-portfolio/d05fecce-977e-5eab-9cf5-7c09b306c551/scratchpad/wrdeck/img/sb_A1_6.jpg">    </p:cNvPr>
          <p:cNvPicPr>
            <a:picLocks noChangeAspect="1"/>
          </p:cNvPicPr>
          <p:nvPr/>
        </p:nvPicPr>
        <p:blipFill>
          <a:blip r:embed="rId6"/>
          <a:srcRect l="0" r="0" t="0" b="0"/>
          <a:stretch/>
        </p:blipFill>
        <p:spPr>
          <a:xfrm>
            <a:off x="6720840" y="1417320"/>
            <a:ext cx="1143000" cy="2029968"/>
          </a:xfrm>
          <a:prstGeom prst="rect">
            <a:avLst/>
          </a:prstGeom>
        </p:spPr>
      </p:pic>
      <p:sp>
        <p:nvSpPr>
          <p:cNvPr id="27" name="Shape 19"/>
          <p:cNvSpPr/>
          <p:nvPr/>
        </p:nvSpPr>
        <p:spPr>
          <a:xfrm>
            <a:off x="6720840" y="3520440"/>
            <a:ext cx="1143000" cy="27432"/>
          </a:xfrm>
          <a:prstGeom prst="rect">
            <a:avLst/>
          </a:prstGeom>
          <a:solidFill>
            <a:srgbClr val="E8DFC8"/>
          </a:solidFill>
          <a:ln w="12700">
            <a:solidFill>
              <a:srgbClr val="E8DFC8"/>
            </a:solidFill>
            <a:prstDash val="solid"/>
          </a:ln>
        </p:spPr>
      </p:sp>
      <p:sp>
        <p:nvSpPr>
          <p:cNvPr id="28" name="Text 20"/>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29" name="Text 21"/>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 study: he lifts the lid of a wooden watch box — every velvet slot empty</a:t>
            </a:r>
            <a:endParaRPr lang="en-US" sz="800" dirty="0"/>
          </a:p>
        </p:txBody>
      </p:sp>
      <p:pic>
        <p:nvPicPr>
          <p:cNvPr id="30" name="Image 6" descr="/tmp/claude-0/-home-user-Sage-portfolio/d05fecce-977e-5eab-9cf5-7c09b306c551/scratchpad/wrdeck/img/sb_A1_7.jpg">    </p:cNvPr>
          <p:cNvPicPr>
            <a:picLocks noChangeAspect="1"/>
          </p:cNvPicPr>
          <p:nvPr/>
        </p:nvPicPr>
        <p:blipFill>
          <a:blip r:embed="rId7"/>
          <a:srcRect l="0" r="0" t="0" b="0"/>
          <a:stretch/>
        </p:blipFill>
        <p:spPr>
          <a:xfrm>
            <a:off x="7955280" y="1417320"/>
            <a:ext cx="1143000" cy="2029968"/>
          </a:xfrm>
          <a:prstGeom prst="rect">
            <a:avLst/>
          </a:prstGeom>
        </p:spPr>
      </p:pic>
      <p:sp>
        <p:nvSpPr>
          <p:cNvPr id="31" name="Shape 22"/>
          <p:cNvSpPr/>
          <p:nvPr/>
        </p:nvSpPr>
        <p:spPr>
          <a:xfrm>
            <a:off x="7955280" y="3520440"/>
            <a:ext cx="1143000" cy="27432"/>
          </a:xfrm>
          <a:prstGeom prst="rect">
            <a:avLst/>
          </a:prstGeom>
          <a:solidFill>
            <a:srgbClr val="E8DFC8"/>
          </a:solidFill>
          <a:ln w="12700">
            <a:solidFill>
              <a:srgbClr val="E8DFC8"/>
            </a:solidFill>
            <a:prstDash val="solid"/>
          </a:ln>
        </p:spPr>
      </p:sp>
      <p:sp>
        <p:nvSpPr>
          <p:cNvPr id="32" name="Text 23"/>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33" name="Text 24"/>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closes the empty box; the watch on his wrist in the foreground</a:t>
            </a:r>
            <a:endParaRPr lang="en-US" sz="800" dirty="0"/>
          </a:p>
        </p:txBody>
      </p:sp>
      <p:pic>
        <p:nvPicPr>
          <p:cNvPr id="34" name="Image 7" descr="/tmp/claude-0/-home-user-Sage-portfolio/d05fecce-977e-5eab-9cf5-7c09b306c551/scratchpad/wrdeck/img/sb_A1_8.jpg">    </p:cNvPr>
          <p:cNvPicPr>
            <a:picLocks noChangeAspect="1"/>
          </p:cNvPicPr>
          <p:nvPr/>
        </p:nvPicPr>
        <p:blipFill>
          <a:blip r:embed="rId8"/>
          <a:srcRect l="0" r="0" t="0" b="0"/>
          <a:stretch/>
        </p:blipFill>
        <p:spPr>
          <a:xfrm>
            <a:off x="9189720" y="1417320"/>
            <a:ext cx="1143000" cy="2029968"/>
          </a:xfrm>
          <a:prstGeom prst="rect">
            <a:avLst/>
          </a:prstGeom>
        </p:spPr>
      </p:pic>
      <p:sp>
        <p:nvSpPr>
          <p:cNvPr id="35" name="Shape 25"/>
          <p:cNvSpPr/>
          <p:nvPr/>
        </p:nvSpPr>
        <p:spPr>
          <a:xfrm>
            <a:off x="9189720" y="3520440"/>
            <a:ext cx="1143000" cy="27432"/>
          </a:xfrm>
          <a:prstGeom prst="rect">
            <a:avLst/>
          </a:prstGeom>
          <a:solidFill>
            <a:srgbClr val="E8DFC8"/>
          </a:solidFill>
          <a:ln w="12700">
            <a:solidFill>
              <a:srgbClr val="E8DFC8"/>
            </a:solidFill>
            <a:prstDash val="solid"/>
          </a:ln>
        </p:spPr>
      </p:sp>
      <p:sp>
        <p:nvSpPr>
          <p:cNvPr id="36" name="Text 26"/>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37" name="Text 27"/>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his fingers closing the deployant clasp on the wrist</a:t>
            </a:r>
            <a:endParaRPr lang="en-US" sz="800" dirty="0"/>
          </a:p>
        </p:txBody>
      </p:sp>
      <p:pic>
        <p:nvPicPr>
          <p:cNvPr id="38" name="Image 8" descr="/tmp/claude-0/-home-user-Sage-portfolio/d05fecce-977e-5eab-9cf5-7c09b306c551/scratchpad/wrdeck/img/sb_A1_9.jpg">    </p:cNvPr>
          <p:cNvPicPr>
            <a:picLocks noChangeAspect="1"/>
          </p:cNvPicPr>
          <p:nvPr/>
        </p:nvPicPr>
        <p:blipFill>
          <a:blip r:embed="rId9"/>
          <a:srcRect l="0" r="0" t="0" b="0"/>
          <a:stretch/>
        </p:blipFill>
        <p:spPr>
          <a:xfrm>
            <a:off x="10424160" y="1417320"/>
            <a:ext cx="1143000" cy="2029968"/>
          </a:xfrm>
          <a:prstGeom prst="rect">
            <a:avLst/>
          </a:prstGeom>
        </p:spPr>
      </p:pic>
      <p:sp>
        <p:nvSpPr>
          <p:cNvPr id="39" name="Shape 28"/>
          <p:cNvSpPr/>
          <p:nvPr/>
        </p:nvSpPr>
        <p:spPr>
          <a:xfrm>
            <a:off x="10424160" y="3520440"/>
            <a:ext cx="1143000" cy="27432"/>
          </a:xfrm>
          <a:prstGeom prst="rect">
            <a:avLst/>
          </a:prstGeom>
          <a:solidFill>
            <a:srgbClr val="E8DFC8"/>
          </a:solidFill>
          <a:ln w="12700">
            <a:solidFill>
              <a:srgbClr val="E8DFC8"/>
            </a:solidFill>
            <a:prstDash val="solid"/>
          </a:ln>
        </p:spPr>
      </p:sp>
      <p:sp>
        <p:nvSpPr>
          <p:cNvPr id="40" name="Text 29"/>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41" name="Text 30"/>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straight into the lens, half-lit by window light, ivory and green palette</a:t>
            </a:r>
            <a:endParaRPr lang="en-US" sz="800" dirty="0"/>
          </a:p>
        </p:txBody>
      </p:sp>
      <p:sp>
        <p:nvSpPr>
          <p:cNvPr id="42" name="Text 31"/>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AI storyboard frames · the watch is exact, the man is a stand-in for Mukesh ji.</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15</a:t>
            </a:r>
            <a:endParaRPr lang="en-US" sz="750" dirty="0"/>
          </a:p>
        </p:txBody>
      </p:sp>
      <p:pic>
        <p:nvPicPr>
          <p:cNvPr id="4" name="Image 0" descr="/tmp/claude-0/-home-user-Sage-portfolio/d05fecce-977e-5eab-9cf5-7c09b306c551/scratchpad/wrdeck/img/ai_green_r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DETAIL · ASMR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JAALI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It waits for you to step closer</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Neetu's rule for the design: luxury doesn't scream across the room — it waits for you to step closer. Mukesh raises his wrist into the beams coming through a carved jaali and turns it slowly; each star of light lands on a different detail — the eight screws, the WR monogram, the waffle dial, the green strap.</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star-shaped patch of light lands exactly on the dial as his wrist turns into the beam.</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IT WAITS FOR YOU TO STEP CLOSER.</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Broom on stone · distant temple bell · pigeons · one soft tick at the end.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JAALI</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window, beams of morning sun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 haze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wrist rises into a beam; the light lands on the dial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The eight bezel screws in a patch of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Waffle dial + WR monogram, then the green strap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Probe lens slide, rack focus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12–15s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Wide: his silhouette in the corridor, wrist in the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A jaali window with low sun · a little haze for visible beams.</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jaali light beams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watch on wrist light pattern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@cartier — light-play macro</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JAALI</a:t>
            </a:r>
            <a:endParaRPr lang="en-US" sz="2800" dirty="0"/>
          </a:p>
        </p:txBody>
      </p:sp>
      <p:pic>
        <p:nvPicPr>
          <p:cNvPr id="6" name="Image 0" descr="/tmp/claude-0/-home-user-Sage-portfolio/d05fecce-977e-5eab-9cf5-7c09b306c551/scratchpad/wrdeck/img/sb_A2_1.jpg">    </p:cNvPr>
          <p:cNvPicPr>
            <a:picLocks noChangeAspect="1"/>
          </p:cNvPicPr>
          <p:nvPr/>
        </p:nvPicPr>
        <p:blipFill>
          <a:blip r:embed="rId1"/>
          <a:srcRect l="0" r="0" t="0" b="0"/>
          <a:stretch/>
        </p:blipFill>
        <p:spPr>
          <a:xfrm>
            <a:off x="548640" y="1417320"/>
            <a:ext cx="1143000" cy="2029968"/>
          </a:xfrm>
          <a:prstGeom prst="rect">
            <a:avLst/>
          </a:prstGeom>
        </p:spPr>
      </p:pic>
      <p:sp>
        <p:nvSpPr>
          <p:cNvPr id="7" name="Shape 4"/>
          <p:cNvSpPr/>
          <p:nvPr/>
        </p:nvSpPr>
        <p:spPr>
          <a:xfrm>
            <a:off x="548640" y="3520440"/>
            <a:ext cx="1143000" cy="27432"/>
          </a:xfrm>
          <a:prstGeom prst="rect">
            <a:avLst/>
          </a:prstGeom>
          <a:solidFill>
            <a:srgbClr val="E8DFC8"/>
          </a:solidFill>
          <a:ln w="12700">
            <a:solidFill>
              <a:srgbClr val="E8DFC8"/>
            </a:solidFill>
            <a:prstDash val="solid"/>
          </a:ln>
        </p:spPr>
      </p:sp>
      <p:sp>
        <p:nvSpPr>
          <p:cNvPr id="8" name="Text 5"/>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9" name="Text 6"/>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sandstone jaali window, beams of morning sun cutting through light haze</a:t>
            </a:r>
            <a:endParaRPr lang="en-US" sz="800" dirty="0"/>
          </a:p>
        </p:txBody>
      </p:sp>
      <p:pic>
        <p:nvPicPr>
          <p:cNvPr id="10" name="Image 1" descr="/tmp/claude-0/-home-user-Sage-portfolio/d05fecce-977e-5eab-9cf5-7c09b306c551/scratchpad/wrdeck/img/sb_A2_2.jpg">    </p:cNvPr>
          <p:cNvPicPr>
            <a:picLocks noChangeAspect="1"/>
          </p:cNvPicPr>
          <p:nvPr/>
        </p:nvPicPr>
        <p:blipFill>
          <a:blip r:embed="rId2"/>
          <a:srcRect l="0" r="0" t="0" b="0"/>
          <a:stretch/>
        </p:blipFill>
        <p:spPr>
          <a:xfrm>
            <a:off x="1783080" y="1417320"/>
            <a:ext cx="1143000" cy="2029968"/>
          </a:xfrm>
          <a:prstGeom prst="rect">
            <a:avLst/>
          </a:prstGeom>
        </p:spPr>
      </p:pic>
      <p:sp>
        <p:nvSpPr>
          <p:cNvPr id="11" name="Shape 7"/>
          <p:cNvSpPr/>
          <p:nvPr/>
        </p:nvSpPr>
        <p:spPr>
          <a:xfrm>
            <a:off x="1783080" y="3520440"/>
            <a:ext cx="1143000" cy="27432"/>
          </a:xfrm>
          <a:prstGeom prst="rect">
            <a:avLst/>
          </a:prstGeom>
          <a:solidFill>
            <a:srgbClr val="E8DFC8"/>
          </a:solidFill>
          <a:ln w="12700">
            <a:solidFill>
              <a:srgbClr val="E8DFC8"/>
            </a:solidFill>
            <a:prstDash val="solid"/>
          </a:ln>
        </p:spPr>
      </p:sp>
      <p:sp>
        <p:nvSpPr>
          <p:cNvPr id="12" name="Text 8"/>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3" name="Text 9"/>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rises into a beam; a star of light lands on the dial</a:t>
            </a:r>
            <a:endParaRPr lang="en-US" sz="800" dirty="0"/>
          </a:p>
        </p:txBody>
      </p:sp>
      <p:pic>
        <p:nvPicPr>
          <p:cNvPr id="14" name="Image 2" descr="/tmp/claude-0/-home-user-Sage-portfolio/d05fecce-977e-5eab-9cf5-7c09b306c551/scratchpad/wrdeck/img/sb_A2_3.jpg">    </p:cNvPr>
          <p:cNvPicPr>
            <a:picLocks noChangeAspect="1"/>
          </p:cNvPicPr>
          <p:nvPr/>
        </p:nvPicPr>
        <p:blipFill>
          <a:blip r:embed="rId3"/>
          <a:srcRect l="0" r="0" t="0" b="0"/>
          <a:stretch/>
        </p:blipFill>
        <p:spPr>
          <a:xfrm>
            <a:off x="3017520" y="1417320"/>
            <a:ext cx="1143000" cy="2029968"/>
          </a:xfrm>
          <a:prstGeom prst="rect">
            <a:avLst/>
          </a:prstGeom>
        </p:spPr>
      </p:pic>
      <p:sp>
        <p:nvSpPr>
          <p:cNvPr id="15" name="Shape 10"/>
          <p:cNvSpPr/>
          <p:nvPr/>
        </p:nvSpPr>
        <p:spPr>
          <a:xfrm>
            <a:off x="3017520" y="3520440"/>
            <a:ext cx="1143000" cy="27432"/>
          </a:xfrm>
          <a:prstGeom prst="rect">
            <a:avLst/>
          </a:prstGeom>
          <a:solidFill>
            <a:srgbClr val="E8DFC8"/>
          </a:solidFill>
          <a:ln w="12700">
            <a:solidFill>
              <a:srgbClr val="E8DFC8"/>
            </a:solidFill>
            <a:prstDash val="solid"/>
          </a:ln>
        </p:spPr>
      </p:sp>
      <p:sp>
        <p:nvSpPr>
          <p:cNvPr id="16" name="Text 11"/>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17" name="Text 12"/>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 lit by one patch of light</a:t>
            </a:r>
            <a:endParaRPr lang="en-US" sz="800" dirty="0"/>
          </a:p>
        </p:txBody>
      </p:sp>
      <p:pic>
        <p:nvPicPr>
          <p:cNvPr id="18" name="Image 3" descr="/tmp/claude-0/-home-user-Sage-portfolio/d05fecce-977e-5eab-9cf5-7c09b306c551/scratchpad/wrdeck/img/sb_A2_4.jpg">    </p:cNvPr>
          <p:cNvPicPr>
            <a:picLocks noChangeAspect="1"/>
          </p:cNvPicPr>
          <p:nvPr/>
        </p:nvPicPr>
        <p:blipFill>
          <a:blip r:embed="rId4"/>
          <a:srcRect l="0" r="0" t="0" b="0"/>
          <a:stretch/>
        </p:blipFill>
        <p:spPr>
          <a:xfrm>
            <a:off x="4251960" y="1417320"/>
            <a:ext cx="1143000" cy="2029968"/>
          </a:xfrm>
          <a:prstGeom prst="rect">
            <a:avLst/>
          </a:prstGeom>
        </p:spPr>
      </p:pic>
      <p:sp>
        <p:nvSpPr>
          <p:cNvPr id="19" name="Shape 13"/>
          <p:cNvSpPr/>
          <p:nvPr/>
        </p:nvSpPr>
        <p:spPr>
          <a:xfrm>
            <a:off x="4251960" y="3520440"/>
            <a:ext cx="1143000" cy="27432"/>
          </a:xfrm>
          <a:prstGeom prst="rect">
            <a:avLst/>
          </a:prstGeom>
          <a:solidFill>
            <a:srgbClr val="E8DFC8"/>
          </a:solidFill>
          <a:ln w="12700">
            <a:solidFill>
              <a:srgbClr val="E8DFC8"/>
            </a:solidFill>
            <a:prstDash val="solid"/>
          </a:ln>
        </p:spPr>
      </p:sp>
      <p:sp>
        <p:nvSpPr>
          <p:cNvPr id="20" name="Text 14"/>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1" name="Text 15"/>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and the WR monogram at 12</a:t>
            </a:r>
            <a:endParaRPr lang="en-US" sz="800" dirty="0"/>
          </a:p>
        </p:txBody>
      </p:sp>
      <p:pic>
        <p:nvPicPr>
          <p:cNvPr id="22" name="Image 4" descr="/tmp/claude-0/-home-user-Sage-portfolio/d05fecce-977e-5eab-9cf5-7c09b306c551/scratchpad/wrdeck/img/sb_A2_5.jpg">    </p:cNvPr>
          <p:cNvPicPr>
            <a:picLocks noChangeAspect="1"/>
          </p:cNvPicPr>
          <p:nvPr/>
        </p:nvPicPr>
        <p:blipFill>
          <a:blip r:embed="rId5"/>
          <a:srcRect l="0" r="0" t="0" b="0"/>
          <a:stretch/>
        </p:blipFill>
        <p:spPr>
          <a:xfrm>
            <a:off x="5486400" y="1417320"/>
            <a:ext cx="1143000" cy="2029968"/>
          </a:xfrm>
          <a:prstGeom prst="rect">
            <a:avLst/>
          </a:prstGeom>
        </p:spPr>
      </p:pic>
      <p:sp>
        <p:nvSpPr>
          <p:cNvPr id="23" name="Shape 16"/>
          <p:cNvSpPr/>
          <p:nvPr/>
        </p:nvSpPr>
        <p:spPr>
          <a:xfrm>
            <a:off x="5486400" y="3520440"/>
            <a:ext cx="1143000" cy="27432"/>
          </a:xfrm>
          <a:prstGeom prst="rect">
            <a:avLst/>
          </a:prstGeom>
          <a:solidFill>
            <a:srgbClr val="E8DFC8"/>
          </a:solidFill>
          <a:ln w="12700">
            <a:solidFill>
              <a:srgbClr val="E8DFC8"/>
            </a:solidFill>
            <a:prstDash val="solid"/>
          </a:ln>
        </p:spPr>
      </p:sp>
      <p:sp>
        <p:nvSpPr>
          <p:cNvPr id="24" name="Text 1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25" name="Text 1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light pattern slides across the bottle-green strap</a:t>
            </a:r>
            <a:endParaRPr lang="en-US" sz="800" dirty="0"/>
          </a:p>
        </p:txBody>
      </p:sp>
      <p:pic>
        <p:nvPicPr>
          <p:cNvPr id="26" name="Image 5" descr="/tmp/claude-0/-home-user-Sage-portfolio/d05fecce-977e-5eab-9cf5-7c09b306c551/scratchpad/wrdeck/img/sb_A2_6.jpg">    </p:cNvPr>
          <p:cNvPicPr>
            <a:picLocks noChangeAspect="1"/>
          </p:cNvPicPr>
          <p:nvPr/>
        </p:nvPicPr>
        <p:blipFill>
          <a:blip r:embed="rId6"/>
          <a:srcRect l="0" r="0" t="0" b="0"/>
          <a:stretch/>
        </p:blipFill>
        <p:spPr>
          <a:xfrm>
            <a:off x="6720840" y="1417320"/>
            <a:ext cx="1143000" cy="2029968"/>
          </a:xfrm>
          <a:prstGeom prst="rect">
            <a:avLst/>
          </a:prstGeom>
        </p:spPr>
      </p:pic>
      <p:sp>
        <p:nvSpPr>
          <p:cNvPr id="27" name="Shape 19"/>
          <p:cNvSpPr/>
          <p:nvPr/>
        </p:nvSpPr>
        <p:spPr>
          <a:xfrm>
            <a:off x="6720840" y="3520440"/>
            <a:ext cx="1143000" cy="27432"/>
          </a:xfrm>
          <a:prstGeom prst="rect">
            <a:avLst/>
          </a:prstGeom>
          <a:solidFill>
            <a:srgbClr val="E8DFC8"/>
          </a:solidFill>
          <a:ln w="12700">
            <a:solidFill>
              <a:srgbClr val="E8DFC8"/>
            </a:solidFill>
            <a:prstDash val="solid"/>
          </a:ln>
        </p:spPr>
      </p:sp>
      <p:sp>
        <p:nvSpPr>
          <p:cNvPr id="28" name="Text 20"/>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29" name="Text 21"/>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Crown detail, extreme shallow depth of field</a:t>
            </a:r>
            <a:endParaRPr lang="en-US" sz="800" dirty="0"/>
          </a:p>
        </p:txBody>
      </p:sp>
      <p:pic>
        <p:nvPicPr>
          <p:cNvPr id="30" name="Image 6" descr="/tmp/claude-0/-home-user-Sage-portfolio/d05fecce-977e-5eab-9cf5-7c09b306c551/scratchpad/wrdeck/img/sb_A2_7.jpg">    </p:cNvPr>
          <p:cNvPicPr>
            <a:picLocks noChangeAspect="1"/>
          </p:cNvPicPr>
          <p:nvPr/>
        </p:nvPicPr>
        <p:blipFill>
          <a:blip r:embed="rId7"/>
          <a:srcRect l="0" r="0" t="0" b="0"/>
          <a:stretch/>
        </p:blipFill>
        <p:spPr>
          <a:xfrm>
            <a:off x="7955280" y="1417320"/>
            <a:ext cx="1143000" cy="2029968"/>
          </a:xfrm>
          <a:prstGeom prst="rect">
            <a:avLst/>
          </a:prstGeom>
        </p:spPr>
      </p:pic>
      <p:sp>
        <p:nvSpPr>
          <p:cNvPr id="31" name="Shape 22"/>
          <p:cNvSpPr/>
          <p:nvPr/>
        </p:nvSpPr>
        <p:spPr>
          <a:xfrm>
            <a:off x="7955280" y="3520440"/>
            <a:ext cx="1143000" cy="27432"/>
          </a:xfrm>
          <a:prstGeom prst="rect">
            <a:avLst/>
          </a:prstGeom>
          <a:solidFill>
            <a:srgbClr val="E8DFC8"/>
          </a:solidFill>
          <a:ln w="12700">
            <a:solidFill>
              <a:srgbClr val="E8DFC8"/>
            </a:solidFill>
            <a:prstDash val="solid"/>
          </a:ln>
        </p:spPr>
      </p:sp>
      <p:sp>
        <p:nvSpPr>
          <p:cNvPr id="32" name="Text 23"/>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33" name="Text 24"/>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Profile: the ivory case edge rim-lit by the sun</a:t>
            </a:r>
            <a:endParaRPr lang="en-US" sz="800" dirty="0"/>
          </a:p>
        </p:txBody>
      </p:sp>
      <p:pic>
        <p:nvPicPr>
          <p:cNvPr id="34" name="Image 7" descr="/tmp/claude-0/-home-user-Sage-portfolio/d05fecce-977e-5eab-9cf5-7c09b306c551/scratchpad/wrdeck/img/sb_A2_8.jpg">    </p:cNvPr>
          <p:cNvPicPr>
            <a:picLocks noChangeAspect="1"/>
          </p:cNvPicPr>
          <p:nvPr/>
        </p:nvPicPr>
        <p:blipFill>
          <a:blip r:embed="rId8"/>
          <a:srcRect l="0" r="0" t="0" b="0"/>
          <a:stretch/>
        </p:blipFill>
        <p:spPr>
          <a:xfrm>
            <a:off x="9189720" y="1417320"/>
            <a:ext cx="1143000" cy="2029968"/>
          </a:xfrm>
          <a:prstGeom prst="rect">
            <a:avLst/>
          </a:prstGeom>
        </p:spPr>
      </p:pic>
      <p:sp>
        <p:nvSpPr>
          <p:cNvPr id="35" name="Shape 25"/>
          <p:cNvSpPr/>
          <p:nvPr/>
        </p:nvSpPr>
        <p:spPr>
          <a:xfrm>
            <a:off x="9189720" y="3520440"/>
            <a:ext cx="1143000" cy="27432"/>
          </a:xfrm>
          <a:prstGeom prst="rect">
            <a:avLst/>
          </a:prstGeom>
          <a:solidFill>
            <a:srgbClr val="E8DFC8"/>
          </a:solidFill>
          <a:ln w="12700">
            <a:solidFill>
              <a:srgbClr val="E8DFC8"/>
            </a:solidFill>
            <a:prstDash val="solid"/>
          </a:ln>
        </p:spPr>
      </p:sp>
      <p:sp>
        <p:nvSpPr>
          <p:cNvPr id="36" name="Text 26"/>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37" name="Text 27"/>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turns the wrist; the light ripples across the case</a:t>
            </a:r>
            <a:endParaRPr lang="en-US" sz="800" dirty="0"/>
          </a:p>
        </p:txBody>
      </p:sp>
      <p:pic>
        <p:nvPicPr>
          <p:cNvPr id="38" name="Image 8" descr="/tmp/claude-0/-home-user-Sage-portfolio/d05fecce-977e-5eab-9cf5-7c09b306c551/scratchpad/wrdeck/img/sb_A2_9.jpg">    </p:cNvPr>
          <p:cNvPicPr>
            <a:picLocks noChangeAspect="1"/>
          </p:cNvPicPr>
          <p:nvPr/>
        </p:nvPicPr>
        <p:blipFill>
          <a:blip r:embed="rId9"/>
          <a:srcRect l="0" r="0" t="0" b="0"/>
          <a:stretch/>
        </p:blipFill>
        <p:spPr>
          <a:xfrm>
            <a:off x="10424160" y="1417320"/>
            <a:ext cx="1143000" cy="2029968"/>
          </a:xfrm>
          <a:prstGeom prst="rect">
            <a:avLst/>
          </a:prstGeom>
        </p:spPr>
      </p:pic>
      <p:sp>
        <p:nvSpPr>
          <p:cNvPr id="39" name="Shape 28"/>
          <p:cNvSpPr/>
          <p:nvPr/>
        </p:nvSpPr>
        <p:spPr>
          <a:xfrm>
            <a:off x="10424160" y="3520440"/>
            <a:ext cx="1143000" cy="27432"/>
          </a:xfrm>
          <a:prstGeom prst="rect">
            <a:avLst/>
          </a:prstGeom>
          <a:solidFill>
            <a:srgbClr val="E8DFC8"/>
          </a:solidFill>
          <a:ln w="12700">
            <a:solidFill>
              <a:srgbClr val="E8DFC8"/>
            </a:solidFill>
            <a:prstDash val="solid"/>
          </a:ln>
        </p:spPr>
      </p:sp>
      <p:sp>
        <p:nvSpPr>
          <p:cNvPr id="40" name="Text 29"/>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41" name="Text 30"/>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his silhouette in the jaali corridor, wrist raised into the light</a:t>
            </a:r>
            <a:endParaRPr lang="en-US" sz="800" dirty="0"/>
          </a:p>
        </p:txBody>
      </p:sp>
      <p:sp>
        <p:nvSpPr>
          <p:cNvPr id="42" name="Text 31"/>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AI storyboard frames · the watch is exact, the man is a stand-in for Mukesh ji.</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18</a:t>
            </a:r>
            <a:endParaRPr lang="en-US" sz="750" dirty="0"/>
          </a:p>
        </p:txBody>
      </p:sp>
      <p:pic>
        <p:nvPicPr>
          <p:cNvPr id="4" name="Image 0" descr="/tmp/claude-0/-home-user-Sage-portfolio/d05fecce-977e-5eab-9cf5-7c09b306c551/scratchpad/wrdeck/img/ai_green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DIALOGUE PUNCH  ·  10–12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KITNE KI HAI?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Price vs position</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most Indian question there is — "Kitne ki hai?" Mukesh doesn't answer with a number. Straight from Neetu: an expensive watch has a price; a Wealth Roots watch has a position.</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Off-camera elder's voice in the courtyard: "Beta, ye ghadi kitne ki hai?"</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"Beta, ye ghadi kitne ki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Mukesh (calm, no smile): "Mehngi ghadi ki keemat hoti hai, chacha. Iski position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(beat): "…Achha."  — cut.</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AN EXPENSIVE WATCH HAS A PRICE. THIS ONE HAS A POSITION.</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Diegetic only — chai sip, courtyard birds. Music hits on the last 2 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KITNE KI HAI?</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 the elder's shoulder: Mukesh on the takht with chai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glass down, shirt cuff slides back from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 on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answer, straight to the elder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single,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Elder nods slowly. Cut to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reverse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Takht or charpai · brass chai glasses · one elder extra (60+; face can stay out of frame).</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indian courtyard chai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@mukesh_gupta14 — his own dialogue pacing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KITNE KI HAI?</a:t>
            </a:r>
            <a:endParaRPr lang="en-US" sz="2800" dirty="0"/>
          </a:p>
        </p:txBody>
      </p:sp>
      <p:pic>
        <p:nvPicPr>
          <p:cNvPr id="6" name="Image 0" descr="/tmp/claude-0/-home-user-Sage-portfolio/d05fecce-977e-5eab-9cf5-7c09b306c551/scratchpad/wrdeck/img/sb_A3_1.jpg">    </p:cNvPr>
          <p:cNvPicPr>
            <a:picLocks noChangeAspect="1"/>
          </p:cNvPicPr>
          <p:nvPr/>
        </p:nvPicPr>
        <p:blipFill>
          <a:blip r:embed="rId1"/>
          <a:srcRect l="0" r="0" t="0" b="0"/>
          <a:stretch/>
        </p:blipFill>
        <p:spPr>
          <a:xfrm>
            <a:off x="548640" y="1417320"/>
            <a:ext cx="1143000" cy="2029968"/>
          </a:xfrm>
          <a:prstGeom prst="rect">
            <a:avLst/>
          </a:prstGeom>
        </p:spPr>
      </p:pic>
      <p:sp>
        <p:nvSpPr>
          <p:cNvPr id="7" name="Shape 4"/>
          <p:cNvSpPr/>
          <p:nvPr/>
        </p:nvSpPr>
        <p:spPr>
          <a:xfrm>
            <a:off x="548640" y="3520440"/>
            <a:ext cx="1143000" cy="27432"/>
          </a:xfrm>
          <a:prstGeom prst="rect">
            <a:avLst/>
          </a:prstGeom>
          <a:solidFill>
            <a:srgbClr val="E8DFC8"/>
          </a:solidFill>
          <a:ln w="12700">
            <a:solidFill>
              <a:srgbClr val="E8DFC8"/>
            </a:solidFill>
            <a:prstDash val="solid"/>
          </a:ln>
        </p:spPr>
      </p:sp>
      <p:sp>
        <p:nvSpPr>
          <p:cNvPr id="8" name="Text 5"/>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9" name="Text 6"/>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Courtyard wide in morning light: a takht, brass chai glasses, pigeons</a:t>
            </a:r>
            <a:endParaRPr lang="en-US" sz="800" dirty="0"/>
          </a:p>
        </p:txBody>
      </p:sp>
      <p:pic>
        <p:nvPicPr>
          <p:cNvPr id="10" name="Image 1" descr="/tmp/claude-0/-home-user-Sage-portfolio/d05fecce-977e-5eab-9cf5-7c09b306c551/scratchpad/wrdeck/img/sb_A3_2.jpg">    </p:cNvPr>
          <p:cNvPicPr>
            <a:picLocks noChangeAspect="1"/>
          </p:cNvPicPr>
          <p:nvPr/>
        </p:nvPicPr>
        <p:blipFill>
          <a:blip r:embed="rId2"/>
          <a:srcRect l="0" r="0" t="0" b="0"/>
          <a:stretch/>
        </p:blipFill>
        <p:spPr>
          <a:xfrm>
            <a:off x="1783080" y="1417320"/>
            <a:ext cx="1143000" cy="2029968"/>
          </a:xfrm>
          <a:prstGeom prst="rect">
            <a:avLst/>
          </a:prstGeom>
        </p:spPr>
      </p:pic>
      <p:sp>
        <p:nvSpPr>
          <p:cNvPr id="11" name="Shape 7"/>
          <p:cNvSpPr/>
          <p:nvPr/>
        </p:nvSpPr>
        <p:spPr>
          <a:xfrm>
            <a:off x="1783080" y="3520440"/>
            <a:ext cx="1143000" cy="27432"/>
          </a:xfrm>
          <a:prstGeom prst="rect">
            <a:avLst/>
          </a:prstGeom>
          <a:solidFill>
            <a:srgbClr val="E8DFC8"/>
          </a:solidFill>
          <a:ln w="12700">
            <a:solidFill>
              <a:srgbClr val="E8DFC8"/>
            </a:solidFill>
            <a:prstDash val="solid"/>
          </a:ln>
        </p:spPr>
      </p:sp>
      <p:sp>
        <p:nvSpPr>
          <p:cNvPr id="12" name="Text 8"/>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3" name="Text 9"/>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 the elder's shoulder (white kurta, back to camera): Mukesh in the ivory bandhgala</a:t>
            </a:r>
            <a:endParaRPr lang="en-US" sz="800" dirty="0"/>
          </a:p>
        </p:txBody>
      </p:sp>
      <p:pic>
        <p:nvPicPr>
          <p:cNvPr id="14" name="Image 2" descr="/tmp/claude-0/-home-user-Sage-portfolio/d05fecce-977e-5eab-9cf5-7c09b306c551/scratchpad/wrdeck/img/sb_A3_3.jpg">    </p:cNvPr>
          <p:cNvPicPr>
            <a:picLocks noChangeAspect="1"/>
          </p:cNvPicPr>
          <p:nvPr/>
        </p:nvPicPr>
        <p:blipFill>
          <a:blip r:embed="rId3"/>
          <a:srcRect l="0" r="0" t="0" b="0"/>
          <a:stretch/>
        </p:blipFill>
        <p:spPr>
          <a:xfrm>
            <a:off x="3017520" y="1417320"/>
            <a:ext cx="1143000" cy="2029968"/>
          </a:xfrm>
          <a:prstGeom prst="rect">
            <a:avLst/>
          </a:prstGeom>
        </p:spPr>
      </p:pic>
      <p:sp>
        <p:nvSpPr>
          <p:cNvPr id="15" name="Shape 10"/>
          <p:cNvSpPr/>
          <p:nvPr/>
        </p:nvSpPr>
        <p:spPr>
          <a:xfrm>
            <a:off x="3017520" y="3520440"/>
            <a:ext cx="1143000" cy="27432"/>
          </a:xfrm>
          <a:prstGeom prst="rect">
            <a:avLst/>
          </a:prstGeom>
          <a:solidFill>
            <a:srgbClr val="E8DFC8"/>
          </a:solidFill>
          <a:ln w="12700">
            <a:solidFill>
              <a:srgbClr val="E8DFC8"/>
            </a:solidFill>
            <a:prstDash val="solid"/>
          </a:ln>
        </p:spPr>
      </p:sp>
      <p:sp>
        <p:nvSpPr>
          <p:cNvPr id="16" name="Text 11"/>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17" name="Text 12"/>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sips chai, unhurried</a:t>
            </a:r>
            <a:endParaRPr lang="en-US" sz="800" dirty="0"/>
          </a:p>
        </p:txBody>
      </p:sp>
      <p:pic>
        <p:nvPicPr>
          <p:cNvPr id="18" name="Image 3" descr="/tmp/claude-0/-home-user-Sage-portfolio/d05fecce-977e-5eab-9cf5-7c09b306c551/scratchpad/wrdeck/img/sb_A3_4.jpg">    </p:cNvPr>
          <p:cNvPicPr>
            <a:picLocks noChangeAspect="1"/>
          </p:cNvPicPr>
          <p:nvPr/>
        </p:nvPicPr>
        <p:blipFill>
          <a:blip r:embed="rId4"/>
          <a:srcRect l="0" r="0" t="0" b="0"/>
          <a:stretch/>
        </p:blipFill>
        <p:spPr>
          <a:xfrm>
            <a:off x="4251960" y="1417320"/>
            <a:ext cx="1143000" cy="2029968"/>
          </a:xfrm>
          <a:prstGeom prst="rect">
            <a:avLst/>
          </a:prstGeom>
        </p:spPr>
      </p:pic>
      <p:sp>
        <p:nvSpPr>
          <p:cNvPr id="19" name="Shape 13"/>
          <p:cNvSpPr/>
          <p:nvPr/>
        </p:nvSpPr>
        <p:spPr>
          <a:xfrm>
            <a:off x="4251960" y="3520440"/>
            <a:ext cx="1143000" cy="27432"/>
          </a:xfrm>
          <a:prstGeom prst="rect">
            <a:avLst/>
          </a:prstGeom>
          <a:solidFill>
            <a:srgbClr val="E8DFC8"/>
          </a:solidFill>
          <a:ln w="12700">
            <a:solidFill>
              <a:srgbClr val="E8DFC8"/>
            </a:solidFill>
            <a:prstDash val="solid"/>
          </a:ln>
        </p:spPr>
      </p:sp>
      <p:sp>
        <p:nvSpPr>
          <p:cNvPr id="20" name="Text 14"/>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1" name="Text 15"/>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he sets the glass down; the cuff slides back from the watch</a:t>
            </a:r>
            <a:endParaRPr lang="en-US" sz="800" dirty="0"/>
          </a:p>
        </p:txBody>
      </p:sp>
      <p:pic>
        <p:nvPicPr>
          <p:cNvPr id="22" name="Image 4" descr="/tmp/claude-0/-home-user-Sage-portfolio/d05fecce-977e-5eab-9cf5-7c09b306c551/scratchpad/wrdeck/img/sb_A3_5.jpg">    </p:cNvPr>
          <p:cNvPicPr>
            <a:picLocks noChangeAspect="1"/>
          </p:cNvPicPr>
          <p:nvPr/>
        </p:nvPicPr>
        <p:blipFill>
          <a:blip r:embed="rId5"/>
          <a:srcRect l="0" r="0" t="0" b="0"/>
          <a:stretch/>
        </p:blipFill>
        <p:spPr>
          <a:xfrm>
            <a:off x="5486400" y="1417320"/>
            <a:ext cx="1143000" cy="2029968"/>
          </a:xfrm>
          <a:prstGeom prst="rect">
            <a:avLst/>
          </a:prstGeom>
        </p:spPr>
      </p:pic>
      <p:sp>
        <p:nvSpPr>
          <p:cNvPr id="23" name="Shape 16"/>
          <p:cNvSpPr/>
          <p:nvPr/>
        </p:nvSpPr>
        <p:spPr>
          <a:xfrm>
            <a:off x="5486400" y="3520440"/>
            <a:ext cx="1143000" cy="27432"/>
          </a:xfrm>
          <a:prstGeom prst="rect">
            <a:avLst/>
          </a:prstGeom>
          <a:solidFill>
            <a:srgbClr val="E8DFC8"/>
          </a:solidFill>
          <a:ln w="12700">
            <a:solidFill>
              <a:srgbClr val="E8DFC8"/>
            </a:solidFill>
            <a:prstDash val="solid"/>
          </a:ln>
        </p:spPr>
      </p:sp>
      <p:sp>
        <p:nvSpPr>
          <p:cNvPr id="24" name="Text 1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25" name="Text 1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hand gestures toward the watch (face out of frame)</a:t>
            </a:r>
            <a:endParaRPr lang="en-US" sz="800" dirty="0"/>
          </a:p>
        </p:txBody>
      </p:sp>
      <p:pic>
        <p:nvPicPr>
          <p:cNvPr id="26" name="Image 5" descr="/tmp/claude-0/-home-user-Sage-portfolio/d05fecce-977e-5eab-9cf5-7c09b306c551/scratchpad/wrdeck/img/sb_A3_6.jpg">    </p:cNvPr>
          <p:cNvPicPr>
            <a:picLocks noChangeAspect="1"/>
          </p:cNvPicPr>
          <p:nvPr/>
        </p:nvPicPr>
        <p:blipFill>
          <a:blip r:embed="rId6"/>
          <a:srcRect l="0" r="0" t="0" b="0"/>
          <a:stretch/>
        </p:blipFill>
        <p:spPr>
          <a:xfrm>
            <a:off x="6720840" y="1417320"/>
            <a:ext cx="1143000" cy="2029968"/>
          </a:xfrm>
          <a:prstGeom prst="rect">
            <a:avLst/>
          </a:prstGeom>
        </p:spPr>
      </p:pic>
      <p:sp>
        <p:nvSpPr>
          <p:cNvPr id="27" name="Shape 19"/>
          <p:cNvSpPr/>
          <p:nvPr/>
        </p:nvSpPr>
        <p:spPr>
          <a:xfrm>
            <a:off x="6720840" y="3520440"/>
            <a:ext cx="1143000" cy="27432"/>
          </a:xfrm>
          <a:prstGeom prst="rect">
            <a:avLst/>
          </a:prstGeom>
          <a:solidFill>
            <a:srgbClr val="E8DFC8"/>
          </a:solidFill>
          <a:ln w="12700">
            <a:solidFill>
              <a:srgbClr val="E8DFC8"/>
            </a:solidFill>
            <a:prstDash val="solid"/>
          </a:ln>
        </p:spPr>
      </p:sp>
      <p:sp>
        <p:nvSpPr>
          <p:cNvPr id="28" name="Text 20"/>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29" name="Text 21"/>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mid-answer, calm, eye level</a:t>
            </a:r>
            <a:endParaRPr lang="en-US" sz="800" dirty="0"/>
          </a:p>
        </p:txBody>
      </p:sp>
      <p:pic>
        <p:nvPicPr>
          <p:cNvPr id="30" name="Image 6" descr="/tmp/claude-0/-home-user-Sage-portfolio/d05fecce-977e-5eab-9cf5-7c09b306c551/scratchpad/wrdeck/img/sb_A3_7.jpg">    </p:cNvPr>
          <p:cNvPicPr>
            <a:picLocks noChangeAspect="1"/>
          </p:cNvPicPr>
          <p:nvPr/>
        </p:nvPicPr>
        <p:blipFill>
          <a:blip r:embed="rId7"/>
          <a:srcRect l="0" r="0" t="0" b="0"/>
          <a:stretch/>
        </p:blipFill>
        <p:spPr>
          <a:xfrm>
            <a:off x="7955280" y="1417320"/>
            <a:ext cx="1143000" cy="2029968"/>
          </a:xfrm>
          <a:prstGeom prst="rect">
            <a:avLst/>
          </a:prstGeom>
        </p:spPr>
      </p:pic>
      <p:sp>
        <p:nvSpPr>
          <p:cNvPr id="31" name="Shape 22"/>
          <p:cNvSpPr/>
          <p:nvPr/>
        </p:nvSpPr>
        <p:spPr>
          <a:xfrm>
            <a:off x="7955280" y="3520440"/>
            <a:ext cx="1143000" cy="27432"/>
          </a:xfrm>
          <a:prstGeom prst="rect">
            <a:avLst/>
          </a:prstGeom>
          <a:solidFill>
            <a:srgbClr val="E8DFC8"/>
          </a:solidFill>
          <a:ln w="12700">
            <a:solidFill>
              <a:srgbClr val="E8DFC8"/>
            </a:solidFill>
            <a:prstDash val="solid"/>
          </a:ln>
        </p:spPr>
      </p:sp>
      <p:sp>
        <p:nvSpPr>
          <p:cNvPr id="32" name="Text 23"/>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33" name="Text 24"/>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resting on his knee</a:t>
            </a:r>
            <a:endParaRPr lang="en-US" sz="800" dirty="0"/>
          </a:p>
        </p:txBody>
      </p:sp>
      <p:pic>
        <p:nvPicPr>
          <p:cNvPr id="34" name="Image 7" descr="/tmp/claude-0/-home-user-Sage-portfolio/d05fecce-977e-5eab-9cf5-7c09b306c551/scratchpad/wrdeck/img/sb_A3_8.jpg">    </p:cNvPr>
          <p:cNvPicPr>
            <a:picLocks noChangeAspect="1"/>
          </p:cNvPicPr>
          <p:nvPr/>
        </p:nvPicPr>
        <p:blipFill>
          <a:blip r:embed="rId8"/>
          <a:srcRect l="0" r="0" t="0" b="0"/>
          <a:stretch/>
        </p:blipFill>
        <p:spPr>
          <a:xfrm>
            <a:off x="9189720" y="1417320"/>
            <a:ext cx="1143000" cy="2029968"/>
          </a:xfrm>
          <a:prstGeom prst="rect">
            <a:avLst/>
          </a:prstGeom>
        </p:spPr>
      </p:pic>
      <p:sp>
        <p:nvSpPr>
          <p:cNvPr id="35" name="Shape 25"/>
          <p:cNvSpPr/>
          <p:nvPr/>
        </p:nvSpPr>
        <p:spPr>
          <a:xfrm>
            <a:off x="9189720" y="3520440"/>
            <a:ext cx="1143000" cy="27432"/>
          </a:xfrm>
          <a:prstGeom prst="rect">
            <a:avLst/>
          </a:prstGeom>
          <a:solidFill>
            <a:srgbClr val="E8DFC8"/>
          </a:solidFill>
          <a:ln w="12700">
            <a:solidFill>
              <a:srgbClr val="E8DFC8"/>
            </a:solidFill>
            <a:prstDash val="solid"/>
          </a:ln>
        </p:spPr>
      </p:sp>
      <p:sp>
        <p:nvSpPr>
          <p:cNvPr id="36" name="Text 26"/>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37" name="Text 27"/>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slow nod, face soft-focus</a:t>
            </a:r>
            <a:endParaRPr lang="en-US" sz="800" dirty="0"/>
          </a:p>
        </p:txBody>
      </p:sp>
      <p:pic>
        <p:nvPicPr>
          <p:cNvPr id="38" name="Image 8" descr="/tmp/claude-0/-home-user-Sage-portfolio/d05fecce-977e-5eab-9cf5-7c09b306c551/scratchpad/wrdeck/img/sb_A3_9.jpg">    </p:cNvPr>
          <p:cNvPicPr>
            <a:picLocks noChangeAspect="1"/>
          </p:cNvPicPr>
          <p:nvPr/>
        </p:nvPicPr>
        <p:blipFill>
          <a:blip r:embed="rId9"/>
          <a:srcRect l="0" r="0" t="0" b="0"/>
          <a:stretch/>
        </p:blipFill>
        <p:spPr>
          <a:xfrm>
            <a:off x="10424160" y="1417320"/>
            <a:ext cx="1143000" cy="2029968"/>
          </a:xfrm>
          <a:prstGeom prst="rect">
            <a:avLst/>
          </a:prstGeom>
        </p:spPr>
      </p:pic>
      <p:sp>
        <p:nvSpPr>
          <p:cNvPr id="39" name="Shape 28"/>
          <p:cNvSpPr/>
          <p:nvPr/>
        </p:nvSpPr>
        <p:spPr>
          <a:xfrm>
            <a:off x="10424160" y="3520440"/>
            <a:ext cx="1143000" cy="27432"/>
          </a:xfrm>
          <a:prstGeom prst="rect">
            <a:avLst/>
          </a:prstGeom>
          <a:solidFill>
            <a:srgbClr val="E8DFC8"/>
          </a:solidFill>
          <a:ln w="12700">
            <a:solidFill>
              <a:srgbClr val="E8DFC8"/>
            </a:solidFill>
            <a:prstDash val="solid"/>
          </a:ln>
        </p:spPr>
      </p:sp>
      <p:sp>
        <p:nvSpPr>
          <p:cNvPr id="40" name="Text 29"/>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41" name="Text 30"/>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both seated in the chowk, pigeons lift off</a:t>
            </a:r>
            <a:endParaRPr lang="en-US" sz="800" dirty="0"/>
          </a:p>
        </p:txBody>
      </p:sp>
      <p:sp>
        <p:nvSpPr>
          <p:cNvPr id="42" name="Text 31"/>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AI storyboard frames · the watch is exact, the man is a stand-in for Mukesh ji.</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21</a:t>
            </a:r>
            <a:endParaRPr lang="en-US" sz="750" dirty="0"/>
          </a:p>
        </p:txBody>
      </p:sp>
      <p:sp>
        <p:nvSpPr>
          <p:cNvPr id="4" name="Shape 2"/>
          <p:cNvSpPr/>
          <p:nvPr/>
        </p:nvSpPr>
        <p:spPr>
          <a:xfrm>
            <a:off x="0" y="0"/>
            <a:ext cx="4206240" cy="6858000"/>
          </a:xfrm>
          <a:prstGeom prst="rect">
            <a:avLst/>
          </a:prstGeom>
          <a:solidFill>
            <a:srgbClr val="173A31"/>
          </a:solidFill>
          <a:ln w="12700">
            <a:solidFill>
              <a:srgbClr val="173A31"/>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WORLD 02</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DISCIPLINE</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7F25A"/>
                </a:solidFill>
                <a:latin typeface="Inter" pitchFamily="34" charset="0"/>
                <a:ea typeface="Inter" pitchFamily="34" charset="-122"/>
                <a:cs typeface="Inter" pitchFamily="34" charset="-120"/>
              </a:rPr>
              <a:t>CITRUS MINT</a:t>
            </a:r>
            <a:endParaRPr lang="en-US" sz="1200" dirty="0"/>
          </a:p>
        </p:txBody>
      </p:sp>
      <p:sp>
        <p:nvSpPr>
          <p:cNvPr id="9" name="Shape 6"/>
          <p:cNvSpPr/>
          <p:nvPr/>
        </p:nvSpPr>
        <p:spPr>
          <a:xfrm>
            <a:off x="548640" y="5852160"/>
            <a:ext cx="640080" cy="292608"/>
          </a:xfrm>
          <a:prstGeom prst="rect">
            <a:avLst/>
          </a:prstGeom>
          <a:solidFill>
            <a:srgbClr val="FFFFFF"/>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1" name="Shape 8"/>
          <p:cNvSpPr/>
          <p:nvPr/>
        </p:nvSpPr>
        <p:spPr>
          <a:xfrm>
            <a:off x="1335024" y="5852160"/>
            <a:ext cx="640080" cy="292608"/>
          </a:xfrm>
          <a:prstGeom prst="rect">
            <a:avLst/>
          </a:prstGeom>
          <a:solidFill>
            <a:srgbClr val="D7F25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Lime</a:t>
            </a:r>
            <a:endParaRPr lang="en-US" sz="650" dirty="0"/>
          </a:p>
        </p:txBody>
      </p:sp>
      <p:sp>
        <p:nvSpPr>
          <p:cNvPr id="13" name="Shape 10"/>
          <p:cNvSpPr/>
          <p:nvPr/>
        </p:nvSpPr>
        <p:spPr>
          <a:xfrm>
            <a:off x="2121408" y="5852160"/>
            <a:ext cx="640080" cy="292608"/>
          </a:xfrm>
          <a:prstGeom prst="rect">
            <a:avLst/>
          </a:prstGeom>
          <a:solidFill>
            <a:srgbClr val="8FE3C3"/>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Mint</a:t>
            </a:r>
            <a:endParaRPr lang="en-US" sz="650" dirty="0"/>
          </a:p>
        </p:txBody>
      </p:sp>
      <p:sp>
        <p:nvSpPr>
          <p:cNvPr id="15" name="Shape 12"/>
          <p:cNvSpPr/>
          <p:nvPr/>
        </p:nvSpPr>
        <p:spPr>
          <a:xfrm>
            <a:off x="2907792" y="5852160"/>
            <a:ext cx="640080" cy="292608"/>
          </a:xfrm>
          <a:prstGeom prst="rect">
            <a:avLst/>
          </a:prstGeom>
          <a:solidFill>
            <a:srgbClr val="E9D9B8"/>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Sun on sandstone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FIRST LIGHT · 06:15–07:45 + 10:00–11:00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routine nobody sees. Neetu's definition of dominance — absolute command over your own calendar. Not a gym flex: a quiet dawn that belongs to him.</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at first light · Jal Mahal promenade (free, public) · white-marble counter</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Breath, footsteps, one kick drum on the end card.</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4:59</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25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Sovereign time</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COLD. SHARP. ON TIME.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hands · 12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Fresh cut</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JAL MAHAL, 6:50</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Run ·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city sleeps in. He doesn't.</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22</a:t>
            </a:r>
            <a:endParaRPr lang="en-US" sz="750" dirty="0"/>
          </a:p>
        </p:txBody>
      </p:sp>
      <p:pic>
        <p:nvPicPr>
          <p:cNvPr id="4" name="Image 0" descr="/tmp/claude-0/-home-user-Sage-portfolio/d05fecce-977e-5eab-9cf5-7c09b306c551/scratchpad/wrdeck/img/ai_lim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 REEL  ·  25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4:59</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Sovereign time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city is asleep; he is already up. The alarm reads 4:59 and he switches it off before it rings. Dominance isn't noise — it's control over your own time.</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alarm at 4:59 — his hand stops it before it rings. The watch is already on.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"Duniya ka alarm abhi baja nahi."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"Mera din shuru ho chuka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"Dominance shor se nahi aata… control se aata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"Apne time pe."</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SOVEREIGN TIME.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Room tone · breath · rope whip · birds at sunrise · single kick on the end card.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4:59</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Dark room, phone shows 4:59, his hand stops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light from the phone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sits on the bed edge, fastens nothing — the watch is already 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dark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climbs the haveli stairs to the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from below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Skipping / push-ups at first light; macro at the bottom of a push-up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 + 100mm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17–22s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stops, checks the watch; sunrise over Jaipur behind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backlit,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22–25s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4:59 alarm screen · skipping rope.</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5am routine cinematic rooftop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sport discipline edits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4:59</a:t>
            </a:r>
            <a:endParaRPr lang="en-US" sz="2800" dirty="0"/>
          </a:p>
        </p:txBody>
      </p:sp>
      <p:pic>
        <p:nvPicPr>
          <p:cNvPr id="6" name="Image 0" descr="/tmp/claude-0/-home-user-Sage-portfolio/d05fecce-977e-5eab-9cf5-7c09b306c551/scratchpad/wrdeck/img/sb_B1_1.jpg">    </p:cNvPr>
          <p:cNvPicPr>
            <a:picLocks noChangeAspect="1"/>
          </p:cNvPicPr>
          <p:nvPr/>
        </p:nvPicPr>
        <p:blipFill>
          <a:blip r:embed="rId1"/>
          <a:srcRect l="0" r="0" t="0" b="0"/>
          <a:stretch/>
        </p:blipFill>
        <p:spPr>
          <a:xfrm>
            <a:off x="548640" y="1417320"/>
            <a:ext cx="1143000" cy="2029968"/>
          </a:xfrm>
          <a:prstGeom prst="rect">
            <a:avLst/>
          </a:prstGeom>
        </p:spPr>
      </p:pic>
      <p:sp>
        <p:nvSpPr>
          <p:cNvPr id="7" name="Shape 4"/>
          <p:cNvSpPr/>
          <p:nvPr/>
        </p:nvSpPr>
        <p:spPr>
          <a:xfrm>
            <a:off x="548640" y="3520440"/>
            <a:ext cx="1143000" cy="27432"/>
          </a:xfrm>
          <a:prstGeom prst="rect">
            <a:avLst/>
          </a:prstGeom>
          <a:solidFill>
            <a:srgbClr val="D7F25A"/>
          </a:solidFill>
          <a:ln w="12700">
            <a:solidFill>
              <a:srgbClr val="D7F25A"/>
            </a:solidFill>
            <a:prstDash val="solid"/>
          </a:ln>
        </p:spPr>
      </p:sp>
      <p:sp>
        <p:nvSpPr>
          <p:cNvPr id="8" name="Text 5"/>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9" name="Text 6"/>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 bedroom: phone screen glowing 4:59, his hand reaching, watch on the wrist</a:t>
            </a:r>
            <a:endParaRPr lang="en-US" sz="800" dirty="0"/>
          </a:p>
        </p:txBody>
      </p:sp>
      <p:pic>
        <p:nvPicPr>
          <p:cNvPr id="10" name="Image 1" descr="/tmp/claude-0/-home-user-Sage-portfolio/d05fecce-977e-5eab-9cf5-7c09b306c551/scratchpad/wrdeck/img/sb_B1_2.jpg">    </p:cNvPr>
          <p:cNvPicPr>
            <a:picLocks noChangeAspect="1"/>
          </p:cNvPicPr>
          <p:nvPr/>
        </p:nvPicPr>
        <p:blipFill>
          <a:blip r:embed="rId2"/>
          <a:srcRect l="0" r="0" t="0" b="0"/>
          <a:stretch/>
        </p:blipFill>
        <p:spPr>
          <a:xfrm>
            <a:off x="1783080" y="1417320"/>
            <a:ext cx="1143000" cy="2029968"/>
          </a:xfrm>
          <a:prstGeom prst="rect">
            <a:avLst/>
          </a:prstGeom>
        </p:spPr>
      </p:pic>
      <p:sp>
        <p:nvSpPr>
          <p:cNvPr id="11" name="Shape 7"/>
          <p:cNvSpPr/>
          <p:nvPr/>
        </p:nvSpPr>
        <p:spPr>
          <a:xfrm>
            <a:off x="1783080" y="3520440"/>
            <a:ext cx="1143000" cy="27432"/>
          </a:xfrm>
          <a:prstGeom prst="rect">
            <a:avLst/>
          </a:prstGeom>
          <a:solidFill>
            <a:srgbClr val="D7F25A"/>
          </a:solidFill>
          <a:ln w="12700">
            <a:solidFill>
              <a:srgbClr val="D7F25A"/>
            </a:solidFill>
            <a:prstDash val="solid"/>
          </a:ln>
        </p:spPr>
      </p:sp>
      <p:sp>
        <p:nvSpPr>
          <p:cNvPr id="12" name="Text 8"/>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3" name="Text 9"/>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thumb stops the alarm before it rings</a:t>
            </a:r>
            <a:endParaRPr lang="en-US" sz="800" dirty="0"/>
          </a:p>
        </p:txBody>
      </p:sp>
      <p:pic>
        <p:nvPicPr>
          <p:cNvPr id="14" name="Image 2" descr="/tmp/claude-0/-home-user-Sage-portfolio/d05fecce-977e-5eab-9cf5-7c09b306c551/scratchpad/wrdeck/img/sb_B1_3.jpg">    </p:cNvPr>
          <p:cNvPicPr>
            <a:picLocks noChangeAspect="1"/>
          </p:cNvPicPr>
          <p:nvPr/>
        </p:nvPicPr>
        <p:blipFill>
          <a:blip r:embed="rId3"/>
          <a:srcRect l="0" r="0" t="0" b="0"/>
          <a:stretch/>
        </p:blipFill>
        <p:spPr>
          <a:xfrm>
            <a:off x="3017520" y="1417320"/>
            <a:ext cx="1143000" cy="2029968"/>
          </a:xfrm>
          <a:prstGeom prst="rect">
            <a:avLst/>
          </a:prstGeom>
        </p:spPr>
      </p:pic>
      <p:sp>
        <p:nvSpPr>
          <p:cNvPr id="15" name="Shape 10"/>
          <p:cNvSpPr/>
          <p:nvPr/>
        </p:nvSpPr>
        <p:spPr>
          <a:xfrm>
            <a:off x="3017520" y="3520440"/>
            <a:ext cx="1143000" cy="27432"/>
          </a:xfrm>
          <a:prstGeom prst="rect">
            <a:avLst/>
          </a:prstGeom>
          <a:solidFill>
            <a:srgbClr val="D7F25A"/>
          </a:solidFill>
          <a:ln w="12700">
            <a:solidFill>
              <a:srgbClr val="D7F25A"/>
            </a:solidFill>
            <a:prstDash val="solid"/>
          </a:ln>
        </p:spPr>
      </p:sp>
      <p:sp>
        <p:nvSpPr>
          <p:cNvPr id="16" name="Text 11"/>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17" name="Text 12"/>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sits on the bed edge in the dark, calm, already awake</a:t>
            </a:r>
            <a:endParaRPr lang="en-US" sz="800" dirty="0"/>
          </a:p>
        </p:txBody>
      </p:sp>
      <p:pic>
        <p:nvPicPr>
          <p:cNvPr id="18" name="Image 3" descr="/tmp/claude-0/-home-user-Sage-portfolio/d05fecce-977e-5eab-9cf5-7c09b306c551/scratchpad/wrdeck/img/sb_B1_4.jpg">    </p:cNvPr>
          <p:cNvPicPr>
            <a:picLocks noChangeAspect="1"/>
          </p:cNvPicPr>
          <p:nvPr/>
        </p:nvPicPr>
        <p:blipFill>
          <a:blip r:embed="rId4"/>
          <a:srcRect l="0" r="0" t="0" b="0"/>
          <a:stretch/>
        </p:blipFill>
        <p:spPr>
          <a:xfrm>
            <a:off x="4251960" y="1417320"/>
            <a:ext cx="1143000" cy="2029968"/>
          </a:xfrm>
          <a:prstGeom prst="rect">
            <a:avLst/>
          </a:prstGeom>
        </p:spPr>
      </p:pic>
      <p:sp>
        <p:nvSpPr>
          <p:cNvPr id="19" name="Shape 13"/>
          <p:cNvSpPr/>
          <p:nvPr/>
        </p:nvSpPr>
        <p:spPr>
          <a:xfrm>
            <a:off x="4251960" y="3520440"/>
            <a:ext cx="1143000" cy="27432"/>
          </a:xfrm>
          <a:prstGeom prst="rect">
            <a:avLst/>
          </a:prstGeom>
          <a:solidFill>
            <a:srgbClr val="D7F25A"/>
          </a:solidFill>
          <a:ln w="12700">
            <a:solidFill>
              <a:srgbClr val="D7F25A"/>
            </a:solidFill>
            <a:prstDash val="solid"/>
          </a:ln>
        </p:spPr>
      </p:sp>
      <p:sp>
        <p:nvSpPr>
          <p:cNvPr id="20" name="Text 14"/>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1" name="Text 15"/>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climbing the narrow haveli staircase toward the light</a:t>
            </a:r>
            <a:endParaRPr lang="en-US" sz="800" dirty="0"/>
          </a:p>
        </p:txBody>
      </p:sp>
      <p:pic>
        <p:nvPicPr>
          <p:cNvPr id="22" name="Image 4" descr="/tmp/claude-0/-home-user-Sage-portfolio/d05fecce-977e-5eab-9cf5-7c09b306c551/scratchpad/wrdeck/img/sb_B1_5.jpg">    </p:cNvPr>
          <p:cNvPicPr>
            <a:picLocks noChangeAspect="1"/>
          </p:cNvPicPr>
          <p:nvPr/>
        </p:nvPicPr>
        <p:blipFill>
          <a:blip r:embed="rId5"/>
          <a:srcRect l="0" r="0" t="0" b="0"/>
          <a:stretch/>
        </p:blipFill>
        <p:spPr>
          <a:xfrm>
            <a:off x="5486400" y="1417320"/>
            <a:ext cx="1143000" cy="2029968"/>
          </a:xfrm>
          <a:prstGeom prst="rect">
            <a:avLst/>
          </a:prstGeom>
        </p:spPr>
      </p:pic>
      <p:sp>
        <p:nvSpPr>
          <p:cNvPr id="23" name="Shape 16"/>
          <p:cNvSpPr/>
          <p:nvPr/>
        </p:nvSpPr>
        <p:spPr>
          <a:xfrm>
            <a:off x="5486400" y="3520440"/>
            <a:ext cx="1143000" cy="27432"/>
          </a:xfrm>
          <a:prstGeom prst="rect">
            <a:avLst/>
          </a:prstGeom>
          <a:solidFill>
            <a:srgbClr val="D7F25A"/>
          </a:solidFill>
          <a:ln w="12700">
            <a:solidFill>
              <a:srgbClr val="D7F25A"/>
            </a:solidFill>
            <a:prstDash val="solid"/>
          </a:ln>
        </p:spPr>
      </p:sp>
      <p:sp>
        <p:nvSpPr>
          <p:cNvPr id="24" name="Text 1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25" name="Text 1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at first light, old-city skyline silhouette</a:t>
            </a:r>
            <a:endParaRPr lang="en-US" sz="800" dirty="0"/>
          </a:p>
        </p:txBody>
      </p:sp>
      <p:pic>
        <p:nvPicPr>
          <p:cNvPr id="26" name="Image 5" descr="/tmp/claude-0/-home-user-Sage-portfolio/d05fecce-977e-5eab-9cf5-7c09b306c551/scratchpad/wrdeck/img/sb_B1_6.jpg">    </p:cNvPr>
          <p:cNvPicPr>
            <a:picLocks noChangeAspect="1"/>
          </p:cNvPicPr>
          <p:nvPr/>
        </p:nvPicPr>
        <p:blipFill>
          <a:blip r:embed="rId6"/>
          <a:srcRect l="0" r="0" t="0" b="0"/>
          <a:stretch/>
        </p:blipFill>
        <p:spPr>
          <a:xfrm>
            <a:off x="6720840" y="1417320"/>
            <a:ext cx="1143000" cy="2029968"/>
          </a:xfrm>
          <a:prstGeom prst="rect">
            <a:avLst/>
          </a:prstGeom>
        </p:spPr>
      </p:pic>
      <p:sp>
        <p:nvSpPr>
          <p:cNvPr id="27" name="Shape 19"/>
          <p:cNvSpPr/>
          <p:nvPr/>
        </p:nvSpPr>
        <p:spPr>
          <a:xfrm>
            <a:off x="6720840" y="3520440"/>
            <a:ext cx="1143000" cy="27432"/>
          </a:xfrm>
          <a:prstGeom prst="rect">
            <a:avLst/>
          </a:prstGeom>
          <a:solidFill>
            <a:srgbClr val="D7F25A"/>
          </a:solidFill>
          <a:ln w="12700">
            <a:solidFill>
              <a:srgbClr val="D7F25A"/>
            </a:solidFill>
            <a:prstDash val="solid"/>
          </a:ln>
        </p:spPr>
      </p:sp>
      <p:sp>
        <p:nvSpPr>
          <p:cNvPr id="28" name="Text 20"/>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29" name="Text 21"/>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Skipping rope frozen mid-air</a:t>
            </a:r>
            <a:endParaRPr lang="en-US" sz="800" dirty="0"/>
          </a:p>
        </p:txBody>
      </p:sp>
      <p:pic>
        <p:nvPicPr>
          <p:cNvPr id="30" name="Image 6" descr="/tmp/claude-0/-home-user-Sage-portfolio/d05fecce-977e-5eab-9cf5-7c09b306c551/scratchpad/wrdeck/img/sb_B1_7.jpg">    </p:cNvPr>
          <p:cNvPicPr>
            <a:picLocks noChangeAspect="1"/>
          </p:cNvPicPr>
          <p:nvPr/>
        </p:nvPicPr>
        <p:blipFill>
          <a:blip r:embed="rId7"/>
          <a:srcRect l="0" r="0" t="0" b="0"/>
          <a:stretch/>
        </p:blipFill>
        <p:spPr>
          <a:xfrm>
            <a:off x="7955280" y="1417320"/>
            <a:ext cx="1143000" cy="2029968"/>
          </a:xfrm>
          <a:prstGeom prst="rect">
            <a:avLst/>
          </a:prstGeom>
        </p:spPr>
      </p:pic>
      <p:sp>
        <p:nvSpPr>
          <p:cNvPr id="31" name="Shape 22"/>
          <p:cNvSpPr/>
          <p:nvPr/>
        </p:nvSpPr>
        <p:spPr>
          <a:xfrm>
            <a:off x="7955280" y="3520440"/>
            <a:ext cx="1143000" cy="27432"/>
          </a:xfrm>
          <a:prstGeom prst="rect">
            <a:avLst/>
          </a:prstGeom>
          <a:solidFill>
            <a:srgbClr val="D7F25A"/>
          </a:solidFill>
          <a:ln w="12700">
            <a:solidFill>
              <a:srgbClr val="D7F25A"/>
            </a:solidFill>
            <a:prstDash val="solid"/>
          </a:ln>
        </p:spPr>
      </p:sp>
      <p:sp>
        <p:nvSpPr>
          <p:cNvPr id="32" name="Text 23"/>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33" name="Text 24"/>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Push-up at the bottom: macro of the Citrus Mint on his wrist</a:t>
            </a:r>
            <a:endParaRPr lang="en-US" sz="800" dirty="0"/>
          </a:p>
        </p:txBody>
      </p:sp>
      <p:pic>
        <p:nvPicPr>
          <p:cNvPr id="34" name="Image 7" descr="/tmp/claude-0/-home-user-Sage-portfolio/d05fecce-977e-5eab-9cf5-7c09b306c551/scratchpad/wrdeck/img/sb_B1_8.jpg">    </p:cNvPr>
          <p:cNvPicPr>
            <a:picLocks noChangeAspect="1"/>
          </p:cNvPicPr>
          <p:nvPr/>
        </p:nvPicPr>
        <p:blipFill>
          <a:blip r:embed="rId8"/>
          <a:srcRect l="0" r="0" t="0" b="0"/>
          <a:stretch/>
        </p:blipFill>
        <p:spPr>
          <a:xfrm>
            <a:off x="9189720" y="1417320"/>
            <a:ext cx="1143000" cy="2029968"/>
          </a:xfrm>
          <a:prstGeom prst="rect">
            <a:avLst/>
          </a:prstGeom>
        </p:spPr>
      </p:pic>
      <p:sp>
        <p:nvSpPr>
          <p:cNvPr id="35" name="Shape 25"/>
          <p:cNvSpPr/>
          <p:nvPr/>
        </p:nvSpPr>
        <p:spPr>
          <a:xfrm>
            <a:off x="9189720" y="3520440"/>
            <a:ext cx="1143000" cy="27432"/>
          </a:xfrm>
          <a:prstGeom prst="rect">
            <a:avLst/>
          </a:prstGeom>
          <a:solidFill>
            <a:srgbClr val="D7F25A"/>
          </a:solidFill>
          <a:ln w="12700">
            <a:solidFill>
              <a:srgbClr val="D7F25A"/>
            </a:solidFill>
            <a:prstDash val="solid"/>
          </a:ln>
        </p:spPr>
      </p:sp>
      <p:sp>
        <p:nvSpPr>
          <p:cNvPr id="36" name="Text 26"/>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37" name="Text 27"/>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stands and checks the watch; sun flare</a:t>
            </a:r>
            <a:endParaRPr lang="en-US" sz="800" dirty="0"/>
          </a:p>
        </p:txBody>
      </p:sp>
      <p:pic>
        <p:nvPicPr>
          <p:cNvPr id="38" name="Image 8" descr="/tmp/claude-0/-home-user-Sage-portfolio/d05fecce-977e-5eab-9cf5-7c09b306c551/scratchpad/wrdeck/img/sb_B1_9.jpg">    </p:cNvPr>
          <p:cNvPicPr>
            <a:picLocks noChangeAspect="1"/>
          </p:cNvPicPr>
          <p:nvPr/>
        </p:nvPicPr>
        <p:blipFill>
          <a:blip r:embed="rId9"/>
          <a:srcRect l="0" r="0" t="0" b="0"/>
          <a:stretch/>
        </p:blipFill>
        <p:spPr>
          <a:xfrm>
            <a:off x="10424160" y="1417320"/>
            <a:ext cx="1143000" cy="2029968"/>
          </a:xfrm>
          <a:prstGeom prst="rect">
            <a:avLst/>
          </a:prstGeom>
        </p:spPr>
      </p:pic>
      <p:sp>
        <p:nvSpPr>
          <p:cNvPr id="39" name="Shape 28"/>
          <p:cNvSpPr/>
          <p:nvPr/>
        </p:nvSpPr>
        <p:spPr>
          <a:xfrm>
            <a:off x="10424160" y="3520440"/>
            <a:ext cx="1143000" cy="27432"/>
          </a:xfrm>
          <a:prstGeom prst="rect">
            <a:avLst/>
          </a:prstGeom>
          <a:solidFill>
            <a:srgbClr val="D7F25A"/>
          </a:solidFill>
          <a:ln w="12700">
            <a:solidFill>
              <a:srgbClr val="D7F25A"/>
            </a:solidFill>
            <a:prstDash val="solid"/>
          </a:ln>
        </p:spPr>
      </p:sp>
      <p:sp>
        <p:nvSpPr>
          <p:cNvPr id="40" name="Text 29"/>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41" name="Text 30"/>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sunrise — space for the end card</a:t>
            </a:r>
            <a:endParaRPr lang="en-US" sz="800" dirty="0"/>
          </a:p>
        </p:txBody>
      </p:sp>
      <p:sp>
        <p:nvSpPr>
          <p:cNvPr id="42" name="Text 31"/>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AI storyboard frames · the watch is exact, the man is a stand-in for Mukesh ji.</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25</a:t>
            </a:r>
            <a:endParaRPr lang="en-US" sz="750" dirty="0"/>
          </a:p>
        </p:txBody>
      </p:sp>
      <p:pic>
        <p:nvPicPr>
          <p:cNvPr id="4" name="Image 0" descr="/tmp/claude-0/-home-user-Sage-portfolio/d05fecce-977e-5eab-9cf5-7c09b306c551/scratchpad/wrdeck/img/sb_B2_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DETAIL · HANDS  ·  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COLD. SHARP. ON TIME.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Fresh cut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Freshness as discipline. A white-marble counter, halved limes, mint, ice, a sweating glass — and his wrist working through it. The Citrus Mint looks like it was made for the table, without ever leaving his wrist.</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One hard knife cut through a lime — ASMR crunch — the watch on the knife hand fills the foreground.</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COLD. SHARP. ON TIME.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Knife, ice clink, fizz, one tick.</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COLD. SHARP. ON TIME.</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Knife slices a lime, the watch on the knife hand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120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drops ice into the glass; condensation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5–8s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his hand among limes and mint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lifts the glass; wrist turns toward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mint dial with the lime reflected in the crystal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White marble counter · limes · mint · clear ice · glass · open white linen shirt.</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lime mint marble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@omega — clean tabletop motion</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COLD. SHARP. ON TIME.</a:t>
            </a:r>
            <a:endParaRPr lang="en-US" sz="2800" dirty="0"/>
          </a:p>
        </p:txBody>
      </p:sp>
      <p:pic>
        <p:nvPicPr>
          <p:cNvPr id="6" name="Image 0" descr="/tmp/claude-0/-home-user-Sage-portfolio/d05fecce-977e-5eab-9cf5-7c09b306c551/scratchpad/wrdeck/img/sb_B2_1.jpg">    </p:cNvPr>
          <p:cNvPicPr>
            <a:picLocks noChangeAspect="1"/>
          </p:cNvPicPr>
          <p:nvPr/>
        </p:nvPicPr>
        <p:blipFill>
          <a:blip r:embed="rId1"/>
          <a:srcRect l="0" r="0" t="0" b="0"/>
          <a:stretch/>
        </p:blipFill>
        <p:spPr>
          <a:xfrm>
            <a:off x="548640" y="1417320"/>
            <a:ext cx="1143000" cy="2029968"/>
          </a:xfrm>
          <a:prstGeom prst="rect">
            <a:avLst/>
          </a:prstGeom>
        </p:spPr>
      </p:pic>
      <p:sp>
        <p:nvSpPr>
          <p:cNvPr id="7" name="Shape 4"/>
          <p:cNvSpPr/>
          <p:nvPr/>
        </p:nvSpPr>
        <p:spPr>
          <a:xfrm>
            <a:off x="548640" y="3520440"/>
            <a:ext cx="1143000" cy="27432"/>
          </a:xfrm>
          <a:prstGeom prst="rect">
            <a:avLst/>
          </a:prstGeom>
          <a:solidFill>
            <a:srgbClr val="D7F25A"/>
          </a:solidFill>
          <a:ln w="12700">
            <a:solidFill>
              <a:srgbClr val="D7F25A"/>
            </a:solidFill>
            <a:prstDash val="solid"/>
          </a:ln>
        </p:spPr>
      </p:sp>
      <p:sp>
        <p:nvSpPr>
          <p:cNvPr id="8" name="Text 5"/>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9" name="Text 6"/>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White marble counter: halved limes, mint, a glass of ice; his wrist enters frame</a:t>
            </a:r>
            <a:endParaRPr lang="en-US" sz="800" dirty="0"/>
          </a:p>
        </p:txBody>
      </p:sp>
      <p:pic>
        <p:nvPicPr>
          <p:cNvPr id="10" name="Image 1" descr="/tmp/claude-0/-home-user-Sage-portfolio/d05fecce-977e-5eab-9cf5-7c09b306c551/scratchpad/wrdeck/img/sb_B2_2.jpg">    </p:cNvPr>
          <p:cNvPicPr>
            <a:picLocks noChangeAspect="1"/>
          </p:cNvPicPr>
          <p:nvPr/>
        </p:nvPicPr>
        <p:blipFill>
          <a:blip r:embed="rId2"/>
          <a:srcRect l="0" r="0" t="0" b="0"/>
          <a:stretch/>
        </p:blipFill>
        <p:spPr>
          <a:xfrm>
            <a:off x="1783080" y="1417320"/>
            <a:ext cx="1143000" cy="2029968"/>
          </a:xfrm>
          <a:prstGeom prst="rect">
            <a:avLst/>
          </a:prstGeom>
        </p:spPr>
      </p:pic>
      <p:sp>
        <p:nvSpPr>
          <p:cNvPr id="11" name="Shape 7"/>
          <p:cNvSpPr/>
          <p:nvPr/>
        </p:nvSpPr>
        <p:spPr>
          <a:xfrm>
            <a:off x="1783080" y="3520440"/>
            <a:ext cx="1143000" cy="27432"/>
          </a:xfrm>
          <a:prstGeom prst="rect">
            <a:avLst/>
          </a:prstGeom>
          <a:solidFill>
            <a:srgbClr val="D7F25A"/>
          </a:solidFill>
          <a:ln w="12700">
            <a:solidFill>
              <a:srgbClr val="D7F25A"/>
            </a:solidFill>
            <a:prstDash val="solid"/>
          </a:ln>
        </p:spPr>
      </p:sp>
      <p:sp>
        <p:nvSpPr>
          <p:cNvPr id="12" name="Text 8"/>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3" name="Text 9"/>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Knife slicing a lime, the watch on the knife hand in the foreground</a:t>
            </a:r>
            <a:endParaRPr lang="en-US" sz="800" dirty="0"/>
          </a:p>
        </p:txBody>
      </p:sp>
      <p:pic>
        <p:nvPicPr>
          <p:cNvPr id="14" name="Image 2" descr="/tmp/claude-0/-home-user-Sage-portfolio/d05fecce-977e-5eab-9cf5-7c09b306c551/scratchpad/wrdeck/img/sb_B2_3.jpg">    </p:cNvPr>
          <p:cNvPicPr>
            <a:picLocks noChangeAspect="1"/>
          </p:cNvPicPr>
          <p:nvPr/>
        </p:nvPicPr>
        <p:blipFill>
          <a:blip r:embed="rId3"/>
          <a:srcRect l="0" r="0" t="0" b="0"/>
          <a:stretch/>
        </p:blipFill>
        <p:spPr>
          <a:xfrm>
            <a:off x="3017520" y="1417320"/>
            <a:ext cx="1143000" cy="2029968"/>
          </a:xfrm>
          <a:prstGeom prst="rect">
            <a:avLst/>
          </a:prstGeom>
        </p:spPr>
      </p:pic>
      <p:sp>
        <p:nvSpPr>
          <p:cNvPr id="15" name="Shape 10"/>
          <p:cNvSpPr/>
          <p:nvPr/>
        </p:nvSpPr>
        <p:spPr>
          <a:xfrm>
            <a:off x="3017520" y="3520440"/>
            <a:ext cx="1143000" cy="27432"/>
          </a:xfrm>
          <a:prstGeom prst="rect">
            <a:avLst/>
          </a:prstGeom>
          <a:solidFill>
            <a:srgbClr val="D7F25A"/>
          </a:solidFill>
          <a:ln w="12700">
            <a:solidFill>
              <a:srgbClr val="D7F25A"/>
            </a:solidFill>
            <a:prstDash val="solid"/>
          </a:ln>
        </p:spPr>
      </p:sp>
      <p:sp>
        <p:nvSpPr>
          <p:cNvPr id="16" name="Text 11"/>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17" name="Text 12"/>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Lime juice droplets in slow motion</a:t>
            </a:r>
            <a:endParaRPr lang="en-US" sz="800" dirty="0"/>
          </a:p>
        </p:txBody>
      </p:sp>
      <p:pic>
        <p:nvPicPr>
          <p:cNvPr id="18" name="Image 3" descr="/tmp/claude-0/-home-user-Sage-portfolio/d05fecce-977e-5eab-9cf5-7c09b306c551/scratchpad/wrdeck/img/sb_B2_4.jpg">    </p:cNvPr>
          <p:cNvPicPr>
            <a:picLocks noChangeAspect="1"/>
          </p:cNvPicPr>
          <p:nvPr/>
        </p:nvPicPr>
        <p:blipFill>
          <a:blip r:embed="rId4"/>
          <a:srcRect l="0" r="0" t="0" b="0"/>
          <a:stretch/>
        </p:blipFill>
        <p:spPr>
          <a:xfrm>
            <a:off x="4251960" y="1417320"/>
            <a:ext cx="1143000" cy="2029968"/>
          </a:xfrm>
          <a:prstGeom prst="rect">
            <a:avLst/>
          </a:prstGeom>
        </p:spPr>
      </p:pic>
      <p:sp>
        <p:nvSpPr>
          <p:cNvPr id="19" name="Shape 13"/>
          <p:cNvSpPr/>
          <p:nvPr/>
        </p:nvSpPr>
        <p:spPr>
          <a:xfrm>
            <a:off x="4251960" y="3520440"/>
            <a:ext cx="1143000" cy="27432"/>
          </a:xfrm>
          <a:prstGeom prst="rect">
            <a:avLst/>
          </a:prstGeom>
          <a:solidFill>
            <a:srgbClr val="D7F25A"/>
          </a:solidFill>
          <a:ln w="12700">
            <a:solidFill>
              <a:srgbClr val="D7F25A"/>
            </a:solidFill>
            <a:prstDash val="solid"/>
          </a:ln>
        </p:spPr>
      </p:sp>
      <p:sp>
        <p:nvSpPr>
          <p:cNvPr id="20" name="Text 14"/>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1" name="Text 15"/>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dropping ice into the glass</a:t>
            </a:r>
            <a:endParaRPr lang="en-US" sz="800" dirty="0"/>
          </a:p>
        </p:txBody>
      </p:sp>
      <p:pic>
        <p:nvPicPr>
          <p:cNvPr id="22" name="Image 4" descr="/tmp/claude-0/-home-user-Sage-portfolio/d05fecce-977e-5eab-9cf5-7c09b306c551/scratchpad/wrdeck/img/sb_B2_5.jpg">    </p:cNvPr>
          <p:cNvPicPr>
            <a:picLocks noChangeAspect="1"/>
          </p:cNvPicPr>
          <p:nvPr/>
        </p:nvPicPr>
        <p:blipFill>
          <a:blip r:embed="rId5"/>
          <a:srcRect l="0" r="0" t="0" b="0"/>
          <a:stretch/>
        </p:blipFill>
        <p:spPr>
          <a:xfrm>
            <a:off x="5486400" y="1417320"/>
            <a:ext cx="1143000" cy="2029968"/>
          </a:xfrm>
          <a:prstGeom prst="rect">
            <a:avLst/>
          </a:prstGeom>
        </p:spPr>
      </p:pic>
      <p:sp>
        <p:nvSpPr>
          <p:cNvPr id="23" name="Shape 16"/>
          <p:cNvSpPr/>
          <p:nvPr/>
        </p:nvSpPr>
        <p:spPr>
          <a:xfrm>
            <a:off x="5486400" y="3520440"/>
            <a:ext cx="1143000" cy="27432"/>
          </a:xfrm>
          <a:prstGeom prst="rect">
            <a:avLst/>
          </a:prstGeom>
          <a:solidFill>
            <a:srgbClr val="D7F25A"/>
          </a:solidFill>
          <a:ln w="12700">
            <a:solidFill>
              <a:srgbClr val="D7F25A"/>
            </a:solidFill>
            <a:prstDash val="solid"/>
          </a:ln>
        </p:spPr>
      </p:sp>
      <p:sp>
        <p:nvSpPr>
          <p:cNvPr id="24" name="Text 1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25" name="Text 1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Condensation on the glass, the watch on his wrist behind it</a:t>
            </a:r>
            <a:endParaRPr lang="en-US" sz="800" dirty="0"/>
          </a:p>
        </p:txBody>
      </p:sp>
      <p:pic>
        <p:nvPicPr>
          <p:cNvPr id="26" name="Image 5" descr="/tmp/claude-0/-home-user-Sage-portfolio/d05fecce-977e-5eab-9cf5-7c09b306c551/scratchpad/wrdeck/img/sb_B2_6.jpg">    </p:cNvPr>
          <p:cNvPicPr>
            <a:picLocks noChangeAspect="1"/>
          </p:cNvPicPr>
          <p:nvPr/>
        </p:nvPicPr>
        <p:blipFill>
          <a:blip r:embed="rId6"/>
          <a:srcRect l="0" r="0" t="0" b="0"/>
          <a:stretch/>
        </p:blipFill>
        <p:spPr>
          <a:xfrm>
            <a:off x="6720840" y="1417320"/>
            <a:ext cx="1143000" cy="2029968"/>
          </a:xfrm>
          <a:prstGeom prst="rect">
            <a:avLst/>
          </a:prstGeom>
        </p:spPr>
      </p:pic>
      <p:sp>
        <p:nvSpPr>
          <p:cNvPr id="27" name="Shape 19"/>
          <p:cNvSpPr/>
          <p:nvPr/>
        </p:nvSpPr>
        <p:spPr>
          <a:xfrm>
            <a:off x="6720840" y="3520440"/>
            <a:ext cx="1143000" cy="27432"/>
          </a:xfrm>
          <a:prstGeom prst="rect">
            <a:avLst/>
          </a:prstGeom>
          <a:solidFill>
            <a:srgbClr val="D7F25A"/>
          </a:solidFill>
          <a:ln w="12700">
            <a:solidFill>
              <a:srgbClr val="D7F25A"/>
            </a:solidFill>
            <a:prstDash val="solid"/>
          </a:ln>
        </p:spPr>
      </p:sp>
      <p:sp>
        <p:nvSpPr>
          <p:cNvPr id="28" name="Text 20"/>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29" name="Text 21"/>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his hand resting among limes and mint</a:t>
            </a:r>
            <a:endParaRPr lang="en-US" sz="800" dirty="0"/>
          </a:p>
        </p:txBody>
      </p:sp>
      <p:pic>
        <p:nvPicPr>
          <p:cNvPr id="30" name="Image 6" descr="/tmp/claude-0/-home-user-Sage-portfolio/d05fecce-977e-5eab-9cf5-7c09b306c551/scratchpad/wrdeck/img/sb_B2_7.jpg">    </p:cNvPr>
          <p:cNvPicPr>
            <a:picLocks noChangeAspect="1"/>
          </p:cNvPicPr>
          <p:nvPr/>
        </p:nvPicPr>
        <p:blipFill>
          <a:blip r:embed="rId7"/>
          <a:srcRect l="0" r="0" t="0" b="0"/>
          <a:stretch/>
        </p:blipFill>
        <p:spPr>
          <a:xfrm>
            <a:off x="7955280" y="1417320"/>
            <a:ext cx="1143000" cy="2029968"/>
          </a:xfrm>
          <a:prstGeom prst="rect">
            <a:avLst/>
          </a:prstGeom>
        </p:spPr>
      </p:pic>
      <p:sp>
        <p:nvSpPr>
          <p:cNvPr id="31" name="Shape 22"/>
          <p:cNvSpPr/>
          <p:nvPr/>
        </p:nvSpPr>
        <p:spPr>
          <a:xfrm>
            <a:off x="7955280" y="3520440"/>
            <a:ext cx="1143000" cy="27432"/>
          </a:xfrm>
          <a:prstGeom prst="rect">
            <a:avLst/>
          </a:prstGeom>
          <a:solidFill>
            <a:srgbClr val="D7F25A"/>
          </a:solidFill>
          <a:ln w="12700">
            <a:solidFill>
              <a:srgbClr val="D7F25A"/>
            </a:solidFill>
            <a:prstDash val="solid"/>
          </a:ln>
        </p:spPr>
      </p:sp>
      <p:sp>
        <p:nvSpPr>
          <p:cNvPr id="32" name="Text 23"/>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33" name="Text 24"/>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mint dial with a lime reflected in the crystal</a:t>
            </a:r>
            <a:endParaRPr lang="en-US" sz="800" dirty="0"/>
          </a:p>
        </p:txBody>
      </p:sp>
      <p:pic>
        <p:nvPicPr>
          <p:cNvPr id="34" name="Image 7" descr="/tmp/claude-0/-home-user-Sage-portfolio/d05fecce-977e-5eab-9cf5-7c09b306c551/scratchpad/wrdeck/img/sb_B2_8.jpg">    </p:cNvPr>
          <p:cNvPicPr>
            <a:picLocks noChangeAspect="1"/>
          </p:cNvPicPr>
          <p:nvPr/>
        </p:nvPicPr>
        <p:blipFill>
          <a:blip r:embed="rId8"/>
          <a:srcRect l="0" r="0" t="0" b="0"/>
          <a:stretch/>
        </p:blipFill>
        <p:spPr>
          <a:xfrm>
            <a:off x="9189720" y="1417320"/>
            <a:ext cx="1143000" cy="2029968"/>
          </a:xfrm>
          <a:prstGeom prst="rect">
            <a:avLst/>
          </a:prstGeom>
        </p:spPr>
      </p:pic>
      <p:sp>
        <p:nvSpPr>
          <p:cNvPr id="35" name="Shape 25"/>
          <p:cNvSpPr/>
          <p:nvPr/>
        </p:nvSpPr>
        <p:spPr>
          <a:xfrm>
            <a:off x="9189720" y="3520440"/>
            <a:ext cx="1143000" cy="27432"/>
          </a:xfrm>
          <a:prstGeom prst="rect">
            <a:avLst/>
          </a:prstGeom>
          <a:solidFill>
            <a:srgbClr val="D7F25A"/>
          </a:solidFill>
          <a:ln w="12700">
            <a:solidFill>
              <a:srgbClr val="D7F25A"/>
            </a:solidFill>
            <a:prstDash val="solid"/>
          </a:ln>
        </p:spPr>
      </p:sp>
      <p:sp>
        <p:nvSpPr>
          <p:cNvPr id="36" name="Text 26"/>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37" name="Text 27"/>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lifts the glass, wrist turned to camera</a:t>
            </a:r>
            <a:endParaRPr lang="en-US" sz="800" dirty="0"/>
          </a:p>
        </p:txBody>
      </p:sp>
      <p:pic>
        <p:nvPicPr>
          <p:cNvPr id="38" name="Image 8" descr="/tmp/claude-0/-home-user-Sage-portfolio/d05fecce-977e-5eab-9cf5-7c09b306c551/scratchpad/wrdeck/img/sb_B2_9.jpg">    </p:cNvPr>
          <p:cNvPicPr>
            <a:picLocks noChangeAspect="1"/>
          </p:cNvPicPr>
          <p:nvPr/>
        </p:nvPicPr>
        <p:blipFill>
          <a:blip r:embed="rId9"/>
          <a:srcRect l="0" r="0" t="0" b="0"/>
          <a:stretch/>
        </p:blipFill>
        <p:spPr>
          <a:xfrm>
            <a:off x="10424160" y="1417320"/>
            <a:ext cx="1143000" cy="2029968"/>
          </a:xfrm>
          <a:prstGeom prst="rect">
            <a:avLst/>
          </a:prstGeom>
        </p:spPr>
      </p:pic>
      <p:sp>
        <p:nvSpPr>
          <p:cNvPr id="39" name="Shape 28"/>
          <p:cNvSpPr/>
          <p:nvPr/>
        </p:nvSpPr>
        <p:spPr>
          <a:xfrm>
            <a:off x="10424160" y="3520440"/>
            <a:ext cx="1143000" cy="27432"/>
          </a:xfrm>
          <a:prstGeom prst="rect">
            <a:avLst/>
          </a:prstGeom>
          <a:solidFill>
            <a:srgbClr val="D7F25A"/>
          </a:solidFill>
          <a:ln w="12700">
            <a:solidFill>
              <a:srgbClr val="D7F25A"/>
            </a:solidFill>
            <a:prstDash val="solid"/>
          </a:ln>
        </p:spPr>
      </p:sp>
      <p:sp>
        <p:nvSpPr>
          <p:cNvPr id="40" name="Text 29"/>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41" name="Text 30"/>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Clean lime-and-mint frame for the end card</a:t>
            </a:r>
            <a:endParaRPr lang="en-US" sz="800" dirty="0"/>
          </a:p>
        </p:txBody>
      </p:sp>
      <p:sp>
        <p:nvSpPr>
          <p:cNvPr id="42" name="Text 31"/>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AI storyboard frames · the watch is exact, the man is a stand-in for Mukesh ji.</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28</a:t>
            </a:r>
            <a:endParaRPr lang="en-US" sz="750" dirty="0"/>
          </a:p>
        </p:txBody>
      </p:sp>
      <p:pic>
        <p:nvPicPr>
          <p:cNvPr id="4" name="Image 0" descr="/tmp/claude-0/-home-user-Sage-portfolio/d05fecce-977e-5eab-9cf5-7c09b306c551/scratchpad/wrdeck/img/ai_lim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RUN ·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JAL MAHAL, 6:50</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city sleeps in. He doesn't.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A sunrise run along the Jal Mahal promenade — free, public, and empty at that hour. Mist on Man Sagar lake, the palace floating behind. He slows at the railing and checks his wrist. No speech, no flex: the discipline is in the hour.</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Running shoes hit the stone promenade in a hard rhythm; the palace rises out of the mist.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 — or one line: "Shehar abhi so raha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THE CITY SLEEPS IN. HE DOESN'T.</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breath, birds on the lake, one tick.</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JAL MAHAL, 6:50</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in morning mist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Running shoes on the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low, tracking</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4–7s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slows at the railing, raises the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sun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lime case, sweat on the skin; wide back view to the palace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+ 35mm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 (public promenade, handheld, small crew).</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sunrise run cinematic lake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jal mahal morning mist</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JAL MAHAL, 6:50</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Jal Mahal floating in morning mist on Man Sagar lake, empty promenade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Running shoes hitting the stone promenade, low angle</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Tracking: Mukesh running in black training gear, lake behind</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Side profile mid-stride, breath visible in cool air</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slows to a stop at the railing</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raises his wrist to check the Citrus Mint; sun flare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lime case and mint dial, a bead of sweat on the skin</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Back view: him facing the palace across the water</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a small figure, the palace on the lake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B3 from the prompt pack (one 3×3 grid) and send it back — it drops into these nine slots.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31</a:t>
            </a:r>
            <a:endParaRPr lang="en-US" sz="750" dirty="0"/>
          </a:p>
        </p:txBody>
      </p:sp>
      <p:sp>
        <p:nvSpPr>
          <p:cNvPr id="4" name="Shape 2"/>
          <p:cNvSpPr/>
          <p:nvPr/>
        </p:nvSpPr>
        <p:spPr>
          <a:xfrm>
            <a:off x="0" y="0"/>
            <a:ext cx="4206240" cy="6858000"/>
          </a:xfrm>
          <a:prstGeom prst="rect">
            <a:avLst/>
          </a:prstGeom>
          <a:solidFill>
            <a:srgbClr val="1E3A6B"/>
          </a:solidFill>
          <a:ln w="12700">
            <a:solidFill>
              <a:srgbClr val="1E3A6B"/>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WORLD 03</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BUILD</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8EC9EE"/>
                </a:solidFill>
                <a:latin typeface="Inter" pitchFamily="34" charset="0"/>
                <a:ea typeface="Inter" pitchFamily="34" charset="-122"/>
                <a:cs typeface="Inter" pitchFamily="34" charset="-120"/>
              </a:rPr>
              <a:t>CERULEAN</a:t>
            </a:r>
            <a:endParaRPr lang="en-US" sz="1200" dirty="0"/>
          </a:p>
        </p:txBody>
      </p:sp>
      <p:sp>
        <p:nvSpPr>
          <p:cNvPr id="9" name="Shape 6"/>
          <p:cNvSpPr/>
          <p:nvPr/>
        </p:nvSpPr>
        <p:spPr>
          <a:xfrm>
            <a:off x="548640" y="5852160"/>
            <a:ext cx="640080" cy="292608"/>
          </a:xfrm>
          <a:prstGeom prst="rect">
            <a:avLst/>
          </a:prstGeom>
          <a:solidFill>
            <a:srgbClr val="8EC9EE"/>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Sky blue</a:t>
            </a:r>
            <a:endParaRPr lang="en-US" sz="650" dirty="0"/>
          </a:p>
        </p:txBody>
      </p:sp>
      <p:sp>
        <p:nvSpPr>
          <p:cNvPr id="11" name="Shape 8"/>
          <p:cNvSpPr/>
          <p:nvPr/>
        </p:nvSpPr>
        <p:spPr>
          <a:xfrm>
            <a:off x="1335024" y="5852160"/>
            <a:ext cx="640080" cy="292608"/>
          </a:xfrm>
          <a:prstGeom prst="rect">
            <a:avLst/>
          </a:prstGeom>
          <a:solidFill>
            <a:srgbClr val="FFFFFF"/>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3" name="Shape 10"/>
          <p:cNvSpPr/>
          <p:nvPr/>
        </p:nvSpPr>
        <p:spPr>
          <a:xfrm>
            <a:off x="2121408" y="5852160"/>
            <a:ext cx="640080" cy="292608"/>
          </a:xfrm>
          <a:prstGeom prst="rect">
            <a:avLst/>
          </a:prstGeom>
          <a:solidFill>
            <a:srgbClr val="1E3A6B"/>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Navy</a:t>
            </a:r>
            <a:endParaRPr lang="en-US" sz="650" dirty="0"/>
          </a:p>
        </p:txBody>
      </p:sp>
      <p:sp>
        <p:nvSpPr>
          <p:cNvPr id="15" name="Shape 12"/>
          <p:cNvSpPr/>
          <p:nvPr/>
        </p:nvSpPr>
        <p:spPr>
          <a:xfrm>
            <a:off x="2907792" y="5852160"/>
            <a:ext cx="640080" cy="292608"/>
          </a:xfrm>
          <a:prstGeom prst="rect">
            <a:avLst/>
          </a:prstGeom>
          <a:solidFill>
            <a:srgbClr val="EDE6D6"/>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Drafting paper</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MIDDAY · 11:00–13:30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Builders, not inheritors. Midday: a drafting table, a blueprint, an open blue sky over the roof. The watch for people laying foundations for their own name.</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Study / library (drafting table) · rooftop under open sky · a mirror + door for C3</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Tick-led percussion, short piano stabs.</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NEEV</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Foundation</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 FEET. 6 INCHES.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one-take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Seen from six feet, felt at six inches</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60 SECONDS</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POV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meeting ritual</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32</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 REEL  ·  30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NEEV</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Foundation</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Some people are born with a name; some build one. Mukesh at a drafting table with the blueprint of something not built yet. He takes it up to the roof and holds it against the open Jaipur sky where it will stand.</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pencil snaps on the blueprint — loud. He doesn't flinch; he picks up another.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ke saath paida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banaate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"Log kehte hain — bas, ho gaya."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"Main kehta hoon… abhi toh sirf neev daali hai."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BUILT FOR THE BUILDERS.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Pencil snap · paper roll · wind on the roof · piano stab on the end card.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NEEV</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Pencil snaps on the blueprint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3–8s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Overhead drafting table, his wrist sweeps the scale ruler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 slider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8–11s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lights up "Party tonight?" — he turns it face down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11–16s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rolls the blueprint, takes the stairs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16–25s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unrolls the plan against open sky, wrist in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low angle, sky fills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Large blueprint (a real architectural plan) · drafting scale · pencils · coffee.</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architect blueprint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@iwcwatches — engineering storytelling</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NEEV</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a pencil tip snapping on a blueprint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Overhead drafting table: blueprint, scale ruler, his wrist with the Cerulean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face-up beside the plan: "Party tonight?"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flips the phone face down without looking</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rolls the blueprint, the watch on his wrist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Gimbal from behind: climbing the stairs with the rolled plan</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he unrolls the blueprint against an open blue sky</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holding the plan up to the sky, the sky-blue case popping</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with sky reflected in the crystal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C1 from the prompt pack (one 3×3 grid) and send it back — it drops into these nine slots.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DETAIL · ONE-TAKE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 FEET. 6 INCHES.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Seen from six feet, felt at six inches</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Lifted straight from Neetu's design rule: a watch should be spotted from six feet away, but its finishing only shows up close. One continuous push-in from six feet (full figure, the sky-blue case popping against the white shirt) to six inches (the waffle dial and the screws).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counter: "6 FEET" on a full-body wide — it counts down as the camera moves in.</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6 FT → 3 FT → 1 FT → 6 IN  ·  SEEN FROM 6 FEET. FELT AT 6 INCHES.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Rising whoosh · single tick when the macro lands.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 FEET. 6 INCHES.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Gimbal push-in from full figure to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on gimbal, one take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Cut on motion to the macro: dial texture + screws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2935224"/>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16382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Open sky or clean white wall.</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push in macro transition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@panerai — scale and detail</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 FEET. 6 INCHES.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Full figure on the rooftop, white shirt and navy trousers against the sky — "6 FEET"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Closer: knees up, the sky-blue case already readable — "4 FEET"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Waist up, wrist relaxed at his side — "3 FEET"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Forearm and watch — "2 FEET"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a third of the frame — "1 FOOT"</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the frame — "6 INCHES"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texture and WR monogram</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SEEN FROM 6 FEET. FELT AT 6 INCHES.</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C2 from the prompt pack (one 3×3 grid) and send it back — it drops into these nine slots.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38</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POV  ·  10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60 SECONDS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meeting ritual</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From Neetu's own story — the ritual before a decisive meeting. POV of the 60 seconds before the meeting that decides the year: collar, clasp, cuff, blazer, door. The watch is part of the armour, already on the wrist.</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"POV: 60 seconds before the meeting that decides your year."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Optional whisper as the door opens: "Chalo."</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POV: 60 SECONDS BEFORE THE MEETING THAT DECIDES YOUR YEAR.</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Clock tick speeding up · clasp click · fabric · door.</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60 SECONDS</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Mirror: top collar button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closes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4–6s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Cuff pulled down, then nudged back to show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6–8s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Blazer on, shoulder roll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opens into bright light — cut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overexposed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Mirror · navy blazer · a heavy door with bright light behind it.</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getting ready ritual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@audemarspiguet — ritual &amp; detail</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60 SECONDS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Clock on the wall reads 9:59</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Mirror: he buttons the top collar</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settle the Cerulean on the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clasp clicks shut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Cuff pulled down, then nudged back to reveal the watch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Navy blazer on, shoulder roll</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Eyes closed, one breath in the mirror</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door handle, the watch in focus</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door opens into bright light</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C3 from the prompt pack (one 3×3 grid) and send it back — it drops into these nine slots.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41</a:t>
            </a:r>
            <a:endParaRPr lang="en-US" sz="750" dirty="0"/>
          </a:p>
        </p:txBody>
      </p:sp>
      <p:sp>
        <p:nvSpPr>
          <p:cNvPr id="4" name="Shape 2"/>
          <p:cNvSpPr/>
          <p:nvPr/>
        </p:nvSpPr>
        <p:spPr>
          <a:xfrm>
            <a:off x="0" y="0"/>
            <a:ext cx="4206240" cy="6858000"/>
          </a:xfrm>
          <a:prstGeom prst="rect">
            <a:avLst/>
          </a:prstGeom>
          <a:solidFill>
            <a:srgbClr val="2547A8"/>
          </a:solidFill>
          <a:ln w="12700">
            <a:solidFill>
              <a:srgbClr val="2547A8"/>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WORLD 04</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UTSAV · DIWALI</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F28C28"/>
                </a:solidFill>
                <a:latin typeface="Inter" pitchFamily="34" charset="0"/>
                <a:ea typeface="Inter" pitchFamily="34" charset="-122"/>
                <a:cs typeface="Inter" pitchFamily="34" charset="-120"/>
              </a:rPr>
              <a:t>ROYAL TANGERINE</a:t>
            </a:r>
            <a:endParaRPr lang="en-US" sz="1200" dirty="0"/>
          </a:p>
        </p:txBody>
      </p:sp>
      <p:sp>
        <p:nvSpPr>
          <p:cNvPr id="9" name="Shape 6"/>
          <p:cNvSpPr/>
          <p:nvPr/>
        </p:nvSpPr>
        <p:spPr>
          <a:xfrm>
            <a:off x="548640" y="5852160"/>
            <a:ext cx="640080" cy="292608"/>
          </a:xfrm>
          <a:prstGeom prst="rect">
            <a:avLst/>
          </a:prstGeom>
          <a:solidFill>
            <a:srgbClr val="2547A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Royal blue</a:t>
            </a:r>
            <a:endParaRPr lang="en-US" sz="650" dirty="0"/>
          </a:p>
        </p:txBody>
      </p:sp>
      <p:sp>
        <p:nvSpPr>
          <p:cNvPr id="11" name="Shape 8"/>
          <p:cNvSpPr/>
          <p:nvPr/>
        </p:nvSpPr>
        <p:spPr>
          <a:xfrm>
            <a:off x="1335024" y="5852160"/>
            <a:ext cx="640080" cy="292608"/>
          </a:xfrm>
          <a:prstGeom prst="rect">
            <a:avLst/>
          </a:prstGeom>
          <a:solidFill>
            <a:srgbClr val="F28C28"/>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Marigold</a:t>
            </a:r>
            <a:endParaRPr lang="en-US" sz="650" dirty="0"/>
          </a:p>
        </p:txBody>
      </p:sp>
      <p:sp>
        <p:nvSpPr>
          <p:cNvPr id="13" name="Shape 10"/>
          <p:cNvSpPr/>
          <p:nvPr/>
        </p:nvSpPr>
        <p:spPr>
          <a:xfrm>
            <a:off x="2121408" y="5852160"/>
            <a:ext cx="640080" cy="292608"/>
          </a:xfrm>
          <a:prstGeom prst="rect">
            <a:avLst/>
          </a:prstGeom>
          <a:solidFill>
            <a:srgbClr val="C9A45C"/>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Gold</a:t>
            </a:r>
            <a:endParaRPr lang="en-US" sz="650" dirty="0"/>
          </a:p>
        </p:txBody>
      </p:sp>
      <p:sp>
        <p:nvSpPr>
          <p:cNvPr id="15" name="Shape 12"/>
          <p:cNvSpPr/>
          <p:nvPr/>
        </p:nvSpPr>
        <p:spPr>
          <a:xfrm>
            <a:off x="2907792" y="5852160"/>
            <a:ext cx="640080" cy="292608"/>
          </a:xfrm>
          <a:prstGeom prst="rect">
            <a:avLst/>
          </a:prstGeom>
          <a:solidFill>
            <a:srgbClr val="FFB35C"/>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Diya flame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AFTERNOON → DUSK · 15:15–18:30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Jaipur in festival light — and the watch that doesn't need to shout. Shot the week before Diwali; goes live on Dhanteras (6 Nov) and Diwali (8 Nov).</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with diyas · chowk lined with diyas · jharokha · Johari &amp; Bapu Bazaar lights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Royal-blue bandhgala · orange leheriya safa (D3 only) · tan juttis.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Shehnai motif, dhol tuned low.</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EK DIYA</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Diwali 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Some are the light</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DHANTERAS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festive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Buy something you've earned</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JAIPUR SE</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Speed-ramp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From Jaipur, for the world</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42</a:t>
            </a:r>
            <a:endParaRPr lang="en-US" sz="750" dirty="0"/>
          </a:p>
        </p:txBody>
      </p:sp>
      <p:pic>
        <p:nvPicPr>
          <p:cNvPr id="4" name="Image 0" descr="/tmp/claude-0/-home-user-Sage-portfolio/d05fecce-977e-5eab-9cf5-7c09b306c551/scratchpad/wrdeck/img/ai_orang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DIWALI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EK DIYA</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Some are the light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Diwali night: the city is pure noise — crackers, speakers, lights on everything. He climbs to the roof, switches the fairy lights off and lights one diya. In the dark, the watch's whole case glows on his wrist beside the flame. Neetu's belief: wealth doesn't have to be loud.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Total black. A matchstick strikes; the flame lights his face.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Diwali, sab roshni dikhaayenge."</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roshni dikhaate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khud roshni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"Shubh Deepavali."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SOME SHOW THEIR LIGHT. SOME ARE THE LIGHT.  →  Shubh Deepavali · WEALTH ROOTS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Match strike · distant crackers (low) · silence when the lights go off · one shehnai note.</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EK DIYA</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Match strike, flame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 lit for the festival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handheld,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walks through the chowk lined with diyas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gimbal,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12–18s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he switches the fairy lights off; one diya left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18–25s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diya on the parapet — the case glows on his wrist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lume charged 30 s with UV torch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Silhouette against the city.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150–200 clay diyas · marigold strings · fairy lights on a switch · matchbox · UV torch to charge the lume.</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diwali cinematic diya man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@tanishqjewellery — festive storytelling</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EK DIYA</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a matchstick strikes, flame in macro</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flame lights his face;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Johari Bazaar lit for Diwali, street level, warm bokeh</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haveli chowk lined with hundreds of diyas; he walks through</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strung with fairy lights; his hand on the switch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off — darkness, one diya in his hands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sets the diya on the parapet; the watch case glows green on his wrist beside the flame</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glowing case and the diya flame side by side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distant city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D1 from the prompt pack (one 3×3 grid) and send it back — it drops into these nine slots.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F28C28"/>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DETAIL · FESTIVE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DHANTERAS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Buy something you've earned</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On Dhanteras India buys something precious for the year ahead. A brass thali with a silver coin, haldi, kumkum, rice and marigold — and his hands working over it, the Royal Tangerine on the wrist catching the diya. Tied to the 500 Alpha Founder pieces.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Rice grains fall from his fingers onto the brass thali in slow motion; the orange dial catches the flame.</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"Dhanteras pe kuch keemti lete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baar… kuch aisa lo jo kamaaya ho. Sirf khareeda nahi."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ONLY 500 ALPHA FOUNDER PIECES.  →  card: 001 / 500</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Rice on brass · bell · one dhol hit.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DHANTERAS</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Rice falls from his fingers onto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240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thali; his wrist with the watch over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Diya flame reflected across the orange dial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10–13s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places the silver coin on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13–15s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holds up the card: 001 / 500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Brass thali · silver coin · haldi + kumkum bowls · rice · marigold · numbered card "001/500" · diya.</a:t>
            </a:r>
            <a:endParaRPr lang="en-US" sz="950" dirty="0"/>
          </a:p>
        </p:txBody>
      </p:sp>
      <p:sp>
        <p:nvSpPr>
          <p:cNvPr id="9" name="Text 6"/>
          <p:cNvSpPr txBox="1"/>
          <p:nvPr/>
        </p:nvSpPr>
        <p:spPr>
          <a:xfrm>
            <a:off x="548640" y="481888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5047488"/>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Post on Dhanteras, 6 Nov. Keep it respectful: thali only, no deity on screen.</a:t>
            </a:r>
            <a:endParaRPr lang="en-US" sz="950" dirty="0"/>
          </a:p>
        </p:txBody>
      </p:sp>
      <p:pic>
        <p:nvPicPr>
          <p:cNvPr id="11"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dhanteras thali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marigold brass top view</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DHANTERAS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brass thali: silver coin, haldi, kumkum, rice, marigold</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release rice in slow motion, the watch on the wrist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diya is lit beside the thali</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orange dial on his wrist reflecting the flame</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places the silver coin on the thali; the watch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Marigold petals fall past his wrist</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folded hands, the watch visible at the wrist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holds up a black card printed 001 / 500</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Warm marigold-and-brass frame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D2 from the prompt pack (one 3×3 grid) and send it back — it drops into these nine slots.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48</a:t>
            </a:r>
            <a:endParaRPr lang="en-US" sz="750" dirty="0"/>
          </a:p>
        </p:txBody>
      </p:sp>
      <p:pic>
        <p:nvPicPr>
          <p:cNvPr id="4" name="Image 0" descr="/tmp/claude-0/-home-user-Sage-portfolio/d05fecce-977e-5eab-9cf5-7c09b306c551/scratchpad/wrdeck/img/ai_orang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SPEED-RAMP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JAIPUR SE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From Jaipur, for the world</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brand's own line: born in Jaipur, made for the world. At the haveli jharokha he ties the last fold of an orange leheriya safa → the camera drops to his wrist → whip-pan to the pink city — blue and orange colour-matched.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The orange safa cloth whips into frame against the royal-blue bandhgala.</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JAIPUR SE. DUNIYA KE LIYE.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Shehnai sting · dhol hit on the whip.</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JAIPUR SE</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Safa cloth whips through frame; he ties the last fold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120 fps → speed ramp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Drop to wrist as he lowers his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tilt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Whip-pan to Hawa Mahal from the street (free,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matched whip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Orange leheriya safa (pre-tied backup) · jharokha with afternoon sun.</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rajasthani safa portrait jharokha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whip pan transition city</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JAIPUR SE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Orange leheriya cloth whipping through frame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ties the last fold of the safa at the jharokha,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Hands lowering; the Royal Tangerine on his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watch against the royal-blue sleeve and orange safa</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Whip-pan motion blur</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Hawa Mahal facade from the street, matching pink and orange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Old-city lane in afternoon light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out from the jharokha over the city</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JAIPUR SE. DUNIYA KE LIYE.</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D3 from the prompt pack (one 3×3 grid) and send it back — it drops into these nine slots.</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51</a:t>
            </a:r>
            <a:endParaRPr lang="en-US" sz="750" dirty="0"/>
          </a:p>
        </p:txBody>
      </p:sp>
      <p:sp>
        <p:nvSpPr>
          <p:cNvPr id="4" name="Shape 2"/>
          <p:cNvSpPr/>
          <p:nvPr/>
        </p:nvSpPr>
        <p:spPr>
          <a:xfrm>
            <a:off x="0" y="0"/>
            <a:ext cx="4206240" cy="6858000"/>
          </a:xfrm>
          <a:prstGeom prst="rect">
            <a:avLst/>
          </a:prstGeom>
          <a:solidFill>
            <a:srgbClr val="1C2A55"/>
          </a:solidFill>
          <a:ln w="12700">
            <a:solidFill>
              <a:srgbClr val="1C2A55"/>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WORLD 05</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AFTER DARK</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2283A"/>
                </a:solidFill>
                <a:latin typeface="Inter" pitchFamily="34" charset="0"/>
                <a:ea typeface="Inter" pitchFamily="34" charset="-122"/>
                <a:cs typeface="Inter" pitchFamily="34" charset="-120"/>
              </a:rPr>
              <a:t>CRIMSON NAVY</a:t>
            </a:r>
            <a:endParaRPr lang="en-US" sz="1200" dirty="0"/>
          </a:p>
        </p:txBody>
      </p:sp>
      <p:sp>
        <p:nvSpPr>
          <p:cNvPr id="9" name="Shape 6"/>
          <p:cNvSpPr/>
          <p:nvPr/>
        </p:nvSpPr>
        <p:spPr>
          <a:xfrm>
            <a:off x="548640" y="5852160"/>
            <a:ext cx="640080" cy="292608"/>
          </a:xfrm>
          <a:prstGeom prst="rect">
            <a:avLst/>
          </a:prstGeom>
          <a:solidFill>
            <a:srgbClr val="0A0A0C"/>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Black</a:t>
            </a:r>
            <a:endParaRPr lang="en-US" sz="650" dirty="0"/>
          </a:p>
        </p:txBody>
      </p:sp>
      <p:sp>
        <p:nvSpPr>
          <p:cNvPr id="11" name="Shape 8"/>
          <p:cNvSpPr/>
          <p:nvPr/>
        </p:nvSpPr>
        <p:spPr>
          <a:xfrm>
            <a:off x="1335024" y="5852160"/>
            <a:ext cx="640080" cy="292608"/>
          </a:xfrm>
          <a:prstGeom prst="rect">
            <a:avLst/>
          </a:prstGeom>
          <a:solidFill>
            <a:srgbClr val="D2283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Red light</a:t>
            </a:r>
            <a:endParaRPr lang="en-US" sz="650" dirty="0"/>
          </a:p>
        </p:txBody>
      </p:sp>
      <p:sp>
        <p:nvSpPr>
          <p:cNvPr id="13" name="Shape 10"/>
          <p:cNvSpPr/>
          <p:nvPr/>
        </p:nvSpPr>
        <p:spPr>
          <a:xfrm>
            <a:off x="2121408" y="5852160"/>
            <a:ext cx="640080" cy="292608"/>
          </a:xfrm>
          <a:prstGeom prst="rect">
            <a:avLst/>
          </a:prstGeom>
          <a:solidFill>
            <a:srgbClr val="1C2A55"/>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Blue light</a:t>
            </a:r>
            <a:endParaRPr lang="en-US" sz="650" dirty="0"/>
          </a:p>
        </p:txBody>
      </p:sp>
      <p:sp>
        <p:nvSpPr>
          <p:cNvPr id="15" name="Shape 12"/>
          <p:cNvSpPr/>
          <p:nvPr/>
        </p:nvSpPr>
        <p:spPr>
          <a:xfrm>
            <a:off x="2907792" y="5852160"/>
            <a:ext cx="640080" cy="292608"/>
          </a:xfrm>
          <a:prstGeom prst="rect">
            <a:avLst/>
          </a:prstGeom>
          <a:solidFill>
            <a:srgbClr val="5CFF7A"/>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Glow green</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NIGHT · 19:15–22:30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hours nobody sees. Building anything meaningful is lonely — the watch is the only witness. Ends with the glow: quiet power in the dark.</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Blacked-out room with red + blue gels · study desk · MI Road + Albert Hall exterior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 suit, open collar · black knit for E2.</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Low synth, sub heartbeat.</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UNFINISHED</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Nobody sees the nights</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RED / BLUE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lighting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Two lights, one watch</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SHOR NAHI. SIGNAL.</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Night drive · 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Signal, not noise</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52</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UNFINISHED</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Nobody sees the nights</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night everyone else is out, he is still finishing the work that pays for it. His phone floods with invites; he turns it over. At 1:47 a.m. he switches the lamp off — and the watch glows on his wrist in the dark.</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screen floods: "Bro kahan hai??" — he turns it face down.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"Raat sabki hoti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"Kaam sirf kuch logon ka."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"Jo kisi ko nahi dikhta… wahi sab kuch banata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NOBODY SEES THE NIGHTS. THE WATCH DOES.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Notification buzzes · pen scratch · lamp switch · sub drop · silence on the glow.</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UNFINISHED</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notifications, his hand turns it over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Desk, lamp pool, red neon through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hazer 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working over papers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14–18s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Watch macro: 1:47</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18–24s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switches the lamp off — darkness — the case glows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lume charged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24–30s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exhales, leans back.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group-chat screens · desk lamp · papers/laptop · red neon or red LED outside the window.</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late night work cinematic neon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@hublot — bold night edits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UNFINISHED</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screen flooding with party invites, glowing in the dark</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turns the phone face down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Desk under a lamp, red neon bleeding through the window, papers</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writing over papers, the Crimson Navy sharp</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reading 1:47</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rubs his eyes and keeps going</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lamp switch</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Darkness: the whole case glows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leans back and exhales, silhouette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E1 from the prompt pack (one 3×3 grid) and send it back — it drops into these nine slots.</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55</a:t>
            </a:r>
            <a:endParaRPr lang="en-US" sz="750" dirty="0"/>
          </a:p>
        </p:txBody>
      </p:sp>
      <p:pic>
        <p:nvPicPr>
          <p:cNvPr id="4" name="Image 0" descr="/tmp/claude-0/-home-user-Sage-portfolio/d05fecce-977e-5eab-9cf5-7c09b306c551/scratchpad/wrdeck/img/ai_redblue_r1.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DETAIL · LIGHTING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RED / BLUE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Two lights, one watch</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Red from one side, blue from the other — the navy case and red dial on his wrist split perfectly between them. On the beat both lights cut; only the glow remains.</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Hard cuts red ↔ blue on the beat.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AFTER DARK.</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Synth pulse; total silence on the glow.</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RED / BLUE</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turns in red / blue light, cut on beat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black background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of the red dial in split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Both lights off → the case glows alone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Two RGB tubes (red + blue) · black backdrop · whisky glass in hand.</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red blue split lighting wrist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@jacobandco — dramatic light play</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RED / BLUE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his wrist enters in pure red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same wrist in pure blue light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Split light: half red, half blue across the case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red dial in red light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rose-gold hands catching the blue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Whisky glass in his hand, bokeh, the watch sharp</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cut: darkness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the case lit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macro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E2 from the prompt pack (one 3×3 grid) and send it back — it drops into these nine slots.</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58</a:t>
            </a:r>
            <a:endParaRPr lang="en-US" sz="750" dirty="0"/>
          </a:p>
        </p:txBody>
      </p:sp>
      <p:pic>
        <p:nvPicPr>
          <p:cNvPr id="4" name="Image 0" descr="/tmp/claude-0/-home-user-Sage-portfolio/d05fecce-977e-5eab-9cf5-7c09b306c551/scratchpad/wrdeck/img/ai_redblu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NIGHT DRIVE  ·  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SHOR NAHI. SIGNAL.</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Signal, not noise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Jaipur at night — horns, lights, noise. The car door shuts: silence. At a red light the dashboard goes dark and the case glows on his wrist on the steering wheel.</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Loud traffic → door shuts → total silence.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SHOR NAHI. SIGNAL.</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City noise → hard silence → one low tone.</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SHOR NAHI. SIGNAL.</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traffic and the lit Albert Hall from the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shuts — silence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inside the car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 on the wheel, city bokeh through the windscreen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Dashboard off, the glow lights his jaw; signal turns green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Premium sedan/SUV with dark interior · driver for moving shots.</a:t>
            </a:r>
            <a:endParaRPr lang="en-US" sz="950" dirty="0"/>
          </a:p>
        </p:txBody>
      </p:sp>
      <p:sp>
        <p:nvSpPr>
          <p:cNvPr id="9" name="Text 6"/>
          <p:cNvSpPr txBox="1"/>
          <p:nvPr/>
        </p:nvSpPr>
        <p:spPr>
          <a:xfrm>
            <a:off x="548640" y="44348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4663440"/>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Safety: moving shots with a driver at the wheel, or parked with light passes. Mukesh never drives while we film.</a:t>
            </a:r>
            <a:endParaRPr lang="en-US" sz="950" dirty="0"/>
          </a:p>
        </p:txBody>
      </p:sp>
      <p:pic>
        <p:nvPicPr>
          <p:cNvPr id="11"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night drive cinematic watch steering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car &amp; speed</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SHOR NAHI. SIGNAL.</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 Road traffic at night, streaks of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Albert Hall lit up, seen from the road</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 door closing — inside, silence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steering wheel, city bokeh beyond</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red signal through the windscreen</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switches the dashboard lights off</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glow on his wrist lights his jaw</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signal turns green</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car pulls away, tail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E3 from the prompt pack (one 3×3 grid) and send it back — it drops into these nine slots.</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GLOW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61</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548640" y="502920"/>
            <a:ext cx="3017520" cy="3840480"/>
          </a:xfrm>
          <a:prstGeom prst="rect">
            <a:avLst/>
          </a:prstGeom>
        </p:spPr>
      </p:pic>
      <p:sp>
        <p:nvSpPr>
          <p:cNvPr id="5" name="Text 2"/>
          <p:cNvSpPr txBox="1"/>
          <p:nvPr/>
        </p:nvSpPr>
        <p:spPr>
          <a:xfrm>
            <a:off x="548640" y="4407408"/>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glow — reference only</a:t>
            </a:r>
            <a:endParaRPr lang="en-US" sz="750" dirty="0"/>
          </a:p>
        </p:txBody>
      </p:sp>
      <p:sp>
        <p:nvSpPr>
          <p:cNvPr id="6" name="Text 3"/>
          <p:cNvSpPr txBox="1"/>
          <p:nvPr/>
        </p:nvSpPr>
        <p:spPr>
          <a:xfrm>
            <a:off x="3977640" y="502920"/>
            <a:ext cx="7315200" cy="274320"/>
          </a:xfrm>
          <a:prstGeom prst="rect">
            <a:avLst/>
          </a:prstGeom>
          <a:noFill/>
          <a:ln/>
        </p:spPr>
        <p:txBody>
          <a:bodyPr wrap="square" lIns="0" tIns="0" rIns="0" bIns="0" rtlCol="0" anchor="t"/>
          <a:lstStyle/>
          <a:p>
            <a:pPr indent="0" marL="0">
              <a:buNone/>
            </a:pPr>
            <a:r>
              <a:rPr lang="en-US" sz="900" b="1" spc="400" kern="0" dirty="0">
                <a:solidFill>
                  <a:srgbClr val="5CFF7A"/>
                </a:solidFill>
                <a:latin typeface="Inter" pitchFamily="34" charset="0"/>
                <a:ea typeface="Inter" pitchFamily="34" charset="-122"/>
                <a:cs typeface="Inter" pitchFamily="34" charset="-120"/>
              </a:rPr>
              <a:t>THE SIGNATURE · GLOW INSERTS</a:t>
            </a:r>
            <a:endParaRPr lang="en-US" sz="900" dirty="0"/>
          </a:p>
        </p:txBody>
      </p:sp>
      <p:sp>
        <p:nvSpPr>
          <p:cNvPr id="7" name="Text 4"/>
          <p:cNvSpPr txBox="1"/>
          <p:nvPr/>
        </p:nvSpPr>
        <p:spPr>
          <a:xfrm>
            <a:off x="3977640" y="777240"/>
            <a:ext cx="768096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FIVE GLOWS, SHOT AS YOU GO.</a:t>
            </a:r>
            <a:endParaRPr lang="en-US" sz="3400" dirty="0"/>
          </a:p>
        </p:txBody>
      </p:sp>
      <p:sp>
        <p:nvSpPr>
          <p:cNvPr id="8" name="Text 5"/>
          <p:cNvSpPr txBox="1"/>
          <p:nvPr/>
        </p:nvSpPr>
        <p:spPr>
          <a:xfrm>
            <a:off x="3977640" y="1600200"/>
            <a:ext cx="7589520" cy="822960"/>
          </a:xfrm>
          <a:prstGeom prst="rect">
            <a:avLst/>
          </a:prstGeom>
          <a:noFill/>
          <a:ln/>
        </p:spPr>
        <p:txBody>
          <a:bodyPr wrap="square" lIns="0" tIns="0" rIns="0" bIns="0" rtlCol="0" anchor="t"/>
          <a:lstStyle/>
          <a:p>
            <a:pPr indent="0" marL="0">
              <a:buNone/>
            </a:pPr>
            <a:r>
              <a:rPr lang="en-US" sz="1200" dirty="0">
                <a:solidFill>
                  <a:srgbClr val="9C978E"/>
                </a:solidFill>
                <a:latin typeface="Inter" pitchFamily="34" charset="0"/>
                <a:ea typeface="Inter" pitchFamily="34" charset="-122"/>
                <a:cs typeface="Inter" pitchFamily="34" charset="-120"/>
              </a:rPr>
              <a:t>In the dark the whole case lights up — bezel, case edges, hands, indices. It's the most ownable thing these watches do, so every world gets a 5-minute glow insert in the blacked-out room — always on Mukesh ji's wrist.</a:t>
            </a:r>
            <a:endParaRPr lang="en-US" sz="1200" dirty="0"/>
          </a:p>
        </p:txBody>
      </p:sp>
      <p:sp>
        <p:nvSpPr>
          <p:cNvPr id="9" name="Shape 6"/>
          <p:cNvSpPr/>
          <p:nvPr/>
        </p:nvSpPr>
        <p:spPr>
          <a:xfrm>
            <a:off x="3977640" y="2606040"/>
            <a:ext cx="2468880" cy="1371600"/>
          </a:xfrm>
          <a:prstGeom prst="rect">
            <a:avLst/>
          </a:prstGeom>
          <a:solidFill>
            <a:srgbClr val="151513"/>
          </a:solidFill>
          <a:ln w="9525">
            <a:solidFill>
              <a:srgbClr val="2B2A26"/>
            </a:solidFill>
            <a:prstDash val="solid"/>
          </a:ln>
        </p:spPr>
      </p:sp>
      <p:sp>
        <p:nvSpPr>
          <p:cNvPr id="10" name="Text 7"/>
          <p:cNvSpPr txBox="1"/>
          <p:nvPr/>
        </p:nvSpPr>
        <p:spPr>
          <a:xfrm>
            <a:off x="416052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01  CHARGE</a:t>
            </a:r>
            <a:endParaRPr lang="en-US" sz="1100" dirty="0"/>
          </a:p>
        </p:txBody>
      </p:sp>
      <p:sp>
        <p:nvSpPr>
          <p:cNvPr id="11" name="Text 8"/>
          <p:cNvSpPr txBox="1"/>
          <p:nvPr/>
        </p:nvSpPr>
        <p:spPr>
          <a:xfrm>
            <a:off x="416052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UV torch on the case for 30 s, lights already off.</a:t>
            </a:r>
            <a:endParaRPr lang="en-US" sz="950" dirty="0"/>
          </a:p>
        </p:txBody>
      </p:sp>
      <p:sp>
        <p:nvSpPr>
          <p:cNvPr id="12" name="Shape 9"/>
          <p:cNvSpPr/>
          <p:nvPr/>
        </p:nvSpPr>
        <p:spPr>
          <a:xfrm>
            <a:off x="6583680" y="2606040"/>
            <a:ext cx="2468880" cy="1371600"/>
          </a:xfrm>
          <a:prstGeom prst="rect">
            <a:avLst/>
          </a:prstGeom>
          <a:solidFill>
            <a:srgbClr val="151513"/>
          </a:solidFill>
          <a:ln w="9525">
            <a:solidFill>
              <a:srgbClr val="2B2A26"/>
            </a:solidFill>
            <a:prstDash val="solid"/>
          </a:ln>
        </p:spPr>
      </p:sp>
      <p:sp>
        <p:nvSpPr>
          <p:cNvPr id="13" name="Text 10"/>
          <p:cNvSpPr txBox="1"/>
          <p:nvPr/>
        </p:nvSpPr>
        <p:spPr>
          <a:xfrm>
            <a:off x="676656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02  THREE FRAMES</a:t>
            </a:r>
            <a:endParaRPr lang="en-US" sz="1100" dirty="0"/>
          </a:p>
        </p:txBody>
      </p:sp>
      <p:sp>
        <p:nvSpPr>
          <p:cNvPr id="14" name="Text 11"/>
          <p:cNvSpPr txBox="1"/>
          <p:nvPr/>
        </p:nvSpPr>
        <p:spPr>
          <a:xfrm>
            <a:off x="676656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Wrist turn · hand resting on his knee · macro on the bezel.</a:t>
            </a:r>
            <a:endParaRPr lang="en-US" sz="950" dirty="0"/>
          </a:p>
        </p:txBody>
      </p:sp>
      <p:sp>
        <p:nvSpPr>
          <p:cNvPr id="15" name="Shape 12"/>
          <p:cNvSpPr/>
          <p:nvPr/>
        </p:nvSpPr>
        <p:spPr>
          <a:xfrm>
            <a:off x="9189720" y="2606040"/>
            <a:ext cx="2468880" cy="1371600"/>
          </a:xfrm>
          <a:prstGeom prst="rect">
            <a:avLst/>
          </a:prstGeom>
          <a:solidFill>
            <a:srgbClr val="151513"/>
          </a:solidFill>
          <a:ln w="9525">
            <a:solidFill>
              <a:srgbClr val="2B2A26"/>
            </a:solidFill>
            <a:prstDash val="solid"/>
          </a:ln>
        </p:spPr>
      </p:sp>
      <p:sp>
        <p:nvSpPr>
          <p:cNvPr id="16" name="Text 13"/>
          <p:cNvSpPr txBox="1"/>
          <p:nvPr/>
        </p:nvSpPr>
        <p:spPr>
          <a:xfrm>
            <a:off x="937260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03  HOLD</a:t>
            </a:r>
            <a:endParaRPr lang="en-US" sz="1100" dirty="0"/>
          </a:p>
        </p:txBody>
      </p:sp>
      <p:sp>
        <p:nvSpPr>
          <p:cNvPr id="17" name="Text 14"/>
          <p:cNvSpPr txBox="1"/>
          <p:nvPr/>
        </p:nvSpPr>
        <p:spPr>
          <a:xfrm>
            <a:off x="937260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Locked camera, 10 s each — the glow is the only light in frame.</a:t>
            </a:r>
            <a:endParaRPr lang="en-US" sz="950" dirty="0"/>
          </a:p>
        </p:txBody>
      </p:sp>
      <p:sp>
        <p:nvSpPr>
          <p:cNvPr id="18" name="Text 15"/>
          <p:cNvSpPr txBox="1"/>
          <p:nvPr/>
        </p:nvSpPr>
        <p:spPr>
          <a:xfrm>
            <a:off x="3977640" y="4251960"/>
            <a:ext cx="3657600" cy="201168"/>
          </a:xfrm>
          <a:prstGeom prst="rect">
            <a:avLst/>
          </a:prstGeom>
          <a:noFill/>
          <a:ln/>
        </p:spPr>
        <p:txBody>
          <a:bodyPr wrap="square" lIns="0" tIns="0" rIns="0" bIns="0" rtlCol="0" anchor="t"/>
          <a:lstStyle/>
          <a:p>
            <a:pPr indent="0" marL="0">
              <a:buNone/>
            </a:pPr>
            <a:r>
              <a:rPr lang="en-US" sz="750" b="1" spc="300" kern="0" dirty="0">
                <a:solidFill>
                  <a:srgbClr val="5CFF7A"/>
                </a:solidFill>
                <a:latin typeface="Inter" pitchFamily="34" charset="0"/>
                <a:ea typeface="Inter" pitchFamily="34" charset="-122"/>
                <a:cs typeface="Inter" pitchFamily="34" charset="-120"/>
              </a:rPr>
              <a:t>WHAT IT GIVES US</a:t>
            </a:r>
            <a:endParaRPr lang="en-US" sz="750" dirty="0"/>
          </a:p>
        </p:txBody>
      </p:sp>
      <p:sp>
        <p:nvSpPr>
          <p:cNvPr id="19" name="Text 16"/>
          <p:cNvSpPr txBox="1"/>
          <p:nvPr/>
        </p:nvSpPr>
        <p:spPr>
          <a:xfrm>
            <a:off x="3977640" y="4526280"/>
            <a:ext cx="7589520" cy="12801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A 4th reel per watch for free — a 6-second glow loop (5 total).</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"Five Glows" — a 20-second hero film cutting all five in the dark, for launch day.</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The end card for E1, D1 and E2.</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HALF PRODUCT, HALF NEETU</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THE WATCH ALONE. THEN THE WOMAN WHO MADE IT.</a:t>
            </a:r>
            <a:endParaRPr lang="en-US" sz="3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1463040"/>
                <a:gridCol w="8229600"/>
                <a:gridCol w="13716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Crew call · product sets lit (white sweep, colour sweep, macro rig) · stands ready</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A · white sweep e-com — all five watches on acrylic stands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09:00–10:30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B · colour-matched heroes on stands (navy, lime, sky, ivory/green, royal blue)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10:30–11:30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C · macros with focus stacking (screws, monogram, dial, crown, caseback, clasp)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11:30–12:15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D · glow on a hand model's wrist + 360° turntable on a watch pillow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12:15–13:00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E · packaging + unboxing (magnetic lid, 001/500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13:00–14:00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Lunch · founder set dressed (library / darbar room) · Neetu HMU</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14:00–15:15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her story — 12 questions, two cameras, Hinglish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15:15–16:30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each watch in her words — five segments, the watch in her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16:30–17:30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Simple B-roll: sketching, loupe on a dial, numbering cards · portraits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17:30–18:00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Golden-hour portrait on the roof · wrap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PRODUCT</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PRODUCT SHOOT (07:30–13:00)</a:t>
            </a:r>
            <a:endParaRPr lang="en-US" sz="900" dirty="0"/>
          </a:p>
        </p:txBody>
      </p:sp>
      <p:sp>
        <p:nvSpPr>
          <p:cNvPr id="5" name="Text 3"/>
          <p:cNvSpPr txBox="1"/>
          <p:nvPr/>
        </p:nvSpPr>
        <p:spPr>
          <a:xfrm>
            <a:off x="548640" y="731520"/>
            <a:ext cx="768096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SIX SETS. NEVER FLAT ON A TABLE.</a:t>
            </a:r>
            <a:endParaRPr lang="en-US" sz="3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1554480"/>
                <a:gridCol w="3291840"/>
                <a:gridCol w="1463040"/>
                <a:gridCol w="1371600"/>
              </a:tblGrid>
              <a:tr h="56692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USED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PER WATCH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A · White sweep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Front · 3/4 · crown side · caseback · clasp · strap — on a clear acrylic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E-com + website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 watches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B · Colour seamless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Each watch on its own colour (navy, lime, sky, ivory+green, royal blue), on a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Hero / ads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2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C · Macro rig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Eight screws · WR monogram · waffle dial · crown · caseback crest · deployant clasp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Detail carousels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D · Glow</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Lume charged with UV torch, on a hand model's wrist in black</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Glow posts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still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E · 360° turntable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On a leather watch pillow on a lazy susan, 10 s loop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Website + reels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video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F · Packaging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Watch seated in its box · magnetic lid opening (sound) · 001/500 card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Unboxing reel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set + 1 video</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pic>
        <p:nvPicPr>
          <p:cNvPr id="7" name="Image 0" descr="/tmp/claude-0/-home-user-Sage-portfolio/d05fecce-977e-5eab-9cf5-7c09b306c551/scratchpad/wrdeck/img/crop_caseback.jpg">    </p:cNvPr>
          <p:cNvPicPr>
            <a:picLocks noChangeAspect="1"/>
          </p:cNvPicPr>
          <p:nvPr/>
        </p:nvPicPr>
        <p:blipFill>
          <a:blip r:embed="rId1"/>
          <a:srcRect l="0" r="0" t="0" b="0"/>
          <a:stretch/>
        </p:blipFill>
        <p:spPr>
          <a:xfrm>
            <a:off x="8549640" y="502920"/>
            <a:ext cx="3090672" cy="2651760"/>
          </a:xfrm>
          <a:prstGeom prst="rect">
            <a:avLst/>
          </a:prstGeom>
        </p:spPr>
      </p:pic>
      <p:pic>
        <p:nvPicPr>
          <p:cNvPr id="8" name="Image 1" descr="/tmp/claude-0/-home-user-Sage-portfolio/d05fecce-977e-5eab-9cf5-7c09b306c551/scratchpad/wrdeck/img/crop_redblue.jpg">    </p:cNvPr>
          <p:cNvPicPr>
            <a:picLocks noChangeAspect="1"/>
          </p:cNvPicPr>
          <p:nvPr/>
        </p:nvPicPr>
        <p:blipFill>
          <a:blip r:embed="rId2"/>
          <a:srcRect l="0" r="0" t="0" b="0"/>
          <a:stretch/>
        </p:blipFill>
        <p:spPr>
          <a:xfrm>
            <a:off x="8549640" y="3246120"/>
            <a:ext cx="1499616" cy="1828800"/>
          </a:xfrm>
          <a:prstGeom prst="rect">
            <a:avLst/>
          </a:prstGeom>
        </p:spPr>
      </p:pic>
      <p:pic>
        <p:nvPicPr>
          <p:cNvPr id="9" name="Image 2" descr="/tmp/claude-0/-home-user-Sage-portfolio/d05fecce-977e-5eab-9cf5-7c09b306c551/scratchpad/wrdeck/img/crop_lime.jpg">    </p:cNvPr>
          <p:cNvPicPr>
            <a:picLocks noChangeAspect="1"/>
          </p:cNvPicPr>
          <p:nvPr/>
        </p:nvPicPr>
        <p:blipFill>
          <a:blip r:embed="rId3"/>
          <a:srcRect l="0" r="0" t="0" b="0"/>
          <a:stretch/>
        </p:blipFill>
        <p:spPr>
          <a:xfrm>
            <a:off x="10140696" y="3246120"/>
            <a:ext cx="1499616" cy="1828800"/>
          </a:xfrm>
          <a:prstGeom prst="rect">
            <a:avLst/>
          </a:prstGeom>
        </p:spPr>
      </p:pic>
      <p:sp>
        <p:nvSpPr>
          <p:cNvPr id="10" name="Text 4"/>
          <p:cNvSpPr txBox="1"/>
          <p:nvPr/>
        </p:nvSpPr>
        <p:spPr>
          <a:xfrm>
            <a:off x="8549640" y="5212080"/>
            <a:ext cx="3108960" cy="10972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Rule: the watch sits on a clear acrylic stand, a leather pillow, in its box, or on a hand model's wrist — never flat on a surface. Kit: 100 mm macro + focus stacking · probe lens · lazy susan · cotton gloves · blower · UV torch · 5 coloured seamless rolls.</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64</a:t>
            </a:r>
            <a:endParaRPr lang="en-US" sz="750" dirty="0"/>
          </a:p>
        </p:txBody>
      </p:sp>
      <p:sp>
        <p:nvSpPr>
          <p:cNvPr id="4" name="Shape 2"/>
          <p:cNvSpPr/>
          <p:nvPr/>
        </p:nvSpPr>
        <p:spPr>
          <a:xfrm>
            <a:off x="0" y="0"/>
            <a:ext cx="4206240" cy="6858000"/>
          </a:xfrm>
          <a:prstGeom prst="rect">
            <a:avLst/>
          </a:prstGeom>
          <a:solidFill>
            <a:srgbClr val="1A1712"/>
          </a:solidFill>
          <a:ln w="12700">
            <a:solidFill>
              <a:srgbClr val="1A1712"/>
            </a:solidFill>
            <a:prstDash val="solid"/>
          </a:ln>
        </p:spPr>
      </p:sp>
      <p:sp>
        <p:nvSpPr>
          <p:cNvPr id="5" name="Text 3"/>
          <p:cNvSpPr txBox="1"/>
          <p:nvPr/>
        </p:nvSpPr>
        <p:spPr>
          <a:xfrm>
            <a:off x="548640" y="54864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NEETU (14:00–18:00)</a:t>
            </a:r>
            <a:endParaRPr lang="en-US" sz="900" dirty="0"/>
          </a:p>
        </p:txBody>
      </p:sp>
      <p:sp>
        <p:nvSpPr>
          <p:cNvPr id="6" name="Text 4"/>
          <p:cNvSpPr txBox="1"/>
          <p:nvPr/>
        </p:nvSpPr>
        <p:spPr>
          <a:xfrm>
            <a:off x="548640" y="914400"/>
            <a:ext cx="3474720" cy="1645920"/>
          </a:xfrm>
          <a:prstGeom prst="rect">
            <a:avLst/>
          </a:prstGeom>
          <a:noFill/>
          <a:ln/>
        </p:spPr>
        <p:txBody>
          <a:bodyPr wrap="square" lIns="0" tIns="0" rIns="0" bIns="0" rtlCol="0" anchor="t"/>
          <a:lstStyle/>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THE</a:t>
            </a:r>
            <a:endParaRPr lang="en-US" sz="4800" dirty="0"/>
          </a:p>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OUTSIDER</a:t>
            </a:r>
            <a:endParaRPr lang="en-US" sz="4800" dirty="0"/>
          </a:p>
        </p:txBody>
      </p:sp>
      <p:sp>
        <p:nvSpPr>
          <p:cNvPr id="7" name="Text 5"/>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1800" i="1" dirty="0">
                <a:solidFill>
                  <a:srgbClr val="C9A45C"/>
                </a:solidFill>
                <a:latin typeface="Oswald" pitchFamily="34" charset="0"/>
                <a:ea typeface="Oswald" pitchFamily="34" charset="-122"/>
                <a:cs typeface="Oswald" pitchFamily="34" charset="-120"/>
              </a:rPr>
              <a:t>"Because no one expected me to."</a:t>
            </a:r>
            <a:endParaRPr lang="en-US" sz="1800" dirty="0"/>
          </a:p>
        </p:txBody>
      </p:sp>
      <p:sp>
        <p:nvSpPr>
          <p:cNvPr id="8" name="Text 6"/>
          <p:cNvSpPr txBox="1"/>
          <p:nvPr/>
        </p:nvSpPr>
        <p:spPr>
          <a:xfrm>
            <a:off x="548640" y="3657600"/>
            <a:ext cx="3291840" cy="1280160"/>
          </a:xfrm>
          <a:prstGeom prst="rect">
            <a:avLst/>
          </a:prstGeom>
          <a:noFill/>
          <a:ln/>
        </p:spPr>
        <p:txBody>
          <a:bodyPr wrap="square" lIns="0" tIns="0" rIns="0" bIns="0" rtlCol="0" anchor="t"/>
          <a:lstStyle/>
          <a:p>
            <a:pPr indent="0" marL="0">
              <a:buNone/>
            </a:pPr>
            <a:r>
              <a:rPr lang="en-US" sz="1100" dirty="0">
                <a:solidFill>
                  <a:srgbClr val="9C978E"/>
                </a:solidFill>
                <a:latin typeface="Inter" pitchFamily="34" charset="0"/>
                <a:ea typeface="Inter" pitchFamily="34" charset="-122"/>
                <a:cs typeface="Inter" pitchFamily="34" charset="-120"/>
              </a:rPr>
              <a:t>Neetu — from a government school in Dalelpura and a ₹5,000 first salary in Jaipur, to an Indian luxury house built for the builders.</a:t>
            </a:r>
            <a:endParaRPr lang="en-US" sz="1100" dirty="0"/>
          </a:p>
        </p:txBody>
      </p:sp>
      <p:sp>
        <p:nvSpPr>
          <p:cNvPr id="9" name="Text 7"/>
          <p:cNvSpPr txBox="1"/>
          <p:nvPr/>
        </p:nvSpPr>
        <p:spPr>
          <a:xfrm>
            <a:off x="4663440" y="54864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ONLY TALK — NO CONCEPTS, NO ACTING</a:t>
            </a:r>
            <a:endParaRPr lang="en-US" sz="750" dirty="0"/>
          </a:p>
        </p:txBody>
      </p:sp>
      <p:sp>
        <p:nvSpPr>
          <p:cNvPr id="10" name="Text 8"/>
          <p:cNvSpPr txBox="1"/>
          <p:nvPr/>
        </p:nvSpPr>
        <p:spPr>
          <a:xfrm>
            <a:off x="4663440" y="822960"/>
            <a:ext cx="6949440" cy="640080"/>
          </a:xfrm>
          <a:prstGeom prst="rect">
            <a:avLst/>
          </a:prstGeom>
          <a:noFill/>
          <a:ln/>
        </p:spPr>
        <p:txBody>
          <a:bodyPr wrap="square" lIns="0" tIns="0" rIns="0" bIns="0" rtlCol="0" anchor="t"/>
          <a:lstStyle/>
          <a:p>
            <a:pPr indent="0" marL="0">
              <a:buNone/>
            </a:pPr>
            <a:r>
              <a:rPr lang="en-US" sz="1100" dirty="0">
                <a:solidFill>
                  <a:srgbClr val="F2EDE4"/>
                </a:solidFill>
                <a:latin typeface="Inter" pitchFamily="34" charset="0"/>
                <a:ea typeface="Inter" pitchFamily="34" charset="-122"/>
                <a:cs typeface="Inter" pitchFamily="34" charset="-120"/>
              </a:rPr>
              <a:t>Neetu is on camera only on Day 2, seated, talking: first her own story, then each of the five watches in her words. No scripted scenes, no Day 1 concepts.</a:t>
            </a:r>
            <a:endParaRPr lang="en-US" sz="1100" dirty="0"/>
          </a:p>
        </p:txBody>
      </p:sp>
      <p:sp>
        <p:nvSpPr>
          <p:cNvPr id="11" name="Text 9"/>
          <p:cNvSpPr txBox="1"/>
          <p:nvPr/>
        </p:nvSpPr>
        <p:spPr>
          <a:xfrm>
            <a:off x="4663440" y="16459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OUTPUTS</a:t>
            </a:r>
            <a:endParaRPr lang="en-US" sz="750" dirty="0"/>
          </a:p>
        </p:txBody>
      </p:sp>
      <p:sp>
        <p:nvSpPr>
          <p:cNvPr id="12" name="Text 10"/>
          <p:cNvSpPr txBox="1"/>
          <p:nvPr/>
        </p:nvSpPr>
        <p:spPr>
          <a:xfrm>
            <a:off x="4663440" y="1920240"/>
            <a:ext cx="6949440" cy="1280160"/>
          </a:xfrm>
          <a:prstGeom prst="rect">
            <a:avLst/>
          </a:prstGeom>
          <a:noFill/>
          <a:ln/>
        </p:spPr>
        <p:txBody>
          <a:bodyPr wrap="square" lIns="0" tIns="0" rIns="0" bIns="0" rtlCol="0" anchor="t"/>
          <a:lstStyle/>
          <a:p>
            <a:pPr indent="0" marL="0">
              <a:spcAft>
                <a:spcPts val="400"/>
              </a:spcAft>
              <a:buNone/>
            </a:pPr>
            <a:r>
              <a:rPr lang="en-US" sz="1050" dirty="0">
                <a:solidFill>
                  <a:srgbClr val="F2EDE4"/>
                </a:solidFill>
                <a:latin typeface="Inter" pitchFamily="34" charset="0"/>
                <a:ea typeface="Inter" pitchFamily="34" charset="-122"/>
                <a:cs typeface="Inter" pitchFamily="34" charset="-120"/>
              </a:rPr>
              <a:t>FOUNDER FILM  —  60–90 s, her whole story in her own Hinglish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4 STORY REELS  —  cut from her answers — next slides
</a:t>
            </a:r>
            <a:pPr indent="0" marL="0">
              <a:spcAft>
                <a:spcPts val="400"/>
              </a:spcAft>
              <a:buNone/>
            </a:pPr>
            <a:r>
              <a:rPr lang="en-US" sz="1050" dirty="0">
                <a:solidFill>
                  <a:srgbClr val="F2EDE4"/>
                </a:solidFill>
                <a:latin typeface="Inter" pitchFamily="34" charset="0"/>
                <a:ea typeface="Inter" pitchFamily="34" charset="-122"/>
                <a:cs typeface="Inter" pitchFamily="34" charset="-120"/>
              </a:rPr>
              <a:t>5 WATCH REELS  —  Neetu on each watch, 30–40 s each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12 PORTRAITS  —  press, website, LinkedIn</a:t>
            </a:r>
            <a:endParaRPr lang="en-US" sz="1050" dirty="0"/>
          </a:p>
        </p:txBody>
      </p:sp>
      <p:sp>
        <p:nvSpPr>
          <p:cNvPr id="13" name="Text 11"/>
          <p:cNvSpPr txBox="1"/>
          <p:nvPr/>
        </p:nvSpPr>
        <p:spPr>
          <a:xfrm>
            <a:off x="4663440" y="338328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HOW WE FILM HER</a:t>
            </a:r>
            <a:endParaRPr lang="en-US" sz="750" dirty="0"/>
          </a:p>
        </p:txBody>
      </p:sp>
      <p:sp>
        <p:nvSpPr>
          <p:cNvPr id="14" name="Text 12"/>
          <p:cNvSpPr txBox="1"/>
          <p:nvPr/>
        </p:nvSpPr>
        <p:spPr>
          <a:xfrm>
            <a:off x="4663440" y="3657600"/>
            <a:ext cx="6949440" cy="182880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Seated in the library / darbar room, warm practical lamps, dark background — the same world as the watches.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Two cameras: A wide on 35 mm, B tight on 85 mm. A third, locked macro on the watch in her hands for the watch segments.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She answers in Hinglish, the way she talks — we cut from her real answers, no teleprompter.</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Wardrobe her call: a structured blazer or pantsuit, or a saree with a structured blouse. Solid colours, no logos.</a:t>
            </a:r>
            <a:endParaRPr lang="en-US" sz="1050" dirty="0"/>
          </a:p>
        </p:txBody>
      </p:sp>
      <p:sp>
        <p:nvSpPr>
          <p:cNvPr id="15" name="Text 13"/>
          <p:cNvSpPr txBox="1"/>
          <p:nvPr/>
        </p:nvSpPr>
        <p:spPr>
          <a:xfrm>
            <a:off x="4663440" y="55321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B-ROLL + PORTRAITS</a:t>
            </a:r>
            <a:endParaRPr lang="en-US" sz="750" dirty="0"/>
          </a:p>
        </p:txBody>
      </p:sp>
      <p:sp>
        <p:nvSpPr>
          <p:cNvPr id="16" name="Text 14"/>
          <p:cNvSpPr txBox="1"/>
          <p:nvPr/>
        </p:nvSpPr>
        <p:spPr>
          <a:xfrm>
            <a:off x="4663440" y="5760720"/>
            <a:ext cx="694944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Sketching the square case · a jeweller's loupe on a dial · numbering cards 001–500 · window-light portrait · golden hour on the roof.</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65</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HER STORY · 12 QUESTIONS IN HINGLISH</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ASK LIKE A CONVERSATION. LISTEN FOR THESE.</a:t>
            </a:r>
            <a:endParaRPr lang="en-US" sz="28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120640"/>
                <a:gridCol w="54864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 (HINGLISH)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WHAT WE'RE LISTENING FOR (FROM HER BRIEF)</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Dalelpura se Jaipur — woh pehla din yaad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Studied in a village government school; moved to Jaipur.</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salary ₹5,000 thi. Tab time ki value kaise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"When you have no safety net, time is your only real currency."</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03</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ladki, men's luxury watch brand — logon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Polite smiles, "vanity hobby" — she answered with drawings, tolerances, sourcing.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04</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Aapke liye "dominance" ka matlab kya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"Restraint. The loudest man in the room is usually the most insecure."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Ghadi bolne se pehle insaan ke baare mein kya batati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tells you their relationship with time."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06</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 jo aap chahti thi — jo mili hi nahi?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didn't exist, which is why Wealth Roots exists."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07</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Aapne ghadi ki taaqat pehli baar kab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 husband reaching for one watch before a decisive meeting, like a ritual.</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08</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Sirf 500 Alpha Founder pieces kyun? Advisors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"500 lifetime advocates over early vanity sales."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09</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Woh packaging wala kissa — poori run kyun reject ki?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"Luxury is obsessive, unglamorous friction."</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10</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Wealth Roots kaun pehnega?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The founder in a seed round, the architect, the surgeon — people with grit.</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Paanch saal baad London ya Dubai mein koi caseback palte — kya dikhe?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"Roots in Jaipur" — Indian horology on the world stage.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Pehle din wali Neetu ko aaj kya kahengi?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"Stop questioning whether you belong in the room."</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66</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STORY REELS · CUT FROM HER REAL ANSWERS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FOUR REELS, IN HER VOICE.</a:t>
            </a:r>
            <a:endParaRPr lang="en-US" sz="3000" dirty="0"/>
          </a:p>
        </p:txBody>
      </p:sp>
      <p:sp>
        <p:nvSpPr>
          <p:cNvPr id="6" name="Shape 4"/>
          <p:cNvSpPr/>
          <p:nvPr/>
        </p:nvSpPr>
        <p:spPr>
          <a:xfrm>
            <a:off x="548640" y="1463040"/>
            <a:ext cx="5440680" cy="2057400"/>
          </a:xfrm>
          <a:prstGeom prst="rect">
            <a:avLst/>
          </a:prstGeom>
          <a:solidFill>
            <a:srgbClr val="151513"/>
          </a:solidFill>
          <a:ln w="9525">
            <a:solidFill>
              <a:srgbClr val="2B2A26"/>
            </a:solidFill>
            <a:prstDash val="solid"/>
          </a:ln>
        </p:spPr>
      </p:sp>
      <p:sp>
        <p:nvSpPr>
          <p:cNvPr id="7" name="Text 5"/>
          <p:cNvSpPr txBox="1"/>
          <p:nvPr/>
        </p:nvSpPr>
        <p:spPr>
          <a:xfrm>
            <a:off x="77724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F1</a:t>
            </a:r>
            <a:endParaRPr lang="en-US" sz="1800" dirty="0"/>
          </a:p>
        </p:txBody>
      </p:sp>
      <p:sp>
        <p:nvSpPr>
          <p:cNvPr id="8" name="Text 6"/>
          <p:cNvSpPr txBox="1"/>
          <p:nvPr/>
        </p:nvSpPr>
        <p:spPr>
          <a:xfrm>
            <a:off x="146304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₹5,000 SE</a:t>
            </a:r>
            <a:endParaRPr lang="en-US" sz="1700" dirty="0"/>
          </a:p>
        </p:txBody>
      </p:sp>
      <p:sp>
        <p:nvSpPr>
          <p:cNvPr id="9" name="Text 7"/>
          <p:cNvSpPr txBox="1"/>
          <p:nvPr/>
        </p:nvSpPr>
        <p:spPr>
          <a:xfrm>
            <a:off x="457200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STORY</a:t>
            </a:r>
            <a:endParaRPr lang="en-US" sz="800" dirty="0"/>
          </a:p>
        </p:txBody>
      </p:sp>
      <p:sp>
        <p:nvSpPr>
          <p:cNvPr id="10" name="Text 8"/>
          <p:cNvSpPr txBox="1"/>
          <p:nvPr/>
        </p:nvSpPr>
        <p:spPr>
          <a:xfrm>
            <a:off x="77724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"Dalelpura ke sarkari school se padhi. Jaipur mein pehli naukri — ₹5,000 mahina. Tab samjha: jab koi safety net nahi hota, toh time hi asli currency hai. Wealth Roots wahin se aaya."</a:t>
            </a:r>
            <a:endParaRPr lang="en-US" sz="1050" dirty="0"/>
          </a:p>
        </p:txBody>
      </p:sp>
      <p:sp>
        <p:nvSpPr>
          <p:cNvPr id="11" name="Shape 9"/>
          <p:cNvSpPr/>
          <p:nvPr/>
        </p:nvSpPr>
        <p:spPr>
          <a:xfrm>
            <a:off x="6172200" y="1463040"/>
            <a:ext cx="5440680" cy="2057400"/>
          </a:xfrm>
          <a:prstGeom prst="rect">
            <a:avLst/>
          </a:prstGeom>
          <a:solidFill>
            <a:srgbClr val="151513"/>
          </a:solidFill>
          <a:ln w="9525">
            <a:solidFill>
              <a:srgbClr val="2B2A26"/>
            </a:solidFill>
            <a:prstDash val="solid"/>
          </a:ln>
        </p:spPr>
      </p:sp>
      <p:sp>
        <p:nvSpPr>
          <p:cNvPr id="12" name="Text 10"/>
          <p:cNvSpPr txBox="1"/>
          <p:nvPr/>
        </p:nvSpPr>
        <p:spPr>
          <a:xfrm>
            <a:off x="640080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F2</a:t>
            </a:r>
            <a:endParaRPr lang="en-US" sz="1800" dirty="0"/>
          </a:p>
        </p:txBody>
      </p:sp>
      <p:sp>
        <p:nvSpPr>
          <p:cNvPr id="13" name="Text 11"/>
          <p:cNvSpPr txBox="1"/>
          <p:nvPr/>
        </p:nvSpPr>
        <p:spPr>
          <a:xfrm>
            <a:off x="708660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DOMINANCE = RESTRAINT</a:t>
            </a:r>
            <a:endParaRPr lang="en-US" sz="1700" dirty="0"/>
          </a:p>
        </p:txBody>
      </p:sp>
      <p:sp>
        <p:nvSpPr>
          <p:cNvPr id="14" name="Text 12"/>
          <p:cNvSpPr txBox="1"/>
          <p:nvPr/>
        </p:nvSpPr>
        <p:spPr>
          <a:xfrm>
            <a:off x="1019556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BELIEF</a:t>
            </a:r>
            <a:endParaRPr lang="en-US" sz="800" dirty="0"/>
          </a:p>
        </p:txBody>
      </p:sp>
      <p:sp>
        <p:nvSpPr>
          <p:cNvPr id="15" name="Text 13"/>
          <p:cNvSpPr txBox="1"/>
          <p:nvPr/>
        </p:nvSpPr>
        <p:spPr>
          <a:xfrm>
            <a:off x="640080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"Mere liye dominance ka matlab hai restraint. Room ka sabse loud aadmi aksar sabse insecure hota hai. Asli power — apne calendar, emotions aur standards pe control."</a:t>
            </a:r>
            <a:endParaRPr lang="en-US" sz="1050" dirty="0"/>
          </a:p>
        </p:txBody>
      </p:sp>
      <p:sp>
        <p:nvSpPr>
          <p:cNvPr id="16" name="Shape 14"/>
          <p:cNvSpPr/>
          <p:nvPr/>
        </p:nvSpPr>
        <p:spPr>
          <a:xfrm>
            <a:off x="548640" y="3657600"/>
            <a:ext cx="5440680" cy="2057400"/>
          </a:xfrm>
          <a:prstGeom prst="rect">
            <a:avLst/>
          </a:prstGeom>
          <a:solidFill>
            <a:srgbClr val="151513"/>
          </a:solidFill>
          <a:ln w="9525">
            <a:solidFill>
              <a:srgbClr val="2B2A26"/>
            </a:solidFill>
            <a:prstDash val="solid"/>
          </a:ln>
        </p:spPr>
      </p:sp>
      <p:sp>
        <p:nvSpPr>
          <p:cNvPr id="17" name="Text 15"/>
          <p:cNvSpPr txBox="1"/>
          <p:nvPr/>
        </p:nvSpPr>
        <p:spPr>
          <a:xfrm>
            <a:off x="77724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F3</a:t>
            </a:r>
            <a:endParaRPr lang="en-US" sz="1800" dirty="0"/>
          </a:p>
        </p:txBody>
      </p:sp>
      <p:sp>
        <p:nvSpPr>
          <p:cNvPr id="18" name="Text 16"/>
          <p:cNvSpPr txBox="1"/>
          <p:nvPr/>
        </p:nvSpPr>
        <p:spPr>
          <a:xfrm>
            <a:off x="146304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SIRF 500</a:t>
            </a:r>
            <a:endParaRPr lang="en-US" sz="1700" dirty="0"/>
          </a:p>
        </p:txBody>
      </p:sp>
      <p:sp>
        <p:nvSpPr>
          <p:cNvPr id="19" name="Text 17"/>
          <p:cNvSpPr txBox="1"/>
          <p:nvPr/>
        </p:nvSpPr>
        <p:spPr>
          <a:xfrm>
            <a:off x="457200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DECISION</a:t>
            </a:r>
            <a:endParaRPr lang="en-US" sz="800" dirty="0"/>
          </a:p>
        </p:txBody>
      </p:sp>
      <p:sp>
        <p:nvSpPr>
          <p:cNvPr id="20" name="Text 18"/>
          <p:cNvSpPr txBox="1"/>
          <p:nvPr/>
        </p:nvSpPr>
        <p:spPr>
          <a:xfrm>
            <a:off x="77724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"Advisors ne kaha production badhao, cost giraao. Maine mana kar diya. Pehle 500 log invoice ki line item nahi hain — woh is brand ki neev hain."</a:t>
            </a:r>
            <a:endParaRPr lang="en-US" sz="1050" dirty="0"/>
          </a:p>
        </p:txBody>
      </p:sp>
      <p:sp>
        <p:nvSpPr>
          <p:cNvPr id="21" name="Shape 19"/>
          <p:cNvSpPr/>
          <p:nvPr/>
        </p:nvSpPr>
        <p:spPr>
          <a:xfrm>
            <a:off x="6172200" y="3657600"/>
            <a:ext cx="5440680" cy="2057400"/>
          </a:xfrm>
          <a:prstGeom prst="rect">
            <a:avLst/>
          </a:prstGeom>
          <a:solidFill>
            <a:srgbClr val="151513"/>
          </a:solidFill>
          <a:ln w="9525">
            <a:solidFill>
              <a:srgbClr val="2B2A26"/>
            </a:solidFill>
            <a:prstDash val="solid"/>
          </a:ln>
        </p:spPr>
      </p:sp>
      <p:sp>
        <p:nvSpPr>
          <p:cNvPr id="22" name="Text 20"/>
          <p:cNvSpPr txBox="1"/>
          <p:nvPr/>
        </p:nvSpPr>
        <p:spPr>
          <a:xfrm>
            <a:off x="640080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F4</a:t>
            </a:r>
            <a:endParaRPr lang="en-US" sz="1800" dirty="0"/>
          </a:p>
        </p:txBody>
      </p:sp>
      <p:sp>
        <p:nvSpPr>
          <p:cNvPr id="23" name="Text 21"/>
          <p:cNvSpPr txBox="1"/>
          <p:nvPr/>
        </p:nvSpPr>
        <p:spPr>
          <a:xfrm>
            <a:off x="708660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LUXURY IS FRICTION</a:t>
            </a:r>
            <a:endParaRPr lang="en-US" sz="1700" dirty="0"/>
          </a:p>
        </p:txBody>
      </p:sp>
      <p:sp>
        <p:nvSpPr>
          <p:cNvPr id="24" name="Text 22"/>
          <p:cNvSpPr txBox="1"/>
          <p:nvPr/>
        </p:nvSpPr>
        <p:spPr>
          <a:xfrm>
            <a:off x="1019556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CRAFT</a:t>
            </a:r>
            <a:endParaRPr lang="en-US" sz="800" dirty="0"/>
          </a:p>
        </p:txBody>
      </p:sp>
      <p:sp>
        <p:nvSpPr>
          <p:cNvPr id="25" name="Text 23"/>
          <p:cNvSpPr txBox="1"/>
          <p:nvPr/>
        </p:nvSpPr>
        <p:spPr>
          <a:xfrm>
            <a:off x="640080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"Luxury gold plating nahi hai. Ek poori packaging run phenk di, kyunki magnet sahi resistance se band nahi ho raha tha. Jo detail kisi ko nahi dikhti — wahi asli quality hai."</a:t>
            </a:r>
            <a:endParaRPr lang="en-US" sz="1050" dirty="0"/>
          </a:p>
        </p:txBody>
      </p:sp>
      <p:sp>
        <p:nvSpPr>
          <p:cNvPr id="26" name="Text 24"/>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These are the lines to steer toward — she says them her way on the day. Music for all founder cuts: Ludovico Einaudi — "Nuvole Bianche" (reference).</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2 · EACH WATCH, IN HER WORDS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FIVE WATCHES. FIVE SHORT TALKS.</a:t>
            </a:r>
            <a:endParaRPr lang="en-US" sz="3000" dirty="0"/>
          </a:p>
        </p:txBody>
      </p:sp>
      <p:sp>
        <p:nvSpPr>
          <p:cNvPr id="6" name="Shape 4"/>
          <p:cNvSpPr/>
          <p:nvPr/>
        </p:nvSpPr>
        <p:spPr>
          <a:xfrm>
            <a:off x="548640" y="1508760"/>
            <a:ext cx="2103120" cy="4343400"/>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green.jpg">    </p:cNvPr>
          <p:cNvPicPr>
            <a:picLocks noChangeAspect="1"/>
          </p:cNvPicPr>
          <p:nvPr/>
        </p:nvPicPr>
        <p:blipFill>
          <a:blip r:embed="rId1"/>
          <a:srcRect l="0" r="0" t="0" b="0"/>
          <a:stretch/>
        </p:blipFill>
        <p:spPr>
          <a:xfrm>
            <a:off x="685800" y="1645920"/>
            <a:ext cx="1828800" cy="1463040"/>
          </a:xfrm>
          <a:prstGeom prst="rect">
            <a:avLst/>
          </a:prstGeom>
        </p:spPr>
      </p:pic>
      <p:sp>
        <p:nvSpPr>
          <p:cNvPr id="8" name="Shape 5"/>
          <p:cNvSpPr/>
          <p:nvPr/>
        </p:nvSpPr>
        <p:spPr>
          <a:xfrm>
            <a:off x="548640" y="3182112"/>
            <a:ext cx="2103120" cy="45720"/>
          </a:xfrm>
          <a:prstGeom prst="rect">
            <a:avLst/>
          </a:prstGeom>
          <a:solidFill>
            <a:srgbClr val="E8DFC8"/>
          </a:solidFill>
          <a:ln w="12700">
            <a:solidFill>
              <a:srgbClr val="E8DFC8"/>
            </a:solidFill>
            <a:prstDash val="solid"/>
          </a:ln>
        </p:spPr>
      </p:sp>
      <p:sp>
        <p:nvSpPr>
          <p:cNvPr id="9" name="Text 6"/>
          <p:cNvSpPr txBox="1"/>
          <p:nvPr/>
        </p:nvSpPr>
        <p:spPr>
          <a:xfrm>
            <a:off x="731520"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FOREST IVORY</a:t>
            </a:r>
            <a:endParaRPr lang="en-US" sz="1300" dirty="0"/>
          </a:p>
        </p:txBody>
      </p:sp>
      <p:sp>
        <p:nvSpPr>
          <p:cNvPr id="10" name="Text 7"/>
          <p:cNvSpPr txBox="1"/>
          <p:nvPr/>
        </p:nvSpPr>
        <p:spPr>
          <a:xfrm>
            <a:off x="731520"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ROOTS</a:t>
            </a:r>
            <a:endParaRPr lang="en-US" sz="800" dirty="0"/>
          </a:p>
        </p:txBody>
      </p:sp>
      <p:sp>
        <p:nvSpPr>
          <p:cNvPr id="11" name="Text 8"/>
          <p:cNvSpPr txBox="1"/>
          <p:nvPr/>
        </p:nvSpPr>
        <p:spPr>
          <a:xfrm>
            <a:off x="731520"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"Ivory aur bottle green hi kyun? Is ghadi mein aapki apni jaddein kahan dikhti hain?"</a:t>
            </a:r>
            <a:endParaRPr lang="en-US" sz="900" dirty="0"/>
          </a:p>
        </p:txBody>
      </p:sp>
      <p:sp>
        <p:nvSpPr>
          <p:cNvPr id="12" name="Text 9"/>
          <p:cNvSpPr txBox="1"/>
          <p:nvPr/>
        </p:nvSpPr>
        <p:spPr>
          <a:xfrm>
            <a:off x="731520"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Dalelpura → Jaipur; an heirloom someone has to start.</a:t>
            </a:r>
            <a:endParaRPr lang="en-US" sz="850" dirty="0"/>
          </a:p>
        </p:txBody>
      </p:sp>
      <p:sp>
        <p:nvSpPr>
          <p:cNvPr id="13" name="Shape 10"/>
          <p:cNvSpPr/>
          <p:nvPr/>
        </p:nvSpPr>
        <p:spPr>
          <a:xfrm>
            <a:off x="2807208" y="1508760"/>
            <a:ext cx="2103120" cy="4343400"/>
          </a:xfrm>
          <a:prstGeom prst="rect">
            <a:avLst/>
          </a:prstGeom>
          <a:solidFill>
            <a:srgbClr val="151513"/>
          </a:solidFill>
          <a:ln w="9525">
            <a:solidFill>
              <a:srgbClr val="2B2A26"/>
            </a:solidFill>
            <a:prstDash val="solid"/>
          </a:ln>
        </p:spPr>
      </p:sp>
      <p:pic>
        <p:nvPicPr>
          <p:cNvPr id="14" name="Image 1" descr="/tmp/claude-0/-home-user-Sage-portfolio/d05fecce-977e-5eab-9cf5-7c09b306c551/scratchpad/wrdeck/img/crop_lime.jpg">    </p:cNvPr>
          <p:cNvPicPr>
            <a:picLocks noChangeAspect="1"/>
          </p:cNvPicPr>
          <p:nvPr/>
        </p:nvPicPr>
        <p:blipFill>
          <a:blip r:embed="rId2"/>
          <a:srcRect l="0" r="0" t="0" b="0"/>
          <a:stretch/>
        </p:blipFill>
        <p:spPr>
          <a:xfrm>
            <a:off x="2944368" y="1645920"/>
            <a:ext cx="1828800" cy="1463040"/>
          </a:xfrm>
          <a:prstGeom prst="rect">
            <a:avLst/>
          </a:prstGeom>
        </p:spPr>
      </p:pic>
      <p:sp>
        <p:nvSpPr>
          <p:cNvPr id="15" name="Shape 11"/>
          <p:cNvSpPr/>
          <p:nvPr/>
        </p:nvSpPr>
        <p:spPr>
          <a:xfrm>
            <a:off x="2807208" y="3182112"/>
            <a:ext cx="2103120" cy="45720"/>
          </a:xfrm>
          <a:prstGeom prst="rect">
            <a:avLst/>
          </a:prstGeom>
          <a:solidFill>
            <a:srgbClr val="D7F25A"/>
          </a:solidFill>
          <a:ln w="12700">
            <a:solidFill>
              <a:srgbClr val="D7F25A"/>
            </a:solidFill>
            <a:prstDash val="solid"/>
          </a:ln>
        </p:spPr>
      </p:sp>
      <p:sp>
        <p:nvSpPr>
          <p:cNvPr id="16" name="Text 12"/>
          <p:cNvSpPr txBox="1"/>
          <p:nvPr/>
        </p:nvSpPr>
        <p:spPr>
          <a:xfrm>
            <a:off x="2990088"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CITRUS MINT</a:t>
            </a:r>
            <a:endParaRPr lang="en-US" sz="1300" dirty="0"/>
          </a:p>
        </p:txBody>
      </p:sp>
      <p:sp>
        <p:nvSpPr>
          <p:cNvPr id="17" name="Text 13"/>
          <p:cNvSpPr txBox="1"/>
          <p:nvPr/>
        </p:nvSpPr>
        <p:spPr>
          <a:xfrm>
            <a:off x="2990088"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DISCIPLINE</a:t>
            </a:r>
            <a:endParaRPr lang="en-US" sz="800" dirty="0"/>
          </a:p>
        </p:txBody>
      </p:sp>
      <p:sp>
        <p:nvSpPr>
          <p:cNvPr id="18" name="Text 14"/>
          <p:cNvSpPr txBox="1"/>
          <p:nvPr/>
        </p:nvSpPr>
        <p:spPr>
          <a:xfrm>
            <a:off x="2990088"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"Ye ghadi kis aadmi ke liye hai — jo subah 5 baje uthta hai?"</a:t>
            </a:r>
            <a:endParaRPr lang="en-US" sz="900" dirty="0"/>
          </a:p>
        </p:txBody>
      </p:sp>
      <p:sp>
        <p:nvSpPr>
          <p:cNvPr id="19" name="Text 15"/>
          <p:cNvSpPr txBox="1"/>
          <p:nvPr/>
        </p:nvSpPr>
        <p:spPr>
          <a:xfrm>
            <a:off x="2990088"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Command over your own calendar.</a:t>
            </a:r>
            <a:endParaRPr lang="en-US" sz="850" dirty="0"/>
          </a:p>
        </p:txBody>
      </p:sp>
      <p:sp>
        <p:nvSpPr>
          <p:cNvPr id="20" name="Shape 16"/>
          <p:cNvSpPr/>
          <p:nvPr/>
        </p:nvSpPr>
        <p:spPr>
          <a:xfrm>
            <a:off x="5065776" y="1508760"/>
            <a:ext cx="2103120" cy="4343400"/>
          </a:xfrm>
          <a:prstGeom prst="rect">
            <a:avLst/>
          </a:prstGeom>
          <a:solidFill>
            <a:srgbClr val="151513"/>
          </a:solidFill>
          <a:ln w="9525">
            <a:solidFill>
              <a:srgbClr val="2B2A26"/>
            </a:solidFill>
            <a:prstDash val="solid"/>
          </a:ln>
        </p:spPr>
      </p:sp>
      <p:pic>
        <p:nvPicPr>
          <p:cNvPr id="21" name="Image 2" descr="/tmp/claude-0/-home-user-Sage-portfolio/d05fecce-977e-5eab-9cf5-7c09b306c551/scratchpad/wrdeck/img/crop_skyblue.jpg">    </p:cNvPr>
          <p:cNvPicPr>
            <a:picLocks noChangeAspect="1"/>
          </p:cNvPicPr>
          <p:nvPr/>
        </p:nvPicPr>
        <p:blipFill>
          <a:blip r:embed="rId3"/>
          <a:srcRect l="0" r="0" t="0" b="0"/>
          <a:stretch/>
        </p:blipFill>
        <p:spPr>
          <a:xfrm>
            <a:off x="5202936" y="1645920"/>
            <a:ext cx="1828800" cy="1463040"/>
          </a:xfrm>
          <a:prstGeom prst="rect">
            <a:avLst/>
          </a:prstGeom>
        </p:spPr>
      </p:pic>
      <p:sp>
        <p:nvSpPr>
          <p:cNvPr id="22" name="Shape 17"/>
          <p:cNvSpPr/>
          <p:nvPr/>
        </p:nvSpPr>
        <p:spPr>
          <a:xfrm>
            <a:off x="5065776" y="3182112"/>
            <a:ext cx="2103120" cy="45720"/>
          </a:xfrm>
          <a:prstGeom prst="rect">
            <a:avLst/>
          </a:prstGeom>
          <a:solidFill>
            <a:srgbClr val="8EC9EE"/>
          </a:solidFill>
          <a:ln w="12700">
            <a:solidFill>
              <a:srgbClr val="8EC9EE"/>
            </a:solidFill>
            <a:prstDash val="solid"/>
          </a:ln>
        </p:spPr>
      </p:sp>
      <p:sp>
        <p:nvSpPr>
          <p:cNvPr id="23" name="Text 18"/>
          <p:cNvSpPr txBox="1"/>
          <p:nvPr/>
        </p:nvSpPr>
        <p:spPr>
          <a:xfrm>
            <a:off x="5248656"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CERULEAN</a:t>
            </a:r>
            <a:endParaRPr lang="en-US" sz="1300" dirty="0"/>
          </a:p>
        </p:txBody>
      </p:sp>
      <p:sp>
        <p:nvSpPr>
          <p:cNvPr id="24" name="Text 19"/>
          <p:cNvSpPr txBox="1"/>
          <p:nvPr/>
        </p:nvSpPr>
        <p:spPr>
          <a:xfrm>
            <a:off x="5248656"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BUILD</a:t>
            </a:r>
            <a:endParaRPr lang="en-US" sz="800" dirty="0"/>
          </a:p>
        </p:txBody>
      </p:sp>
      <p:sp>
        <p:nvSpPr>
          <p:cNvPr id="25" name="Text 20"/>
          <p:cNvSpPr txBox="1"/>
          <p:nvPr/>
        </p:nvSpPr>
        <p:spPr>
          <a:xfrm>
            <a:off x="5248656"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"Builders ke liye ghadi — founder, architect, surgeon. Cerulean unhe kya bolti hai?"</a:t>
            </a:r>
            <a:endParaRPr lang="en-US" sz="900" dirty="0"/>
          </a:p>
        </p:txBody>
      </p:sp>
      <p:sp>
        <p:nvSpPr>
          <p:cNvPr id="26" name="Text 21"/>
          <p:cNvSpPr txBox="1"/>
          <p:nvPr/>
        </p:nvSpPr>
        <p:spPr>
          <a:xfrm>
            <a:off x="5248656"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Built for people laying their own foundations.</a:t>
            </a:r>
            <a:endParaRPr lang="en-US" sz="850" dirty="0"/>
          </a:p>
        </p:txBody>
      </p:sp>
      <p:sp>
        <p:nvSpPr>
          <p:cNvPr id="27" name="Shape 22"/>
          <p:cNvSpPr/>
          <p:nvPr/>
        </p:nvSpPr>
        <p:spPr>
          <a:xfrm>
            <a:off x="7324344" y="1508760"/>
            <a:ext cx="2103120" cy="4343400"/>
          </a:xfrm>
          <a:prstGeom prst="rect">
            <a:avLst/>
          </a:prstGeom>
          <a:solidFill>
            <a:srgbClr val="151513"/>
          </a:solidFill>
          <a:ln w="9525">
            <a:solidFill>
              <a:srgbClr val="2B2A26"/>
            </a:solidFill>
            <a:prstDash val="solid"/>
          </a:ln>
        </p:spPr>
      </p:sp>
      <p:pic>
        <p:nvPicPr>
          <p:cNvPr id="28" name="Image 3" descr="/tmp/claude-0/-home-user-Sage-portfolio/d05fecce-977e-5eab-9cf5-7c09b306c551/scratchpad/wrdeck/img/crop_orange.jpg">    </p:cNvPr>
          <p:cNvPicPr>
            <a:picLocks noChangeAspect="1"/>
          </p:cNvPicPr>
          <p:nvPr/>
        </p:nvPicPr>
        <p:blipFill>
          <a:blip r:embed="rId4"/>
          <a:srcRect l="0" r="0" t="0" b="0"/>
          <a:stretch/>
        </p:blipFill>
        <p:spPr>
          <a:xfrm>
            <a:off x="7461504" y="1645920"/>
            <a:ext cx="1828800" cy="1463040"/>
          </a:xfrm>
          <a:prstGeom prst="rect">
            <a:avLst/>
          </a:prstGeom>
        </p:spPr>
      </p:pic>
      <p:sp>
        <p:nvSpPr>
          <p:cNvPr id="29" name="Shape 23"/>
          <p:cNvSpPr/>
          <p:nvPr/>
        </p:nvSpPr>
        <p:spPr>
          <a:xfrm>
            <a:off x="7324344" y="3182112"/>
            <a:ext cx="2103120" cy="45720"/>
          </a:xfrm>
          <a:prstGeom prst="rect">
            <a:avLst/>
          </a:prstGeom>
          <a:solidFill>
            <a:srgbClr val="F28C28"/>
          </a:solidFill>
          <a:ln w="12700">
            <a:solidFill>
              <a:srgbClr val="F28C28"/>
            </a:solidFill>
            <a:prstDash val="solid"/>
          </a:ln>
        </p:spPr>
      </p:sp>
      <p:sp>
        <p:nvSpPr>
          <p:cNvPr id="30" name="Text 24"/>
          <p:cNvSpPr txBox="1"/>
          <p:nvPr/>
        </p:nvSpPr>
        <p:spPr>
          <a:xfrm>
            <a:off x="7507224"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ROYAL TANGERINE</a:t>
            </a:r>
            <a:endParaRPr lang="en-US" sz="1300" dirty="0"/>
          </a:p>
        </p:txBody>
      </p:sp>
      <p:sp>
        <p:nvSpPr>
          <p:cNvPr id="31" name="Text 25"/>
          <p:cNvSpPr txBox="1"/>
          <p:nvPr/>
        </p:nvSpPr>
        <p:spPr>
          <a:xfrm>
            <a:off x="7507224"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UTSAV</a:t>
            </a:r>
            <a:endParaRPr lang="en-US" sz="800" dirty="0"/>
          </a:p>
        </p:txBody>
      </p:sp>
      <p:sp>
        <p:nvSpPr>
          <p:cNvPr id="32" name="Text 26"/>
          <p:cNvSpPr txBox="1"/>
          <p:nvPr/>
        </p:nvSpPr>
        <p:spPr>
          <a:xfrm>
            <a:off x="7507224"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"Jaipur ki royalty, tyohaar, aur 500 Alpha Founder pieces — ye ghadi un sabko kaise jodti hai?"</a:t>
            </a:r>
            <a:endParaRPr lang="en-US" sz="900" dirty="0"/>
          </a:p>
        </p:txBody>
      </p:sp>
      <p:sp>
        <p:nvSpPr>
          <p:cNvPr id="33" name="Text 27"/>
          <p:cNvSpPr txBox="1"/>
          <p:nvPr/>
        </p:nvSpPr>
        <p:spPr>
          <a:xfrm>
            <a:off x="7507224"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Born in Jaipur, made for the world.</a:t>
            </a:r>
            <a:endParaRPr lang="en-US" sz="850" dirty="0"/>
          </a:p>
        </p:txBody>
      </p:sp>
      <p:sp>
        <p:nvSpPr>
          <p:cNvPr id="34" name="Shape 28"/>
          <p:cNvSpPr/>
          <p:nvPr/>
        </p:nvSpPr>
        <p:spPr>
          <a:xfrm>
            <a:off x="9582912" y="1508760"/>
            <a:ext cx="2103120" cy="4343400"/>
          </a:xfrm>
          <a:prstGeom prst="rect">
            <a:avLst/>
          </a:prstGeom>
          <a:solidFill>
            <a:srgbClr val="151513"/>
          </a:solidFill>
          <a:ln w="9525">
            <a:solidFill>
              <a:srgbClr val="2B2A26"/>
            </a:solidFill>
            <a:prstDash val="solid"/>
          </a:ln>
        </p:spPr>
      </p:sp>
      <p:pic>
        <p:nvPicPr>
          <p:cNvPr id="35" name="Image 4" descr="/tmp/claude-0/-home-user-Sage-portfolio/d05fecce-977e-5eab-9cf5-7c09b306c551/scratchpad/wrdeck/img/crop_redblue.jpg">    </p:cNvPr>
          <p:cNvPicPr>
            <a:picLocks noChangeAspect="1"/>
          </p:cNvPicPr>
          <p:nvPr/>
        </p:nvPicPr>
        <p:blipFill>
          <a:blip r:embed="rId5"/>
          <a:srcRect l="0" r="0" t="0" b="0"/>
          <a:stretch/>
        </p:blipFill>
        <p:spPr>
          <a:xfrm>
            <a:off x="9720072" y="1645920"/>
            <a:ext cx="1828800" cy="1463040"/>
          </a:xfrm>
          <a:prstGeom prst="rect">
            <a:avLst/>
          </a:prstGeom>
        </p:spPr>
      </p:pic>
      <p:sp>
        <p:nvSpPr>
          <p:cNvPr id="36" name="Shape 29"/>
          <p:cNvSpPr/>
          <p:nvPr/>
        </p:nvSpPr>
        <p:spPr>
          <a:xfrm>
            <a:off x="9582912" y="3182112"/>
            <a:ext cx="2103120" cy="45720"/>
          </a:xfrm>
          <a:prstGeom prst="rect">
            <a:avLst/>
          </a:prstGeom>
          <a:solidFill>
            <a:srgbClr val="D2283A"/>
          </a:solidFill>
          <a:ln w="12700">
            <a:solidFill>
              <a:srgbClr val="D2283A"/>
            </a:solidFill>
            <a:prstDash val="solid"/>
          </a:ln>
        </p:spPr>
      </p:sp>
      <p:sp>
        <p:nvSpPr>
          <p:cNvPr id="37" name="Text 30"/>
          <p:cNvSpPr txBox="1"/>
          <p:nvPr/>
        </p:nvSpPr>
        <p:spPr>
          <a:xfrm>
            <a:off x="9765792"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CRIMSON NAVY</a:t>
            </a:r>
            <a:endParaRPr lang="en-US" sz="1300" dirty="0"/>
          </a:p>
        </p:txBody>
      </p:sp>
      <p:sp>
        <p:nvSpPr>
          <p:cNvPr id="38" name="Text 31"/>
          <p:cNvSpPr txBox="1"/>
          <p:nvPr/>
        </p:nvSpPr>
        <p:spPr>
          <a:xfrm>
            <a:off x="9765792"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AFTER DARK</a:t>
            </a:r>
            <a:endParaRPr lang="en-US" sz="800" dirty="0"/>
          </a:p>
        </p:txBody>
      </p:sp>
      <p:sp>
        <p:nvSpPr>
          <p:cNvPr id="39" name="Text 32"/>
          <p:cNvSpPr txBox="1"/>
          <p:nvPr/>
        </p:nvSpPr>
        <p:spPr>
          <a:xfrm>
            <a:off x="9765792"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"Raat ki mehnat jo kisi ko nahi dikhti — aur ye glow. Iska matlab kya hai aapke liye?"</a:t>
            </a:r>
            <a:endParaRPr lang="en-US" sz="900" dirty="0"/>
          </a:p>
        </p:txBody>
      </p:sp>
      <p:sp>
        <p:nvSpPr>
          <p:cNvPr id="40" name="Text 33"/>
          <p:cNvSpPr txBox="1"/>
          <p:nvPr/>
        </p:nvSpPr>
        <p:spPr>
          <a:xfrm>
            <a:off x="9765792"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Building is lonely; the watch is the witness.</a:t>
            </a:r>
            <a:endParaRPr lang="en-US" sz="850" dirty="0"/>
          </a:p>
        </p:txBody>
      </p:sp>
      <p:sp>
        <p:nvSpPr>
          <p:cNvPr id="41" name="Text 34"/>
          <p:cNvSpPr txBox="1"/>
          <p:nvPr/>
        </p:nvSpPr>
        <p:spPr>
          <a:xfrm>
            <a:off x="548640" y="5989320"/>
            <a:ext cx="10972800" cy="27432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Format: she holds the watch while she talks; camera C stays on the watch in her hands. One question per watch, 3–4 minutes each, cut to 30–40 s.</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68</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CREW &amp; KIT</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TWO UNITS, ONE DAY.</a:t>
            </a:r>
            <a:endParaRPr lang="en-US" sz="3000" dirty="0"/>
          </a:p>
        </p:txBody>
      </p:sp>
      <p:sp>
        <p:nvSpPr>
          <p:cNvPr id="6" name="Shape 4"/>
          <p:cNvSpPr/>
          <p:nvPr/>
        </p:nvSpPr>
        <p:spPr>
          <a:xfrm>
            <a:off x="548640" y="1508760"/>
            <a:ext cx="3566160" cy="4480560"/>
          </a:xfrm>
          <a:prstGeom prst="rect">
            <a:avLst/>
          </a:prstGeom>
          <a:solidFill>
            <a:srgbClr val="151513"/>
          </a:solidFill>
          <a:ln w="9525">
            <a:solidFill>
              <a:srgbClr val="2B2A26"/>
            </a:solidFill>
            <a:prstDash val="solid"/>
          </a:ln>
        </p:spPr>
      </p:sp>
      <p:sp>
        <p:nvSpPr>
          <p:cNvPr id="7" name="Text 5"/>
          <p:cNvSpPr txBox="1"/>
          <p:nvPr/>
        </p:nvSpPr>
        <p:spPr>
          <a:xfrm>
            <a:off x="77724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MAIN UNIT</a:t>
            </a:r>
            <a:endParaRPr lang="en-US" sz="750" dirty="0"/>
          </a:p>
        </p:txBody>
      </p:sp>
      <p:sp>
        <p:nvSpPr>
          <p:cNvPr id="8" name="Text 6"/>
          <p:cNvSpPr txBox="1"/>
          <p:nvPr/>
        </p:nvSpPr>
        <p:spPr>
          <a:xfrm>
            <a:off x="77724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DOP + 1st AC (A cam)</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Gaffer + 2 light assistants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Sound: lav + boom (A3, interviews)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Stylist (5 looks) + HMU</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handler — gloves, cloths, log sheet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Director / creative lead (Sage Media)</a:t>
            </a:r>
            <a:endParaRPr lang="en-US" sz="1050" dirty="0"/>
          </a:p>
        </p:txBody>
      </p:sp>
      <p:sp>
        <p:nvSpPr>
          <p:cNvPr id="9" name="Shape 7"/>
          <p:cNvSpPr/>
          <p:nvPr/>
        </p:nvSpPr>
        <p:spPr>
          <a:xfrm>
            <a:off x="4297680" y="1508760"/>
            <a:ext cx="3566160" cy="4480560"/>
          </a:xfrm>
          <a:prstGeom prst="rect">
            <a:avLst/>
          </a:prstGeom>
          <a:solidFill>
            <a:srgbClr val="151513"/>
          </a:solidFill>
          <a:ln w="9525">
            <a:solidFill>
              <a:srgbClr val="2B2A26"/>
            </a:solidFill>
            <a:prstDash val="solid"/>
          </a:ln>
        </p:spPr>
      </p:sp>
      <p:sp>
        <p:nvSpPr>
          <p:cNvPr id="10" name="Text 8"/>
          <p:cNvSpPr txBox="1"/>
          <p:nvPr/>
        </p:nvSpPr>
        <p:spPr>
          <a:xfrm>
            <a:off x="452628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B-UNIT</a:t>
            </a:r>
            <a:endParaRPr lang="en-US" sz="750" dirty="0"/>
          </a:p>
        </p:txBody>
      </p:sp>
      <p:sp>
        <p:nvSpPr>
          <p:cNvPr id="11" name="Text 9"/>
          <p:cNvSpPr txBox="1"/>
          <p:nvPr/>
        </p:nvSpPr>
        <p:spPr>
          <a:xfrm>
            <a:off x="452628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Camera op + assistant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Free city shots: Hawa Mahal, old-city lanes, bazaar lights, MI Road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Inserts and cutaways for the main unit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Art / props: 200 diyas, marigold, thali, blueprint, limes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Runner + driver</a:t>
            </a:r>
            <a:endParaRPr lang="en-US" sz="1050" dirty="0"/>
          </a:p>
        </p:txBody>
      </p:sp>
      <p:sp>
        <p:nvSpPr>
          <p:cNvPr id="12" name="Shape 10"/>
          <p:cNvSpPr/>
          <p:nvPr/>
        </p:nvSpPr>
        <p:spPr>
          <a:xfrm>
            <a:off x="8046720" y="1508760"/>
            <a:ext cx="3566160" cy="4480560"/>
          </a:xfrm>
          <a:prstGeom prst="rect">
            <a:avLst/>
          </a:prstGeom>
          <a:solidFill>
            <a:srgbClr val="151513"/>
          </a:solidFill>
          <a:ln w="9525">
            <a:solidFill>
              <a:srgbClr val="2B2A26"/>
            </a:solidFill>
            <a:prstDash val="solid"/>
          </a:ln>
        </p:spPr>
      </p:sp>
      <p:sp>
        <p:nvSpPr>
          <p:cNvPr id="13" name="Text 11"/>
          <p:cNvSpPr txBox="1"/>
          <p:nvPr/>
        </p:nvSpPr>
        <p:spPr>
          <a:xfrm>
            <a:off x="827532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KIT</a:t>
            </a:r>
            <a:endParaRPr lang="en-US" sz="750" dirty="0"/>
          </a:p>
        </p:txBody>
      </p:sp>
      <p:sp>
        <p:nvSpPr>
          <p:cNvPr id="14" name="Text 12"/>
          <p:cNvSpPr txBox="1"/>
          <p:nvPr/>
        </p:nvSpPr>
        <p:spPr>
          <a:xfrm>
            <a:off x="827532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Cine camera ×2 (4K 10-bit, 120 fps)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24 · 35 · 50 · 85 mm + 100 mm macro + probe lens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Gimbal · slider · lazy susan</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 × 600 W + RGB tubes (red/blue gels) +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Blackout cloth · UV torch for the lume</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stands + leather pillow (Day 2) · blower · microfibre</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BEFORE WE LOCK · TO CONFIRM</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EIGHT ANSWERS WE NEED THIS WEEK.</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48640"/>
                <a:gridCol w="4297680"/>
                <a:gridCol w="6217920"/>
              </a:tblGrid>
              <a:tr h="47548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IT MATTERS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Water-resistance rating of the watches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Decides whether B1 can keep the face splash — no water near the watch without it.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Final watch names + which five are launching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Locks on-screen names, captions and Neetu's five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Samode Haveli recce + fee (backup: Alsisar Haveli)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Book 05:00–23:30 with diya, flame and hazer permission and one blackout room.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04</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One elder extra for A3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Local, 60+; face can stay out of frame.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05</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Premium car + driver for E3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Dark interior, Mukesh ji never drives on camera.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06</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Two pieces of each watch on set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Backup if one scratches; one stays charged for glows.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07</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Music: original score or licensed library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tracks in this deck are mood references — brand accounts can't post them (next slide).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08</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15 storyboard grids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Run the prompt pack; we drop the frames into every reel before the shoot.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RELEASE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RELEASE ORDER</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STORY FIRST, DETAIL BETWEEN, FESTIVE ON THE DAY.</a:t>
            </a:r>
            <a:endParaRPr lang="en-US" sz="28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4846320"/>
                <a:gridCol w="384048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Launch day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Five Glows (hero film) + A1 Pehli Ghadi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Signature + origin story together</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C2 6 Feet. 6 Inches.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Shows the watch at every distance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B1 4:59</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Discipline, early in the week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A3 Kitne Ki Hai?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most shareable line we have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Fri 6 Nov · Dhanteras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D2 Dhanteras + 500 Alpha Founder push</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day India buys something precious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Sun 8 Nov ·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D1 Ek Diya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Goes live at dusk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After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E1 Unfinished → C1 Neev → founder film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 to work, back to building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Then, every 1–2 days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Details + punches: A2, B2, B3, C3, D3, E2, E3 · Neetu: F1–F4 + five watch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Keeps the grid colour-balanced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MUSIC</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MUSIC · EVERY REEL HAS A REFERENCE TRACK</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REFERENCE TO EDIT TO. LICENSED TO POST.</a:t>
            </a:r>
            <a:endParaRPr lang="en-US" sz="3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640080"/>
                <a:gridCol w="2194560"/>
                <a:gridCol w="4114800"/>
              </a:tblGrid>
              <a:tr h="265176">
                <a:tc>
                  <a:txBody>
                    <a:bodyPr/>
                    <a:lstStyle/>
                    <a:p>
                      <a:pPr indent="0" marL="0">
                        <a:buNone/>
                      </a:pPr>
                      <a:r>
                        <a:rPr lang="en-US" sz="750" b="1"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TITLE</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REFERENCE TRACK — TAP TO LISTEN</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Jaali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Kitne Ki Hai?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4:59</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Cold. Sharp. On Time.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Jal Mahal, 6:50</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Neev</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Feet. 6 Inches.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60 Seconds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Diya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Dhanteras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Jaipur Se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Unfinished</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Red / Blue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Shor Nahi. Signal.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bl>
          </a:graphicData>
        </a:graphic>
      </p:graphicFrame>
      <p:sp>
        <p:nvSpPr>
          <p:cNvPr id="7" name="Shape 4"/>
          <p:cNvSpPr/>
          <p:nvPr/>
        </p:nvSpPr>
        <p:spPr>
          <a:xfrm>
            <a:off x="7863840" y="1417320"/>
            <a:ext cx="3776472" cy="4343400"/>
          </a:xfrm>
          <a:prstGeom prst="rect">
            <a:avLst/>
          </a:prstGeom>
          <a:solidFill>
            <a:srgbClr val="151513"/>
          </a:solidFill>
          <a:ln w="9525">
            <a:solidFill>
              <a:srgbClr val="2B2A26"/>
            </a:solidFill>
            <a:prstDash val="solid"/>
          </a:ln>
        </p:spPr>
      </p:sp>
      <p:sp>
        <p:nvSpPr>
          <p:cNvPr id="8" name="Text 5"/>
          <p:cNvSpPr txBox="1"/>
          <p:nvPr/>
        </p:nvSpPr>
        <p:spPr>
          <a:xfrm>
            <a:off x="8092440" y="1600200"/>
            <a:ext cx="329184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BEFORE ANYTHING GOES LIVE</a:t>
            </a:r>
            <a:endParaRPr lang="en-US" sz="750" dirty="0"/>
          </a:p>
        </p:txBody>
      </p:sp>
      <p:sp>
        <p:nvSpPr>
          <p:cNvPr id="9" name="Text 6"/>
          <p:cNvSpPr txBox="1"/>
          <p:nvPr/>
        </p:nvSpPr>
        <p:spPr>
          <a:xfrm>
            <a:off x="8092440" y="1920240"/>
            <a:ext cx="3383280" cy="3749040"/>
          </a:xfrm>
          <a:prstGeom prst="rect">
            <a:avLst/>
          </a:prstGeom>
          <a:noFill/>
          <a:ln/>
        </p:spPr>
        <p:txBody>
          <a:bodyPr wrap="square" lIns="0" tIns="0" rIns="0" bIns="0" rtlCol="0" anchor="t"/>
          <a:lstStyle/>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These tracks are for the editor — they set the mood, pace and cut points.</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Wealth Roots posts from a business account: Instagram only allows its own licensed library there, and copyrighted film scores get muted or blocked.</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So each final reel uses a licensed sound-alike (Artlist / Epidemic / Meta Sound Collection) or a short original score.</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For the Diwali and Dhanteras drops, lock the licensed track before the edit — those dates can't slip.</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APPENDIX</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APPENDIX · THE STORYBOARD FRAMES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135 FRAMES, 15 PROMPTS.</a:t>
            </a:r>
            <a:endParaRPr lang="en-US" sz="3000" dirty="0"/>
          </a:p>
        </p:txBody>
      </p:sp>
      <p:sp>
        <p:nvSpPr>
          <p:cNvPr id="6" name="Text 4"/>
          <p:cNvSpPr txBox="1"/>
          <p:nvPr/>
        </p:nvSpPr>
        <p:spPr>
          <a:xfrm>
            <a:off x="548640" y="1463040"/>
            <a:ext cx="10972800" cy="640080"/>
          </a:xfrm>
          <a:prstGeom prst="rect">
            <a:avLst/>
          </a:prstGeom>
          <a:noFill/>
          <a:ln/>
        </p:spPr>
        <p:txBody>
          <a:bodyPr wrap="square" lIns="0" tIns="0" rIns="0" bIns="0" rtlCol="0" anchor="t"/>
          <a:lstStyle/>
          <a:p>
            <a:pPr indent="0" marL="0">
              <a:buNone/>
            </a:pPr>
            <a:r>
              <a:rPr lang="en-US" sz="1150" dirty="0">
                <a:solidFill>
                  <a:srgbClr val="9C978E"/>
                </a:solidFill>
                <a:latin typeface="Inter" pitchFamily="34" charset="0"/>
                <a:ea typeface="Inter" pitchFamily="34" charset="-122"/>
                <a:cs typeface="Inter" pitchFamily="34" charset="-120"/>
              </a:rPr>
              <a:t>Every reel has a 9-frame storyboard. The frames come from one image prompt per reel that returns a 3×3 grid — the same way the mood frames in this deck were made, so the watch stays exact.</a:t>
            </a:r>
            <a:endParaRPr lang="en-US" sz="1150" dirty="0"/>
          </a:p>
        </p:txBody>
      </p:sp>
      <p:sp>
        <p:nvSpPr>
          <p:cNvPr id="7" name="Shape 5"/>
          <p:cNvSpPr/>
          <p:nvPr/>
        </p:nvSpPr>
        <p:spPr>
          <a:xfrm>
            <a:off x="548640" y="2331720"/>
            <a:ext cx="2651760" cy="2377440"/>
          </a:xfrm>
          <a:prstGeom prst="rect">
            <a:avLst/>
          </a:prstGeom>
          <a:solidFill>
            <a:srgbClr val="151513"/>
          </a:solidFill>
          <a:ln w="9525">
            <a:solidFill>
              <a:srgbClr val="2B2A26"/>
            </a:solidFill>
            <a:prstDash val="solid"/>
          </a:ln>
        </p:spPr>
      </p:sp>
      <p:sp>
        <p:nvSpPr>
          <p:cNvPr id="8" name="Text 6"/>
          <p:cNvSpPr txBox="1"/>
          <p:nvPr/>
        </p:nvSpPr>
        <p:spPr>
          <a:xfrm>
            <a:off x="777240"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01</a:t>
            </a:r>
            <a:endParaRPr lang="en-US" sz="2400" dirty="0"/>
          </a:p>
        </p:txBody>
      </p:sp>
      <p:sp>
        <p:nvSpPr>
          <p:cNvPr id="9" name="Text 7"/>
          <p:cNvSpPr txBox="1"/>
          <p:nvPr/>
        </p:nvSpPr>
        <p:spPr>
          <a:xfrm>
            <a:off x="777240"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OPEN THE PROMPT PACK</a:t>
            </a:r>
            <a:endParaRPr lang="en-US" sz="1050" dirty="0"/>
          </a:p>
        </p:txBody>
      </p:sp>
      <p:sp>
        <p:nvSpPr>
          <p:cNvPr id="10" name="Text 8"/>
          <p:cNvSpPr txBox="1"/>
          <p:nvPr/>
        </p:nvSpPr>
        <p:spPr>
          <a:xfrm>
            <a:off x="777240"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Wealth-Roots-Storyboard-Prompts.md — one prompt per reel, A1 to E3.</a:t>
            </a:r>
            <a:endParaRPr lang="en-US" sz="950" dirty="0"/>
          </a:p>
        </p:txBody>
      </p:sp>
      <p:sp>
        <p:nvSpPr>
          <p:cNvPr id="11" name="Shape 9"/>
          <p:cNvSpPr/>
          <p:nvPr/>
        </p:nvSpPr>
        <p:spPr>
          <a:xfrm>
            <a:off x="3355848" y="2331720"/>
            <a:ext cx="2651760" cy="2377440"/>
          </a:xfrm>
          <a:prstGeom prst="rect">
            <a:avLst/>
          </a:prstGeom>
          <a:solidFill>
            <a:srgbClr val="151513"/>
          </a:solidFill>
          <a:ln w="9525">
            <a:solidFill>
              <a:srgbClr val="2B2A26"/>
            </a:solidFill>
            <a:prstDash val="solid"/>
          </a:ln>
        </p:spPr>
      </p:sp>
      <p:sp>
        <p:nvSpPr>
          <p:cNvPr id="12" name="Text 10"/>
          <p:cNvSpPr txBox="1"/>
          <p:nvPr/>
        </p:nvSpPr>
        <p:spPr>
          <a:xfrm>
            <a:off x="3584448"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02</a:t>
            </a:r>
            <a:endParaRPr lang="en-US" sz="2400" dirty="0"/>
          </a:p>
        </p:txBody>
      </p:sp>
      <p:sp>
        <p:nvSpPr>
          <p:cNvPr id="13" name="Text 11"/>
          <p:cNvSpPr txBox="1"/>
          <p:nvPr/>
        </p:nvSpPr>
        <p:spPr>
          <a:xfrm>
            <a:off x="3584448"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ATTACH THE WATCH PHOTO</a:t>
            </a:r>
            <a:endParaRPr lang="en-US" sz="1050" dirty="0"/>
          </a:p>
        </p:txBody>
      </p:sp>
      <p:sp>
        <p:nvSpPr>
          <p:cNvPr id="14" name="Text 12"/>
          <p:cNvSpPr txBox="1"/>
          <p:nvPr/>
        </p:nvSpPr>
        <p:spPr>
          <a:xfrm>
            <a:off x="3584448"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The crop_*.jpg still named in each prompt, so the case, screws and colours are copied, not invented.</a:t>
            </a:r>
            <a:endParaRPr lang="en-US" sz="950" dirty="0"/>
          </a:p>
        </p:txBody>
      </p:sp>
      <p:sp>
        <p:nvSpPr>
          <p:cNvPr id="15" name="Shape 13"/>
          <p:cNvSpPr/>
          <p:nvPr/>
        </p:nvSpPr>
        <p:spPr>
          <a:xfrm>
            <a:off x="6163056" y="2331720"/>
            <a:ext cx="2651760" cy="2377440"/>
          </a:xfrm>
          <a:prstGeom prst="rect">
            <a:avLst/>
          </a:prstGeom>
          <a:solidFill>
            <a:srgbClr val="151513"/>
          </a:solidFill>
          <a:ln w="9525">
            <a:solidFill>
              <a:srgbClr val="2B2A26"/>
            </a:solidFill>
            <a:prstDash val="solid"/>
          </a:ln>
        </p:spPr>
      </p:sp>
      <p:sp>
        <p:nvSpPr>
          <p:cNvPr id="16" name="Text 14"/>
          <p:cNvSpPr txBox="1"/>
          <p:nvPr/>
        </p:nvSpPr>
        <p:spPr>
          <a:xfrm>
            <a:off x="6391656"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03</a:t>
            </a:r>
            <a:endParaRPr lang="en-US" sz="2400" dirty="0"/>
          </a:p>
        </p:txBody>
      </p:sp>
      <p:sp>
        <p:nvSpPr>
          <p:cNvPr id="17" name="Text 15"/>
          <p:cNvSpPr txBox="1"/>
          <p:nvPr/>
        </p:nvSpPr>
        <p:spPr>
          <a:xfrm>
            <a:off x="6391656"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GENERATE ONE 3×3 GRID PER REEL</a:t>
            </a:r>
            <a:endParaRPr lang="en-US" sz="1050" dirty="0"/>
          </a:p>
        </p:txBody>
      </p:sp>
      <p:sp>
        <p:nvSpPr>
          <p:cNvPr id="18" name="Text 16"/>
          <p:cNvSpPr txBox="1"/>
          <p:nvPr/>
        </p:nvSpPr>
        <p:spPr>
          <a:xfrm>
            <a:off x="6391656"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Portrait frames, numbered 1–9 in reading order. Regenerate any frame that changes the watch.</a:t>
            </a:r>
            <a:endParaRPr lang="en-US" sz="950" dirty="0"/>
          </a:p>
        </p:txBody>
      </p:sp>
      <p:sp>
        <p:nvSpPr>
          <p:cNvPr id="19" name="Shape 17"/>
          <p:cNvSpPr/>
          <p:nvPr/>
        </p:nvSpPr>
        <p:spPr>
          <a:xfrm>
            <a:off x="8970264" y="2331720"/>
            <a:ext cx="2651760" cy="2377440"/>
          </a:xfrm>
          <a:prstGeom prst="rect">
            <a:avLst/>
          </a:prstGeom>
          <a:solidFill>
            <a:srgbClr val="151513"/>
          </a:solidFill>
          <a:ln w="9525">
            <a:solidFill>
              <a:srgbClr val="2B2A26"/>
            </a:solidFill>
            <a:prstDash val="solid"/>
          </a:ln>
        </p:spPr>
      </p:sp>
      <p:sp>
        <p:nvSpPr>
          <p:cNvPr id="20" name="Text 18"/>
          <p:cNvSpPr txBox="1"/>
          <p:nvPr/>
        </p:nvSpPr>
        <p:spPr>
          <a:xfrm>
            <a:off x="9198864"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04</a:t>
            </a:r>
            <a:endParaRPr lang="en-US" sz="2400" dirty="0"/>
          </a:p>
        </p:txBody>
      </p:sp>
      <p:sp>
        <p:nvSpPr>
          <p:cNvPr id="21" name="Text 19"/>
          <p:cNvSpPr txBox="1"/>
          <p:nvPr/>
        </p:nvSpPr>
        <p:spPr>
          <a:xfrm>
            <a:off x="9198864"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SEND US THE 15 GRIDS</a:t>
            </a:r>
            <a:endParaRPr lang="en-US" sz="1050" dirty="0"/>
          </a:p>
        </p:txBody>
      </p:sp>
      <p:sp>
        <p:nvSpPr>
          <p:cNvPr id="22" name="Text 20"/>
          <p:cNvSpPr txBox="1"/>
          <p:nvPr/>
        </p:nvSpPr>
        <p:spPr>
          <a:xfrm>
            <a:off x="9198864"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 split them and they drop into the nine slots on each storyboard slide.</a:t>
            </a:r>
            <a:endParaRPr lang="en-US" sz="950" dirty="0"/>
          </a:p>
        </p:txBody>
      </p:sp>
      <p:sp>
        <p:nvSpPr>
          <p:cNvPr id="23" name="Text 21"/>
          <p:cNvSpPr txBox="1"/>
          <p:nvPr/>
        </p:nvSpPr>
        <p:spPr>
          <a:xfrm>
            <a:off x="548640" y="498348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Rules baked into every prompt: the watch is always on the wrist (never lying on a surface) · Indian man, mid-30s, athletic, short beard — a stand-in for Mukesh ji · Jaipur haveli and free public locations only · photoreal, cinematic, no text in the frames.</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73</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7589520" y="0"/>
            <a:ext cx="4599432" cy="6858000"/>
          </a:xfrm>
          <a:prstGeom prst="rect">
            <a:avLst/>
          </a:prstGeom>
        </p:spPr>
      </p:pic>
      <p:sp>
        <p:nvSpPr>
          <p:cNvPr id="5" name="Text 2"/>
          <p:cNvSpPr txBox="1"/>
          <p:nvPr/>
        </p:nvSpPr>
        <p:spPr>
          <a:xfrm>
            <a:off x="548640" y="128016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a:t>
            </a:r>
            <a:endParaRPr lang="en-US" sz="900" dirty="0"/>
          </a:p>
        </p:txBody>
      </p:sp>
      <p:sp>
        <p:nvSpPr>
          <p:cNvPr id="6" name="Text 3"/>
          <p:cNvSpPr txBox="1"/>
          <p:nvPr/>
        </p:nvSpPr>
        <p:spPr>
          <a:xfrm>
            <a:off x="548640" y="1645920"/>
            <a:ext cx="6858000" cy="2926080"/>
          </a:xfrm>
          <a:prstGeom prst="rect">
            <a:avLst/>
          </a:prstGeom>
          <a:noFill/>
          <a:ln/>
        </p:spPr>
        <p:txBody>
          <a:bodyPr wrap="square" lIns="0" tIns="0" rIns="0" bIns="0" rtlCol="0" anchor="t"/>
          <a:lstStyle/>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WEAR YOUR TIME.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COMMAND YOUR PRESENCE.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BUILD YOUR LEGACY.</a:t>
            </a:r>
            <a:endParaRPr lang="en-US" sz="4000" dirty="0"/>
          </a:p>
        </p:txBody>
      </p:sp>
      <p:sp>
        <p:nvSpPr>
          <p:cNvPr id="7" name="Text 4"/>
          <p:cNvSpPr txBox="1"/>
          <p:nvPr/>
        </p:nvSpPr>
        <p:spPr>
          <a:xfrm>
            <a:off x="548640" y="5029200"/>
            <a:ext cx="6766560" cy="27432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plan by Sage Media  ·  Jaipur  ·  business@sagemedia.in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Sage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Roots × Mukesh Gupta — Jaipur Shoot Plan</dc:title>
  <dc:subject>PptxGenJS Presentation</dc:subject>
  <dc:creator>Sage Media</dc:creator>
  <cp:lastModifiedBy>Sage Media</cp:lastModifiedBy>
  <cp:revision>1</cp:revision>
  <dcterms:created xsi:type="dcterms:W3CDTF">2026-10-18T12:50:36Z</dcterms:created>
  <dcterms:modified xsi:type="dcterms:W3CDTF">2026-10-18T12:50:36Z</dcterms:modified>
</cp:coreProperties>
</file>