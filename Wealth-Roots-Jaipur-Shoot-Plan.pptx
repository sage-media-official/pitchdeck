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search/pins/?q=haveli%20jaali%20light%20portrait%20man" TargetMode="External"/><Relationship Id="rId4" Type="http://schemas.openxmlformats.org/officeDocument/2006/relationships/hyperlink" Target="https://www.pinterest.com/search/pins/?q=vintage%20watch%20box%20heirloom" TargetMode="External"/><Relationship Id="rId5" Type="http://schemas.openxmlformats.org/officeDocument/2006/relationships/hyperlink" Target="https://www.instagram.com/sabyasachiofficial/reels/" TargetMode="External"/><Relationship Id="rId6" Type="http://schemas.openxmlformats.org/officeDocument/2006/relationships/hyperlink" Target="https://www.instagram.com/rolex/reels/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jaali%20shadow%20product%20photography" TargetMode="External"/><Relationship Id="rId3" Type="http://schemas.openxmlformats.org/officeDocument/2006/relationships/hyperlink" Target="https://www.pinterest.com/search/pins/?q=luxury%20watch%20macro%20light%20pattern%20shadow" TargetMode="External"/><Relationship Id="rId4" Type="http://schemas.openxmlformats.org/officeDocument/2006/relationships/hyperlink" Target="https://www.instagram.com/cartier/reels/" TargetMode="External"/><Relationship Id="rId1" Type="http://schemas.openxmlformats.org/officeDocument/2006/relationships/image" Target="../media/image-15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indian%20courtyard%20chai%20cinematic" TargetMode="External"/><Relationship Id="rId3" Type="http://schemas.openxmlformats.org/officeDocument/2006/relationships/hyperlink" Target="https://www.instagram.com/mukesh_gupta14/reels/" TargetMode="External"/><Relationship Id="rId1" Type="http://schemas.openxmlformats.org/officeDocument/2006/relationships/image" Target="../media/image-17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5am%20routine%20cinematic%20rooftop%20sunrise%20man" TargetMode="External"/><Relationship Id="rId3" Type="http://schemas.openxmlformats.org/officeDocument/2006/relationships/hyperlink" Target="https://www.instagram.com/tagheuer/reels/" TargetMode="External"/><Relationship Id="rId1" Type="http://schemas.openxmlformats.org/officeDocument/2006/relationships/image" Target="../media/image-20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lime%20mint%20ice%20marble%20product%20photography" TargetMode="External"/><Relationship Id="rId3" Type="http://schemas.openxmlformats.org/officeDocument/2006/relationships/hyperlink" Target="https://www.instagram.com/omega/reels/" TargetMode="External"/><Relationship Id="rId1" Type="http://schemas.openxmlformats.org/officeDocument/2006/relationships/image" Target="../media/image-2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sundial%20shadow%20cinematic%20jantar%20mantar" TargetMode="External"/><Relationship Id="rId3" Type="http://schemas.openxmlformats.org/officeDocument/2006/relationships/hyperlink" Target="https://www.pinterest.com/search/pins/?q=match%20cut%20shadow%20transition%20reel" TargetMode="External"/><Relationship Id="rId1" Type="http://schemas.openxmlformats.org/officeDocument/2006/relationships/image" Target="../media/image-24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architect%20blueprint%20cinematic%20man%20watch" TargetMode="External"/><Relationship Id="rId3" Type="http://schemas.openxmlformats.org/officeDocument/2006/relationships/hyperlink" Target="https://www.instagram.com/iwcwatches/reels/" TargetMode="External"/><Relationship Id="rId1" Type="http://schemas.openxmlformats.org/officeDocument/2006/relationships/image" Target="../media/image-27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push%20in%20macro%20transition%20watch%20reel" TargetMode="External"/><Relationship Id="rId3" Type="http://schemas.openxmlformats.org/officeDocument/2006/relationships/hyperlink" Target="https://www.instagram.com/panerai/reels/" TargetMode="External"/><Relationship Id="rId1" Type="http://schemas.openxmlformats.org/officeDocument/2006/relationships/image" Target="../media/image-29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getting%20ready%20ritual%20cinematic%20watch%20man" TargetMode="External"/><Relationship Id="rId3" Type="http://schemas.openxmlformats.org/officeDocument/2006/relationships/hyperlink" Target="https://www.instagram.com/audemarspiguet/reels/" TargetMode="External"/><Relationship Id="rId1" Type="http://schemas.openxmlformats.org/officeDocument/2006/relationships/image" Target="../media/image-3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search/pins/?q=diwali%20cinematic%20diya%20man%20night" TargetMode="External"/><Relationship Id="rId4" Type="http://schemas.openxmlformats.org/officeDocument/2006/relationships/hyperlink" Target="https://www.instagram.com/tanishqjewellery/reels/" TargetMode="External"/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dhanteras%20thali%20product%20photography%20brass" TargetMode="External"/><Relationship Id="rId3" Type="http://schemas.openxmlformats.org/officeDocument/2006/relationships/hyperlink" Target="https://www.pinterest.com/search/pins/?q=marigold%20brass%20thali%20top%20view" TargetMode="External"/><Relationship Id="rId1" Type="http://schemas.openxmlformats.org/officeDocument/2006/relationships/image" Target="../media/image-36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rajasthani%20safa%20portrait%20jharokha" TargetMode="External"/><Relationship Id="rId3" Type="http://schemas.openxmlformats.org/officeDocument/2006/relationships/hyperlink" Target="https://www.pinterest.com/search/pins/?q=whip%20pan%20transition%20city%20reel" TargetMode="External"/><Relationship Id="rId1" Type="http://schemas.openxmlformats.org/officeDocument/2006/relationships/image" Target="../media/image-3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late%20night%20work%20cinematic%20red%20neon%20man" TargetMode="External"/><Relationship Id="rId3" Type="http://schemas.openxmlformats.org/officeDocument/2006/relationships/hyperlink" Target="https://www.instagram.com/hublot/reels/" TargetMode="External"/><Relationship Id="rId1" Type="http://schemas.openxmlformats.org/officeDocument/2006/relationships/image" Target="../media/image-4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red%20blue%20split%20lighting%20watch%20product" TargetMode="External"/><Relationship Id="rId3" Type="http://schemas.openxmlformats.org/officeDocument/2006/relationships/hyperlink" Target="https://www.instagram.com/jacobandco/reels/" TargetMode="External"/><Relationship Id="rId1" Type="http://schemas.openxmlformats.org/officeDocument/2006/relationships/image" Target="../media/image-4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search/pins/?q=night%20drive%20cinematic%20watch%20steering%20wheel" TargetMode="External"/><Relationship Id="rId3" Type="http://schemas.openxmlformats.org/officeDocument/2006/relationships/hyperlink" Target="https://www.instagram.com/tagheuer/reels/" TargetMode="External"/><Relationship Id="rId1" Type="http://schemas.openxmlformats.org/officeDocument/2006/relationships/image" Target="../media/image-45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image" Target="../media/image-4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redblue_r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1920240" cy="3456432"/>
          </a:xfrm>
          <a:prstGeom prst="rect">
            <a:avLst/>
          </a:prstGeom>
        </p:spPr>
      </p:pic>
      <p:pic>
        <p:nvPicPr>
          <p:cNvPr id="5" name="Image 1" descr="/tmp/claude-0/-home-user-Sage-portfolio/d05fecce-977e-5eab-9cf5-7c09b306c551/scratchpad/wrdeck/img/ai_orange_glo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6760" y="0"/>
            <a:ext cx="1920240" cy="3456432"/>
          </a:xfrm>
          <a:prstGeom prst="rect">
            <a:avLst/>
          </a:prstGeom>
        </p:spPr>
      </p:pic>
      <p:pic>
        <p:nvPicPr>
          <p:cNvPr id="6" name="Image 2" descr="/tmp/claude-0/-home-user-Sage-portfolio/d05fecce-977e-5eab-9cf5-7c09b306c551/scratchpad/wrdeck/img/ai_green_r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32720" y="0"/>
            <a:ext cx="1856232" cy="3456432"/>
          </a:xfrm>
          <a:prstGeom prst="rect">
            <a:avLst/>
          </a:prstGeom>
        </p:spPr>
      </p:pic>
      <p:pic>
        <p:nvPicPr>
          <p:cNvPr id="7" name="Image 3" descr="/tmp/claude-0/-home-user-Sage-portfolio/d05fecce-977e-5eab-9cf5-7c09b306c551/scratchpad/wrdeck/img/ai_lime_r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0" y="3502152"/>
            <a:ext cx="1920240" cy="3355848"/>
          </a:xfrm>
          <a:prstGeom prst="rect">
            <a:avLst/>
          </a:prstGeom>
        </p:spPr>
      </p:pic>
      <p:pic>
        <p:nvPicPr>
          <p:cNvPr id="8" name="Image 4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6760" y="3502152"/>
            <a:ext cx="1920240" cy="3355848"/>
          </a:xfrm>
          <a:prstGeom prst="rect">
            <a:avLst/>
          </a:prstGeom>
        </p:spPr>
      </p:pic>
      <p:pic>
        <p:nvPicPr>
          <p:cNvPr id="9" name="Image 5" descr="/tmp/claude-0/-home-user-Sage-portfolio/d05fecce-977e-5eab-9cf5-7c09b306c551/scratchpad/wrdeck/img/ai_orange_r4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332720" y="3502152"/>
            <a:ext cx="1856232" cy="3355848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 ·  JAIPUR SHOOT PLAN</a:t>
            </a:r>
            <a:endParaRPr lang="en-US" sz="900" dirty="0"/>
          </a:p>
        </p:txBody>
      </p:sp>
      <p:sp>
        <p:nvSpPr>
          <p:cNvPr id="11" name="Text 3"/>
          <p:cNvSpPr txBox="1"/>
          <p:nvPr/>
        </p:nvSpPr>
        <p:spPr>
          <a:xfrm>
            <a:off x="548640" y="1097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BOLD.</a:t>
            </a:r>
            <a:endParaRPr lang="en-US" sz="7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ALPHA.</a:t>
            </a:r>
            <a:endParaRPr lang="en-US" sz="7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TIME.</a:t>
            </a:r>
            <a:endParaRPr lang="en-US" sz="7200" dirty="0"/>
          </a:p>
        </p:txBody>
      </p:sp>
      <p:sp>
        <p:nvSpPr>
          <p:cNvPr id="12" name="Text 4"/>
          <p:cNvSpPr txBox="1"/>
          <p:nvPr/>
        </p:nvSpPr>
        <p:spPr>
          <a:xfrm>
            <a:off x="548640" y="4343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man, one Jaipur day, five watches. Mukesh ji carries every reel on Day 1; Day 2 is the product shoot and Neetu's founder film.</a:t>
            </a:r>
            <a:endParaRPr lang="en-US" sz="1300" dirty="0"/>
          </a:p>
        </p:txBody>
      </p:sp>
      <p:sp>
        <p:nvSpPr>
          <p:cNvPr id="13" name="Shape 5"/>
          <p:cNvSpPr/>
          <p:nvPr/>
        </p:nvSpPr>
        <p:spPr>
          <a:xfrm>
            <a:off x="548640" y="5349240"/>
            <a:ext cx="548640" cy="36576"/>
          </a:xfrm>
          <a:prstGeom prst="rect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548640" y="5486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Shoot week of 26 Oct 2026  ·  Dhanteras 6 Nov  ·  Diwali 8 Nov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Sage Media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OVERVIEW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WE'RE MAKING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 DAYS. ONE FACE. FIVE WATCHES.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18745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ON DAY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per watch, all Mukesh ji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566160" cy="18745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+ 1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GLOW LOOPS + HERO FILM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 as inserts, cut free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18745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CITY CLIPS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B-unit, dawn to night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66160" cy="18745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80+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STILLS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turntables and unboxing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977640"/>
            <a:ext cx="3566160" cy="18745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+ 4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FILM + REELS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Neetu, in Hinglish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977640"/>
            <a:ext cx="3566160" cy="18745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FESTIVE DROPS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Dhanteras · Diwali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THE IDEA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MAN. ONE DAY. FIVE WATCHES.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follows Mukesh ji through a single Jaipur day, dawn to after midnight. Each watch owns an hour — its own light, wardrobe, corner of the haveli and colour story. Fifteen reels that work alone, and read as one man's day when you scroll the grid.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10607040" cy="27432"/>
          </a:xfrm>
          <a:prstGeom prst="rect">
            <a:avLst/>
          </a:prstGeom>
          <a:solidFill>
            <a:srgbClr val="2B2A26"/>
          </a:solidFill>
          <a:ln w="12700">
            <a:solidFill>
              <a:srgbClr val="2B2A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456432"/>
            <a:ext cx="329184" cy="329184"/>
          </a:xfrm>
          <a:prstGeom prst="ellipse">
            <a:avLst/>
          </a:prstGeom>
          <a:solidFill>
            <a:srgbClr val="E8DFC8"/>
          </a:solidFill>
          <a:ln w="31750">
            <a:solidFill>
              <a:srgbClr val="2F5D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DAWN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DFC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ROOTS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 Ivory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  Pehli Ghadi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  Jaali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  Kitne Ki Hai?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3456432"/>
            <a:ext cx="329184" cy="329184"/>
          </a:xfrm>
          <a:prstGeom prst="ellipse">
            <a:avLst/>
          </a:prstGeom>
          <a:solidFill>
            <a:srgbClr val="D7F25A"/>
          </a:solidFill>
          <a:ln w="31750">
            <a:solidFill>
              <a:srgbClr val="8FE3C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7F25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DISCIPLINE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Citrus Mint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754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  4:59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Cold. Sharp. On Time.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300 Saal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66360" y="3456432"/>
            <a:ext cx="329184" cy="329184"/>
          </a:xfrm>
          <a:prstGeom prst="ellipse">
            <a:avLst/>
          </a:prstGeom>
          <a:solidFill>
            <a:srgbClr val="8EC9EE"/>
          </a:solidFill>
          <a:ln w="31750">
            <a:solidFill>
              <a:srgbClr val="1E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MIDDAY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EC9E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Cerulean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754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C1  Neev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  6 Feet. 6 Inches.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  60 Seconds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06640" y="3456432"/>
            <a:ext cx="329184" cy="329184"/>
          </a:xfrm>
          <a:prstGeom prst="ellipse">
            <a:avLst/>
          </a:prstGeom>
          <a:solidFill>
            <a:srgbClr val="F28C28"/>
          </a:solidFill>
          <a:ln w="31750">
            <a:solidFill>
              <a:srgbClr val="2547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HOUR → DUSK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UTSAV · DIWALI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Tangerine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754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  Ek Diya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  Dhanteras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  Jaipur 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46920" y="3456432"/>
            <a:ext cx="329184" cy="329184"/>
          </a:xfrm>
          <a:prstGeom prst="ellipse">
            <a:avLst/>
          </a:prstGeom>
          <a:solidFill>
            <a:srgbClr val="D2283A"/>
          </a:solidFill>
          <a:ln w="31750">
            <a:solidFill>
              <a:srgbClr val="1C2A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0976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228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AFTER DARK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Crimson Navy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0" y="4754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  Unfinished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  Red / Blue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E3  Shor Nahi. Signal.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reel ends on the same promise:  WEAR YOUR TIME. COMMAND YOUR PRESENCE. BUILD YOUR LEGACY.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TONE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BOLD. ALPHA. TIME. — THE RULES ON SET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POWER IS FELT, NOT ANNOUNCED.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013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RESTRAINT OVER NOISE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Neetu: "The loudest man in the room is usually the most insecure." No shouting, no flexing, no money-gun energy. Stillness reads as power.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8013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CASE IS ALWAYS SHARP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148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reel has at least one macro where the eight bezel screws and the WR monogram are in focus.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64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COLOUR STORY PER WATCH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Wardrobe, props and light take their colours from the dial. Nothing in frame fights the watch.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264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HINGLISH, LOW AND SLOW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611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Mukesh ji speaks like he isn't trying to convince anyone. Short lines, pauses, no smile on the last word.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727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 SOUNDS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0749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deployant clasp click and one dry tick are our audio logo — every reel uses one of them.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709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727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TYPE: ENGLISH, CAPS, FEW WORDS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50749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Hinglish lives in the voice; the screen carries one English line. Never more than 8 words on screen.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THE WATCHES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 WATCHES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EACH ONE OWNS AN HOUR.</a:t>
            </a:r>
            <a:endParaRPr lang="en-US" sz="3400" dirty="0"/>
          </a:p>
        </p:txBody>
      </p:sp>
      <p:pic>
        <p:nvPicPr>
          <p:cNvPr id="6" name="Image 0" descr="/tmp/claude-0/-home-user-Sage-portfolio/d05fecce-977e-5eab-9cf5-7c09b306c551/scratchpad/wrdeck/img/crop_gre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21031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315968"/>
            <a:ext cx="2103120" cy="54864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498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FOREST IVORY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Ivory case · white waffle dial · bottle-green strap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ROOTS  ·  Dawn</a:t>
            </a:r>
            <a:endParaRPr lang="en-US" sz="900" dirty="0"/>
          </a:p>
        </p:txBody>
      </p:sp>
      <p:pic>
        <p:nvPicPr>
          <p:cNvPr id="11" name="Image 1" descr="/tmp/claude-0/-home-user-Sage-portfolio/d05fecce-977e-5eab-9cf5-7c09b306c551/scratchpad/wrdeck/img/crop_lim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07208" y="1691640"/>
            <a:ext cx="2103120" cy="2560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07208" y="4315968"/>
            <a:ext cx="2103120" cy="54864"/>
          </a:xfrm>
          <a:prstGeom prst="rect">
            <a:avLst/>
          </a:prstGeom>
          <a:solidFill>
            <a:srgbClr val="D7F25A"/>
          </a:solidFill>
          <a:ln w="12700">
            <a:solidFill>
              <a:srgbClr val="D7F25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07208" y="4498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CITRUS MINT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07208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Lime case · mint waffle dial · mint strap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2807208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  ·  Morning</a:t>
            </a:r>
            <a:endParaRPr lang="en-US" sz="900" dirty="0"/>
          </a:p>
        </p:txBody>
      </p:sp>
      <p:pic>
        <p:nvPicPr>
          <p:cNvPr id="16" name="Image 2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65776" y="1691640"/>
            <a:ext cx="2103120" cy="2560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065776" y="4315968"/>
            <a:ext cx="2103120" cy="54864"/>
          </a:xfrm>
          <a:prstGeom prst="rect">
            <a:avLst/>
          </a:prstGeom>
          <a:solidFill>
            <a:srgbClr val="8EC9EE"/>
          </a:solidFill>
          <a:ln w="12700">
            <a:solidFill>
              <a:srgbClr val="8EC9E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065776" y="4498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CERULEAN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065776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Sky-blue case · white waffle dial · navy strap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5065776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 ·  Midday</a:t>
            </a:r>
            <a:endParaRPr lang="en-US" sz="900" dirty="0"/>
          </a:p>
        </p:txBody>
      </p:sp>
      <p:pic>
        <p:nvPicPr>
          <p:cNvPr id="21" name="Image 3" descr="/tmp/claude-0/-home-user-Sage-portfolio/d05fecce-977e-5eab-9cf5-7c09b306c551/scratchpad/wrdeck/img/crop_orang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24344" y="1691640"/>
            <a:ext cx="2103120" cy="2560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324344" y="4315968"/>
            <a:ext cx="21031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324344" y="4498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ROYAL TANGERINE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24344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Royal-blue case · orange striped dial · orange strap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7324344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UTSAV · DIWALI  ·  Golden hour → dusk</a:t>
            </a:r>
            <a:endParaRPr lang="en-US" sz="900" dirty="0"/>
          </a:p>
        </p:txBody>
      </p:sp>
      <p:pic>
        <p:nvPicPr>
          <p:cNvPr id="26" name="Image 4" descr="/tmp/claude-0/-home-user-Sage-portfolio/d05fecce-977e-5eab-9cf5-7c09b306c551/scratchpad/wrdeck/img/crop_redblu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82912" y="1691640"/>
            <a:ext cx="2103120" cy="25603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582912" y="4315968"/>
            <a:ext cx="2103120" cy="54864"/>
          </a:xfrm>
          <a:prstGeom prst="rect">
            <a:avLst/>
          </a:prstGeom>
          <a:solidFill>
            <a:srgbClr val="D2283A"/>
          </a:solidFill>
          <a:ln w="12700">
            <a:solidFill>
              <a:srgbClr val="D2283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582912" y="4498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CRIMSON NAVY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582912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 case · red textured dial · red strap · rose-gold hands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9582912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DARK  ·  Night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F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five carry the full-case night glow — charge the lume with a UV torch for 30 s before every glow shot.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LOCATION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· RENT ONE HAVELI THAT HOLDS ALL FIVE WORLDS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ROOF. FIVE HOURS OF LIGHT.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035040" cy="914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10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SAMODE HAVELI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837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Gangapole, old city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Painted rooms, courtyards, rooftop over the old city, pool terrace — every zone under one roof.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6035040" cy="914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NARAIN NIWAS PALACE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862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Kanota Bagh, Narain Singh Rd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729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1928 palace: long corridors, gardens, darbar halls, a pool. Easier access, more space for kit.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6035040" cy="914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58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ALSISAR HAVELI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Sansar Chandra Rd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19709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 courtyard + jaali work + pool; central location for city clips.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6035040" cy="914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882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SHAHPURA HOUSE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4910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 Marg, Bani Park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2212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rooftop and darbar-style rooms; good for the After Dark set.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 to scout this week — confirm shoot fee, hours (05:00–23:30), diya/flame and hazer permission, and a room we can black out completely.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1691640"/>
            <a:ext cx="4690872" cy="4114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1874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LOCATION MUST HAVE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19456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East-facing rooftop over the old city (dawn + Diwali night)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jaali corridor with low morning sun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chowk (courtyard) for 200 diyas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/ library with a big table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or sandstone terrace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room we can black out (After Dark + glows)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jharokha with afternoon light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for 2 × 600 W + tubes · parking for the car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LOCATION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MAP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WHICH CORNER SHOOTS WHICH REEL.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19202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ZONE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REELS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Rooftop (east)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B1 4:59 · C1 Neev · C2 6 ft → 6 in · D1 Ek Diya (end)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06:15 · 11:00 · 17:45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Sunrise · hard noon sky · blue hour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Darwaza + jaali corridor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A1 Pehli Ghadi · A2 Jaali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07:30–09:30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east sun through stone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Chowk (courtyard)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A3 Kitne Ki Hai · D1 diya walk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08:30 · 17:00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Soft bounce · 200 diyas at dusk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Pool / sandstone terrace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B3 300 Saal · B2 tabletop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09:30–11:00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Hard sun, long shadows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Study / library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A1 empty box · C1 drafting · C3 drawer · E1 desk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08:00 · 11:30 · 19:30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Window → practical lamp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Jharokha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D3 Jaipur Se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15:30–16:30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Golden hour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Blacked-out room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E2 Red / Blue · all glow inserts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14:15 · 20:00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+ blue tubes · total black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 + city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E3 Shor Nahi. Signal.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21:15–22:45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City bokeh · dashboard off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JAIPUR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CITY CLIPS · B-UNIT (NO MUKESH JI NEEDED)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PINK CITY, DAWN TO NIGHT.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108960"/>
                <a:gridCol w="3566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 / NOTE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05:45–07:00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Nahargarh viewpoint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Dawn over the old city (A1 open)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State archaeology ticket; tripod ok at the viewpoint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07:00–07:30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Jal Mahal (roadside)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Morning mist, still water (spare)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 road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08:00–09:00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Jantar Mantar — Samrat Yantra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Sundial shadow (B3)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Video-camera ticket; ask before using a tripod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09:30–10:30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Hawa Mahal from the cafés opposite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Facade, pink city (D3 whip)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Shoot from a rooftop café with permission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10:30–11:00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Patrika Gate, Jawahar Circle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Colour-blocked arches (D3 alt)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Public; early hours avoid crowds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18:30–19:30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Johari / Bapu Bazaar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Festival lights (D1)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Handheld only; crowds after 7 pm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21:00–22:00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Albert Hall + MI Road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Night traffic, lit facade (E3)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Public; no drone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drone: Jaipur sits under airport and heritage no-fly zones. A drone shot needs Digital Sky clearance + local police — not worth it for this shoot.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MUKESH JI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MUKESH JI · FIVE LOOKS, ONE PER WATCH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DRESSED BY THE DIAL.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03120" cy="40233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103120" cy="109728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FOREST IVORY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51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1: ivory bandhgala, no pocket square, brown loafers. Look 2: cream kurta + bottle-green shawl.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5074920"/>
            <a:ext cx="365760" cy="365760"/>
          </a:xfrm>
          <a:prstGeom prst="rect">
            <a:avLst/>
          </a:prstGeom>
          <a:solidFill>
            <a:srgbClr val="E8DFC8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5074920"/>
            <a:ext cx="365760" cy="365760"/>
          </a:xfrm>
          <a:prstGeom prst="rect">
            <a:avLst/>
          </a:prstGeom>
          <a:solidFill>
            <a:srgbClr val="C9A27A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5074920"/>
            <a:ext cx="365760" cy="365760"/>
          </a:xfrm>
          <a:prstGeom prst="rect">
            <a:avLst/>
          </a:prstGeom>
          <a:solidFill>
            <a:srgbClr val="2F5D46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5074920"/>
            <a:ext cx="365760" cy="365760"/>
          </a:xfrm>
          <a:prstGeom prst="rect">
            <a:avLst/>
          </a:prstGeom>
          <a:solidFill>
            <a:srgbClr val="B08D57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1691640"/>
            <a:ext cx="2103120" cy="40233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07208" y="1691640"/>
            <a:ext cx="2103120" cy="109728"/>
          </a:xfrm>
          <a:prstGeom prst="rect">
            <a:avLst/>
          </a:prstGeom>
          <a:solidFill>
            <a:srgbClr val="D7F25A"/>
          </a:solidFill>
          <a:ln w="12700">
            <a:solidFill>
              <a:srgbClr val="D7F2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0088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CITRUS MINT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0088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990088" y="2651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1: black training tee + black track pants. Look 2: open white linen shirt, white trousers.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90088" y="507492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47288" y="5074920"/>
            <a:ext cx="365760" cy="365760"/>
          </a:xfrm>
          <a:prstGeom prst="rect">
            <a:avLst/>
          </a:prstGeom>
          <a:solidFill>
            <a:srgbClr val="D7F25A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04488" y="5074920"/>
            <a:ext cx="365760" cy="365760"/>
          </a:xfrm>
          <a:prstGeom prst="rect">
            <a:avLst/>
          </a:prstGeom>
          <a:solidFill>
            <a:srgbClr val="8FE3C3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61688" y="5074920"/>
            <a:ext cx="365760" cy="365760"/>
          </a:xfrm>
          <a:prstGeom prst="rect">
            <a:avLst/>
          </a:prstGeom>
          <a:solidFill>
            <a:srgbClr val="E9D9B8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65776" y="1691640"/>
            <a:ext cx="2103120" cy="40233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5776" y="1691640"/>
            <a:ext cx="2103120" cy="109728"/>
          </a:xfrm>
          <a:prstGeom prst="rect">
            <a:avLst/>
          </a:prstGeom>
          <a:solidFill>
            <a:srgbClr val="8EC9EE"/>
          </a:solidFill>
          <a:ln w="12700">
            <a:solidFill>
              <a:srgbClr val="8EC9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48656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CERULEAN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248656" y="2651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1: white shirt, sleeves rolled twice, navy trousers. Look 2: + navy blazer for C3.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48656" y="5074920"/>
            <a:ext cx="365760" cy="365760"/>
          </a:xfrm>
          <a:prstGeom prst="rect">
            <a:avLst/>
          </a:prstGeom>
          <a:solidFill>
            <a:srgbClr val="8EC9EE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05856" y="507492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5074920"/>
            <a:ext cx="365760" cy="365760"/>
          </a:xfrm>
          <a:prstGeom prst="rect">
            <a:avLst/>
          </a:prstGeom>
          <a:solidFill>
            <a:srgbClr val="1E3A6B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0256" y="5074920"/>
            <a:ext cx="365760" cy="365760"/>
          </a:xfrm>
          <a:prstGeom prst="rect">
            <a:avLst/>
          </a:prstGeom>
          <a:solidFill>
            <a:srgbClr val="EDE6D6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24344" y="1691640"/>
            <a:ext cx="2103120" cy="40233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24344" y="1691640"/>
            <a:ext cx="210312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07224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ROYAL TANGERINE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507224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UTSAV · DIWALI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7507224" y="2651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Royal-blue bandhgala · orange leheriya safa (D3 only) · tan juttis.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07224" y="5074920"/>
            <a:ext cx="365760" cy="365760"/>
          </a:xfrm>
          <a:prstGeom prst="rect">
            <a:avLst/>
          </a:prstGeom>
          <a:solidFill>
            <a:srgbClr val="2547A8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64424" y="5074920"/>
            <a:ext cx="365760" cy="365760"/>
          </a:xfrm>
          <a:prstGeom prst="rect">
            <a:avLst/>
          </a:prstGeom>
          <a:solidFill>
            <a:srgbClr val="F28C28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21624" y="5074920"/>
            <a:ext cx="365760" cy="365760"/>
          </a:xfrm>
          <a:prstGeom prst="rect">
            <a:avLst/>
          </a:prstGeom>
          <a:solidFill>
            <a:srgbClr val="C9A45C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78824" y="5074920"/>
            <a:ext cx="365760" cy="365760"/>
          </a:xfrm>
          <a:prstGeom prst="rect">
            <a:avLst/>
          </a:prstGeom>
          <a:solidFill>
            <a:srgbClr val="FFB35C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82912" y="1691640"/>
            <a:ext cx="2103120" cy="40233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82912" y="1691640"/>
            <a:ext cx="2103120" cy="109728"/>
          </a:xfrm>
          <a:prstGeom prst="rect">
            <a:avLst/>
          </a:prstGeom>
          <a:solidFill>
            <a:srgbClr val="D2283A"/>
          </a:solidFill>
          <a:ln w="12700">
            <a:solidFill>
              <a:srgbClr val="D228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65792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CRIMSON NAVY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765792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DARK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765792" y="26517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suit, open collar · black knit for E2.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765792" y="5074920"/>
            <a:ext cx="365760" cy="365760"/>
          </a:xfrm>
          <a:prstGeom prst="rect">
            <a:avLst/>
          </a:prstGeom>
          <a:solidFill>
            <a:srgbClr val="0A0A0C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22992" y="5074920"/>
            <a:ext cx="365760" cy="365760"/>
          </a:xfrm>
          <a:prstGeom prst="rect">
            <a:avLst/>
          </a:prstGeom>
          <a:solidFill>
            <a:srgbClr val="D2283A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80192" y="5074920"/>
            <a:ext cx="365760" cy="365760"/>
          </a:xfrm>
          <a:prstGeom prst="rect">
            <a:avLst/>
          </a:prstGeom>
          <a:solidFill>
            <a:srgbClr val="1C2A55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137392" y="5074920"/>
            <a:ext cx="365760" cy="365760"/>
          </a:xfrm>
          <a:prstGeom prst="rect">
            <a:avLst/>
          </a:prstGeom>
          <a:solidFill>
            <a:srgbClr val="5CFF7A"/>
          </a:solidFill>
          <a:ln w="6350">
            <a:solidFill>
              <a:srgbClr val="2B2A2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Grooming: short beard trimmed the night before · no rings on the watch hand · nails clean and buffed — the wrist is in macro in every reel.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DAY 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· RUN OF SHOW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FIFTEEN REELS, SUN TO MIDNIGHT.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0"/>
                <a:gridCol w="1371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SETUP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05:00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Crew call at the haveli · B-unit leaves for Nahargarh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05:45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Mukesh ready (Look: black training) · lume UV torch charged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06:15–07:00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B1 · 4:59 — rooftop at first light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07:00–07:30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→ ivory bandhgala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07:30–09:30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A1 Pehli Ghadi · A3 Kitne Ki Hai · A2 hand insert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06:30–09:30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A2 Jaali time-lapse + macros · city dawn clips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09:30–11:00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B3 pool deck · B2 hand inserts (white linen)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09:30–11:00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B2 tabletop · Jantar Mantar (B3)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11:00–13:30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C1 Neev · C2 6 ft → 6 in · C3 60 Seconds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13:30–14:15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Lunch · change → royal-blue bandhgala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14:15–15:30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Glow inserts for A, B, C in blacked-out room · D2 hand inserts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14:15–15:30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D2 Dhanteras thali · diya set dressing (200)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 / art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15:30–17:45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D3 Jaipur Se (jharokha, golden hour) · D1 walk through diya chowk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17:45–18:30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D1 rooftop: lights off → one diya → glow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18:30–19:15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Dinner · change → black suit · gels + hazer set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18:30–19:30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Bazaar lights (D1) · Albert Hall (E3)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19:15–21:15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E1 Unfinished · E2 Red / Blue · glow inserts D, 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21:15–22:45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E3 night drive (car + driver)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23:00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Wrap · card backup ×2 · watches checked back in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ROOTS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F5D46"/>
          </a:solidFill>
          <a:ln w="12700">
            <a:solidFill>
              <a:srgbClr val="2F5D46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gre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31089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01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ROOTS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 IVORY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640080" cy="292608"/>
          </a:xfrm>
          <a:prstGeom prst="rect">
            <a:avLst/>
          </a:prstGeom>
          <a:solidFill>
            <a:srgbClr val="E8DFC8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Ivory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1335024" y="5852160"/>
            <a:ext cx="640080" cy="292608"/>
          </a:xfrm>
          <a:prstGeom prst="rect">
            <a:avLst/>
          </a:prstGeom>
          <a:solidFill>
            <a:srgbClr val="C9A27A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35024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Sandstone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121408" y="5852160"/>
            <a:ext cx="640080" cy="292608"/>
          </a:xfrm>
          <a:prstGeom prst="rect">
            <a:avLst/>
          </a:prstGeom>
          <a:solidFill>
            <a:srgbClr val="2F5D46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21408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 green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907792" y="5852160"/>
            <a:ext cx="640080" cy="292608"/>
          </a:xfrm>
          <a:prstGeom prst="rect">
            <a:avLst/>
          </a:prstGeom>
          <a:solidFill>
            <a:srgbClr val="B08D57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07792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Brass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DAWN · 07:00–09:30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914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it all starts. A haveli at first light — jaali shadows, old frames, an empty watch box. The man who will become the family's first heirloom-maker.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23042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Darwaza + jaali corridor · chowk (courtyard) · old study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WARDROBE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8712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1: ivory bandhgala, no pocket square, brown loafers. Look 2: cream kurta + bottle-green shawl.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4381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Tanpura drone, one sarangi phrase. No beat drop.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DFC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A1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PEHLI GHADI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reel · 30 s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heirloom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4088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2376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DFC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A2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JAALI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22376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 · ASMR · 15 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22376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waits for you to step closer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41832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0120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DFC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A3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KITNE KI HAI?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60120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Dialogue punch · 10–12 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vs position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ROOTS · A1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green_r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  ·  STORY REEL  ·  30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PEHLI GHADI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heirloom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Indian family has one watch everyone calls "Dadaji ki ghadi". Somebody had to buy the first one. Mukesh is that man — the first-generation builder whose watch becomes the heirloom. Roots are not inherited; they are planted.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close-up of a sepia family photo in a brass frame. His hand enters and sets the Forest Ivory in front of it. VO starts on frame one.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"Har ghar mein ek ghadi hoti hai… jise sab 'Dadaji ki ghadi' kehte hain."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"Par kabhi socha hai — pehli kisne khareedi thi?"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"Virasat milti nahi. Banaayi jaati hai."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ghar ki pehli ghadi… main pehen raha hoon."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HEIRLOOM WAS NEW ONCE.  →  end card: WEALTH ROOTS · Build your legacy.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Tanpura bed · pigeons · darwaza creak · clasp click lifted in the mix.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ROOTS · A1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PEHLI GHADI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Sepia photo, his hand places the watch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macro, top light, locked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2–6s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Jaipur at dawn from Nahargarh, mist over the old city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 city clip · 35mm, slow pan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Haveli darwaza swings open; he walks in, back to camera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24mm gimbal follow, waist height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10–14s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Jaali corridor — sun patterns slide over his wrist as he walks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 side track, 50 fps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14–20s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Old study: he opens the watch box — every slot empty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 shot, 35mm, slow push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20–25s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fastens the watch; clasp click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macro, sound up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25–30s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looks up into lens. End card.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50mm, static, eye level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84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Sepia family portrait in brass frame · wooden watch box with empty velvet slots · old ledger · brass desk lamp.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ai_green_r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1737360" cy="3108960"/>
          </a:xfrm>
          <a:prstGeom prst="rect">
            <a:avLst/>
          </a:prstGeom>
        </p:spPr>
      </p:pic>
      <p:pic>
        <p:nvPicPr>
          <p:cNvPr id="10" name="Image 1" descr="/tmp/claude-0/-home-user-Sage-portfolio/d05fecce-977e-5eab-9cf5-7c09b306c551/scratchpad/wrdeck/img/crop_gree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41280" y="502920"/>
            <a:ext cx="1399032" cy="31089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mood frame  ·  the real watch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3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haveli jaali light portrait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vintage watch box heirloom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@sabyasachiofficial — heritage pacing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@rolex — slow craft reveals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ROOTS · A2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green_r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  ·  DETAIL · ASMR  ·  15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JAALI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waits for you to step closer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Neetu's rule for the design: luxury doesn't scream across the room — it waits for you to step closer. The watch lies on the haveli's marble floor while the morning sun moves through a carved jaali; each pattern lands on a different detail — the eight screws, the WR monogram, the waffle dial, the green strap.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Time-lapse: a star-shaped patch of jaali light slides across the floor and stops exactly on the dial.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voice-over.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WAITS FOR YOU TO STEP CLOSER.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Broom on stone · distant temple bell · pigeons · one soft tick at the end.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ROOTS · A2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JAALI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on floor, jaali light travels onto the dial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Time-lapse 1 frame/2s for 20 min, 35mm locked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3–6s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eight bezel screws in a patch of light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 / probe lens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6–9s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Waffle dial + WR monogram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Probe lens slide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9–12s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Green strap texture, crown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 rack focus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12–15s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Mukesh's hand enters and picks it up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locked (only shot that needs him)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87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white marble or sandstone floor under a jaali window · microfibre · blower.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18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474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B-unit shoots shots 1–4 without Mukesh while the main unit shoots A1.</a:t>
            </a:r>
            <a:endParaRPr lang="en-US" sz="950" dirty="0"/>
          </a:p>
        </p:txBody>
      </p:sp>
      <p:pic>
        <p:nvPicPr>
          <p:cNvPr id="11" name="Image 0" descr="/tmp/claude-0/-home-user-Sage-portfolio/d05fecce-977e-5eab-9cf5-7c09b306c551/scratchpad/wrdeck/img/crop_gre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jaali shadow product photography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watch macro light pattern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@cartier — light-play macro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ROOTS · A3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green_r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  ·  DIALOGUE PUNCH  ·  10–12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KITNE KI HAI?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vs position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Indian question there is — "Kitne ki hai?" Mukesh doesn't answer with a number. Straight from Neetu: an expensive watch has a price; a Wealth Roots watch has a position.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Off-camera elder's voice in the courtyard: "Beta, ye ghadi kitne ki hai?"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Elder: "Beta, ye ghadi kitne ki hai?"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Mukesh (calm, no smile): "Mehngi ghadi ki keemat hoti hai, chacha. Iski position hai."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Elder (beat): "…Achha."  — cut.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EXPENSIVE WATCH HAS A PRICE. THIS ONE HAS A POSITION.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Diegetic only — chai sip, courtyard birds. Music hits on the last 2 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ROOTS · A3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KITNE KI HAI?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 the elder's shoulder: Mukesh on the takht with chai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OTS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sets the glass down, shirt cuff slides back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 insert on wrist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5–9s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His answer, straight to the elder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 single, eye level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DFC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9–12s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Elder nods slowly. Cut to black.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reverse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Takht or charpai · brass chai glasses · one elder extra (60+; face can stay out of frame).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crop_gre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8DF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indian courtyard chai cinematic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@mukesh_gupta14 — his own dialogue pacing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DISCIPLINE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73A31"/>
          </a:solidFill>
          <a:ln w="12700">
            <a:solidFill>
              <a:srgbClr val="173A31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li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31089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02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DISCIPLINE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CITRUS MINT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1335024" y="5852160"/>
            <a:ext cx="640080" cy="292608"/>
          </a:xfrm>
          <a:prstGeom prst="rect">
            <a:avLst/>
          </a:prstGeom>
          <a:solidFill>
            <a:srgbClr val="D7F25A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35024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121408" y="5852160"/>
            <a:ext cx="640080" cy="292608"/>
          </a:xfrm>
          <a:prstGeom prst="rect">
            <a:avLst/>
          </a:prstGeom>
          <a:solidFill>
            <a:srgbClr val="8FE3C3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21408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Mint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907792" y="5852160"/>
            <a:ext cx="640080" cy="292608"/>
          </a:xfrm>
          <a:prstGeom prst="rect">
            <a:avLst/>
          </a:prstGeom>
          <a:solidFill>
            <a:srgbClr val="E9D9B8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07792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 on sandstone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· 06:15–07:00 + 09:30–11:00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914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routine nobody sees. Neetu's definition of dominance — absolute command over your own calendar. Not a gym flex: a quiet 5 a.m. that belongs to him.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23042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Rooftop at first light · pool terrace · white-marble tabletop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WARDROBE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8712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1: black training tee + black track pants. Look 2: open white linen shirt, white trousers.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4381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Breath, rope whip, one kick drum on the end card.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7F25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B1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4:59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reel · 25 s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time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4088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2376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7F25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B2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COLD. SHARP. ON TIME.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22376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 · tabletop · 12 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22376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cut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41832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0120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7F25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B3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 SAAL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60120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Match-cut punch · 10 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has told time for 300 years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DISCIPLINE · B1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lime_r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  ·  STORY REEL  ·  25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4:59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time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city is asleep; he is already up. The alarm reads 4:59 and he switches it off before it rings. Dominance isn't noise — it's control over your own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alarm at 4:59 — his hand stops it before it rings. The watch is already on.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"Duniya ka alarm abhi baja nahi."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"Mera din shuru ho chuka hai."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"Dominance shor se nahi aata… control se aata hai."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"Apne time pe."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TIME.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tone · breath · rope whip · birds at sunrise · single kick on the end card.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DISCIPLINE · B1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4:59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Dark room, phone shows 4:59, his hand stops it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macro, practical light from phone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3–6s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Water from a brass lota splashed on his face (wrist in frame)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85mm, 120 fps — splash only, no submersion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climbs the haveli stairs to the roof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24mm gimbal from below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10–17s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Skipping / push-ups at first light; macro at the bottom of a push-up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wide + 100mm insert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17–22s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stops, checks the watch; sunrise over Jaipur behind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 backlit, flare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22–25s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End card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71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00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with 4:59 alarm screen · brass lota with water · skipping rope.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02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315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Sunrise ≈ 06:35 in late October. This is the first setup of the day (06:15–07:00).</a:t>
            </a:r>
            <a:endParaRPr lang="en-US" sz="950" dirty="0"/>
          </a:p>
        </p:txBody>
      </p:sp>
      <p:pic>
        <p:nvPicPr>
          <p:cNvPr id="11" name="Image 0" descr="/tmp/claude-0/-home-user-Sage-portfolio/d05fecce-977e-5eab-9cf5-7c09b306c551/scratchpad/wrdeck/img/crop_li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5am routine cinematic rooftop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@tagheuer — sport discipline edits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DISCIPLINE · B2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lime_r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DETAIL · TABLETOP  ·  12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COLD. SHARP. ON TIME.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cut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as discipline. White marble, halved limes, mint, ice, a sweating glass — the Citrus Mint looks like it was made for the table.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hard knife cut through a lime — ASMR crunch — the watch is revealed behind it.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voice-over.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COLD. SHARP. ON TIME.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Knife, ice clink, fizz, one tick.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DISCIPLINE · B2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COLD. SHARP. ON TIME.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Knife slices a lime, watch behind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macro, 120 fps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Ice drops into the glass; droplets on the case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85mm, spray bottle — no water on the dial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5–8s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Top-down flat lay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overhead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 turn on the lazy susan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locked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10–12s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His hand takes the glass, wrist to camera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87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marble slab · limes · mint · clear ice · glass · spray bottle (droplets only) · lazy susan.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18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474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B-unit tabletop; Mukesh needed only for the last 2 s.</a:t>
            </a:r>
            <a:endParaRPr lang="en-US" sz="950" dirty="0"/>
          </a:p>
        </p:txBody>
      </p:sp>
      <p:pic>
        <p:nvPicPr>
          <p:cNvPr id="11" name="Image 0" descr="/tmp/claude-0/-home-user-Sage-portfolio/d05fecce-977e-5eab-9cf5-7c09b306c551/scratchpad/wrdeck/img/crop_li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lime mint marble product photography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@omega — clean tabletop motion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DISCIPLINE · B3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lime_r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MATCH-CUT PUNCH  ·  10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 SAAL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has told time for 300 years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owns the world's largest sundial — Jantar Mantar's Samrat Yantra (1730s). The giant shadow on the sundial match-cuts to Mukesh's shadow on the pool deck, then to the watch. The city has told time for 300 years; now it wears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Samrat Yantra's shadow crawling across the stone scale.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voice-over — or one line: "Jaipur ne waqt bataaya hai. Ab pehenta hai."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HAS TOLD TIME FOR 300 YEARS. NOW IT WEARS IT.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 · one deep bell · tick.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DISCIPLINE · B3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 SAAL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Jantar Mantar — shadow on the Samrat Yantra scale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 city clip, 35mm locked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3–6s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Match cut: Mukesh's shadow falls across the pool deck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24mm high angle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7F2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Tilt up to his wrist, sun flare on the lime case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85mm, 50 fps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319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478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50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93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Jantar Mantar: buy the video-camera ticket; tripods usually need prior permission — shoot handheld if refused.</a:t>
            </a:r>
            <a:endParaRPr lang="en-US" sz="950" dirty="0"/>
          </a:p>
        </p:txBody>
      </p:sp>
      <p:pic>
        <p:nvPicPr>
          <p:cNvPr id="11" name="Image 0" descr="/tmp/claude-0/-home-user-Sage-portfolio/d05fecce-977e-5eab-9cf5-7c09b306c551/scratchpad/wrdeck/img/crop_li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7F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sundial shadow cinematic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match cut shadow transition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BUILD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31089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03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CERULEAN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640080" cy="292608"/>
          </a:xfrm>
          <a:prstGeom prst="rect">
            <a:avLst/>
          </a:prstGeom>
          <a:solidFill>
            <a:srgbClr val="8EC9EE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blue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1335024" y="5852160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35024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121408" y="5852160"/>
            <a:ext cx="640080" cy="292608"/>
          </a:xfrm>
          <a:prstGeom prst="rect">
            <a:avLst/>
          </a:prstGeom>
          <a:solidFill>
            <a:srgbClr val="1E3A6B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21408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907792" y="5852160"/>
            <a:ext cx="640080" cy="292608"/>
          </a:xfrm>
          <a:prstGeom prst="rect">
            <a:avLst/>
          </a:prstGeom>
          <a:solidFill>
            <a:srgbClr val="EDE6D6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07792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paper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MIDDAY · 11:00–13:30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914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Builders, not inheritors. Midday: a drafting table, a blueprint, an open blue sky over the roof. The watch for people laying foundations for their own name.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23042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/ library (drafting table) · rooftop under open sky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WARDROBE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8712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1: white shirt, sleeves rolled twice, navy trousers. Look 2: + navy blazer for C3.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4381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Tick-led percussion, short piano stabs.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C9E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C1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NEEV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reel · 30 s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4088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2376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C9E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C2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 FEET. 6 INCHES.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22376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 · one-take · 15 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22376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Seen from six feet, felt at six inches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41832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0120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C9E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C3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 SECONDS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60120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POV · 10 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meeting ritual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BUILD · C1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3017520" cy="53949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960120"/>
            <a:ext cx="23774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FRAME PENDING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still shown. The prompt for this frame is in the appendix — run it once and drop the frame here.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C1  ·  STORY REEL  ·  30 S  ·  9:16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NEEV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people are born with a name; some build one. Mukesh at a drafting table with the blueprint of something not built yet. He takes it up to the roof and holds it against the open Jaipur sky where it will stand.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pencil snaps on the blueprint — loud. He doesn't flinch; he picks up another.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"Kuch log naam ke saath paida hote hain."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"Kuch log naam banaate hain."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"Log kehte hain — bas, ho gaya."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"Main kehta hoon… abhi toh sirf neev daali hai."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THE BUILDERS.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Pencil snap · paper roll · wind on the roof · piano stab on the end card.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BUILD · C1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C1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NEEV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Pencil snaps on the blueprint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3–8s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Overhead drafting table, his wrist sweeps the scale ruler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overhead, slider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8–11s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Phone lights up "Party tonight?" — he turns it face down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 insert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11–16s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rolls the blueprint, takes the stairs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24mm gimbal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16–25s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Rooftop: unrolls the plan against open sky, wrist in frame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low angle, sky fills frame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25–30s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End card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71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00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blueprint (a real architectural plan) · drafting scale · pencils · coffee.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architect blueprint cinematic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@iwcwatches — engineering storytelling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BUILD · C2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3017520" cy="53949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960120"/>
            <a:ext cx="23774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FRAME PENDING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still shown. The prompt for this frame is in the appendix — run it once and drop the frame here.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  ·  DETAIL · ONE-TAKE  ·  15 S  ·  9:16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 FEET. 6 INCHES.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Seen from six feet, felt at six inches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Lifted straight from Neetu's design rule: a watch should be spotted from six feet away, but its finishing only shows up close. One continuous push-in from six feet (full figure, the sky-blue case popping against the white shirt) to six inches (the waffle dial and the screws).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On-screen counter: "6 FEET" on a full-body wide — it counts down as the camera moves in.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voice-over.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FT → 3 FT → 1 FT → 6 IN  ·  SEEN FROM 6 FEET. FELT AT 6 INCHES.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whoosh · single tick when the macro lands.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BUILD · C2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 FEET. 6 INCHES.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Gimbal push-in from full figure to wrist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24mm on gimbal, one take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10–15s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Cut on motion to the macro: dial texture + screws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 / probe lens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2935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638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white wall or open sky background.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dolly zoom push in watch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@panerai — scale and detail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BUILD · C3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3017520" cy="53949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960120"/>
            <a:ext cx="23774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FRAME PENDING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still shown. The prompt for this frame is in the appendix — run it once and drop the frame here.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  ·  POV  ·  10 S  ·  9:16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 SECONDS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meeting ritual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Neetu's own story — her husband reaching for one particular watch before a decisive meeting, like a ritual. POV of the 60 seconds before the meeting that decides the year. Bonus: the drawer shows all five watches — a range shot.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On-screen: "POV: 60 seconds before the meeting that decides your year."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whisper as the door opens: "Chalo."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POV: 60 SECONDS BEFORE THE MEETING THAT DECIDES YOUR YEAR.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 tick speeding up · drawer slide · clasp click · door.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BUILD · C3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 SECONDS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Mirror: top collar button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Drawer opens — five watches; his hand hovers, takes Cerulean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 shot 35mm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5–7s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Clasp click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7–9s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Blazer on, shoulder roll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EC9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Door opens into bright light — cut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24mm, overexposed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87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wood drawer with all five watches · mirror · navy blazer.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crop_sky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getting ready ritual cinematic watch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@audemarspiguet — ritual &amp; detail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UTSAV · DIWALI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547A8"/>
          </a:solidFill>
          <a:ln w="12700">
            <a:solidFill>
              <a:srgbClr val="2547A8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oran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31089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04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UTSAV · DIWALI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TANGERINE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640080" cy="292608"/>
          </a:xfrm>
          <a:prstGeom prst="rect">
            <a:avLst/>
          </a:prstGeom>
          <a:solidFill>
            <a:srgbClr val="2547A8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blue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1335024" y="5852160"/>
            <a:ext cx="640080" cy="292608"/>
          </a:xfrm>
          <a:prstGeom prst="rect">
            <a:avLst/>
          </a:prstGeom>
          <a:solidFill>
            <a:srgbClr val="F28C28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35024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Marigold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121408" y="5852160"/>
            <a:ext cx="640080" cy="292608"/>
          </a:xfrm>
          <a:prstGeom prst="rect">
            <a:avLst/>
          </a:prstGeom>
          <a:solidFill>
            <a:srgbClr val="C9A45C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21408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907792" y="5852160"/>
            <a:ext cx="640080" cy="292608"/>
          </a:xfrm>
          <a:prstGeom prst="rect">
            <a:avLst/>
          </a:prstGeom>
          <a:solidFill>
            <a:srgbClr val="FFB35C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07792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 flame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HOUR → DUSK · 15:30–18:30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914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Jaipur in festival light — and the watch that doesn't need to shout. Shot the week before Diwali; goes live on Dhanteras (6 Nov) and Diwali (8 Nov).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23042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Rooftop with diyas · chowk lined with diyas · jharokha · Jaipur bazaar lights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WARDROBE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8712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Royal-blue bandhgala · orange leheriya safa (D3 only) · tan juttis.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4381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Shehnai motif, dhol tuned low.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D1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EK DIYA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Diwali story reel · 30 s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are the light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4088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2376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D2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DHANTERAS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22376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 · festive · 15 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22376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something you've earned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41832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0120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D3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JAIPUR SE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60120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Speed-ramp punch · 10 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Jaipur, for the world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UTSAV · DIWALI · D1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orange_r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  ·  DIWALI STORY REEL  ·  30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EK DIYA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are the light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Diwali night: the city is pure noise — crackers, speakers, lights on everything. He climbs to the roof, switches the fairy lights off and lights one diya. In the dark, the watch's whole case glows beside the flame. Neetu's belief: wealth doesn't have to be loud.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black. A matchstick strikes; the flame lights his face.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Diwali, sab roshni dikhaayenge."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"Kuch log roshni dikhaate hain…"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"…kuch log khud roshni hote hain."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"Shubh Deepavali."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SHOW THEIR LIGHT. SOME ARE THE LIGHT.  →  Shubh Deepavali · WEALTH ROOTS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strike · distant crackers (low) · silence when the lights go off · one shehnai note.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UTSAV · DIWALI · D1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EK DIYA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Match strike, flame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macro, black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2–6s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Jaipur lit for the festival, crackers in the distance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B-unit: bazaar lights / skyline from the roof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6–12s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walks through the chowk lined with diyas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gimbal, 50 fps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12–18s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Rooftop: he switches the fairy lights off; one diya left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wide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18–25s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sets the diya on the parapet — the watch case glows beside it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85mm, lume charged 30 s with UV torch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25–30s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Silhouette against the city. End card.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24mm wide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71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00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150–200 clay diyas · marigold strings · fairy lights on a switch · matchbox · UV torch to charge the lume.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02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315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Jaipur's bazaars (Johari, Bapu, Nehru) usually light up 1–2 weeks before Diwali — grab them on Day 1 evening. Backup: our own diya courtyard.</a:t>
            </a:r>
            <a:endParaRPr lang="en-US" sz="950" dirty="0"/>
          </a:p>
        </p:txBody>
      </p:sp>
      <p:pic>
        <p:nvPicPr>
          <p:cNvPr id="11" name="Image 0" descr="/tmp/claude-0/-home-user-Sage-portfolio/d05fecce-977e-5eab-9cf5-7c09b306c551/scratchpad/wrdeck/img/ai_orange_g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1737360" cy="3108960"/>
          </a:xfrm>
          <a:prstGeom prst="rect">
            <a:avLst/>
          </a:prstGeom>
        </p:spPr>
      </p:pic>
      <p:pic>
        <p:nvPicPr>
          <p:cNvPr id="12" name="Image 1" descr="/tmp/claude-0/-home-user-Sage-portfolio/d05fecce-977e-5eab-9cf5-7c09b306c551/scratchpad/wrdeck/img/crop_orang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41280" y="502920"/>
            <a:ext cx="1399032" cy="3108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mood frame  ·  the real watch</a:t>
            </a:r>
            <a:endParaRPr lang="en-US" sz="750" dirty="0"/>
          </a:p>
        </p:txBody>
      </p:sp>
      <p:sp>
        <p:nvSpPr>
          <p:cNvPr id="14" name="Text 9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5" name="Text 10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diwali cinematic diya man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@tanishqjewellery — festive storytelling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UTSAV · DIWALI · D2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orange_r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  ·  DETAIL · FESTIVE  ·  15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DHANTERAS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something you've earned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Dhanteras India buys something precious for the year ahead. A brass thali with a silver coin, haldi, kumkum, rice and marigold — and the Royal Tangerine at its centre. Tied to the 500 Alpha Founder pieces.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 grains and kumkum fall onto the brass thali in slow motion.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"Dhanteras pe kuch keemti lete hain."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baar… kuch aisa lo jo kamaaya ho. Sirf khareeda nahi."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500 ALPHA FOUNDER PIECES.  →  card: 001 / 500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 on brass · bell · one dhol hit.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UTSAV · DIWALI · D2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DHANTERAS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Rice + kumkum fall on the thali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100mm, 240 fps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3–7s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Top-down thali composition, watch at centre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overhead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Diya flame reflection sweeps across the orange dial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10–13s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His hand lifts the watch from the thali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13–15s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Card: 001 / 500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Insert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87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Brass thali · silver coin · haldi + kumkum bowls · rice · marigold · numbered card "001/500" · diya.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18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474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on Dhanteras, 6 Nov. Keep it respectful: thali only, no deity on screen.</a:t>
            </a:r>
            <a:endParaRPr lang="en-US" sz="950" dirty="0"/>
          </a:p>
        </p:txBody>
      </p:sp>
      <p:pic>
        <p:nvPicPr>
          <p:cNvPr id="11" name="Image 0" descr="/tmp/claude-0/-home-user-Sage-portfolio/d05fecce-977e-5eab-9cf5-7c09b306c551/scratchpad/wrdeck/img/crop_oran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dhanteras thali product shoot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marigold brass top view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UTSAV · DIWALI · D3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orange_r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  ·  SPEED-RAMP PUNCH  ·  10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JAIPUR SE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Jaipur, for the world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brand's own line: born in Jaipur, made for the world. At a haveli jharokha he ties the last fold of an orange leheriya safa → the camera drops to his wrist → whip-pan to the pink city — blue and orange colour-matched.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orange safa cloth whips into frame against the royal-blue bandhgala.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voice-over.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SE. DUNIYA KE LIYE.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Shehnai sting · dhol hit on the whip.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UTSAV · DIWALI · D3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JAIPUR SE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Safa cloth whips through frame; he ties the last fold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50mm, 120 fps → speed ramp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3–6s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Drop to wrist as he lowers his hands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 tilt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8C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Whip-pan to Patrika Gate / Hawa Mahal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 city clip, matched whip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319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478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leheriya safa (pre-tied backup) · jharokha with afternoon sun.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crop_oran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28C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rajasthani safa portrait jharokha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whip pan transition city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AFTER DARK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2A55"/>
          </a:solidFill>
          <a:ln w="12700">
            <a:solidFill>
              <a:srgbClr val="1C2A55"/>
            </a:solidFill>
            <a:prstDash val="solid"/>
          </a:ln>
        </p:spPr>
      </p:sp>
      <p:pic>
        <p:nvPicPr>
          <p:cNvPr id="5" name="Image 0" descr="/tmp/claude-0/-home-user-Sage-portfolio/d05fecce-977e-5eab-9cf5-7c09b306c551/scratchpad/wrdeck/img/crop_red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31089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05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AFTER DARK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CRIMSON NAVY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640080" cy="292608"/>
          </a:xfrm>
          <a:prstGeom prst="rect">
            <a:avLst/>
          </a:prstGeom>
          <a:solidFill>
            <a:srgbClr val="0A0A0C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1335024" y="5852160"/>
            <a:ext cx="640080" cy="292608"/>
          </a:xfrm>
          <a:prstGeom prst="rect">
            <a:avLst/>
          </a:prstGeom>
          <a:solidFill>
            <a:srgbClr val="D2283A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35024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light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121408" y="5852160"/>
            <a:ext cx="640080" cy="292608"/>
          </a:xfrm>
          <a:prstGeom prst="rect">
            <a:avLst/>
          </a:prstGeom>
          <a:solidFill>
            <a:srgbClr val="1C2A55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21408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light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907792" y="5852160"/>
            <a:ext cx="640080" cy="292608"/>
          </a:xfrm>
          <a:prstGeom prst="rect">
            <a:avLst/>
          </a:prstGeom>
          <a:solidFill>
            <a:srgbClr val="5CFF7A"/>
          </a:solidFill>
          <a:ln w="6350">
            <a:solidFill>
              <a:srgbClr val="0B0B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07792" y="61996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Glow green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 · 19:15–23:00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914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hours nobody sees. Building anything meaningful is lonely — the watch is the only witness. Ends with the glow: quiet power in the dark.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23042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lounge / darbar room with red + blue gels · study desk · Jaipur night drive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WARDROBE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8712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suit, open collar · black knit for E2.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4381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synth, sub heartbeat.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228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E1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UNFINISHED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reel · 30 s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sees the nights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4088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2376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228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E2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RED / BLUE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22376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 · lighting · 15 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22376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lights, one watch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418320" y="4206240"/>
            <a:ext cx="2240280" cy="201168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0120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2283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E3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0" y="4773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SHOR NAHI. SIGNAL.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60120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 drive · 12 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5596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Signal, not noise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AFTER DARK · E1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redblue_r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  ·  STORY REEL  ·  30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UNFINISHED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sees the nights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night everyone else is out, he is still finishing the work that pays for it. His phone floods with invites; he turns it over. At 1:47 a.m. he switches the lamp off — and the watch glows in the dark.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screen floods: "Bro kahan hai?? 🎉" — he turns it face down.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· HINGLISH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"Raat sabki hoti hai."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"Kaam sirf kuch logon ka."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"Jo kisi ko nahi dikhta… wahi sab kuch banata hai."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SEES THE NIGHTS. THE WATCH DOES.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 buzzes · pen scratch · lamp switch · sub drop · silence on the glow.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AFTER DARK · E1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UNFINISHED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Phone notifications, his hand turns it over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 macro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3–9s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Desk, lamp pool, red neon through the window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35mm, hazer low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9–14s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Wrist working over papers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14–18s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macro: 1:47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18–24s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switches the lamp off — darkness — the case glows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50mm, lume charged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24–30s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 exhales, leans back. End card.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71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00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with group-chat screens · desk lamp · papers/laptop · red neon or red LED outside the window.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crop_red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late night work cinematic neon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@hublot — bold night edits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AFTER DARK · E2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redblue_r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  ·  DETAIL · LIGHTING  ·  15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RED / BLUE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lights, one watch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from one side, blue from the other — the navy case and red dial split perfectly between them. On the beat both lights cut; only the glow remains.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cuts red ↔ blue on the beat.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voice-over.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DARK.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 pulse; total silence on the glow.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AFTER DARK · E2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RED / BLUE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Wrist turns in red / blue light, cut on beat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85mm, black background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5–10s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Macro of the red dial in split light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10–15s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Both lights off → the case glows alone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 locked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319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478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RGB tubes (red + blue) · black velvet · whisky glass (out of focus).</a:t>
            </a:r>
            <a:endParaRPr lang="en-US" sz="950" dirty="0"/>
          </a:p>
        </p:txBody>
      </p:sp>
      <p:pic>
        <p:nvPicPr>
          <p:cNvPr id="9" name="Image 0" descr="/tmp/claude-0/-home-user-Sage-portfolio/d05fecce-977e-5eab-9cf5-7c09b306c551/scratchpad/wrdeck/img/crop_red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red blue split lighting watch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@jacobandco — dramatic light play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AFTER DARK · E3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ai_redblue_r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71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mood frame · watch exact, face is a stand-in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502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E3  ·  NIGHT DRIVE  ·  12 S  ·  9:16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SHOR NAHI. SIGNAL.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Signal, not noise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0574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Jaipur at night — horns, lights, noise. The car door shuts: silence. At a red light the dashboard goes dark and the case glows on the steering wheel.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3108960"/>
            <a:ext cx="7680960" cy="6858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· FIRST 2 SECONDS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Loud traffic → door shuts → total silence.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4206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voice-over.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SCREEN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 NAHI. SIGNAL.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noise → hard silence → one low tone.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AFTER DARK · E3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E3  ·  SHOT 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SHOR NAHI. SIGNAL.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· LENS · MOVE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Albert Hall lit / MI Road traffic at night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B-unit city clip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3–5s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Door shuts — silence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35mm inside the car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5–9s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Hand on the wheel, city bokeh through the windscreen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228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9–12s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 off, the glow lights his jaw; signal turns green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50mm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&amp; SET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sedan/SUV with dark interior · driver for moving shots.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663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Safety: moving shots with a driver at the wheel, or parked with light passes. Mukesh never drives while we film.</a:t>
            </a:r>
            <a:endParaRPr lang="en-US" sz="950" dirty="0"/>
          </a:p>
        </p:txBody>
      </p:sp>
      <p:pic>
        <p:nvPicPr>
          <p:cNvPr id="11" name="Image 0" descr="/tmp/claude-0/-home-user-Sage-portfolio/d05fecce-977e-5eab-9cf5-7c09b306c551/scratchpad/wrdeck/img/crop_redbl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502920"/>
            <a:ext cx="3227832" cy="3108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watch — match colours exactly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2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TAP TO OPEN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2793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 · night drive cinematic watch steering
</a:t>
            </a:r>
            <a:pPr indent="0" marL="0">
              <a:spcAft>
                <a:spcPts val="600"/>
              </a:spcAft>
              <a:buNone/>
            </a:pPr>
            <a:r>
              <a:rPr lang="en-US" sz="950" u="sng" dirty="0">
                <a:solidFill>
                  <a:srgbClr val="F2EDE4"/>
                </a:solidFill>
                <a:uFill>
                  <a:solidFill>
                    <a:srgbClr val="2B2A26"/>
                  </a:solidFill>
                </a:u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 · @tagheuer — car &amp; speed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GLOW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crop_g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017520" cy="3840480"/>
          </a:xfrm>
          <a:prstGeom prst="rect">
            <a:avLst/>
          </a:prstGeom>
        </p:spPr>
      </p:pic>
      <p:pic>
        <p:nvPicPr>
          <p:cNvPr id="5" name="Image 1" descr="/tmp/claude-0/-home-user-Sage-portfolio/d05fecce-977e-5eab-9cf5-7c09b306c551/scratchpad/wrdeck/img/ai_orange_glo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434840"/>
            <a:ext cx="3017520" cy="1783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77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F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SIGNATURE · GLOW INSERTS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3977640" y="777240"/>
            <a:ext cx="76809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FIVE GLOWS, SHOT AS YOU GO.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3977640" y="16002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dark the whole case lights up — bezel, case edges, hands, indices. It's the most ownable thing these watches do, so every world gets a 5-minute glow insert in the blacked-out room.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977640" y="2606040"/>
            <a:ext cx="2468880" cy="13716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1605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F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CHARGE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160520" y="3108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UV torch on the case for 30 s, lights already off.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583680" y="2606040"/>
            <a:ext cx="2468880" cy="13716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F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THREE FRAMES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3108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Wrist turn · flat on black velvet · macro on the bezel.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9189720" y="2606040"/>
            <a:ext cx="2468880" cy="13716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3726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F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HOLD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372600" y="3108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Locked camera, 10 s each — the glow is the only light in frame.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977640" y="4251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CF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GIVES US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3977640" y="45262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4th reel per watch for free — a 6-second glow loop (5 total).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"Five Glows" — a 20-second hero film cutting all five in the dark, for launch day.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end card for E1, D1 and E2.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DAY 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HALF PRODUCT, HALF FOUNDER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WATCH ALONE. THEN THE WOMAN WHO MADE IT.</a:t>
            </a:r>
            <a:endParaRPr lang="en-US" sz="3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SETUP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Crew call · product sets lit (white sweep + colour sweep + macro rig)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08:00–09:00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A · white sweep e-com — all five watches, locked camera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09:00–10:30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B · colour-matched seamless heroes (navy, lime, sky, ivory/green, royal blue)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10:30–11:30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C · macros with focus stacking (screws, WR monogram, dial, crown, caseback, clasp)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11:30–12:15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D · glow long exposures + 360° turntable videos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12:15–13:00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E · packaging + unboxing (magnetic lid, 001/500 card)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13:00–14:00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Lunch · founder set dressed (library / darbar room) · Neetu HMU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14:00–15:15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Founder interview — two cameras, Hinglish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15:15–16:15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Founder B-roll (sketching, loupe, packaging test, numbering)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16:15–17:15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Portraits — window light, corridor walk, with the box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17:15–17:45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Golden-hour portrait on the roof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17:45–18:30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Optional: the ritual (husband choosing the watch, no face) · wrap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DAY 2 · PRODUCT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PRODUCT SHOOT (07:30–13:00)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SIX SETS, ASSEMBLY-LINE.</a:t>
            </a:r>
            <a:endParaRPr lang="en-US" sz="3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680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146304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SHOTS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USED FOR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 WATCH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· White sweep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 · 3/4 · crown side · caseback · clasp open/closed · strap flat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E-com + website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stills × 5 watches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 · Colour seamless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Each watch on its own colour: navy, lime, sky, ivory+green, royal blue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Hero / ads / launch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stills × 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 · Macro rig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Eight screws · WR monogram · waffle dial · crown · caseback crest · deployant clasp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Detail carousels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stills × 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 · Glow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Lume charged with UV torch, long exposure in black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Glow posts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still × 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 · 360° turntable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Lazy susan 10 s loop, white + black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Website + reels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videos × 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 · Packaging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Box closed · magnetic lid opening (sound) · 001/500 card · full flat lay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Unboxing reel + launch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set + 1 video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/tmp/claude-0/-home-user-Sage-portfolio/d05fecce-977e-5eab-9cf5-7c09b306c551/scratchpad/wrdeck/img/crop_casebac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49640" y="502920"/>
            <a:ext cx="3090672" cy="2651760"/>
          </a:xfrm>
          <a:prstGeom prst="rect">
            <a:avLst/>
          </a:prstGeom>
        </p:spPr>
      </p:pic>
      <p:pic>
        <p:nvPicPr>
          <p:cNvPr id="8" name="Image 1" descr="/tmp/claude-0/-home-user-Sage-portfolio/d05fecce-977e-5eab-9cf5-7c09b306c551/scratchpad/wrdeck/img/crop_redblu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9640" y="3246120"/>
            <a:ext cx="1499616" cy="1828800"/>
          </a:xfrm>
          <a:prstGeom prst="rect">
            <a:avLst/>
          </a:prstGeom>
        </p:spPr>
      </p:pic>
      <p:pic>
        <p:nvPicPr>
          <p:cNvPr id="9" name="Image 2" descr="/tmp/claude-0/-home-user-Sage-portfolio/d05fecce-977e-5eab-9cf5-7c09b306c551/scratchpad/wrdeck/img/crop_lim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140696" y="3246120"/>
            <a:ext cx="1499616" cy="18288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549640" y="5212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Kit: 100 mm macro + focus stacking · probe lens · lazy susan · cotton gloves · blower · microfibre · UV torch · coloured seamless rolls (5). A hand model or crew hand for the e-com wrist shots — Mukesh ji isn't on Day 2.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DAY 2 · FOUNDER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1712"/>
          </a:solidFill>
          <a:ln w="12700">
            <a:solidFill>
              <a:srgbClr val="1A17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FOUNDER SHOOT (14:00–18:30)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OUTSIDER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"Because no one expected me to."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Neetu — from a government school in Dalelpura and a ₹5,000 first salary in Jaipur, to an Indian luxury house built for the builders.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8229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FILM  —  60–90 s, the whole story in her own Hinglish
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FOUNDER REELS  —  30–45 s each — scripts on the next slides
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PORTRAITS  —  Editorial, for press, website and LinkedIn
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CUT  —  2 min, subtitled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331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FILM HER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Seated in the library / darbar room, warm practical lamps, dark background — the same world as the watches.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cameras: A wide on 35 mm, B tight on 85 mm. Eyeline just off lens to the interviewer.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 answers in Hinglish, the way she talks — we cut the reels from her real answers, not a teleprompter.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Wardrobe her call: structured blazer / pantsuit or a saree with a structured blouse. Solid colours, no logos.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shot we must get: her hands strapping a Wealth Roots watch onto a man's wrist (her husband or a hand model, no face).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5074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B-ROLL + PORTRAITS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532180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Sketching the square case · jeweller's loupe on a dial · testing a box lid and rejecting it · numbering cards 001–500 · flipping a caseback · corridor power walk · window-light portrait · golden hour on the roof with the box.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DAY 2 · FOUNDER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INTERVIEW · 12 QUESTIONS IN HINGLISH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ASK LIKE A CONVERSATION. LISTEN FOR THESE.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12064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 (HINGLISH)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WE'RE LISTENING FOR (FROM HER BRIEF)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Dalelpura se Jaipur — woh pehla din yaad hai?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Studied in a village government school; moved to Jaipur.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Pehli salary ₹5,000 thi. Tab time ki value kaise samjhi?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"When you have no safety net, time is your only real currency."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Ek ladki, men's luxury watch brand — logon ne kya kaha?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Polite smiles, "vanity hobby" — she answered with drawings, tolerances, sourcing.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Aapke liye "dominance" ka matlab kya hai?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"Restraint. The loudest man in the room is usually the most insecure."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Ghadi bolne se pehle insaan ke baare mein kya batati hai?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"It tells you their relationship with time."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Pehli ghadi jo aap chahti thi — jo mili hi nahi?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"It didn't exist, which is why Wealth Roots exists."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Aapke husband ka meeting se pehle wala ritual?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private ledger of risk, promotions, close calls and victories.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Sirf 500 Alpha Founder pieces kyun? Advisors ne kya kaha?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"500 lifetime advocates over early vanity sales."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Woh packaging wala kissa — poori run kyun reject ki?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"Luxury is obsessive, unglamorous friction."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Wealth Roots kaun pehnega?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founder in a seed round, the architect, the surgeon — people with grit.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Paanch saal baad London ya Dubai mein koi caseback palte — kya dikhe?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"Roots in Jaipur" — Indian horology on the world stage.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Pehle din wali Neetu ko aaj kya kahengi?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"Stop questioning whether you belong in the room."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DAY 2 · FOUNDER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REELS · CUT FROM HER REAL ANSWERS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FOUR REELS, IN HER VOICE.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057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₹5,000 SE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719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4884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"Dalelpura ke sarkari school se padhi. Jaipur mein pehli naukri — ₹5,000 mahina. Tab samjha: jab koi safety net nahi hota, toh time hi asli currency hai. Wealth Roots wahin se aaya."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440680" cy="2057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DOMINANCE = RESTRAINT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195560" y="1719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BELIEF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14884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"Mere liye dominance ka matlab hai restraint. Room ka sabse loud aadmi aksar sabse insecure hota hai. Asli power — apne calendar, emotions aur standards pe control."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40680" cy="2057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SIRF 500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913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3434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"Advisors ne kaha production badhao, cost giraao. Maine mana kar diya. Pehle 500 log invoice ki line item nahi hain — woh is brand ki neev hain."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5440680" cy="205740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45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LUXURY IS FRICTION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0195560" y="3913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3434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"Luxury gold plating nahi hai. Ek poori packaging run phenk di, kyunki magnet sahi resistance se band nahi ho raha tha. Jo detail kisi ko nahi dikhti — wahi asli quality hai."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the lines to steer toward — she says them her way on the day. Each reel ends on: Wear your time. Command your presence. Build your legacy.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PRODUCTION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 &amp; KIT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 UNITS, ONE DAY.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44805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UNIT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 + 1st AC (A cam)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Gaffer + 2 light assistants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Sound: lav + boom (A3, interviews)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Stylist (5 looks) + HMU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handler — gloves, cloths, log sheet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/ creative lead (Sage Media)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44805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B-UNIT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1168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op + assistant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clips (7 spots), time-lapses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Tabletop details: A2, B2, D2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 / props: 200 diyas, marigold, thali, blueprint, limes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Runner + driver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66160" cy="448056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691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01168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 camera ×2 (4K 10-bit, 120 fps)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· 35 · 50 · 85 mm + 100 mm macro + probe lens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Gimbal · slider · lazy susan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× 600 W + RGB tubes (red/blue gels) + hazer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Blackout cloth · black velvet · UV torch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Spray bottle · blower · microfibre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PRODUCTION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LOCK · TO CONFIRM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EIGHT ANSWERS WE NEED THIS WEEK.</a:t>
            </a:r>
            <a:endParaRPr lang="en-US" sz="3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97680"/>
                <a:gridCol w="6217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IT MATTERS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Water-resistance rating of the watches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Decides whether B1/B2 can show splashes — we never submerge without it.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 watch names + which five are launching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Locks on-screen names and the drawer shot in C3.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Haveli choice + shoot fee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Scout this week; book 05:00–23:30 with flame, diya and hazer permission.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elder extra for A3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Local, 60+; face can stay out of frame.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Neetu's husband for the ritual shot (hands only)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 — otherwise a hand model.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Premium car + driver for E3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Dark interior, Mukesh ji never drives on camera.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 pieces of each watch on set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Backup if one scratches; one stays charged for glows.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Music: original score or licensed library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Festive reels go live 6 and 8 Nov — no time for copyright strikes.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RELEASE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ORDER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STORY FIRST, DETAIL BETWEEN, FESTIVE ON THE DAY.</a:t>
            </a:r>
            <a:endParaRPr lang="en-US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REEL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spc="200" kern="0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HERE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Launch day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Five Glows (hero film) + A1 Pehli Ghadi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Signature + origin story together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C2 6 ft → 6 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Shows the watch at every distance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B1 4:59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Discipline, early in the week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A3 Kitne Ki Hai?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most shareable line we have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Fri 6 Nov · Dhanteras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D2 Dhanteras + 500 Alpha Founder push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day India buys something precious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Sun 8 Nov · Diwali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D1 Ek Diya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Goes live at dusk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Diwali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E1 Unfinished → C1 Neev → founder film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 to work, back to building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Then, every 1–2 days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Details + punches: A2, B2, B3, C3, D3, E2, E3 · founder reels F1–F4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ED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Keeps the grid colour-balanced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B2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  ·  APPENDIX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· AI FRAMES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TWELVE REELS FRAMED. THREE TO MAKE.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mood frames in this deck were made image-to-image from the real watch stills, so the case, screws, colours and strap are exact — the man in them is a stand-in for Mukesh ji. Cerulean's frames are still to make; paste these into Claude Design with crop_skyblue.jpg attached.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C1 · NEEV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6888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Portrait 9:16 photoreal. Overhead shot of an architect's drafting table: a large blueprint, a pencil, a scale ruler; a man's forearm in a white shirt with rolled sleeves sweeps the ruler; on his wrist the sky-blue square watch with eight bezel screws, white waffle dial and navy rubber strap (exactly as in crop_skyblue.jpg). Soft window light, shallow depth of field, no text.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64240" cy="11887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 · 6 FT → 6 IN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79476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Portrait 9:16 photoreal. Extreme macro of the sky-blue square watch on a man's wrist: the eight bezel screws, the WR monogram at 12 and the white waffle dial in razor focus; white shirt cuff and bright blue sky behind, out of focus. Hard midday sun, crisp shadows, no text.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11064240" cy="1188720"/>
          </a:xfrm>
          <a:prstGeom prst="rect">
            <a:avLst/>
          </a:prstGeom>
          <a:solidFill>
            <a:srgbClr val="151513"/>
          </a:solidFill>
          <a:ln w="9525">
            <a:solidFill>
              <a:srgbClr val="2B2A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E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 · 60 SECONDS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512064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Portrait 9:16 photoreal. Top-down view into an open dark-wood drawer lined in black velvet holding five square watches (navy/red, lime/mint, sky-blue/navy, ivory/green, royal-blue/orange — match the attached stills); a man's hand in a navy blazer sleeve lifts the sky-blue one. Moody side light, no text.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 × MUKESH GUPTA  ·  JAIPUR SHOOT PLAN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750" dirty="0"/>
          </a:p>
        </p:txBody>
      </p:sp>
      <p:pic>
        <p:nvPicPr>
          <p:cNvPr id="4" name="Image 0" descr="/tmp/claude-0/-home-user-Sage-portfolio/d05fecce-977e-5eab-9cf5-7c09b306c551/scratchpad/wrdeck/img/crop_g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0"/>
            <a:ext cx="4599432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ROOTS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WEAR YOUR TIME.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COMMAND YOUR PRESENCE.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YOUR LEGACY.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7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Shoot plan by Sage Media  ·  Jaipur  ·  business@sagemedia.in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Sage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 Roots × Mukesh Gupta — Jaipur Shoot Plan</dc:title>
  <dc:subject>PptxGenJS Presentation</dc:subject>
  <dc:creator>Sage Media</dc:creator>
  <cp:lastModifiedBy>Sage Media</cp:lastModifiedBy>
  <cp:revision>1</cp:revision>
  <dcterms:created xsi:type="dcterms:W3CDTF">2026-10-18T12:03:03Z</dcterms:created>
  <dcterms:modified xsi:type="dcterms:W3CDTF">2026-10-18T12:03:03Z</dcterms:modified>
</cp:coreProperties>
</file>