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results?search_query=Max%20Richter%20On%20the%20Nature%20of%20Daylight" TargetMode="External"/><Relationship Id="rId1" Type="http://schemas.openxmlformats.org/officeDocument/2006/relationships/image" Target="../media/image-8-1.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hyperlink" Target="https://www.pinterest.com/search/pins/?q=palace%20corridor%20cinematic%20portrait%20man" TargetMode="External"/><Relationship Id="rId6" Type="http://schemas.openxmlformats.org/officeDocument/2006/relationships/hyperlink" Target="https://www.instagram.com/sabyasachiofficial/reels/" TargetMode="External"/><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results?search_query=Olafur%20Arnalds%20Saman"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hyperlink" Target="https://www.pinterest.com/search/pins/?q=timelapse%20light%20moving%20interior%20man%20still%20cinematic" TargetMode="External"/><Relationship Id="rId6" Type="http://schemas.openxmlformats.org/officeDocument/2006/relationships/hyperlink" Target="https://www.instagram.com/cartier/reels/" TargetMode="External"/><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results?search_query=Succession%20main%20title%20theme%20Nicholas%20Britell" TargetMode="External"/><Relationship Id="rId1" Type="http://schemas.openxmlformats.org/officeDocument/2006/relationships/image" Target="../media/image-12-1.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www.pinterest.com/search/pins/?q=bandhgala%20portrait%20palace%20arch%20editorial" TargetMode="External"/><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results?search_query=Hans%20Zimmer%20Mountains%20Interstellar" TargetMode="External"/><Relationship Id="rId1" Type="http://schemas.openxmlformats.org/officeDocument/2006/relationships/image" Target="../media/image-15-1.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hyperlink" Target="https://www.pinterest.com/search/pins/?q=5am%20rooftop%20workout%20sunrise%20cinematic%20man" TargetMode="External"/><Relationship Id="rId6" Type="http://schemas.openxmlformats.org/officeDocument/2006/relationships/hyperlink" Target="https://www.instagram.com/tagheuer/reels/" TargetMode="External"/><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results?search_query=Kendrick%20Lamar%20HUMBLE%20instrumental" TargetMode="External"/><Relationship Id="rId1" Type="http://schemas.openxmlformats.org/officeDocument/2006/relationships/image" Target="../media/image-17-1.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5" Type="http://schemas.openxmlformats.org/officeDocument/2006/relationships/hyperlink" Target="https://www.pinterest.com/search/pins/?q=battle%20ropes%20cinematic%20gym%20dramatic%20light" TargetMode="External"/><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results?search_query=Gesaffelstein%20Opr" TargetMode="External"/><Relationship Id="rId1" Type="http://schemas.openxmlformats.org/officeDocument/2006/relationships/image" Target="../media/image-19-1.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5" Type="http://schemas.openxmlformats.org/officeDocument/2006/relationships/hyperlink" Target="https://www.pinterest.com/search/pins/?q=sunrise%20run%20park%20track%20cinematic%20man" TargetMode="External"/><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results?search_query=Ludovico%20Einaudi%20Experience" TargetMode="External"/><Relationship Id="rId1" Type="http://schemas.openxmlformats.org/officeDocument/2006/relationships/image" Target="../media/image-22-1.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5" Type="http://schemas.openxmlformats.org/officeDocument/2006/relationships/hyperlink" Target="https://www.pinterest.com/search/pins/?q=infinity%20pool%20villa%20man%20floating%20sky%20cinematic" TargetMode="External"/><Relationship Id="rId6" Type="http://schemas.openxmlformats.org/officeDocument/2006/relationships/hyperlink" Target="https://www.instagram.com/omega/reels/" TargetMode="External"/><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results?search_query=Olafur%20Arnalds%20Saman" TargetMode="External"/><Relationship Id="rId1" Type="http://schemas.openxmlformats.org/officeDocument/2006/relationships/image" Target="../media/image-24-1.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5" Type="http://schemas.openxmlformats.org/officeDocument/2006/relationships/hyperlink" Target="https://www.pinterest.com/search/pins/?q=underwater%20portrait%20man%20still%20sun%20rays%20pool" TargetMode="External"/><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image" Target="../media/image-25-3.jpg"/><Relationship Id="rId4" Type="http://schemas.openxmlformats.org/officeDocument/2006/relationships/image" Target="../media/image-25-4.jp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results?search_query=Khruangbin%20Time%20You%20and%20I" TargetMode="External"/><Relationship Id="rId1" Type="http://schemas.openxmlformats.org/officeDocument/2006/relationships/image" Target="../media/image-26-1.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5" Type="http://schemas.openxmlformats.org/officeDocument/2006/relationships/hyperlink" Target="https://www.pinterest.com/search/pins/?q=pool%20edge%20lying%20back%20white%20linen%20shirt%20man" TargetMode="External"/><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jp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utube.com/results?search_query=Ludwig%20Goransson%20Can%20You%20Hear%20The%20Music" TargetMode="External"/><Relationship Id="rId1" Type="http://schemas.openxmlformats.org/officeDocument/2006/relationships/image" Target="../media/image-29-1.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5" Type="http://schemas.openxmlformats.org/officeDocument/2006/relationships/hyperlink" Target="https://www.pinterest.com/search/pins/?q=office%20stairwell%20running%20cinematic%20man%20suit" TargetMode="External"/><Relationship Id="rId6" Type="http://schemas.openxmlformats.org/officeDocument/2006/relationships/hyperlink" Target="https://www.instagram.com/hublot/reels/" TargetMode="External"/><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4" Type="http://schemas.openxmlformats.org/officeDocument/2006/relationships/image" Target="../media/image-30-4.jp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results?search_query=Hans%20Zimmer%20Time%20Inception" TargetMode="External"/><Relationship Id="rId1" Type="http://schemas.openxmlformats.org/officeDocument/2006/relationships/image" Target="../media/image-31-1.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5" Type="http://schemas.openxmlformats.org/officeDocument/2006/relationships/hyperlink" Target="https://www.pinterest.com/search/pins/?q=late%20night%20desk%20lamp%20city%20window%20man%20working%20cinematic" TargetMode="External"/><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image" Target="../media/image-32-3.jpg"/><Relationship Id="rId4" Type="http://schemas.openxmlformats.org/officeDocument/2006/relationships/image" Target="../media/image-32-4.jp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www.youtube.com/results?search_query=Trent%20Reznor%20Atticus%20Ross%20In%20Motion" TargetMode="External"/><Relationship Id="rId1" Type="http://schemas.openxmlformats.org/officeDocument/2006/relationships/image" Target="../media/image-33-1.jp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5" Type="http://schemas.openxmlformats.org/officeDocument/2006/relationships/hyperlink" Target="https://www.pinterest.com/search/pins/?q=man%20skyscraper%20window%20city%20below%20suit%20cinematic" TargetMode="External"/><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image" Target="../media/image-34-3.jpg"/><Relationship Id="rId4" Type="http://schemas.openxmlformats.org/officeDocument/2006/relationships/image" Target="../media/image-34-3.jp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www.youtube.com/results?search_query=Succession%20main%20title%20theme%20Nicholas%20Britell" TargetMode="External"/><Relationship Id="rId1" Type="http://schemas.openxmlformats.org/officeDocument/2006/relationships/image" Target="../media/image-36-1.jp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5" Type="http://schemas.openxmlformats.org/officeDocument/2006/relationships/hyperlink" Target="https://www.pinterest.com/search/pins/?q=black%20suit%20red%20convertible%20night%20hotel%20entrance%20cinematic" TargetMode="External"/><Relationship Id="rId6" Type="http://schemas.openxmlformats.org/officeDocument/2006/relationships/hyperlink" Target="https://www.instagram.com/jacobandco/reels/" TargetMode="External"/><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image" Target="../media/image-37-3.jpg"/><Relationship Id="rId4" Type="http://schemas.openxmlformats.org/officeDocument/2006/relationships/image" Target="../media/image-37-4.jp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www.youtube.com/results?search_query=Kavinsky%20Nightcall" TargetMode="External"/><Relationship Id="rId1" Type="http://schemas.openxmlformats.org/officeDocument/2006/relationships/image" Target="../media/image-38-1.jp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5" Type="http://schemas.openxmlformats.org/officeDocument/2006/relationships/hyperlink" Target="https://www.pinterest.com/search/pins/?q=red%20steering%20wheel%20hand%20luxury%20watch%20night" TargetMode="External"/><Relationship Id="rId1" Type="http://schemas.openxmlformats.org/officeDocument/2006/relationships/image" Target="../media/image-39-1.jpg"/><Relationship Id="rId2" Type="http://schemas.openxmlformats.org/officeDocument/2006/relationships/image" Target="../media/image-39-1.jpg"/><Relationship Id="rId3" Type="http://schemas.openxmlformats.org/officeDocument/2006/relationships/image" Target="../media/image-39-3.jpg"/><Relationship Id="rId4" Type="http://schemas.openxmlformats.org/officeDocument/2006/relationships/image" Target="../media/image-39-1.jp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www.youtube.com/results?search_query=Gesaffelstein%20Pursuit" TargetMode="External"/><Relationship Id="rId1" Type="http://schemas.openxmlformats.org/officeDocument/2006/relationships/image" Target="../media/image-40-1.jp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5" Type="http://schemas.openxmlformats.org/officeDocument/2006/relationships/hyperlink" Target="https://www.pinterest.com/search/pins/?q=lume%20watch%20glow%20dark%20car%20steering%20wheel" TargetMode="External"/><Relationship Id="rId1" Type="http://schemas.openxmlformats.org/officeDocument/2006/relationships/image" Target="../media/image-41-1.jpg"/><Relationship Id="rId2" Type="http://schemas.openxmlformats.org/officeDocument/2006/relationships/image" Target="../media/image-41-2.jpg"/><Relationship Id="rId3" Type="http://schemas.openxmlformats.org/officeDocument/2006/relationships/image" Target="../media/image-41-3.jpg"/><Relationship Id="rId4" Type="http://schemas.openxmlformats.org/officeDocument/2006/relationships/image" Target="../media/image-41-2.jp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jpg"/><Relationship Id="rId3" Type="http://schemas.openxmlformats.org/officeDocument/2006/relationships/image" Target="../media/image-44-3.jp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jpg"/><Relationship Id="rId3" Type="http://schemas.openxmlformats.org/officeDocument/2006/relationships/image" Target="../media/image-48-3.jpg"/><Relationship Id="rId4" Type="http://schemas.openxmlformats.org/officeDocument/2006/relationships/image" Target="../media/image-48-4.jpg"/><Relationship Id="rId5" Type="http://schemas.openxmlformats.org/officeDocument/2006/relationships/image" Target="../media/image-48-5.jp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www.youtube.com/results?search_query=Max%20Richter%20On%20the%20Nature%20of%20Daylight" TargetMode="External"/><Relationship Id="rId2" Type="http://schemas.openxmlformats.org/officeDocument/2006/relationships/hyperlink" Target="https://www.youtube.com/results?search_query=Olafur%20Arnalds%20Saman" TargetMode="External"/><Relationship Id="rId3" Type="http://schemas.openxmlformats.org/officeDocument/2006/relationships/hyperlink" Target="https://www.youtube.com/results?search_query=Succession%20main%20title%20theme%20Nicholas%20Britell" TargetMode="External"/><Relationship Id="rId4" Type="http://schemas.openxmlformats.org/officeDocument/2006/relationships/hyperlink" Target="https://www.youtube.com/results?search_query=Hans%20Zimmer%20Mountains%20Interstellar" TargetMode="External"/><Relationship Id="rId5" Type="http://schemas.openxmlformats.org/officeDocument/2006/relationships/hyperlink" Target="https://www.youtube.com/results?search_query=Kendrick%20Lamar%20HUMBLE%20instrumental" TargetMode="External"/><Relationship Id="rId6" Type="http://schemas.openxmlformats.org/officeDocument/2006/relationships/hyperlink" Target="https://www.youtube.com/results?search_query=Gesaffelstein%20Opr" TargetMode="External"/><Relationship Id="rId7" Type="http://schemas.openxmlformats.org/officeDocument/2006/relationships/hyperlink" Target="https://www.youtube.com/results?search_query=Ludovico%20Einaudi%20Experience" TargetMode="External"/><Relationship Id="rId8" Type="http://schemas.openxmlformats.org/officeDocument/2006/relationships/hyperlink" Target="https://www.youtube.com/results?search_query=Olafur%20Arnalds%20Saman" TargetMode="External"/><Relationship Id="rId9" Type="http://schemas.openxmlformats.org/officeDocument/2006/relationships/hyperlink" Target="https://www.youtube.com/results?search_query=Khruangbin%20Time%20You%20and%20I" TargetMode="External"/><Relationship Id="rId10" Type="http://schemas.openxmlformats.org/officeDocument/2006/relationships/hyperlink" Target="https://www.youtube.com/results?search_query=Ludwig%20Goransson%20Can%20You%20Hear%20The%20Music" TargetMode="External"/><Relationship Id="rId11" Type="http://schemas.openxmlformats.org/officeDocument/2006/relationships/hyperlink" Target="https://www.youtube.com/results?search_query=Hans%20Zimmer%20Time%20Inception" TargetMode="External"/><Relationship Id="rId12" Type="http://schemas.openxmlformats.org/officeDocument/2006/relationships/hyperlink" Target="https://www.youtube.com/results?search_query=Trent%20Reznor%20Atticus%20Ross%20In%20Motion" TargetMode="External"/><Relationship Id="rId13" Type="http://schemas.openxmlformats.org/officeDocument/2006/relationships/hyperlink" Target="https://www.youtube.com/results?search_query=Succession%20main%20title%20theme%20Nicholas%20Britell" TargetMode="External"/><Relationship Id="rId14" Type="http://schemas.openxmlformats.org/officeDocument/2006/relationships/hyperlink" Target="https://www.youtube.com/results?search_query=Kavinsky%20Nightcall" TargetMode="External"/><Relationship Id="rId15" Type="http://schemas.openxmlformats.org/officeDocument/2006/relationships/hyperlink" Target="https://www.youtube.com/results?search_query=Gesaffelstein%20Pursuit" TargetMode="External"/><Relationship Id="rId16" Type="http://schemas.openxmlformats.org/officeDocument/2006/relationships/slideLayout" Target="../slideLayouts/slideLayout1.xml"/><Relationship Id="rId1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01</a:t>
            </a:r>
            <a:endParaRPr lang="en-US" sz="750" dirty="0"/>
          </a:p>
        </p:txBody>
      </p:sp>
      <p:pic>
        <p:nvPicPr>
          <p:cNvPr id="4" name="Image 0" descr="/tmp/claude-0/-home-user-Sage-portfolio/d05fecce-977e-5eab-9cf5-7c09b306c551/scratchpad/wrdeck/gen/full/A1-3.jpg">    </p:cNvPr>
          <p:cNvPicPr>
            <a:picLocks noChangeAspect="1"/>
          </p:cNvPicPr>
          <p:nvPr/>
        </p:nvPicPr>
        <p:blipFill>
          <a:blip r:embed="rId1"/>
          <a:srcRect l="0" r="0" t="0" b="0"/>
          <a:stretch/>
        </p:blipFill>
        <p:spPr>
          <a:xfrm>
            <a:off x="6400800" y="0"/>
            <a:ext cx="1920240" cy="3456432"/>
          </a:xfrm>
          <a:prstGeom prst="rect">
            <a:avLst/>
          </a:prstGeom>
        </p:spPr>
      </p:pic>
      <p:pic>
        <p:nvPicPr>
          <p:cNvPr id="5" name="Image 1" descr="/tmp/claude-0/-home-user-Sage-portfolio/d05fecce-977e-5eab-9cf5-7c09b306c551/scratchpad/wrdeck/gen/full/E1-3.jpg">    </p:cNvPr>
          <p:cNvPicPr>
            <a:picLocks noChangeAspect="1"/>
          </p:cNvPicPr>
          <p:nvPr/>
        </p:nvPicPr>
        <p:blipFill>
          <a:blip r:embed="rId2"/>
          <a:srcRect l="0" r="0" t="0" b="0"/>
          <a:stretch/>
        </p:blipFill>
        <p:spPr>
          <a:xfrm>
            <a:off x="8366760" y="0"/>
            <a:ext cx="1920240" cy="3456432"/>
          </a:xfrm>
          <a:prstGeom prst="rect">
            <a:avLst/>
          </a:prstGeom>
        </p:spPr>
      </p:pic>
      <p:pic>
        <p:nvPicPr>
          <p:cNvPr id="6" name="Image 2" descr="/tmp/claude-0/-home-user-Sage-portfolio/d05fecce-977e-5eab-9cf5-7c09b306c551/scratchpad/wrdeck/gen/full/B1-3.jpg">    </p:cNvPr>
          <p:cNvPicPr>
            <a:picLocks noChangeAspect="1"/>
          </p:cNvPicPr>
          <p:nvPr/>
        </p:nvPicPr>
        <p:blipFill>
          <a:blip r:embed="rId3"/>
          <a:srcRect l="0" r="0" t="0" b="0"/>
          <a:stretch/>
        </p:blipFill>
        <p:spPr>
          <a:xfrm>
            <a:off x="10332720" y="0"/>
            <a:ext cx="1856232" cy="3456432"/>
          </a:xfrm>
          <a:prstGeom prst="rect">
            <a:avLst/>
          </a:prstGeom>
        </p:spPr>
      </p:pic>
      <p:pic>
        <p:nvPicPr>
          <p:cNvPr id="7" name="Image 3" descr="/tmp/claude-0/-home-user-Sage-portfolio/d05fecce-977e-5eab-9cf5-7c09b306c551/scratchpad/wrdeck/gen/full/C1-1.jpg">    </p:cNvPr>
          <p:cNvPicPr>
            <a:picLocks noChangeAspect="1"/>
          </p:cNvPicPr>
          <p:nvPr/>
        </p:nvPicPr>
        <p:blipFill>
          <a:blip r:embed="rId4"/>
          <a:srcRect l="0" r="0" t="0" b="0"/>
          <a:stretch/>
        </p:blipFill>
        <p:spPr>
          <a:xfrm>
            <a:off x="6400800" y="3502152"/>
            <a:ext cx="1920240" cy="3355848"/>
          </a:xfrm>
          <a:prstGeom prst="rect">
            <a:avLst/>
          </a:prstGeom>
        </p:spPr>
      </p:pic>
      <p:pic>
        <p:nvPicPr>
          <p:cNvPr id="8" name="Image 4" descr="/tmp/claude-0/-home-user-Sage-portfolio/d05fecce-977e-5eab-9cf5-7c09b306c551/scratchpad/wrdeck/gen/full/D1-3.jpg">    </p:cNvPr>
          <p:cNvPicPr>
            <a:picLocks noChangeAspect="1"/>
          </p:cNvPicPr>
          <p:nvPr/>
        </p:nvPicPr>
        <p:blipFill>
          <a:blip r:embed="rId5"/>
          <a:srcRect l="0" r="0" t="0" b="0"/>
          <a:stretch/>
        </p:blipFill>
        <p:spPr>
          <a:xfrm>
            <a:off x="8366760" y="3502152"/>
            <a:ext cx="1920240" cy="3355848"/>
          </a:xfrm>
          <a:prstGeom prst="rect">
            <a:avLst/>
          </a:prstGeom>
        </p:spPr>
      </p:pic>
      <p:pic>
        <p:nvPicPr>
          <p:cNvPr id="9" name="Image 5" descr="/tmp/claude-0/-home-user-Sage-portfolio/d05fecce-977e-5eab-9cf5-7c09b306c551/scratchpad/wrdeck/gen/full/A3-3.jpg">    </p:cNvPr>
          <p:cNvPicPr>
            <a:picLocks noChangeAspect="1"/>
          </p:cNvPicPr>
          <p:nvPr/>
        </p:nvPicPr>
        <p:blipFill>
          <a:blip r:embed="rId6"/>
          <a:srcRect l="0" r="0" t="0" b="0"/>
          <a:stretch/>
        </p:blipFill>
        <p:spPr>
          <a:xfrm>
            <a:off x="10332720" y="3502152"/>
            <a:ext cx="1856232" cy="3355848"/>
          </a:xfrm>
          <a:prstGeom prst="rect">
            <a:avLst/>
          </a:prstGeom>
        </p:spPr>
      </p:pic>
      <p:sp>
        <p:nvSpPr>
          <p:cNvPr id="10" name="Text 2"/>
          <p:cNvSpPr txBox="1"/>
          <p:nvPr/>
        </p:nvSpPr>
        <p:spPr>
          <a:xfrm>
            <a:off x="548640" y="64008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WEALTH ROOTS × MUKESH GUPTA  ·  SHOOT PLAN</a:t>
            </a:r>
            <a:endParaRPr lang="en-US" sz="900" dirty="0"/>
          </a:p>
        </p:txBody>
      </p:sp>
      <p:sp>
        <p:nvSpPr>
          <p:cNvPr id="11" name="Text 3"/>
          <p:cNvSpPr txBox="1"/>
          <p:nvPr/>
        </p:nvSpPr>
        <p:spPr>
          <a:xfrm>
            <a:off x="548640" y="1097280"/>
            <a:ext cx="5486400" cy="3108960"/>
          </a:xfrm>
          <a:prstGeom prst="rect">
            <a:avLst/>
          </a:prstGeom>
          <a:noFill/>
          <a:ln/>
        </p:spPr>
        <p:txBody>
          <a:bodyPr wrap="square" lIns="0" tIns="0" rIns="0" bIns="0" rtlCol="0" anchor="t"/>
          <a:lstStyle/>
          <a:p>
            <a:pPr indent="0" marL="0">
              <a:lnSpc>
                <a:spcPct val="90000"/>
              </a:lnSpc>
              <a:buNone/>
            </a:pPr>
            <a:r>
              <a:rPr lang="en-US" sz="7200" b="1" dirty="0">
                <a:solidFill>
                  <a:srgbClr val="F2EDE4"/>
                </a:solidFill>
                <a:latin typeface="Oswald" pitchFamily="34" charset="0"/>
                <a:ea typeface="Oswald" pitchFamily="34" charset="-122"/>
                <a:cs typeface="Oswald" pitchFamily="34" charset="-120"/>
              </a:rPr>
              <a:t>WEAR</a:t>
            </a:r>
            <a:endParaRPr lang="en-US" sz="7200" dirty="0"/>
          </a:p>
          <a:p>
            <a:pPr indent="0" marL="0">
              <a:lnSpc>
                <a:spcPct val="90000"/>
              </a:lnSpc>
              <a:buNone/>
            </a:pPr>
            <a:r>
              <a:rPr lang="en-US" sz="7200" b="1" dirty="0">
                <a:solidFill>
                  <a:srgbClr val="F2EDE4"/>
                </a:solidFill>
                <a:latin typeface="Oswald" pitchFamily="34" charset="0"/>
                <a:ea typeface="Oswald" pitchFamily="34" charset="-122"/>
                <a:cs typeface="Oswald" pitchFamily="34" charset="-120"/>
              </a:rPr>
              <a:t>WHAT'S</a:t>
            </a:r>
            <a:endParaRPr lang="en-US" sz="7200" dirty="0"/>
          </a:p>
          <a:p>
            <a:pPr indent="0" marL="0">
              <a:lnSpc>
                <a:spcPct val="90000"/>
              </a:lnSpc>
              <a:buNone/>
            </a:pPr>
            <a:r>
              <a:rPr lang="en-US" sz="7200" b="1" dirty="0">
                <a:solidFill>
                  <a:srgbClr val="F2EDE4"/>
                </a:solidFill>
                <a:latin typeface="Oswald" pitchFamily="34" charset="0"/>
                <a:ea typeface="Oswald" pitchFamily="34" charset="-122"/>
                <a:cs typeface="Oswald" pitchFamily="34" charset="-120"/>
              </a:rPr>
              <a:t>YOURS.</a:t>
            </a:r>
            <a:endParaRPr lang="en-US" sz="7200" dirty="0"/>
          </a:p>
        </p:txBody>
      </p:sp>
      <p:sp>
        <p:nvSpPr>
          <p:cNvPr id="12" name="Text 4"/>
          <p:cNvSpPr txBox="1"/>
          <p:nvPr/>
        </p:nvSpPr>
        <p:spPr>
          <a:xfrm>
            <a:off x="548640" y="4343400"/>
            <a:ext cx="5394960" cy="822960"/>
          </a:xfrm>
          <a:prstGeom prst="rect">
            <a:avLst/>
          </a:prstGeom>
          <a:noFill/>
          <a:ln/>
        </p:spPr>
        <p:txBody>
          <a:bodyPr wrap="square" lIns="0" tIns="0" rIns="0" bIns="0" rtlCol="0" anchor="t"/>
          <a:lstStyle/>
          <a:p>
            <a:pPr indent="0" marL="0">
              <a:buNone/>
            </a:pPr>
            <a:r>
              <a:rPr lang="en-US" sz="1300" dirty="0">
                <a:solidFill>
                  <a:srgbClr val="F2EDE4"/>
                </a:solidFill>
                <a:latin typeface="Inter" pitchFamily="34" charset="0"/>
                <a:ea typeface="Inter" pitchFamily="34" charset="-122"/>
                <a:cs typeface="Inter" pitchFamily="34" charset="-120"/>
              </a:rPr>
              <a:t>Five watches. Five worlds. Fifteen reels — all Mukesh ji, all in one day. Day 2 is the product shoot and Neetu's founder film.</a:t>
            </a:r>
            <a:endParaRPr lang="en-US" sz="1300" dirty="0"/>
          </a:p>
        </p:txBody>
      </p:sp>
      <p:sp>
        <p:nvSpPr>
          <p:cNvPr id="13" name="Shape 5"/>
          <p:cNvSpPr/>
          <p:nvPr/>
        </p:nvSpPr>
        <p:spPr>
          <a:xfrm>
            <a:off x="548640" y="5349240"/>
            <a:ext cx="548640" cy="36576"/>
          </a:xfrm>
          <a:prstGeom prst="rect">
            <a:avLst/>
          </a:prstGeom>
          <a:solidFill>
            <a:srgbClr val="C9A45C"/>
          </a:solidFill>
          <a:ln w="12700">
            <a:solidFill>
              <a:srgbClr val="C9A45C"/>
            </a:solidFill>
            <a:prstDash val="solid"/>
          </a:ln>
        </p:spPr>
      </p:sp>
      <p:sp>
        <p:nvSpPr>
          <p:cNvPr id="14" name="Text 6"/>
          <p:cNvSpPr txBox="1"/>
          <p:nvPr/>
        </p:nvSpPr>
        <p:spPr>
          <a:xfrm>
            <a:off x="548640" y="5486400"/>
            <a:ext cx="5486400" cy="54864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Shoot week of 26 Oct 2026  ·  Dhanteras 6 Nov  ·  Diwali 8 Nov</a:t>
            </a:r>
            <a:endParaRPr lang="en-US" sz="1000" dirty="0"/>
          </a:p>
          <a:p>
            <a:pPr indent="0" marL="0">
              <a:buNone/>
            </a:pPr>
            <a:r>
              <a:rPr lang="en-US" sz="1000" dirty="0">
                <a:solidFill>
                  <a:srgbClr val="9C978E"/>
                </a:solidFill>
                <a:latin typeface="Inter" pitchFamily="34" charset="0"/>
                <a:ea typeface="Inter" pitchFamily="34" charset="-122"/>
                <a:cs typeface="Inter" pitchFamily="34" charset="-120"/>
              </a:rPr>
              <a:t>Prepared by Sage Media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THE CAMPAIGN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02</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THE CAMPAIGN LINE</a:t>
            </a:r>
            <a:endParaRPr lang="en-US" sz="900" dirty="0"/>
          </a:p>
        </p:txBody>
      </p:sp>
      <p:sp>
        <p:nvSpPr>
          <p:cNvPr id="5" name="Text 3"/>
          <p:cNvSpPr txBox="1"/>
          <p:nvPr/>
        </p:nvSpPr>
        <p:spPr>
          <a:xfrm>
            <a:off x="548640" y="777240"/>
            <a:ext cx="10972800" cy="670560"/>
          </a:xfrm>
          <a:prstGeom prst="rect">
            <a:avLst/>
          </a:prstGeom>
          <a:noFill/>
          <a:ln/>
        </p:spPr>
        <p:txBody>
          <a:bodyPr wrap="square" lIns="0" tIns="0" rIns="0" bIns="0" rtlCol="0" anchor="t"/>
          <a:lstStyle/>
          <a:p>
            <a:pPr indent="0" marL="0">
              <a:buNone/>
            </a:pPr>
            <a:r>
              <a:rPr lang="en-US" sz="4400" b="1" spc="100" kern="0" dirty="0">
                <a:solidFill>
                  <a:srgbClr val="F2EDE4"/>
                </a:solidFill>
                <a:latin typeface="Oswald" pitchFamily="34" charset="0"/>
                <a:ea typeface="Oswald" pitchFamily="34" charset="-122"/>
                <a:cs typeface="Oswald" pitchFamily="34" charset="-120"/>
              </a:rPr>
              <a:t>WEAR WHAT'S YOURS.</a:t>
            </a:r>
            <a:endParaRPr lang="en-US" sz="4400" dirty="0"/>
          </a:p>
        </p:txBody>
      </p:sp>
      <p:sp>
        <p:nvSpPr>
          <p:cNvPr id="6" name="Text 4"/>
          <p:cNvSpPr txBox="1"/>
          <p:nvPr/>
        </p:nvSpPr>
        <p:spPr>
          <a:xfrm>
            <a:off x="548640" y="1645920"/>
            <a:ext cx="7863840" cy="731520"/>
          </a:xfrm>
          <a:prstGeom prst="rect">
            <a:avLst/>
          </a:prstGeom>
          <a:noFill/>
          <a:ln/>
        </p:spPr>
        <p:txBody>
          <a:bodyPr wrap="square" lIns="0" tIns="0" rIns="0" bIns="0" rtlCol="0" anchor="t"/>
          <a:lstStyle/>
          <a:p>
            <a:pPr indent="0" marL="0">
              <a:buNone/>
            </a:pPr>
            <a:r>
              <a:rPr lang="en-US" sz="1250" dirty="0">
                <a:solidFill>
                  <a:srgbClr val="9C978E"/>
                </a:solidFill>
                <a:latin typeface="Inter" pitchFamily="34" charset="0"/>
                <a:ea typeface="Inter" pitchFamily="34" charset="-122"/>
                <a:cs typeface="Inter" pitchFamily="34" charset="-120"/>
              </a:rPr>
              <a:t>You only wear what you've earned. Five watches, five sides of one man — and every reel ends on a toast to the side he's wearing that day.</a:t>
            </a:r>
            <a:endParaRPr lang="en-US" sz="1250" dirty="0"/>
          </a:p>
        </p:txBody>
      </p:sp>
      <p:sp>
        <p:nvSpPr>
          <p:cNvPr id="7" name="Shape 5"/>
          <p:cNvSpPr/>
          <p:nvPr/>
        </p:nvSpPr>
        <p:spPr>
          <a:xfrm>
            <a:off x="548640" y="2606040"/>
            <a:ext cx="2103120" cy="2377440"/>
          </a:xfrm>
          <a:prstGeom prst="rect">
            <a:avLst/>
          </a:prstGeom>
          <a:solidFill>
            <a:srgbClr val="151513"/>
          </a:solidFill>
          <a:ln w="9525">
            <a:solidFill>
              <a:srgbClr val="2B2A26"/>
            </a:solidFill>
            <a:prstDash val="solid"/>
          </a:ln>
        </p:spPr>
      </p:sp>
      <p:sp>
        <p:nvSpPr>
          <p:cNvPr id="8" name="Shape 6"/>
          <p:cNvSpPr/>
          <p:nvPr/>
        </p:nvSpPr>
        <p:spPr>
          <a:xfrm>
            <a:off x="548640" y="2606040"/>
            <a:ext cx="2103120" cy="91440"/>
          </a:xfrm>
          <a:prstGeom prst="rect">
            <a:avLst/>
          </a:prstGeom>
          <a:solidFill>
            <a:srgbClr val="E8DFC8"/>
          </a:solidFill>
          <a:ln w="12700">
            <a:solidFill>
              <a:srgbClr val="E8DFC8"/>
            </a:solidFill>
            <a:prstDash val="solid"/>
          </a:ln>
        </p:spPr>
      </p:sp>
      <p:sp>
        <p:nvSpPr>
          <p:cNvPr id="9" name="Text 7"/>
          <p:cNvSpPr txBox="1"/>
          <p:nvPr/>
        </p:nvSpPr>
        <p:spPr>
          <a:xfrm>
            <a:off x="731520" y="2834640"/>
            <a:ext cx="18288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FOREST IVORY</a:t>
            </a:r>
            <a:endParaRPr lang="en-US" sz="1400" dirty="0"/>
          </a:p>
        </p:txBody>
      </p:sp>
      <p:sp>
        <p:nvSpPr>
          <p:cNvPr id="10" name="Text 8"/>
          <p:cNvSpPr txBox="1"/>
          <p:nvPr/>
        </p:nvSpPr>
        <p:spPr>
          <a:xfrm>
            <a:off x="731520" y="3127248"/>
            <a:ext cx="1828800" cy="41148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THE ONE THAT STAYS</a:t>
            </a:r>
            <a:endParaRPr lang="en-US" sz="800" dirty="0"/>
          </a:p>
        </p:txBody>
      </p:sp>
      <p:sp>
        <p:nvSpPr>
          <p:cNvPr id="11" name="Text 9"/>
          <p:cNvSpPr txBox="1"/>
          <p:nvPr/>
        </p:nvSpPr>
        <p:spPr>
          <a:xfrm>
            <a:off x="731520" y="3566160"/>
            <a:ext cx="1783080" cy="45720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Heritage · royal palace · ethnic wear</a:t>
            </a:r>
            <a:endParaRPr lang="en-US" sz="900" dirty="0"/>
          </a:p>
        </p:txBody>
      </p:sp>
      <p:sp>
        <p:nvSpPr>
          <p:cNvPr id="12" name="Text 10"/>
          <p:cNvSpPr txBox="1"/>
          <p:nvPr/>
        </p:nvSpPr>
        <p:spPr>
          <a:xfrm>
            <a:off x="731520" y="4114800"/>
            <a:ext cx="1783080" cy="457200"/>
          </a:xfrm>
          <a:prstGeom prst="rect">
            <a:avLst/>
          </a:prstGeom>
          <a:noFill/>
          <a:ln/>
        </p:spPr>
        <p:txBody>
          <a:bodyPr wrap="square" lIns="0" tIns="0" rIns="0" bIns="0" rtlCol="0" anchor="t"/>
          <a:lstStyle/>
          <a:p>
            <a:pPr indent="0" marL="0">
              <a:buNone/>
            </a:pPr>
            <a:r>
              <a:rPr lang="en-US" sz="1300" i="1" dirty="0">
                <a:solidFill>
                  <a:srgbClr val="F2EDE4"/>
                </a:solidFill>
                <a:latin typeface="Oswald" pitchFamily="34" charset="0"/>
                <a:ea typeface="Oswald" pitchFamily="34" charset="-122"/>
                <a:cs typeface="Oswald" pitchFamily="34" charset="-120"/>
              </a:rPr>
              <a:t>Here's to your roots.</a:t>
            </a:r>
            <a:endParaRPr lang="en-US" sz="1300" dirty="0"/>
          </a:p>
        </p:txBody>
      </p:sp>
      <p:sp>
        <p:nvSpPr>
          <p:cNvPr id="13" name="Text 11"/>
          <p:cNvSpPr txBox="1"/>
          <p:nvPr/>
        </p:nvSpPr>
        <p:spPr>
          <a:xfrm>
            <a:off x="731520" y="4526280"/>
            <a:ext cx="1783080" cy="274320"/>
          </a:xfrm>
          <a:prstGeom prst="rect">
            <a:avLst/>
          </a:prstGeom>
          <a:noFill/>
          <a:ln/>
        </p:spPr>
        <p:txBody>
          <a:bodyPr wrap="square" lIns="0" tIns="0" rIns="0" bIns="0" rtlCol="0" anchor="t"/>
          <a:lstStyle/>
          <a:p>
            <a:pPr indent="0" marL="0">
              <a:buNone/>
            </a:pPr>
            <a:r>
              <a:rPr lang="en-US" sz="900" b="1" dirty="0">
                <a:solidFill>
                  <a:srgbClr val="C9A45C"/>
                </a:solidFill>
                <a:latin typeface="Inter" pitchFamily="34" charset="0"/>
                <a:ea typeface="Inter" pitchFamily="34" charset="-122"/>
                <a:cs typeface="Inter" pitchFamily="34" charset="-120"/>
              </a:rPr>
              <a:t>Wear what's yours.</a:t>
            </a:r>
            <a:endParaRPr lang="en-US" sz="900" dirty="0"/>
          </a:p>
        </p:txBody>
      </p:sp>
      <p:sp>
        <p:nvSpPr>
          <p:cNvPr id="14" name="Shape 12"/>
          <p:cNvSpPr/>
          <p:nvPr/>
        </p:nvSpPr>
        <p:spPr>
          <a:xfrm>
            <a:off x="2807208" y="2606040"/>
            <a:ext cx="2103120" cy="2377440"/>
          </a:xfrm>
          <a:prstGeom prst="rect">
            <a:avLst/>
          </a:prstGeom>
          <a:solidFill>
            <a:srgbClr val="151513"/>
          </a:solidFill>
          <a:ln w="9525">
            <a:solidFill>
              <a:srgbClr val="2B2A26"/>
            </a:solidFill>
            <a:prstDash val="solid"/>
          </a:ln>
        </p:spPr>
      </p:sp>
      <p:sp>
        <p:nvSpPr>
          <p:cNvPr id="15" name="Shape 13"/>
          <p:cNvSpPr/>
          <p:nvPr/>
        </p:nvSpPr>
        <p:spPr>
          <a:xfrm>
            <a:off x="2807208" y="2606040"/>
            <a:ext cx="2103120" cy="91440"/>
          </a:xfrm>
          <a:prstGeom prst="rect">
            <a:avLst/>
          </a:prstGeom>
          <a:solidFill>
            <a:srgbClr val="D7F25A"/>
          </a:solidFill>
          <a:ln w="12700">
            <a:solidFill>
              <a:srgbClr val="D7F25A"/>
            </a:solidFill>
            <a:prstDash val="solid"/>
          </a:ln>
        </p:spPr>
      </p:sp>
      <p:sp>
        <p:nvSpPr>
          <p:cNvPr id="16" name="Text 14"/>
          <p:cNvSpPr txBox="1"/>
          <p:nvPr/>
        </p:nvSpPr>
        <p:spPr>
          <a:xfrm>
            <a:off x="2990088" y="2834640"/>
            <a:ext cx="18288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CITRUS MINT</a:t>
            </a:r>
            <a:endParaRPr lang="en-US" sz="1400" dirty="0"/>
          </a:p>
        </p:txBody>
      </p:sp>
      <p:sp>
        <p:nvSpPr>
          <p:cNvPr id="17" name="Text 15"/>
          <p:cNvSpPr txBox="1"/>
          <p:nvPr/>
        </p:nvSpPr>
        <p:spPr>
          <a:xfrm>
            <a:off x="2990088" y="3127248"/>
            <a:ext cx="1828800" cy="41148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THE ONE THAT TRAINS WITH YOU</a:t>
            </a:r>
            <a:endParaRPr lang="en-US" sz="800" dirty="0"/>
          </a:p>
        </p:txBody>
      </p:sp>
      <p:sp>
        <p:nvSpPr>
          <p:cNvPr id="18" name="Text 16"/>
          <p:cNvSpPr txBox="1"/>
          <p:nvPr/>
        </p:nvSpPr>
        <p:spPr>
          <a:xfrm>
            <a:off x="2990088" y="3566160"/>
            <a:ext cx="1783080" cy="45720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Workout · athletic</a:t>
            </a:r>
            <a:endParaRPr lang="en-US" sz="900" dirty="0"/>
          </a:p>
        </p:txBody>
      </p:sp>
      <p:sp>
        <p:nvSpPr>
          <p:cNvPr id="19" name="Text 17"/>
          <p:cNvSpPr txBox="1"/>
          <p:nvPr/>
        </p:nvSpPr>
        <p:spPr>
          <a:xfrm>
            <a:off x="2990088" y="4114800"/>
            <a:ext cx="1783080" cy="457200"/>
          </a:xfrm>
          <a:prstGeom prst="rect">
            <a:avLst/>
          </a:prstGeom>
          <a:noFill/>
          <a:ln/>
        </p:spPr>
        <p:txBody>
          <a:bodyPr wrap="square" lIns="0" tIns="0" rIns="0" bIns="0" rtlCol="0" anchor="t"/>
          <a:lstStyle/>
          <a:p>
            <a:pPr indent="0" marL="0">
              <a:buNone/>
            </a:pPr>
            <a:r>
              <a:rPr lang="en-US" sz="1300" i="1" dirty="0">
                <a:solidFill>
                  <a:srgbClr val="F2EDE4"/>
                </a:solidFill>
                <a:latin typeface="Oswald" pitchFamily="34" charset="0"/>
                <a:ea typeface="Oswald" pitchFamily="34" charset="-122"/>
                <a:cs typeface="Oswald" pitchFamily="34" charset="-120"/>
              </a:rPr>
              <a:t>Here's to your sweat.</a:t>
            </a:r>
            <a:endParaRPr lang="en-US" sz="1300" dirty="0"/>
          </a:p>
        </p:txBody>
      </p:sp>
      <p:sp>
        <p:nvSpPr>
          <p:cNvPr id="20" name="Text 18"/>
          <p:cNvSpPr txBox="1"/>
          <p:nvPr/>
        </p:nvSpPr>
        <p:spPr>
          <a:xfrm>
            <a:off x="2990088" y="4526280"/>
            <a:ext cx="1783080" cy="274320"/>
          </a:xfrm>
          <a:prstGeom prst="rect">
            <a:avLst/>
          </a:prstGeom>
          <a:noFill/>
          <a:ln/>
        </p:spPr>
        <p:txBody>
          <a:bodyPr wrap="square" lIns="0" tIns="0" rIns="0" bIns="0" rtlCol="0" anchor="t"/>
          <a:lstStyle/>
          <a:p>
            <a:pPr indent="0" marL="0">
              <a:buNone/>
            </a:pPr>
            <a:r>
              <a:rPr lang="en-US" sz="900" b="1" dirty="0">
                <a:solidFill>
                  <a:srgbClr val="C9A45C"/>
                </a:solidFill>
                <a:latin typeface="Inter" pitchFamily="34" charset="0"/>
                <a:ea typeface="Inter" pitchFamily="34" charset="-122"/>
                <a:cs typeface="Inter" pitchFamily="34" charset="-120"/>
              </a:rPr>
              <a:t>Wear what's yours.</a:t>
            </a:r>
            <a:endParaRPr lang="en-US" sz="900" dirty="0"/>
          </a:p>
        </p:txBody>
      </p:sp>
      <p:sp>
        <p:nvSpPr>
          <p:cNvPr id="21" name="Shape 19"/>
          <p:cNvSpPr/>
          <p:nvPr/>
        </p:nvSpPr>
        <p:spPr>
          <a:xfrm>
            <a:off x="5065776" y="2606040"/>
            <a:ext cx="2103120" cy="2377440"/>
          </a:xfrm>
          <a:prstGeom prst="rect">
            <a:avLst/>
          </a:prstGeom>
          <a:solidFill>
            <a:srgbClr val="151513"/>
          </a:solidFill>
          <a:ln w="9525">
            <a:solidFill>
              <a:srgbClr val="2B2A26"/>
            </a:solidFill>
            <a:prstDash val="solid"/>
          </a:ln>
        </p:spPr>
      </p:sp>
      <p:sp>
        <p:nvSpPr>
          <p:cNvPr id="22" name="Shape 20"/>
          <p:cNvSpPr/>
          <p:nvPr/>
        </p:nvSpPr>
        <p:spPr>
          <a:xfrm>
            <a:off x="5065776" y="2606040"/>
            <a:ext cx="2103120" cy="91440"/>
          </a:xfrm>
          <a:prstGeom prst="rect">
            <a:avLst/>
          </a:prstGeom>
          <a:solidFill>
            <a:srgbClr val="8EC9EE"/>
          </a:solidFill>
          <a:ln w="12700">
            <a:solidFill>
              <a:srgbClr val="8EC9EE"/>
            </a:solidFill>
            <a:prstDash val="solid"/>
          </a:ln>
        </p:spPr>
      </p:sp>
      <p:sp>
        <p:nvSpPr>
          <p:cNvPr id="23" name="Text 21"/>
          <p:cNvSpPr txBox="1"/>
          <p:nvPr/>
        </p:nvSpPr>
        <p:spPr>
          <a:xfrm>
            <a:off x="5248656" y="2834640"/>
            <a:ext cx="18288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CERULEAN</a:t>
            </a:r>
            <a:endParaRPr lang="en-US" sz="1400" dirty="0"/>
          </a:p>
        </p:txBody>
      </p:sp>
      <p:sp>
        <p:nvSpPr>
          <p:cNvPr id="24" name="Text 22"/>
          <p:cNvSpPr txBox="1"/>
          <p:nvPr/>
        </p:nvSpPr>
        <p:spPr>
          <a:xfrm>
            <a:off x="5248656" y="3127248"/>
            <a:ext cx="1828800" cy="41148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THE ONE THAT GOES ANYWHERE</a:t>
            </a:r>
            <a:endParaRPr lang="en-US" sz="800" dirty="0"/>
          </a:p>
        </p:txBody>
      </p:sp>
      <p:sp>
        <p:nvSpPr>
          <p:cNvPr id="25" name="Text 23"/>
          <p:cNvSpPr txBox="1"/>
          <p:nvPr/>
        </p:nvSpPr>
        <p:spPr>
          <a:xfrm>
            <a:off x="5248656" y="3566160"/>
            <a:ext cx="1783080" cy="45720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Travel · sky · water · freedom</a:t>
            </a:r>
            <a:endParaRPr lang="en-US" sz="900" dirty="0"/>
          </a:p>
        </p:txBody>
      </p:sp>
      <p:sp>
        <p:nvSpPr>
          <p:cNvPr id="26" name="Text 24"/>
          <p:cNvSpPr txBox="1"/>
          <p:nvPr/>
        </p:nvSpPr>
        <p:spPr>
          <a:xfrm>
            <a:off x="5248656" y="4114800"/>
            <a:ext cx="1783080" cy="457200"/>
          </a:xfrm>
          <a:prstGeom prst="rect">
            <a:avLst/>
          </a:prstGeom>
          <a:noFill/>
          <a:ln/>
        </p:spPr>
        <p:txBody>
          <a:bodyPr wrap="square" lIns="0" tIns="0" rIns="0" bIns="0" rtlCol="0" anchor="t"/>
          <a:lstStyle/>
          <a:p>
            <a:pPr indent="0" marL="0">
              <a:buNone/>
            </a:pPr>
            <a:r>
              <a:rPr lang="en-US" sz="1300" i="1" dirty="0">
                <a:solidFill>
                  <a:srgbClr val="F2EDE4"/>
                </a:solidFill>
                <a:latin typeface="Oswald" pitchFamily="34" charset="0"/>
                <a:ea typeface="Oswald" pitchFamily="34" charset="-122"/>
                <a:cs typeface="Oswald" pitchFamily="34" charset="-120"/>
              </a:rPr>
              <a:t>Here's to your freedom.</a:t>
            </a:r>
            <a:endParaRPr lang="en-US" sz="1300" dirty="0"/>
          </a:p>
        </p:txBody>
      </p:sp>
      <p:sp>
        <p:nvSpPr>
          <p:cNvPr id="27" name="Text 25"/>
          <p:cNvSpPr txBox="1"/>
          <p:nvPr/>
        </p:nvSpPr>
        <p:spPr>
          <a:xfrm>
            <a:off x="5248656" y="4526280"/>
            <a:ext cx="1783080" cy="274320"/>
          </a:xfrm>
          <a:prstGeom prst="rect">
            <a:avLst/>
          </a:prstGeom>
          <a:noFill/>
          <a:ln/>
        </p:spPr>
        <p:txBody>
          <a:bodyPr wrap="square" lIns="0" tIns="0" rIns="0" bIns="0" rtlCol="0" anchor="t"/>
          <a:lstStyle/>
          <a:p>
            <a:pPr indent="0" marL="0">
              <a:buNone/>
            </a:pPr>
            <a:r>
              <a:rPr lang="en-US" sz="900" b="1" dirty="0">
                <a:solidFill>
                  <a:srgbClr val="C9A45C"/>
                </a:solidFill>
                <a:latin typeface="Inter" pitchFamily="34" charset="0"/>
                <a:ea typeface="Inter" pitchFamily="34" charset="-122"/>
                <a:cs typeface="Inter" pitchFamily="34" charset="-120"/>
              </a:rPr>
              <a:t>Wear what's yours.</a:t>
            </a:r>
            <a:endParaRPr lang="en-US" sz="900" dirty="0"/>
          </a:p>
        </p:txBody>
      </p:sp>
      <p:sp>
        <p:nvSpPr>
          <p:cNvPr id="28" name="Shape 26"/>
          <p:cNvSpPr/>
          <p:nvPr/>
        </p:nvSpPr>
        <p:spPr>
          <a:xfrm>
            <a:off x="7324344" y="2606040"/>
            <a:ext cx="2103120" cy="2377440"/>
          </a:xfrm>
          <a:prstGeom prst="rect">
            <a:avLst/>
          </a:prstGeom>
          <a:solidFill>
            <a:srgbClr val="151513"/>
          </a:solidFill>
          <a:ln w="9525">
            <a:solidFill>
              <a:srgbClr val="2B2A26"/>
            </a:solidFill>
            <a:prstDash val="solid"/>
          </a:ln>
        </p:spPr>
      </p:sp>
      <p:sp>
        <p:nvSpPr>
          <p:cNvPr id="29" name="Shape 27"/>
          <p:cNvSpPr/>
          <p:nvPr/>
        </p:nvSpPr>
        <p:spPr>
          <a:xfrm>
            <a:off x="7324344" y="2606040"/>
            <a:ext cx="2103120" cy="91440"/>
          </a:xfrm>
          <a:prstGeom prst="rect">
            <a:avLst/>
          </a:prstGeom>
          <a:solidFill>
            <a:srgbClr val="F28C28"/>
          </a:solidFill>
          <a:ln w="12700">
            <a:solidFill>
              <a:srgbClr val="F28C28"/>
            </a:solidFill>
            <a:prstDash val="solid"/>
          </a:ln>
        </p:spPr>
      </p:sp>
      <p:sp>
        <p:nvSpPr>
          <p:cNvPr id="30" name="Text 28"/>
          <p:cNvSpPr txBox="1"/>
          <p:nvPr/>
        </p:nvSpPr>
        <p:spPr>
          <a:xfrm>
            <a:off x="7507224" y="2834640"/>
            <a:ext cx="18288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ROYAL TANGERINE</a:t>
            </a:r>
            <a:endParaRPr lang="en-US" sz="1400" dirty="0"/>
          </a:p>
        </p:txBody>
      </p:sp>
      <p:sp>
        <p:nvSpPr>
          <p:cNvPr id="31" name="Text 29"/>
          <p:cNvSpPr txBox="1"/>
          <p:nvPr/>
        </p:nvSpPr>
        <p:spPr>
          <a:xfrm>
            <a:off x="7507224" y="3127248"/>
            <a:ext cx="1828800" cy="41148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THE SELF-MADE</a:t>
            </a:r>
            <a:endParaRPr lang="en-US" sz="800" dirty="0"/>
          </a:p>
        </p:txBody>
      </p:sp>
      <p:sp>
        <p:nvSpPr>
          <p:cNvPr id="32" name="Text 30"/>
          <p:cNvSpPr txBox="1"/>
          <p:nvPr/>
        </p:nvSpPr>
        <p:spPr>
          <a:xfrm>
            <a:off x="7507224" y="3566160"/>
            <a:ext cx="1783080" cy="45720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Energy · fast · the climb</a:t>
            </a:r>
            <a:endParaRPr lang="en-US" sz="900" dirty="0"/>
          </a:p>
        </p:txBody>
      </p:sp>
      <p:sp>
        <p:nvSpPr>
          <p:cNvPr id="33" name="Text 31"/>
          <p:cNvSpPr txBox="1"/>
          <p:nvPr/>
        </p:nvSpPr>
        <p:spPr>
          <a:xfrm>
            <a:off x="7507224" y="4114800"/>
            <a:ext cx="1783080" cy="457200"/>
          </a:xfrm>
          <a:prstGeom prst="rect">
            <a:avLst/>
          </a:prstGeom>
          <a:noFill/>
          <a:ln/>
        </p:spPr>
        <p:txBody>
          <a:bodyPr wrap="square" lIns="0" tIns="0" rIns="0" bIns="0" rtlCol="0" anchor="t"/>
          <a:lstStyle/>
          <a:p>
            <a:pPr indent="0" marL="0">
              <a:buNone/>
            </a:pPr>
            <a:r>
              <a:rPr lang="en-US" sz="1300" i="1" dirty="0">
                <a:solidFill>
                  <a:srgbClr val="F2EDE4"/>
                </a:solidFill>
                <a:latin typeface="Oswald" pitchFamily="34" charset="0"/>
                <a:ea typeface="Oswald" pitchFamily="34" charset="-122"/>
                <a:cs typeface="Oswald" pitchFamily="34" charset="-120"/>
              </a:rPr>
              <a:t>Here's to your journey.</a:t>
            </a:r>
            <a:endParaRPr lang="en-US" sz="1300" dirty="0"/>
          </a:p>
        </p:txBody>
      </p:sp>
      <p:sp>
        <p:nvSpPr>
          <p:cNvPr id="34" name="Text 32"/>
          <p:cNvSpPr txBox="1"/>
          <p:nvPr/>
        </p:nvSpPr>
        <p:spPr>
          <a:xfrm>
            <a:off x="7507224" y="4526280"/>
            <a:ext cx="1783080" cy="274320"/>
          </a:xfrm>
          <a:prstGeom prst="rect">
            <a:avLst/>
          </a:prstGeom>
          <a:noFill/>
          <a:ln/>
        </p:spPr>
        <p:txBody>
          <a:bodyPr wrap="square" lIns="0" tIns="0" rIns="0" bIns="0" rtlCol="0" anchor="t"/>
          <a:lstStyle/>
          <a:p>
            <a:pPr indent="0" marL="0">
              <a:buNone/>
            </a:pPr>
            <a:r>
              <a:rPr lang="en-US" sz="900" b="1" dirty="0">
                <a:solidFill>
                  <a:srgbClr val="C9A45C"/>
                </a:solidFill>
                <a:latin typeface="Inter" pitchFamily="34" charset="0"/>
                <a:ea typeface="Inter" pitchFamily="34" charset="-122"/>
                <a:cs typeface="Inter" pitchFamily="34" charset="-120"/>
              </a:rPr>
              <a:t>Wear what's yours.</a:t>
            </a:r>
            <a:endParaRPr lang="en-US" sz="900" dirty="0"/>
          </a:p>
        </p:txBody>
      </p:sp>
      <p:sp>
        <p:nvSpPr>
          <p:cNvPr id="35" name="Shape 33"/>
          <p:cNvSpPr/>
          <p:nvPr/>
        </p:nvSpPr>
        <p:spPr>
          <a:xfrm>
            <a:off x="9582912" y="2606040"/>
            <a:ext cx="2103120" cy="2377440"/>
          </a:xfrm>
          <a:prstGeom prst="rect">
            <a:avLst/>
          </a:prstGeom>
          <a:solidFill>
            <a:srgbClr val="151513"/>
          </a:solidFill>
          <a:ln w="9525">
            <a:solidFill>
              <a:srgbClr val="2B2A26"/>
            </a:solidFill>
            <a:prstDash val="solid"/>
          </a:ln>
        </p:spPr>
      </p:sp>
      <p:sp>
        <p:nvSpPr>
          <p:cNvPr id="36" name="Shape 34"/>
          <p:cNvSpPr/>
          <p:nvPr/>
        </p:nvSpPr>
        <p:spPr>
          <a:xfrm>
            <a:off x="9582912" y="2606040"/>
            <a:ext cx="2103120" cy="91440"/>
          </a:xfrm>
          <a:prstGeom prst="rect">
            <a:avLst/>
          </a:prstGeom>
          <a:solidFill>
            <a:srgbClr val="D2283A"/>
          </a:solidFill>
          <a:ln w="12700">
            <a:solidFill>
              <a:srgbClr val="D2283A"/>
            </a:solidFill>
            <a:prstDash val="solid"/>
          </a:ln>
        </p:spPr>
      </p:sp>
      <p:sp>
        <p:nvSpPr>
          <p:cNvPr id="37" name="Text 35"/>
          <p:cNvSpPr txBox="1"/>
          <p:nvPr/>
        </p:nvSpPr>
        <p:spPr>
          <a:xfrm>
            <a:off x="9765792" y="2834640"/>
            <a:ext cx="18288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CRIMSON NAVY</a:t>
            </a:r>
            <a:endParaRPr lang="en-US" sz="1400" dirty="0"/>
          </a:p>
        </p:txBody>
      </p:sp>
      <p:sp>
        <p:nvSpPr>
          <p:cNvPr id="38" name="Text 36"/>
          <p:cNvSpPr txBox="1"/>
          <p:nvPr/>
        </p:nvSpPr>
        <p:spPr>
          <a:xfrm>
            <a:off x="9765792" y="3127248"/>
            <a:ext cx="1828800" cy="41148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THE DOMINANT</a:t>
            </a:r>
            <a:endParaRPr lang="en-US" sz="800" dirty="0"/>
          </a:p>
        </p:txBody>
      </p:sp>
      <p:sp>
        <p:nvSpPr>
          <p:cNvPr id="39" name="Text 37"/>
          <p:cNvSpPr txBox="1"/>
          <p:nvPr/>
        </p:nvSpPr>
        <p:spPr>
          <a:xfrm>
            <a:off x="9765792" y="3566160"/>
            <a:ext cx="1783080" cy="45720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Power · alpha · black suit · red convertible</a:t>
            </a:r>
            <a:endParaRPr lang="en-US" sz="900" dirty="0"/>
          </a:p>
        </p:txBody>
      </p:sp>
      <p:sp>
        <p:nvSpPr>
          <p:cNvPr id="40" name="Text 38"/>
          <p:cNvSpPr txBox="1"/>
          <p:nvPr/>
        </p:nvSpPr>
        <p:spPr>
          <a:xfrm>
            <a:off x="9765792" y="4114800"/>
            <a:ext cx="1783080" cy="457200"/>
          </a:xfrm>
          <a:prstGeom prst="rect">
            <a:avLst/>
          </a:prstGeom>
          <a:noFill/>
          <a:ln/>
        </p:spPr>
        <p:txBody>
          <a:bodyPr wrap="square" lIns="0" tIns="0" rIns="0" bIns="0" rtlCol="0" anchor="t"/>
          <a:lstStyle/>
          <a:p>
            <a:pPr indent="0" marL="0">
              <a:buNone/>
            </a:pPr>
            <a:r>
              <a:rPr lang="en-US" sz="1300" i="1" dirty="0">
                <a:solidFill>
                  <a:srgbClr val="F2EDE4"/>
                </a:solidFill>
                <a:latin typeface="Oswald" pitchFamily="34" charset="0"/>
                <a:ea typeface="Oswald" pitchFamily="34" charset="-122"/>
                <a:cs typeface="Oswald" pitchFamily="34" charset="-120"/>
              </a:rPr>
              <a:t>Here's to your power.</a:t>
            </a:r>
            <a:endParaRPr lang="en-US" sz="1300" dirty="0"/>
          </a:p>
        </p:txBody>
      </p:sp>
      <p:sp>
        <p:nvSpPr>
          <p:cNvPr id="41" name="Text 39"/>
          <p:cNvSpPr txBox="1"/>
          <p:nvPr/>
        </p:nvSpPr>
        <p:spPr>
          <a:xfrm>
            <a:off x="9765792" y="4526280"/>
            <a:ext cx="1783080" cy="274320"/>
          </a:xfrm>
          <a:prstGeom prst="rect">
            <a:avLst/>
          </a:prstGeom>
          <a:noFill/>
          <a:ln/>
        </p:spPr>
        <p:txBody>
          <a:bodyPr wrap="square" lIns="0" tIns="0" rIns="0" bIns="0" rtlCol="0" anchor="t"/>
          <a:lstStyle/>
          <a:p>
            <a:pPr indent="0" marL="0">
              <a:buNone/>
            </a:pPr>
            <a:r>
              <a:rPr lang="en-US" sz="900" b="1" dirty="0">
                <a:solidFill>
                  <a:srgbClr val="C9A45C"/>
                </a:solidFill>
                <a:latin typeface="Inter" pitchFamily="34" charset="0"/>
                <a:ea typeface="Inter" pitchFamily="34" charset="-122"/>
                <a:cs typeface="Inter" pitchFamily="34" charset="-120"/>
              </a:rPr>
              <a:t>Wear what's yours.</a:t>
            </a:r>
            <a:endParaRPr lang="en-US" sz="900" dirty="0"/>
          </a:p>
        </p:txBody>
      </p:sp>
      <p:sp>
        <p:nvSpPr>
          <p:cNvPr id="42" name="Text 40"/>
          <p:cNvSpPr txBox="1"/>
          <p:nvPr/>
        </p:nvSpPr>
        <p:spPr>
          <a:xfrm>
            <a:off x="548640" y="525780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EVERY REEL ENDS ON</a:t>
            </a:r>
            <a:endParaRPr lang="en-US" sz="750" dirty="0"/>
          </a:p>
        </p:txBody>
      </p:sp>
      <p:sp>
        <p:nvSpPr>
          <p:cNvPr id="43" name="Text 41"/>
          <p:cNvSpPr txBox="1"/>
          <p:nvPr/>
        </p:nvSpPr>
        <p:spPr>
          <a:xfrm>
            <a:off x="548640" y="5486400"/>
            <a:ext cx="1097280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[toast]  →  WEAR WHAT'S YOURS.  ·  WEALTH ROOTS      #WearWhatsYours</a:t>
            </a:r>
            <a:endParaRPr lang="en-US" sz="1600" dirty="0"/>
          </a:p>
        </p:txBody>
      </p:sp>
      <p:sp>
        <p:nvSpPr>
          <p:cNvPr id="44" name="Text 42"/>
          <p:cNvSpPr txBox="1"/>
          <p:nvPr/>
        </p:nvSpPr>
        <p:spPr>
          <a:xfrm>
            <a:off x="548640" y="5897880"/>
            <a:ext cx="10972800" cy="274320"/>
          </a:xfrm>
          <a:prstGeom prst="rect">
            <a:avLst/>
          </a:prstGeom>
          <a:noFill/>
          <a:ln/>
        </p:spPr>
        <p:txBody>
          <a:bodyPr wrap="square" lIns="0" tIns="0" rIns="0" bIns="0" rtlCol="0" anchor="t"/>
          <a:lstStyle/>
          <a:p>
            <a:pPr indent="0" marL="0">
              <a:buNone/>
            </a:pPr>
            <a:r>
              <a:rPr lang="en-US" sz="950" dirty="0">
                <a:solidFill>
                  <a:srgbClr val="9C978E"/>
                </a:solidFill>
                <a:latin typeface="Inter" pitchFamily="34" charset="0"/>
                <a:ea typeface="Inter" pitchFamily="34" charset="-122"/>
                <a:cs typeface="Inter" pitchFamily="34" charset="-120"/>
              </a:rPr>
              <a:t>Neetu closes the founder film with the same line, in her words: "Jo tumhara hai — wahi pehno."</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RULES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03</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THE RULES ON SET</a:t>
            </a:r>
            <a:endParaRPr lang="en-US" sz="900" dirty="0"/>
          </a:p>
        </p:txBody>
      </p:sp>
      <p:sp>
        <p:nvSpPr>
          <p:cNvPr id="5" name="Text 3"/>
          <p:cNvSpPr txBox="1"/>
          <p:nvPr/>
        </p:nvSpPr>
        <p:spPr>
          <a:xfrm>
            <a:off x="548640" y="77724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ONE MAN. NO WORDS ON CAMERA. ONE WORLD PER WATCH.</a:t>
            </a:r>
            <a:endParaRPr lang="en-US" sz="3000" dirty="0"/>
          </a:p>
        </p:txBody>
      </p:sp>
      <p:sp>
        <p:nvSpPr>
          <p:cNvPr id="6" name="Text 4"/>
          <p:cNvSpPr txBox="1"/>
          <p:nvPr/>
        </p:nvSpPr>
        <p:spPr>
          <a:xfrm>
            <a:off x="548640" y="178308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01</a:t>
            </a:r>
            <a:endParaRPr lang="en-US" sz="2000" dirty="0"/>
          </a:p>
        </p:txBody>
      </p:sp>
      <p:sp>
        <p:nvSpPr>
          <p:cNvPr id="7" name="Text 5"/>
          <p:cNvSpPr txBox="1"/>
          <p:nvPr/>
        </p:nvSpPr>
        <p:spPr>
          <a:xfrm>
            <a:off x="1188720" y="180136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MUKESH JI IS THE ONLY PERSON ON SCREEN</a:t>
            </a:r>
            <a:endParaRPr lang="en-US" sz="1200" dirty="0"/>
          </a:p>
        </p:txBody>
      </p:sp>
      <p:sp>
        <p:nvSpPr>
          <p:cNvPr id="8" name="Text 6"/>
          <p:cNvSpPr txBox="1"/>
          <p:nvPr/>
        </p:nvSpPr>
        <p:spPr>
          <a:xfrm>
            <a:off x="1188720" y="214884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No family, no extras, no second actor. Every other voice (an uncle, an announcer) is off-screen only.</a:t>
            </a:r>
            <a:endParaRPr lang="en-US" sz="1050" dirty="0"/>
          </a:p>
        </p:txBody>
      </p:sp>
      <p:sp>
        <p:nvSpPr>
          <p:cNvPr id="9" name="Text 7"/>
          <p:cNvSpPr txBox="1"/>
          <p:nvPr/>
        </p:nvSpPr>
        <p:spPr>
          <a:xfrm>
            <a:off x="6172200" y="178308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02</a:t>
            </a:r>
            <a:endParaRPr lang="en-US" sz="2000" dirty="0"/>
          </a:p>
        </p:txBody>
      </p:sp>
      <p:sp>
        <p:nvSpPr>
          <p:cNvPr id="10" name="Text 8"/>
          <p:cNvSpPr txBox="1"/>
          <p:nvPr/>
        </p:nvSpPr>
        <p:spPr>
          <a:xfrm>
            <a:off x="6812280" y="180136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HE NEVER SPEAKS ON CAMERA</a:t>
            </a:r>
            <a:endParaRPr lang="en-US" sz="1200" dirty="0"/>
          </a:p>
        </p:txBody>
      </p:sp>
      <p:sp>
        <p:nvSpPr>
          <p:cNvPr id="11" name="Text 9"/>
          <p:cNvSpPr txBox="1"/>
          <p:nvPr/>
        </p:nvSpPr>
        <p:spPr>
          <a:xfrm>
            <a:off x="6812280" y="214884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Every word is an English voice-over, recorded separately. He acts with stillness, looks and the watch.</a:t>
            </a:r>
            <a:endParaRPr lang="en-US" sz="1050" dirty="0"/>
          </a:p>
        </p:txBody>
      </p:sp>
      <p:sp>
        <p:nvSpPr>
          <p:cNvPr id="12" name="Text 10"/>
          <p:cNvSpPr txBox="1"/>
          <p:nvPr/>
        </p:nvSpPr>
        <p:spPr>
          <a:xfrm>
            <a:off x="548640" y="324612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03</a:t>
            </a:r>
            <a:endParaRPr lang="en-US" sz="2000" dirty="0"/>
          </a:p>
        </p:txBody>
      </p:sp>
      <p:sp>
        <p:nvSpPr>
          <p:cNvPr id="13" name="Text 11"/>
          <p:cNvSpPr txBox="1"/>
          <p:nvPr/>
        </p:nvSpPr>
        <p:spPr>
          <a:xfrm>
            <a:off x="1188720" y="326440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THE WATCH IS ALWAYS WORN</a:t>
            </a:r>
            <a:endParaRPr lang="en-US" sz="1200" dirty="0"/>
          </a:p>
        </p:txBody>
      </p:sp>
      <p:sp>
        <p:nvSpPr>
          <p:cNvPr id="14" name="Text 12"/>
          <p:cNvSpPr txBox="1"/>
          <p:nvPr/>
        </p:nvSpPr>
        <p:spPr>
          <a:xfrm>
            <a:off x="1188720" y="361188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Never on a floor, table, thali or cloth. In the product shoot it sits on a stand, a pillow, in its box or on a hand model.</a:t>
            </a:r>
            <a:endParaRPr lang="en-US" sz="1050" dirty="0"/>
          </a:p>
        </p:txBody>
      </p:sp>
      <p:sp>
        <p:nvSpPr>
          <p:cNvPr id="15" name="Text 13"/>
          <p:cNvSpPr txBox="1"/>
          <p:nvPr/>
        </p:nvSpPr>
        <p:spPr>
          <a:xfrm>
            <a:off x="6172200" y="324612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04</a:t>
            </a:r>
            <a:endParaRPr lang="en-US" sz="2000" dirty="0"/>
          </a:p>
        </p:txBody>
      </p:sp>
      <p:sp>
        <p:nvSpPr>
          <p:cNvPr id="16" name="Text 14"/>
          <p:cNvSpPr txBox="1"/>
          <p:nvPr/>
        </p:nvSpPr>
        <p:spPr>
          <a:xfrm>
            <a:off x="6812280" y="326440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ONE WORLD PER WATCH — NEVER MIXED</a:t>
            </a:r>
            <a:endParaRPr lang="en-US" sz="1200" dirty="0"/>
          </a:p>
        </p:txBody>
      </p:sp>
      <p:sp>
        <p:nvSpPr>
          <p:cNvPr id="17" name="Text 15"/>
          <p:cNvSpPr txBox="1"/>
          <p:nvPr/>
        </p:nvSpPr>
        <p:spPr>
          <a:xfrm>
            <a:off x="6812280" y="361188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Palace is Forest Ivory only. Gym and track for Citrus Mint. Modern pool villa for Cerulean. Glass office tower for Royal Tangerine. Night city and the red car for Crimson Navy.</a:t>
            </a:r>
            <a:endParaRPr lang="en-US" sz="1050" dirty="0"/>
          </a:p>
        </p:txBody>
      </p:sp>
      <p:sp>
        <p:nvSpPr>
          <p:cNvPr id="18" name="Text 16"/>
          <p:cNvSpPr txBox="1"/>
          <p:nvPr/>
        </p:nvSpPr>
        <p:spPr>
          <a:xfrm>
            <a:off x="548640" y="470916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05</a:t>
            </a:r>
            <a:endParaRPr lang="en-US" sz="2000" dirty="0"/>
          </a:p>
        </p:txBody>
      </p:sp>
      <p:sp>
        <p:nvSpPr>
          <p:cNvPr id="19" name="Text 17"/>
          <p:cNvSpPr txBox="1"/>
          <p:nvPr/>
        </p:nvSpPr>
        <p:spPr>
          <a:xfrm>
            <a:off x="1188720" y="472744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THE CASE IS ALWAYS SHARP</a:t>
            </a:r>
            <a:endParaRPr lang="en-US" sz="1200" dirty="0"/>
          </a:p>
        </p:txBody>
      </p:sp>
      <p:sp>
        <p:nvSpPr>
          <p:cNvPr id="20" name="Text 18"/>
          <p:cNvSpPr txBox="1"/>
          <p:nvPr/>
        </p:nvSpPr>
        <p:spPr>
          <a:xfrm>
            <a:off x="1188720" y="507492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Every reel has one macro where the eight screws and the WR monogram are in focus.</a:t>
            </a:r>
            <a:endParaRPr lang="en-US" sz="1050" dirty="0"/>
          </a:p>
        </p:txBody>
      </p:sp>
      <p:sp>
        <p:nvSpPr>
          <p:cNvPr id="21" name="Text 19"/>
          <p:cNvSpPr txBox="1"/>
          <p:nvPr/>
        </p:nvSpPr>
        <p:spPr>
          <a:xfrm>
            <a:off x="6172200" y="4709160"/>
            <a:ext cx="548640" cy="365760"/>
          </a:xfrm>
          <a:prstGeom prst="rect">
            <a:avLst/>
          </a:prstGeom>
          <a:noFill/>
          <a:ln/>
        </p:spPr>
        <p:txBody>
          <a:bodyPr wrap="square" lIns="0" tIns="0" rIns="0" bIns="0" rtlCol="0" anchor="t"/>
          <a:lstStyle/>
          <a:p>
            <a:pPr indent="0" marL="0">
              <a:buNone/>
            </a:pPr>
            <a:r>
              <a:rPr lang="en-US" sz="2000" b="1" dirty="0">
                <a:solidFill>
                  <a:srgbClr val="C9A45C"/>
                </a:solidFill>
                <a:latin typeface="Oswald" pitchFamily="34" charset="0"/>
                <a:ea typeface="Oswald" pitchFamily="34" charset="-122"/>
                <a:cs typeface="Oswald" pitchFamily="34" charset="-120"/>
              </a:rPr>
              <a:t>06</a:t>
            </a:r>
            <a:endParaRPr lang="en-US" sz="2000" dirty="0"/>
          </a:p>
        </p:txBody>
      </p:sp>
      <p:sp>
        <p:nvSpPr>
          <p:cNvPr id="22" name="Text 20"/>
          <p:cNvSpPr txBox="1"/>
          <p:nvPr/>
        </p:nvSpPr>
        <p:spPr>
          <a:xfrm>
            <a:off x="6812280" y="4727448"/>
            <a:ext cx="4754880" cy="292608"/>
          </a:xfrm>
          <a:prstGeom prst="rect">
            <a:avLst/>
          </a:prstGeom>
          <a:noFill/>
          <a:ln/>
        </p:spPr>
        <p:txBody>
          <a:bodyPr wrap="square" lIns="0" tIns="0" rIns="0" bIns="0" rtlCol="0" anchor="t"/>
          <a:lstStyle/>
          <a:p>
            <a:pPr indent="0" marL="0">
              <a:buNone/>
            </a:pPr>
            <a:r>
              <a:rPr lang="en-US" sz="1200" b="1" spc="200" kern="0" dirty="0">
                <a:solidFill>
                  <a:srgbClr val="F2EDE4"/>
                </a:solidFill>
                <a:latin typeface="Inter" pitchFamily="34" charset="0"/>
                <a:ea typeface="Inter" pitchFamily="34" charset="-122"/>
                <a:cs typeface="Inter" pitchFamily="34" charset="-120"/>
              </a:rPr>
              <a:t>RESTRAINT OVER NOISE</a:t>
            </a:r>
            <a:endParaRPr lang="en-US" sz="1200" dirty="0"/>
          </a:p>
        </p:txBody>
      </p:sp>
      <p:sp>
        <p:nvSpPr>
          <p:cNvPr id="23" name="Text 21"/>
          <p:cNvSpPr txBox="1"/>
          <p:nvPr/>
        </p:nvSpPr>
        <p:spPr>
          <a:xfrm>
            <a:off x="6812280" y="5074920"/>
            <a:ext cx="4754880" cy="868680"/>
          </a:xfrm>
          <a:prstGeom prst="rect">
            <a:avLst/>
          </a:prstGeom>
          <a:noFill/>
          <a:ln/>
        </p:spPr>
        <p:txBody>
          <a:bodyPr wrap="square" lIns="0" tIns="0" rIns="0" bIns="0" rtlCol="0" anchor="t"/>
          <a:lstStyle/>
          <a:p>
            <a:pPr indent="0" marL="0">
              <a:lnSpc>
                <a:spcPct val="115000"/>
              </a:lnSpc>
              <a:buNone/>
            </a:pPr>
            <a:r>
              <a:rPr lang="en-US" sz="1050" dirty="0">
                <a:solidFill>
                  <a:srgbClr val="9C978E"/>
                </a:solidFill>
                <a:latin typeface="Inter" pitchFamily="34" charset="0"/>
                <a:ea typeface="Inter" pitchFamily="34" charset="-122"/>
                <a:cs typeface="Inter" pitchFamily="34" charset="-120"/>
              </a:rPr>
              <a:t>Neetu: "The loudest man in the room is usually the most insecure." No flexing, no shouting. Stillness reads as power.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THE WATCHES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04</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THE FIVE WATCHES · FIVE CHARACTERS</a:t>
            </a:r>
            <a:endParaRPr lang="en-US" sz="900" dirty="0"/>
          </a:p>
        </p:txBody>
      </p:sp>
      <p:sp>
        <p:nvSpPr>
          <p:cNvPr id="5" name="Text 3"/>
          <p:cNvSpPr txBox="1"/>
          <p:nvPr/>
        </p:nvSpPr>
        <p:spPr>
          <a:xfrm>
            <a:off x="548640" y="777240"/>
            <a:ext cx="10972800" cy="518160"/>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EACH ONE IS A SIDE OF HIM.</a:t>
            </a:r>
            <a:endParaRPr lang="en-US" sz="3400" dirty="0"/>
          </a:p>
        </p:txBody>
      </p:sp>
      <p:pic>
        <p:nvPicPr>
          <p:cNvPr id="6" name="Image 0" descr="/tmp/claude-0/-home-user-Sage-portfolio/d05fecce-977e-5eab-9cf5-7c09b306c551/scratchpad/wrdeck/img/crop_green.jpg">    </p:cNvPr>
          <p:cNvPicPr>
            <a:picLocks noChangeAspect="1"/>
          </p:cNvPicPr>
          <p:nvPr/>
        </p:nvPicPr>
        <p:blipFill>
          <a:blip r:embed="rId1"/>
          <a:srcRect l="0" r="0" t="0" b="0"/>
          <a:stretch/>
        </p:blipFill>
        <p:spPr>
          <a:xfrm>
            <a:off x="548640" y="1691640"/>
            <a:ext cx="2103120" cy="2377440"/>
          </a:xfrm>
          <a:prstGeom prst="rect">
            <a:avLst/>
          </a:prstGeom>
        </p:spPr>
      </p:pic>
      <p:sp>
        <p:nvSpPr>
          <p:cNvPr id="7" name="Shape 4"/>
          <p:cNvSpPr/>
          <p:nvPr/>
        </p:nvSpPr>
        <p:spPr>
          <a:xfrm>
            <a:off x="548640" y="4133088"/>
            <a:ext cx="2103120" cy="54864"/>
          </a:xfrm>
          <a:prstGeom prst="rect">
            <a:avLst/>
          </a:prstGeom>
          <a:solidFill>
            <a:srgbClr val="E8DFC8"/>
          </a:solidFill>
          <a:ln w="12700">
            <a:solidFill>
              <a:srgbClr val="E8DFC8"/>
            </a:solidFill>
            <a:prstDash val="solid"/>
          </a:ln>
        </p:spPr>
      </p:sp>
      <p:sp>
        <p:nvSpPr>
          <p:cNvPr id="8" name="Text 5"/>
          <p:cNvSpPr txBox="1"/>
          <p:nvPr/>
        </p:nvSpPr>
        <p:spPr>
          <a:xfrm>
            <a:off x="548640" y="4315968"/>
            <a:ext cx="210312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FOREST IVORY</a:t>
            </a:r>
            <a:endParaRPr lang="en-US" sz="1600" dirty="0"/>
          </a:p>
        </p:txBody>
      </p:sp>
      <p:sp>
        <p:nvSpPr>
          <p:cNvPr id="9" name="Text 6"/>
          <p:cNvSpPr txBox="1"/>
          <p:nvPr/>
        </p:nvSpPr>
        <p:spPr>
          <a:xfrm>
            <a:off x="548640" y="4645152"/>
            <a:ext cx="2103120" cy="41148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Ivory case · white waffle dial · bottle-green strap</a:t>
            </a:r>
            <a:endParaRPr lang="en-US" sz="900" dirty="0"/>
          </a:p>
        </p:txBody>
      </p:sp>
      <p:sp>
        <p:nvSpPr>
          <p:cNvPr id="10" name="Text 7"/>
          <p:cNvSpPr txBox="1"/>
          <p:nvPr/>
        </p:nvSpPr>
        <p:spPr>
          <a:xfrm>
            <a:off x="548640" y="5074920"/>
            <a:ext cx="2103120" cy="411480"/>
          </a:xfrm>
          <a:prstGeom prst="rect">
            <a:avLst/>
          </a:prstGeom>
          <a:noFill/>
          <a:ln/>
        </p:spPr>
        <p:txBody>
          <a:bodyPr wrap="square" lIns="0" tIns="0" rIns="0" bIns="0" rtlCol="0" anchor="t"/>
          <a:lstStyle/>
          <a:p>
            <a:pPr indent="0" marL="0">
              <a:buNone/>
            </a:pPr>
            <a:r>
              <a:rPr lang="en-US" sz="850" b="1" spc="200" kern="0" dirty="0">
                <a:solidFill>
                  <a:srgbClr val="C9A45C"/>
                </a:solidFill>
                <a:latin typeface="Inter" pitchFamily="34" charset="0"/>
                <a:ea typeface="Inter" pitchFamily="34" charset="-122"/>
                <a:cs typeface="Inter" pitchFamily="34" charset="-120"/>
              </a:rPr>
              <a:t>THE ONE THAT STAYS</a:t>
            </a:r>
            <a:endParaRPr lang="en-US" sz="850" dirty="0"/>
          </a:p>
        </p:txBody>
      </p:sp>
      <p:sp>
        <p:nvSpPr>
          <p:cNvPr id="11" name="Text 8"/>
          <p:cNvSpPr txBox="1"/>
          <p:nvPr/>
        </p:nvSpPr>
        <p:spPr>
          <a:xfrm>
            <a:off x="548640" y="5486400"/>
            <a:ext cx="2103120" cy="822960"/>
          </a:xfrm>
          <a:prstGeom prst="rect">
            <a:avLst/>
          </a:prstGeom>
          <a:noFill/>
          <a:ln/>
        </p:spPr>
        <p:txBody>
          <a:bodyPr wrap="square" lIns="0" tIns="0" rIns="0" bIns="0" rtlCol="0" anchor="t"/>
          <a:lstStyle/>
          <a:p>
            <a:pPr indent="0" marL="0">
              <a:lnSpc>
                <a:spcPct val="110000"/>
              </a:lnSpc>
              <a:buNone/>
            </a:pPr>
            <a:r>
              <a:rPr lang="en-US" sz="800" dirty="0">
                <a:solidFill>
                  <a:srgbClr val="F2EDE4"/>
                </a:solidFill>
                <a:latin typeface="Inter" pitchFamily="34" charset="0"/>
                <a:ea typeface="Inter" pitchFamily="34" charset="-122"/>
                <a:cs typeface="Inter" pitchFamily="34" charset="-120"/>
              </a:rPr>
              <a:t>Heritage here means one thing: what survives time. The palace is the proof it exists. The Forest Ivory is the man who builds the same way — quiet, right, made to last.</a:t>
            </a:r>
            <a:endParaRPr lang="en-US" sz="800" dirty="0"/>
          </a:p>
        </p:txBody>
      </p:sp>
      <p:pic>
        <p:nvPicPr>
          <p:cNvPr id="12" name="Image 1" descr="/tmp/claude-0/-home-user-Sage-portfolio/d05fecce-977e-5eab-9cf5-7c09b306c551/scratchpad/wrdeck/img/crop_lime.jpg">    </p:cNvPr>
          <p:cNvPicPr>
            <a:picLocks noChangeAspect="1"/>
          </p:cNvPicPr>
          <p:nvPr/>
        </p:nvPicPr>
        <p:blipFill>
          <a:blip r:embed="rId2"/>
          <a:srcRect l="0" r="0" t="0" b="0"/>
          <a:stretch/>
        </p:blipFill>
        <p:spPr>
          <a:xfrm>
            <a:off x="2807208" y="1691640"/>
            <a:ext cx="2103120" cy="2377440"/>
          </a:xfrm>
          <a:prstGeom prst="rect">
            <a:avLst/>
          </a:prstGeom>
        </p:spPr>
      </p:pic>
      <p:sp>
        <p:nvSpPr>
          <p:cNvPr id="13" name="Shape 9"/>
          <p:cNvSpPr/>
          <p:nvPr/>
        </p:nvSpPr>
        <p:spPr>
          <a:xfrm>
            <a:off x="2807208" y="4133088"/>
            <a:ext cx="2103120" cy="54864"/>
          </a:xfrm>
          <a:prstGeom prst="rect">
            <a:avLst/>
          </a:prstGeom>
          <a:solidFill>
            <a:srgbClr val="D7F25A"/>
          </a:solidFill>
          <a:ln w="12700">
            <a:solidFill>
              <a:srgbClr val="D7F25A"/>
            </a:solidFill>
            <a:prstDash val="solid"/>
          </a:ln>
        </p:spPr>
      </p:sp>
      <p:sp>
        <p:nvSpPr>
          <p:cNvPr id="14" name="Text 10"/>
          <p:cNvSpPr txBox="1"/>
          <p:nvPr/>
        </p:nvSpPr>
        <p:spPr>
          <a:xfrm>
            <a:off x="2807208" y="4315968"/>
            <a:ext cx="210312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CITRUS MINT</a:t>
            </a:r>
            <a:endParaRPr lang="en-US" sz="1600" dirty="0"/>
          </a:p>
        </p:txBody>
      </p:sp>
      <p:sp>
        <p:nvSpPr>
          <p:cNvPr id="15" name="Text 11"/>
          <p:cNvSpPr txBox="1"/>
          <p:nvPr/>
        </p:nvSpPr>
        <p:spPr>
          <a:xfrm>
            <a:off x="2807208" y="4645152"/>
            <a:ext cx="2103120" cy="41148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Lime case · mint waffle dial · mint strap</a:t>
            </a:r>
            <a:endParaRPr lang="en-US" sz="900" dirty="0"/>
          </a:p>
        </p:txBody>
      </p:sp>
      <p:sp>
        <p:nvSpPr>
          <p:cNvPr id="16" name="Text 12"/>
          <p:cNvSpPr txBox="1"/>
          <p:nvPr/>
        </p:nvSpPr>
        <p:spPr>
          <a:xfrm>
            <a:off x="2807208" y="5074920"/>
            <a:ext cx="2103120" cy="411480"/>
          </a:xfrm>
          <a:prstGeom prst="rect">
            <a:avLst/>
          </a:prstGeom>
          <a:noFill/>
          <a:ln/>
        </p:spPr>
        <p:txBody>
          <a:bodyPr wrap="square" lIns="0" tIns="0" rIns="0" bIns="0" rtlCol="0" anchor="t"/>
          <a:lstStyle/>
          <a:p>
            <a:pPr indent="0" marL="0">
              <a:buNone/>
            </a:pPr>
            <a:r>
              <a:rPr lang="en-US" sz="850" b="1" spc="200" kern="0" dirty="0">
                <a:solidFill>
                  <a:srgbClr val="C9A45C"/>
                </a:solidFill>
                <a:latin typeface="Inter" pitchFamily="34" charset="0"/>
                <a:ea typeface="Inter" pitchFamily="34" charset="-122"/>
                <a:cs typeface="Inter" pitchFamily="34" charset="-120"/>
              </a:rPr>
              <a:t>THE ONE THAT TRAINS WITH YOU</a:t>
            </a:r>
            <a:endParaRPr lang="en-US" sz="850" dirty="0"/>
          </a:p>
        </p:txBody>
      </p:sp>
      <p:sp>
        <p:nvSpPr>
          <p:cNvPr id="17" name="Text 13"/>
          <p:cNvSpPr txBox="1"/>
          <p:nvPr/>
        </p:nvSpPr>
        <p:spPr>
          <a:xfrm>
            <a:off x="2807208" y="5486400"/>
            <a:ext cx="2103120" cy="822960"/>
          </a:xfrm>
          <a:prstGeom prst="rect">
            <a:avLst/>
          </a:prstGeom>
          <a:noFill/>
          <a:ln/>
        </p:spPr>
        <p:txBody>
          <a:bodyPr wrap="square" lIns="0" tIns="0" rIns="0" bIns="0" rtlCol="0" anchor="t"/>
          <a:lstStyle/>
          <a:p>
            <a:pPr indent="0" marL="0">
              <a:lnSpc>
                <a:spcPct val="110000"/>
              </a:lnSpc>
              <a:buNone/>
            </a:pPr>
            <a:r>
              <a:rPr lang="en-US" sz="800" dirty="0">
                <a:solidFill>
                  <a:srgbClr val="F2EDE4"/>
                </a:solidFill>
                <a:latin typeface="Inter" pitchFamily="34" charset="0"/>
                <a:ea typeface="Inter" pitchFamily="34" charset="-122"/>
                <a:cs typeface="Inter" pitchFamily="34" charset="-120"/>
              </a:rPr>
              <a:t>Loud in colour, quiet in effort. The one luxury watch that doesn't come off for the workout — it was built for it.</a:t>
            </a:r>
            <a:endParaRPr lang="en-US" sz="800" dirty="0"/>
          </a:p>
        </p:txBody>
      </p:sp>
      <p:pic>
        <p:nvPicPr>
          <p:cNvPr id="18" name="Image 2" descr="/tmp/claude-0/-home-user-Sage-portfolio/d05fecce-977e-5eab-9cf5-7c09b306c551/scratchpad/wrdeck/img/crop_skyblue.jpg">    </p:cNvPr>
          <p:cNvPicPr>
            <a:picLocks noChangeAspect="1"/>
          </p:cNvPicPr>
          <p:nvPr/>
        </p:nvPicPr>
        <p:blipFill>
          <a:blip r:embed="rId3"/>
          <a:srcRect l="0" r="0" t="0" b="0"/>
          <a:stretch/>
        </p:blipFill>
        <p:spPr>
          <a:xfrm>
            <a:off x="5065776" y="1691640"/>
            <a:ext cx="2103120" cy="2377440"/>
          </a:xfrm>
          <a:prstGeom prst="rect">
            <a:avLst/>
          </a:prstGeom>
        </p:spPr>
      </p:pic>
      <p:sp>
        <p:nvSpPr>
          <p:cNvPr id="19" name="Shape 14"/>
          <p:cNvSpPr/>
          <p:nvPr/>
        </p:nvSpPr>
        <p:spPr>
          <a:xfrm>
            <a:off x="5065776" y="4133088"/>
            <a:ext cx="2103120" cy="54864"/>
          </a:xfrm>
          <a:prstGeom prst="rect">
            <a:avLst/>
          </a:prstGeom>
          <a:solidFill>
            <a:srgbClr val="8EC9EE"/>
          </a:solidFill>
          <a:ln w="12700">
            <a:solidFill>
              <a:srgbClr val="8EC9EE"/>
            </a:solidFill>
            <a:prstDash val="solid"/>
          </a:ln>
        </p:spPr>
      </p:sp>
      <p:sp>
        <p:nvSpPr>
          <p:cNvPr id="20" name="Text 15"/>
          <p:cNvSpPr txBox="1"/>
          <p:nvPr/>
        </p:nvSpPr>
        <p:spPr>
          <a:xfrm>
            <a:off x="5065776" y="4315968"/>
            <a:ext cx="210312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CERULEAN</a:t>
            </a:r>
            <a:endParaRPr lang="en-US" sz="1600" dirty="0"/>
          </a:p>
        </p:txBody>
      </p:sp>
      <p:sp>
        <p:nvSpPr>
          <p:cNvPr id="21" name="Text 16"/>
          <p:cNvSpPr txBox="1"/>
          <p:nvPr/>
        </p:nvSpPr>
        <p:spPr>
          <a:xfrm>
            <a:off x="5065776" y="4645152"/>
            <a:ext cx="2103120" cy="41148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Sky-blue case · white waffle dial · navy strap</a:t>
            </a:r>
            <a:endParaRPr lang="en-US" sz="900" dirty="0"/>
          </a:p>
        </p:txBody>
      </p:sp>
      <p:sp>
        <p:nvSpPr>
          <p:cNvPr id="22" name="Text 17"/>
          <p:cNvSpPr txBox="1"/>
          <p:nvPr/>
        </p:nvSpPr>
        <p:spPr>
          <a:xfrm>
            <a:off x="5065776" y="5074920"/>
            <a:ext cx="2103120" cy="411480"/>
          </a:xfrm>
          <a:prstGeom prst="rect">
            <a:avLst/>
          </a:prstGeom>
          <a:noFill/>
          <a:ln/>
        </p:spPr>
        <p:txBody>
          <a:bodyPr wrap="square" lIns="0" tIns="0" rIns="0" bIns="0" rtlCol="0" anchor="t"/>
          <a:lstStyle/>
          <a:p>
            <a:pPr indent="0" marL="0">
              <a:buNone/>
            </a:pPr>
            <a:r>
              <a:rPr lang="en-US" sz="850" b="1" spc="200" kern="0" dirty="0">
                <a:solidFill>
                  <a:srgbClr val="C9A45C"/>
                </a:solidFill>
                <a:latin typeface="Inter" pitchFamily="34" charset="0"/>
                <a:ea typeface="Inter" pitchFamily="34" charset="-122"/>
                <a:cs typeface="Inter" pitchFamily="34" charset="-120"/>
              </a:rPr>
              <a:t>THE ONE THAT GOES ANYWHERE</a:t>
            </a:r>
            <a:endParaRPr lang="en-US" sz="850" dirty="0"/>
          </a:p>
        </p:txBody>
      </p:sp>
      <p:sp>
        <p:nvSpPr>
          <p:cNvPr id="23" name="Text 18"/>
          <p:cNvSpPr txBox="1"/>
          <p:nvPr/>
        </p:nvSpPr>
        <p:spPr>
          <a:xfrm>
            <a:off x="5065776" y="5486400"/>
            <a:ext cx="2103120" cy="822960"/>
          </a:xfrm>
          <a:prstGeom prst="rect">
            <a:avLst/>
          </a:prstGeom>
          <a:noFill/>
          <a:ln/>
        </p:spPr>
        <p:txBody>
          <a:bodyPr wrap="square" lIns="0" tIns="0" rIns="0" bIns="0" rtlCol="0" anchor="t"/>
          <a:lstStyle/>
          <a:p>
            <a:pPr indent="0" marL="0">
              <a:lnSpc>
                <a:spcPct val="110000"/>
              </a:lnSpc>
              <a:buNone/>
            </a:pPr>
            <a:r>
              <a:rPr lang="en-US" sz="800" dirty="0">
                <a:solidFill>
                  <a:srgbClr val="F2EDE4"/>
                </a:solidFill>
                <a:latin typeface="Inter" pitchFamily="34" charset="0"/>
                <a:ea typeface="Inter" pitchFamily="34" charset="-122"/>
                <a:cs typeface="Inter" pitchFamily="34" charset="-120"/>
              </a:rPr>
              <a:t>Sky on the case, clouds on the dial, deep water on the strap. The watch that reminds you that you can be anywhere — even under water.</a:t>
            </a:r>
            <a:endParaRPr lang="en-US" sz="800" dirty="0"/>
          </a:p>
        </p:txBody>
      </p:sp>
      <p:pic>
        <p:nvPicPr>
          <p:cNvPr id="24" name="Image 3" descr="/tmp/claude-0/-home-user-Sage-portfolio/d05fecce-977e-5eab-9cf5-7c09b306c551/scratchpad/wrdeck/img/crop_orange.jpg">    </p:cNvPr>
          <p:cNvPicPr>
            <a:picLocks noChangeAspect="1"/>
          </p:cNvPicPr>
          <p:nvPr/>
        </p:nvPicPr>
        <p:blipFill>
          <a:blip r:embed="rId4"/>
          <a:srcRect l="0" r="0" t="0" b="0"/>
          <a:stretch/>
        </p:blipFill>
        <p:spPr>
          <a:xfrm>
            <a:off x="7324344" y="1691640"/>
            <a:ext cx="2103120" cy="2377440"/>
          </a:xfrm>
          <a:prstGeom prst="rect">
            <a:avLst/>
          </a:prstGeom>
        </p:spPr>
      </p:pic>
      <p:sp>
        <p:nvSpPr>
          <p:cNvPr id="25" name="Shape 19"/>
          <p:cNvSpPr/>
          <p:nvPr/>
        </p:nvSpPr>
        <p:spPr>
          <a:xfrm>
            <a:off x="7324344" y="4133088"/>
            <a:ext cx="2103120" cy="54864"/>
          </a:xfrm>
          <a:prstGeom prst="rect">
            <a:avLst/>
          </a:prstGeom>
          <a:solidFill>
            <a:srgbClr val="F28C28"/>
          </a:solidFill>
          <a:ln w="12700">
            <a:solidFill>
              <a:srgbClr val="F28C28"/>
            </a:solidFill>
            <a:prstDash val="solid"/>
          </a:ln>
        </p:spPr>
      </p:sp>
      <p:sp>
        <p:nvSpPr>
          <p:cNvPr id="26" name="Text 20"/>
          <p:cNvSpPr txBox="1"/>
          <p:nvPr/>
        </p:nvSpPr>
        <p:spPr>
          <a:xfrm>
            <a:off x="7324344" y="4315968"/>
            <a:ext cx="210312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ROYAL TANGERINE</a:t>
            </a:r>
            <a:endParaRPr lang="en-US" sz="1600" dirty="0"/>
          </a:p>
        </p:txBody>
      </p:sp>
      <p:sp>
        <p:nvSpPr>
          <p:cNvPr id="27" name="Text 21"/>
          <p:cNvSpPr txBox="1"/>
          <p:nvPr/>
        </p:nvSpPr>
        <p:spPr>
          <a:xfrm>
            <a:off x="7324344" y="4645152"/>
            <a:ext cx="2103120" cy="41148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Royal-blue case · orange striped dial · orange strap</a:t>
            </a:r>
            <a:endParaRPr lang="en-US" sz="900" dirty="0"/>
          </a:p>
        </p:txBody>
      </p:sp>
      <p:sp>
        <p:nvSpPr>
          <p:cNvPr id="28" name="Text 22"/>
          <p:cNvSpPr txBox="1"/>
          <p:nvPr/>
        </p:nvSpPr>
        <p:spPr>
          <a:xfrm>
            <a:off x="7324344" y="5074920"/>
            <a:ext cx="2103120" cy="411480"/>
          </a:xfrm>
          <a:prstGeom prst="rect">
            <a:avLst/>
          </a:prstGeom>
          <a:noFill/>
          <a:ln/>
        </p:spPr>
        <p:txBody>
          <a:bodyPr wrap="square" lIns="0" tIns="0" rIns="0" bIns="0" rtlCol="0" anchor="t"/>
          <a:lstStyle/>
          <a:p>
            <a:pPr indent="0" marL="0">
              <a:buNone/>
            </a:pPr>
            <a:r>
              <a:rPr lang="en-US" sz="850" b="1" spc="200" kern="0" dirty="0">
                <a:solidFill>
                  <a:srgbClr val="C9A45C"/>
                </a:solidFill>
                <a:latin typeface="Inter" pitchFamily="34" charset="0"/>
                <a:ea typeface="Inter" pitchFamily="34" charset="-122"/>
                <a:cs typeface="Inter" pitchFamily="34" charset="-120"/>
              </a:rPr>
              <a:t>THE SELF-MADE</a:t>
            </a:r>
            <a:endParaRPr lang="en-US" sz="850" dirty="0"/>
          </a:p>
        </p:txBody>
      </p:sp>
      <p:sp>
        <p:nvSpPr>
          <p:cNvPr id="29" name="Text 23"/>
          <p:cNvSpPr txBox="1"/>
          <p:nvPr/>
        </p:nvSpPr>
        <p:spPr>
          <a:xfrm>
            <a:off x="7324344" y="5486400"/>
            <a:ext cx="2103120" cy="822960"/>
          </a:xfrm>
          <a:prstGeom prst="rect">
            <a:avLst/>
          </a:prstGeom>
          <a:noFill/>
          <a:ln/>
        </p:spPr>
        <p:txBody>
          <a:bodyPr wrap="square" lIns="0" tIns="0" rIns="0" bIns="0" rtlCol="0" anchor="t"/>
          <a:lstStyle/>
          <a:p>
            <a:pPr indent="0" marL="0">
              <a:lnSpc>
                <a:spcPct val="110000"/>
              </a:lnSpc>
              <a:buNone/>
            </a:pPr>
            <a:r>
              <a:rPr lang="en-US" sz="800" dirty="0">
                <a:solidFill>
                  <a:srgbClr val="F2EDE4"/>
                </a:solidFill>
                <a:latin typeface="Inter" pitchFamily="34" charset="0"/>
                <a:ea typeface="Inter" pitchFamily="34" charset="-122"/>
                <a:cs typeface="Inter" pitchFamily="34" charset="-120"/>
              </a:rPr>
              <a:t>Orange is the hunger. Royal blue is the arrival. Nothing about it was handed over. Fast cuts, momentum, no pause.</a:t>
            </a:r>
            <a:endParaRPr lang="en-US" sz="800" dirty="0"/>
          </a:p>
        </p:txBody>
      </p:sp>
      <p:pic>
        <p:nvPicPr>
          <p:cNvPr id="30" name="Image 4" descr="/tmp/claude-0/-home-user-Sage-portfolio/d05fecce-977e-5eab-9cf5-7c09b306c551/scratchpad/wrdeck/img/crop_redblue.jpg">    </p:cNvPr>
          <p:cNvPicPr>
            <a:picLocks noChangeAspect="1"/>
          </p:cNvPicPr>
          <p:nvPr/>
        </p:nvPicPr>
        <p:blipFill>
          <a:blip r:embed="rId5"/>
          <a:srcRect l="0" r="0" t="0" b="0"/>
          <a:stretch/>
        </p:blipFill>
        <p:spPr>
          <a:xfrm>
            <a:off x="9582912" y="1691640"/>
            <a:ext cx="2103120" cy="2377440"/>
          </a:xfrm>
          <a:prstGeom prst="rect">
            <a:avLst/>
          </a:prstGeom>
        </p:spPr>
      </p:pic>
      <p:sp>
        <p:nvSpPr>
          <p:cNvPr id="31" name="Shape 24"/>
          <p:cNvSpPr/>
          <p:nvPr/>
        </p:nvSpPr>
        <p:spPr>
          <a:xfrm>
            <a:off x="9582912" y="4133088"/>
            <a:ext cx="2103120" cy="54864"/>
          </a:xfrm>
          <a:prstGeom prst="rect">
            <a:avLst/>
          </a:prstGeom>
          <a:solidFill>
            <a:srgbClr val="D2283A"/>
          </a:solidFill>
          <a:ln w="12700">
            <a:solidFill>
              <a:srgbClr val="D2283A"/>
            </a:solidFill>
            <a:prstDash val="solid"/>
          </a:ln>
        </p:spPr>
      </p:sp>
      <p:sp>
        <p:nvSpPr>
          <p:cNvPr id="32" name="Text 25"/>
          <p:cNvSpPr txBox="1"/>
          <p:nvPr/>
        </p:nvSpPr>
        <p:spPr>
          <a:xfrm>
            <a:off x="9582912" y="4315968"/>
            <a:ext cx="2103120" cy="320040"/>
          </a:xfrm>
          <a:prstGeom prst="rect">
            <a:avLst/>
          </a:prstGeom>
          <a:noFill/>
          <a:ln/>
        </p:spPr>
        <p:txBody>
          <a:bodyPr wrap="square" lIns="0" tIns="0" rIns="0" bIns="0" rtlCol="0" anchor="t"/>
          <a:lstStyle/>
          <a:p>
            <a:pPr indent="0" marL="0">
              <a:buNone/>
            </a:pPr>
            <a:r>
              <a:rPr lang="en-US" sz="1600" b="1" dirty="0">
                <a:solidFill>
                  <a:srgbClr val="F2EDE4"/>
                </a:solidFill>
                <a:latin typeface="Oswald" pitchFamily="34" charset="0"/>
                <a:ea typeface="Oswald" pitchFamily="34" charset="-122"/>
                <a:cs typeface="Oswald" pitchFamily="34" charset="-120"/>
              </a:rPr>
              <a:t>CRIMSON NAVY</a:t>
            </a:r>
            <a:endParaRPr lang="en-US" sz="1600" dirty="0"/>
          </a:p>
        </p:txBody>
      </p:sp>
      <p:sp>
        <p:nvSpPr>
          <p:cNvPr id="33" name="Text 26"/>
          <p:cNvSpPr txBox="1"/>
          <p:nvPr/>
        </p:nvSpPr>
        <p:spPr>
          <a:xfrm>
            <a:off x="9582912" y="4645152"/>
            <a:ext cx="2103120" cy="41148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Navy case · red textured dial · red strap · rose-gold hands</a:t>
            </a:r>
            <a:endParaRPr lang="en-US" sz="900" dirty="0"/>
          </a:p>
        </p:txBody>
      </p:sp>
      <p:sp>
        <p:nvSpPr>
          <p:cNvPr id="34" name="Text 27"/>
          <p:cNvSpPr txBox="1"/>
          <p:nvPr/>
        </p:nvSpPr>
        <p:spPr>
          <a:xfrm>
            <a:off x="9582912" y="5074920"/>
            <a:ext cx="2103120" cy="411480"/>
          </a:xfrm>
          <a:prstGeom prst="rect">
            <a:avLst/>
          </a:prstGeom>
          <a:noFill/>
          <a:ln/>
        </p:spPr>
        <p:txBody>
          <a:bodyPr wrap="square" lIns="0" tIns="0" rIns="0" bIns="0" rtlCol="0" anchor="t"/>
          <a:lstStyle/>
          <a:p>
            <a:pPr indent="0" marL="0">
              <a:buNone/>
            </a:pPr>
            <a:r>
              <a:rPr lang="en-US" sz="850" b="1" spc="200" kern="0" dirty="0">
                <a:solidFill>
                  <a:srgbClr val="C9A45C"/>
                </a:solidFill>
                <a:latin typeface="Inter" pitchFamily="34" charset="0"/>
                <a:ea typeface="Inter" pitchFamily="34" charset="-122"/>
                <a:cs typeface="Inter" pitchFamily="34" charset="-120"/>
              </a:rPr>
              <a:t>THE DOMINANT</a:t>
            </a:r>
            <a:endParaRPr lang="en-US" sz="850" dirty="0"/>
          </a:p>
        </p:txBody>
      </p:sp>
      <p:sp>
        <p:nvSpPr>
          <p:cNvPr id="35" name="Text 28"/>
          <p:cNvSpPr txBox="1"/>
          <p:nvPr/>
        </p:nvSpPr>
        <p:spPr>
          <a:xfrm>
            <a:off x="9582912" y="5486400"/>
            <a:ext cx="2103120" cy="822960"/>
          </a:xfrm>
          <a:prstGeom prst="rect">
            <a:avLst/>
          </a:prstGeom>
          <a:noFill/>
          <a:ln/>
        </p:spPr>
        <p:txBody>
          <a:bodyPr wrap="square" lIns="0" tIns="0" rIns="0" bIns="0" rtlCol="0" anchor="t"/>
          <a:lstStyle/>
          <a:p>
            <a:pPr indent="0" marL="0">
              <a:lnSpc>
                <a:spcPct val="110000"/>
              </a:lnSpc>
              <a:buNone/>
            </a:pPr>
            <a:r>
              <a:rPr lang="en-US" sz="800" dirty="0">
                <a:solidFill>
                  <a:srgbClr val="F2EDE4"/>
                </a:solidFill>
                <a:latin typeface="Inter" pitchFamily="34" charset="0"/>
                <a:ea typeface="Inter" pitchFamily="34" charset="-122"/>
                <a:cs typeface="Inter" pitchFamily="34" charset="-120"/>
              </a:rPr>
              <a:t>Red is a decision, not a colour. Built for the black suit, the red car and the night. Power that never raises its voice.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LOCATIONS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05</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LOCATIONS · A PALACE, A MODERN HOTEL, TWO FREE SPOTS</a:t>
            </a:r>
            <a:endParaRPr lang="en-US" sz="900" dirty="0"/>
          </a:p>
        </p:txBody>
      </p:sp>
      <p:sp>
        <p:nvSpPr>
          <p:cNvPr id="5" name="Text 3"/>
          <p:cNvSpPr txBox="1"/>
          <p:nvPr/>
        </p:nvSpPr>
        <p:spPr>
          <a:xfrm>
            <a:off x="548640" y="777240"/>
            <a:ext cx="10972800" cy="518160"/>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THREE PLACES. FIVE WORLDS.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377440"/>
                <a:gridCol w="2377440"/>
                <a:gridCol w="3474720"/>
                <a:gridCol w="2834640"/>
              </a:tblGrid>
              <a:tr h="100584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USE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WHERE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WHAT WE NEED FROM IT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ASK FOR</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1005840">
                <a:tc>
                  <a:txBody>
                    <a:bodyPr/>
                    <a:lstStyle/>
                    <a:p>
                      <a:pPr indent="0" marL="0">
                        <a:buNone/>
                      </a:pPr>
                      <a:r>
                        <a:rPr lang="en-US" sz="950" b="1" dirty="0">
                          <a:solidFill>
                            <a:srgbClr val="F2EDE4"/>
                          </a:solidFill>
                          <a:latin typeface="Inter" pitchFamily="34" charset="0"/>
                          <a:ea typeface="Inter" pitchFamily="34" charset="-122"/>
                          <a:cs typeface="Inter" pitchFamily="34" charset="-120"/>
                        </a:rPr>
                        <a:t>Heritage palace (Forest Ivory only)</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Narain Niwas Palace or Samode Haveli</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Carved corridor, brass-studded door, darbar hall, tall windows. 2 hours, morning light.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Shoot fee for 2 hours · no diyas, no haze · quiet corridor access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1005840">
                <a:tc>
                  <a:txBody>
                    <a:bodyPr/>
                    <a:lstStyle/>
                    <a:p>
                      <a:pPr indent="0" marL="0">
                        <a:buNone/>
                      </a:pPr>
                      <a:r>
                        <a:rPr lang="en-US" sz="950" b="1" dirty="0">
                          <a:solidFill>
                            <a:srgbClr val="F2EDE4"/>
                          </a:solidFill>
                          <a:latin typeface="Inter" pitchFamily="34" charset="0"/>
                          <a:ea typeface="Inter" pitchFamily="34" charset="-122"/>
                          <a:cs typeface="Inter" pitchFamily="34" charset="-120"/>
                        </a:rPr>
                        <a:t>Modern luxury hotel (Mint, Cerulean, Tangerine, Crimson)</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A modern 5-star — e.g. Hyatt Regency / JW Marriott / Fairmont Jaipur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Gym (black floor, steel racks) · infinity pool with clean edges · glass lobby, stairwell, a corner office or boardroom with a city view · porte-cochère for the car at night · a private dining room.</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Full-day access · gym before 07:00 · pool 10:30–13:00 · business floor 14:00–16:30 · porch + dining room after 18:30 · parking for the convertible</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1005840">
                <a:tc>
                  <a:txBody>
                    <a:bodyPr/>
                    <a:lstStyle/>
                    <a:p>
                      <a:pPr indent="0" marL="0">
                        <a:buNone/>
                      </a:pPr>
                      <a:r>
                        <a:rPr lang="en-US" sz="950" b="1" dirty="0">
                          <a:solidFill>
                            <a:srgbClr val="F2EDE4"/>
                          </a:solidFill>
                          <a:latin typeface="Inter" pitchFamily="34" charset="0"/>
                          <a:ea typeface="Inter" pitchFamily="34" charset="-122"/>
                          <a:cs typeface="Inter" pitchFamily="34" charset="-120"/>
                        </a:rPr>
                        <a:t>Free public spots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Central Park jogging track · JLN Marg · Albert Hall exterior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B3 sunrise run · E3 night drive past the lit facade.</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Handheld, crew of three, no tripod on the pavement, no drone</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7" name="Text 4"/>
          <p:cNvSpPr txBox="1"/>
          <p:nvPr/>
        </p:nvSpPr>
        <p:spPr>
          <a:xfrm>
            <a:off x="548640" y="5120640"/>
            <a:ext cx="10972800" cy="731520"/>
          </a:xfrm>
          <a:prstGeom prst="rect">
            <a:avLst/>
          </a:prstGeom>
          <a:noFill/>
          <a:ln/>
        </p:spPr>
        <p:txBody>
          <a:bodyPr wrap="square" lIns="0" tIns="0" rIns="0" bIns="0" rtlCol="0" anchor="t"/>
          <a:lstStyle/>
          <a:p>
            <a:pPr indent="0" marL="0">
              <a:buNone/>
            </a:pPr>
            <a:r>
              <a:rPr lang="en-US" sz="1000" dirty="0">
                <a:solidFill>
                  <a:srgbClr val="C9A45C"/>
                </a:solidFill>
                <a:latin typeface="Inter" pitchFamily="34" charset="0"/>
                <a:ea typeface="Inter" pitchFamily="34" charset="-122"/>
                <a:cs typeface="Inter" pitchFamily="34" charset="-120"/>
              </a:rPr>
              <a:t>Why a modern hotel: one building gives us the gym, the pool, the glass lobby and stairwell, a corner office with a city view, a private dining room and a lit porch for the car — four worlds, no company moves. Confirm pool and gym hours in writing.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06</a:t>
            </a:r>
            <a:endParaRPr lang="en-US" sz="750" dirty="0"/>
          </a:p>
        </p:txBody>
      </p:sp>
      <p:sp>
        <p:nvSpPr>
          <p:cNvPr id="4" name="Text 2"/>
          <p:cNvSpPr txBox="1"/>
          <p:nvPr/>
        </p:nvSpPr>
        <p:spPr>
          <a:xfrm>
            <a:off x="548640" y="41148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DAY 1 · RUN OF SHOW · MUKESH JI ONLY</a:t>
            </a:r>
            <a:endParaRPr lang="en-US" sz="900" dirty="0"/>
          </a:p>
        </p:txBody>
      </p:sp>
      <p:sp>
        <p:nvSpPr>
          <p:cNvPr id="5" name="Text 3"/>
          <p:cNvSpPr txBox="1"/>
          <p:nvPr/>
        </p:nvSpPr>
        <p:spPr>
          <a:xfrm>
            <a:off x="548640" y="658368"/>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FIFTEEN REELS, DAWN TO MIDNIGHT.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463040"/>
                <a:gridCol w="8229600"/>
                <a:gridCol w="1371600"/>
              </a:tblGrid>
              <a:tr h="27432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TIME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SETUP</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UNIT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05:30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Crew call at the hotel · lume UV torch charged · convertible delivered and parked</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All</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06:00–06:45</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B1 Nobody Claps — gym (laces) + rooftop (push-ups, sunrise)</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06:45–07:15</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B2 Twenty-One — gym battle ropes</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07:15–07:45</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B3 Proof — Central Park track (10 min away)</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07:45–08:00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Move to the palace · change → ivory bandhgala</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08:00–10:00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A1 What Survives · A2 Everything Moves (time-lapse plate first) · A3 Thirty Years</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10:00–10:30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Back to the hotel · change → white linen + navy shorts</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10:30–13:00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C1 Supposed To Be · C2 Quiet (underwater housing) · C3 Monday</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13:00–14:00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Lunch · change → white shirt + royal-blue trousers · glass office dressed</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14:00–16:30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D1 Nobody Was Coming (stairwell, glass door, corridor) · D2 Two Colours (desk + lobby) · D3 Only One (window)</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16:30–18:30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Break · change → black suit · car detailed · porch lights set</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18:30–20:30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E1 Red Is A Decision (porch, dining room) · E2 Noticed (wheel, roof, cuff)</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20:30–22:00</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E3 It Glows — JLN Marg / Albert Hall exterior (follow car)</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Main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274320">
                <a:tc>
                  <a:txBody>
                    <a:bodyPr/>
                    <a:lstStyle/>
                    <a:p>
                      <a:pPr indent="0" marL="0">
                        <a:buNone/>
                      </a:pPr>
                      <a:r>
                        <a:rPr lang="en-US" sz="850" b="1" dirty="0">
                          <a:solidFill>
                            <a:srgbClr val="F2EDE4"/>
                          </a:solidFill>
                          <a:latin typeface="Inter" pitchFamily="34" charset="0"/>
                          <a:ea typeface="Inter" pitchFamily="34" charset="-122"/>
                          <a:cs typeface="Inter" pitchFamily="34" charset="-120"/>
                        </a:rPr>
                        <a:t>22:15</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Wrap · cards backed up ×2 · watches checked back in</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850" dirty="0">
                          <a:solidFill>
                            <a:srgbClr val="F2EDE4"/>
                          </a:solidFill>
                          <a:latin typeface="Inter" pitchFamily="34" charset="0"/>
                          <a:ea typeface="Inter" pitchFamily="34" charset="-122"/>
                          <a:cs typeface="Inter" pitchFamily="34" charset="-120"/>
                        </a:rPr>
                        <a:t>All</a:t>
                      </a:r>
                      <a:endParaRPr lang="en-US" sz="8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07</a:t>
            </a:r>
            <a:endParaRPr lang="en-US" sz="750" dirty="0"/>
          </a:p>
        </p:txBody>
      </p:sp>
      <p:sp>
        <p:nvSpPr>
          <p:cNvPr id="4" name="Shape 2"/>
          <p:cNvSpPr/>
          <p:nvPr/>
        </p:nvSpPr>
        <p:spPr>
          <a:xfrm>
            <a:off x="0" y="0"/>
            <a:ext cx="4206240" cy="6858000"/>
          </a:xfrm>
          <a:prstGeom prst="rect">
            <a:avLst/>
          </a:prstGeom>
          <a:solidFill>
            <a:srgbClr val="2F5D46"/>
          </a:solidFill>
          <a:ln w="12700">
            <a:solidFill>
              <a:srgbClr val="2F5D46"/>
            </a:solidFill>
            <a:prstDash val="solid"/>
          </a:ln>
        </p:spPr>
      </p:sp>
      <p:pic>
        <p:nvPicPr>
          <p:cNvPr id="5" name="Image 0" descr="/tmp/claude-0/-home-user-Sage-portfolio/d05fecce-977e-5eab-9cf5-7c09b306c551/scratchpad/wrdeck/img/crop_green.jpg">    </p:cNvPr>
          <p:cNvPicPr>
            <a:picLocks noChangeAspect="1"/>
          </p:cNvPicPr>
          <p:nvPr/>
        </p:nvPicPr>
        <p:blipFill>
          <a:blip r:embed="rId1"/>
          <a:srcRect l="0" r="0" t="0" b="0"/>
          <a:stretch/>
        </p:blipFill>
        <p:spPr>
          <a:xfrm>
            <a:off x="548640" y="2194560"/>
            <a:ext cx="3108960" cy="3383280"/>
          </a:xfrm>
          <a:prstGeom prst="rect">
            <a:avLst/>
          </a:prstGeom>
        </p:spPr>
      </p:pic>
      <p:sp>
        <p:nvSpPr>
          <p:cNvPr id="6" name="Text 3"/>
          <p:cNvSpPr txBox="1"/>
          <p:nvPr/>
        </p:nvSpPr>
        <p:spPr>
          <a:xfrm>
            <a:off x="548640" y="548640"/>
            <a:ext cx="3291840" cy="274320"/>
          </a:xfrm>
          <a:prstGeom prst="rect">
            <a:avLst/>
          </a:prstGeom>
          <a:noFill/>
          <a:ln/>
        </p:spPr>
        <p:txBody>
          <a:bodyPr wrap="square" lIns="0" tIns="0" rIns="0" bIns="0" rtlCol="0" anchor="t"/>
          <a:lstStyle/>
          <a:p>
            <a:pPr indent="0" marL="0">
              <a:buNone/>
            </a:pPr>
            <a:r>
              <a:rPr lang="en-US" sz="900" b="1" spc="400" kern="0" dirty="0">
                <a:solidFill>
                  <a:srgbClr val="E8DFC8"/>
                </a:solidFill>
                <a:latin typeface="Inter" pitchFamily="34" charset="0"/>
                <a:ea typeface="Inter" pitchFamily="34" charset="-122"/>
                <a:cs typeface="Inter" pitchFamily="34" charset="-120"/>
              </a:rPr>
              <a:t>WORLD 01</a:t>
            </a:r>
            <a:endParaRPr lang="en-US" sz="900" dirty="0"/>
          </a:p>
        </p:txBody>
      </p:sp>
      <p:sp>
        <p:nvSpPr>
          <p:cNvPr id="7" name="Text 4"/>
          <p:cNvSpPr txBox="1"/>
          <p:nvPr/>
        </p:nvSpPr>
        <p:spPr>
          <a:xfrm>
            <a:off x="548640" y="868680"/>
            <a:ext cx="3474720" cy="685800"/>
          </a:xfrm>
          <a:prstGeom prst="rect">
            <a:avLst/>
          </a:prstGeom>
          <a:noFill/>
          <a:ln/>
        </p:spPr>
        <p:txBody>
          <a:bodyPr wrap="square" lIns="0" tIns="0" rIns="0" bIns="0" rtlCol="0" anchor="t"/>
          <a:lstStyle/>
          <a:p>
            <a:pPr indent="0" marL="0">
              <a:buNone/>
            </a:pPr>
            <a:r>
              <a:rPr lang="en-US" sz="3400" b="1" dirty="0">
                <a:solidFill>
                  <a:srgbClr val="F2EDE4"/>
                </a:solidFill>
                <a:latin typeface="Oswald" pitchFamily="34" charset="0"/>
                <a:ea typeface="Oswald" pitchFamily="34" charset="-122"/>
                <a:cs typeface="Oswald" pitchFamily="34" charset="-120"/>
              </a:rPr>
              <a:t>FOREST IVORY</a:t>
            </a:r>
            <a:endParaRPr lang="en-US" sz="3400" dirty="0"/>
          </a:p>
        </p:txBody>
      </p:sp>
      <p:sp>
        <p:nvSpPr>
          <p:cNvPr id="8" name="Text 5"/>
          <p:cNvSpPr txBox="1"/>
          <p:nvPr/>
        </p:nvSpPr>
        <p:spPr>
          <a:xfrm>
            <a:off x="548640" y="1554480"/>
            <a:ext cx="3474720" cy="502920"/>
          </a:xfrm>
          <a:prstGeom prst="rect">
            <a:avLst/>
          </a:prstGeom>
          <a:noFill/>
          <a:ln/>
        </p:spPr>
        <p:txBody>
          <a:bodyPr wrap="square" lIns="0" tIns="0" rIns="0" bIns="0" rtlCol="0" anchor="t"/>
          <a:lstStyle/>
          <a:p>
            <a:pPr indent="0" marL="0">
              <a:buNone/>
            </a:pPr>
            <a:r>
              <a:rPr lang="en-US" sz="1000" b="1" spc="200" kern="0" dirty="0">
                <a:solidFill>
                  <a:srgbClr val="E8DFC8"/>
                </a:solidFill>
                <a:latin typeface="Inter" pitchFamily="34" charset="0"/>
                <a:ea typeface="Inter" pitchFamily="34" charset="-122"/>
                <a:cs typeface="Inter" pitchFamily="34" charset="-120"/>
              </a:rPr>
              <a:t>THE ONE THAT STAYS</a:t>
            </a:r>
            <a:endParaRPr lang="en-US" sz="1000" dirty="0"/>
          </a:p>
        </p:txBody>
      </p:sp>
      <p:sp>
        <p:nvSpPr>
          <p:cNvPr id="9" name="Shape 6"/>
          <p:cNvSpPr/>
          <p:nvPr/>
        </p:nvSpPr>
        <p:spPr>
          <a:xfrm>
            <a:off x="548640" y="5760720"/>
            <a:ext cx="640080" cy="292608"/>
          </a:xfrm>
          <a:prstGeom prst="rect">
            <a:avLst/>
          </a:prstGeom>
          <a:solidFill>
            <a:srgbClr val="E8DFC8"/>
          </a:solidFill>
          <a:ln w="6350">
            <a:solidFill>
              <a:srgbClr val="0B0B0A"/>
            </a:solidFill>
            <a:prstDash val="solid"/>
          </a:ln>
        </p:spPr>
      </p:sp>
      <p:sp>
        <p:nvSpPr>
          <p:cNvPr id="10" name="Text 7"/>
          <p:cNvSpPr txBox="1"/>
          <p:nvPr/>
        </p:nvSpPr>
        <p:spPr>
          <a:xfrm>
            <a:off x="548640"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Ivory</a:t>
            </a:r>
            <a:endParaRPr lang="en-US" sz="650" dirty="0"/>
          </a:p>
        </p:txBody>
      </p:sp>
      <p:sp>
        <p:nvSpPr>
          <p:cNvPr id="11" name="Shape 8"/>
          <p:cNvSpPr/>
          <p:nvPr/>
        </p:nvSpPr>
        <p:spPr>
          <a:xfrm>
            <a:off x="1335024" y="5760720"/>
            <a:ext cx="640080" cy="292608"/>
          </a:xfrm>
          <a:prstGeom prst="rect">
            <a:avLst/>
          </a:prstGeom>
          <a:solidFill>
            <a:srgbClr val="C9A27A"/>
          </a:solidFill>
          <a:ln w="6350">
            <a:solidFill>
              <a:srgbClr val="0B0B0A"/>
            </a:solidFill>
            <a:prstDash val="solid"/>
          </a:ln>
        </p:spPr>
      </p:sp>
      <p:sp>
        <p:nvSpPr>
          <p:cNvPr id="12" name="Text 9"/>
          <p:cNvSpPr txBox="1"/>
          <p:nvPr/>
        </p:nvSpPr>
        <p:spPr>
          <a:xfrm>
            <a:off x="1335024"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Sandstone</a:t>
            </a:r>
            <a:endParaRPr lang="en-US" sz="650" dirty="0"/>
          </a:p>
        </p:txBody>
      </p:sp>
      <p:sp>
        <p:nvSpPr>
          <p:cNvPr id="13" name="Shape 10"/>
          <p:cNvSpPr/>
          <p:nvPr/>
        </p:nvSpPr>
        <p:spPr>
          <a:xfrm>
            <a:off x="2121408" y="5760720"/>
            <a:ext cx="640080" cy="292608"/>
          </a:xfrm>
          <a:prstGeom prst="rect">
            <a:avLst/>
          </a:prstGeom>
          <a:solidFill>
            <a:srgbClr val="2F5D46"/>
          </a:solidFill>
          <a:ln w="6350">
            <a:solidFill>
              <a:srgbClr val="0B0B0A"/>
            </a:solidFill>
            <a:prstDash val="solid"/>
          </a:ln>
        </p:spPr>
      </p:sp>
      <p:sp>
        <p:nvSpPr>
          <p:cNvPr id="14" name="Text 11"/>
          <p:cNvSpPr txBox="1"/>
          <p:nvPr/>
        </p:nvSpPr>
        <p:spPr>
          <a:xfrm>
            <a:off x="2121408"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Bottle green</a:t>
            </a:r>
            <a:endParaRPr lang="en-US" sz="650" dirty="0"/>
          </a:p>
        </p:txBody>
      </p:sp>
      <p:sp>
        <p:nvSpPr>
          <p:cNvPr id="15" name="Shape 12"/>
          <p:cNvSpPr/>
          <p:nvPr/>
        </p:nvSpPr>
        <p:spPr>
          <a:xfrm>
            <a:off x="2907792" y="5760720"/>
            <a:ext cx="640080" cy="292608"/>
          </a:xfrm>
          <a:prstGeom prst="rect">
            <a:avLst/>
          </a:prstGeom>
          <a:solidFill>
            <a:srgbClr val="B08D57"/>
          </a:solidFill>
          <a:ln w="6350">
            <a:solidFill>
              <a:srgbClr val="0B0B0A"/>
            </a:solidFill>
            <a:prstDash val="solid"/>
          </a:ln>
        </p:spPr>
      </p:sp>
      <p:sp>
        <p:nvSpPr>
          <p:cNvPr id="16" name="Text 13"/>
          <p:cNvSpPr txBox="1"/>
          <p:nvPr/>
        </p:nvSpPr>
        <p:spPr>
          <a:xfrm>
            <a:off x="2907792"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Brass</a:t>
            </a:r>
            <a:endParaRPr lang="en-US" sz="650" dirty="0"/>
          </a:p>
        </p:txBody>
      </p:sp>
      <p:sp>
        <p:nvSpPr>
          <p:cNvPr id="17" name="Text 14"/>
          <p:cNvSpPr txBox="1"/>
          <p:nvPr/>
        </p:nvSpPr>
        <p:spPr>
          <a:xfrm>
            <a:off x="4663440" y="548640"/>
            <a:ext cx="7315200" cy="274320"/>
          </a:xfrm>
          <a:prstGeom prst="rect">
            <a:avLst/>
          </a:prstGeom>
          <a:noFill/>
          <a:ln/>
        </p:spPr>
        <p:txBody>
          <a:bodyPr wrap="square" lIns="0" tIns="0" rIns="0" bIns="0" rtlCol="0" anchor="t"/>
          <a:lstStyle/>
          <a:p>
            <a:pPr indent="0" marL="0">
              <a:buNone/>
            </a:pPr>
            <a:r>
              <a:rPr lang="en-US" sz="900" b="1" spc="400" kern="0" dirty="0">
                <a:solidFill>
                  <a:srgbClr val="E8DFC8"/>
                </a:solidFill>
                <a:latin typeface="Inter" pitchFamily="34" charset="0"/>
                <a:ea typeface="Inter" pitchFamily="34" charset="-122"/>
                <a:cs typeface="Inter" pitchFamily="34" charset="-120"/>
              </a:rPr>
              <a:t>HERITAGE · ROYAL PALACE · ETHNIC WEAR  ·  08:00–10:00</a:t>
            </a:r>
            <a:endParaRPr lang="en-US" sz="900" dirty="0"/>
          </a:p>
        </p:txBody>
      </p:sp>
      <p:sp>
        <p:nvSpPr>
          <p:cNvPr id="18" name="Text 15"/>
          <p:cNvSpPr txBox="1"/>
          <p:nvPr/>
        </p:nvSpPr>
        <p:spPr>
          <a:xfrm>
            <a:off x="4663440" y="914400"/>
            <a:ext cx="6949440" cy="1005840"/>
          </a:xfrm>
          <a:prstGeom prst="rect">
            <a:avLst/>
          </a:prstGeom>
          <a:noFill/>
          <a:ln/>
        </p:spPr>
        <p:txBody>
          <a:bodyPr wrap="square" lIns="0" tIns="0" rIns="0" bIns="0" rtlCol="0" anchor="t"/>
          <a:lstStyle/>
          <a:p>
            <a:pPr indent="0" marL="0">
              <a:lnSpc>
                <a:spcPct val="105000"/>
              </a:lnSpc>
              <a:buNone/>
            </a:pPr>
            <a:r>
              <a:rPr lang="en-US" sz="1800" dirty="0">
                <a:solidFill>
                  <a:srgbClr val="F2EDE4"/>
                </a:solidFill>
                <a:latin typeface="Oswald" pitchFamily="34" charset="0"/>
                <a:ea typeface="Oswald" pitchFamily="34" charset="-122"/>
                <a:cs typeface="Oswald" pitchFamily="34" charset="-120"/>
              </a:rPr>
              <a:t>Heritage here means one thing: what survives time. The palace is the proof it exists. The Forest Ivory is the man who builds the same way — quiet, right, made to last.</a:t>
            </a:r>
            <a:endParaRPr lang="en-US" sz="1800" dirty="0"/>
          </a:p>
        </p:txBody>
      </p:sp>
      <p:sp>
        <p:nvSpPr>
          <p:cNvPr id="19" name="Text 16"/>
          <p:cNvSpPr txBox="1"/>
          <p:nvPr/>
        </p:nvSpPr>
        <p:spPr>
          <a:xfrm>
            <a:off x="4663440" y="1965960"/>
            <a:ext cx="6949440" cy="365760"/>
          </a:xfrm>
          <a:prstGeom prst="rect">
            <a:avLst/>
          </a:prstGeom>
          <a:noFill/>
          <a:ln/>
        </p:spPr>
        <p:txBody>
          <a:bodyPr wrap="square" lIns="0" tIns="0" rIns="0" bIns="0" rtlCol="0" anchor="t"/>
          <a:lstStyle/>
          <a:p>
            <a:pPr indent="0" marL="0">
              <a:buNone/>
            </a:pPr>
            <a:r>
              <a:rPr lang="en-US" sz="1500" i="1" dirty="0">
                <a:solidFill>
                  <a:srgbClr val="E8DFC8"/>
                </a:solidFill>
                <a:latin typeface="Oswald" pitchFamily="34" charset="0"/>
                <a:ea typeface="Oswald" pitchFamily="34" charset="-122"/>
                <a:cs typeface="Oswald" pitchFamily="34" charset="-120"/>
              </a:rPr>
              <a:t>Here's to your roots.  Wear what's yours.</a:t>
            </a:r>
            <a:endParaRPr lang="en-US" sz="1500" dirty="0"/>
          </a:p>
        </p:txBody>
      </p:sp>
      <p:sp>
        <p:nvSpPr>
          <p:cNvPr id="20" name="Text 17"/>
          <p:cNvSpPr txBox="1"/>
          <p:nvPr/>
        </p:nvSpPr>
        <p:spPr>
          <a:xfrm>
            <a:off x="4663440" y="2514600"/>
            <a:ext cx="13716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WHERE</a:t>
            </a:r>
            <a:endParaRPr lang="en-US" sz="750" dirty="0"/>
          </a:p>
        </p:txBody>
      </p:sp>
      <p:sp>
        <p:nvSpPr>
          <p:cNvPr id="21" name="Text 18"/>
          <p:cNvSpPr txBox="1"/>
          <p:nvPr/>
        </p:nvSpPr>
        <p:spPr>
          <a:xfrm>
            <a:off x="6035040" y="2487168"/>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Heritage palace interiors only — carved corridor, brass-studded door, darbar hall, tall windows.</a:t>
            </a:r>
            <a:endParaRPr lang="en-US" sz="1000" dirty="0"/>
          </a:p>
        </p:txBody>
      </p:sp>
      <p:sp>
        <p:nvSpPr>
          <p:cNvPr id="22" name="Text 19"/>
          <p:cNvSpPr txBox="1"/>
          <p:nvPr/>
        </p:nvSpPr>
        <p:spPr>
          <a:xfrm>
            <a:off x="4663440" y="3044952"/>
            <a:ext cx="13716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WARDROBE</a:t>
            </a:r>
            <a:endParaRPr lang="en-US" sz="750" dirty="0"/>
          </a:p>
        </p:txBody>
      </p:sp>
      <p:sp>
        <p:nvSpPr>
          <p:cNvPr id="23" name="Text 20"/>
          <p:cNvSpPr txBox="1"/>
          <p:nvPr/>
        </p:nvSpPr>
        <p:spPr>
          <a:xfrm>
            <a:off x="6035040" y="3017520"/>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Ivory bandhgala, tan juttis. One look for all three reels.</a:t>
            </a:r>
            <a:endParaRPr lang="en-US" sz="1000" dirty="0"/>
          </a:p>
        </p:txBody>
      </p:sp>
      <p:sp>
        <p:nvSpPr>
          <p:cNvPr id="24" name="Text 21"/>
          <p:cNvSpPr txBox="1"/>
          <p:nvPr/>
        </p:nvSpPr>
        <p:spPr>
          <a:xfrm>
            <a:off x="4663440" y="3575304"/>
            <a:ext cx="13716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SOUND</a:t>
            </a:r>
            <a:endParaRPr lang="en-US" sz="750" dirty="0"/>
          </a:p>
        </p:txBody>
      </p:sp>
      <p:sp>
        <p:nvSpPr>
          <p:cNvPr id="25" name="Text 22"/>
          <p:cNvSpPr txBox="1"/>
          <p:nvPr/>
        </p:nvSpPr>
        <p:spPr>
          <a:xfrm>
            <a:off x="6035040" y="3547872"/>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Strings and silence. No beat.</a:t>
            </a:r>
            <a:endParaRPr lang="en-US" sz="1000" dirty="0"/>
          </a:p>
        </p:txBody>
      </p:sp>
      <p:sp>
        <p:nvSpPr>
          <p:cNvPr id="26" name="Shape 23"/>
          <p:cNvSpPr/>
          <p:nvPr/>
        </p:nvSpPr>
        <p:spPr>
          <a:xfrm>
            <a:off x="4663440" y="4206240"/>
            <a:ext cx="2240280" cy="2011680"/>
          </a:xfrm>
          <a:prstGeom prst="rect">
            <a:avLst/>
          </a:prstGeom>
          <a:solidFill>
            <a:srgbClr val="151513"/>
          </a:solidFill>
          <a:ln w="9525">
            <a:solidFill>
              <a:srgbClr val="2B2A26"/>
            </a:solidFill>
            <a:prstDash val="solid"/>
          </a:ln>
        </p:spPr>
      </p:sp>
      <p:sp>
        <p:nvSpPr>
          <p:cNvPr id="27" name="Text 24"/>
          <p:cNvSpPr txBox="1"/>
          <p:nvPr/>
        </p:nvSpPr>
        <p:spPr>
          <a:xfrm>
            <a:off x="4846320" y="4370832"/>
            <a:ext cx="914400" cy="365760"/>
          </a:xfrm>
          <a:prstGeom prst="rect">
            <a:avLst/>
          </a:prstGeom>
          <a:noFill/>
          <a:ln/>
        </p:spPr>
        <p:txBody>
          <a:bodyPr wrap="square" lIns="0" tIns="0" rIns="0" bIns="0" rtlCol="0" anchor="t"/>
          <a:lstStyle/>
          <a:p>
            <a:pPr indent="0" marL="0">
              <a:buNone/>
            </a:pPr>
            <a:r>
              <a:rPr lang="en-US" sz="1800" b="1" dirty="0">
                <a:solidFill>
                  <a:srgbClr val="E8DFC8"/>
                </a:solidFill>
                <a:latin typeface="Oswald" pitchFamily="34" charset="0"/>
                <a:ea typeface="Oswald" pitchFamily="34" charset="-122"/>
                <a:cs typeface="Oswald" pitchFamily="34" charset="-120"/>
              </a:rPr>
              <a:t>A1</a:t>
            </a:r>
            <a:endParaRPr lang="en-US" sz="1800" dirty="0"/>
          </a:p>
        </p:txBody>
      </p:sp>
      <p:sp>
        <p:nvSpPr>
          <p:cNvPr id="28" name="Text 25"/>
          <p:cNvSpPr txBox="1"/>
          <p:nvPr/>
        </p:nvSpPr>
        <p:spPr>
          <a:xfrm>
            <a:off x="484632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WHAT SURVIVES</a:t>
            </a:r>
            <a:endParaRPr lang="en-US" sz="1400" dirty="0"/>
          </a:p>
        </p:txBody>
      </p:sp>
      <p:sp>
        <p:nvSpPr>
          <p:cNvPr id="29" name="Text 26"/>
          <p:cNvSpPr txBox="1"/>
          <p:nvPr/>
        </p:nvSpPr>
        <p:spPr>
          <a:xfrm>
            <a:off x="484632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Hero · 30 s</a:t>
            </a:r>
            <a:endParaRPr lang="en-US" sz="850" dirty="0"/>
          </a:p>
        </p:txBody>
      </p:sp>
      <p:sp>
        <p:nvSpPr>
          <p:cNvPr id="30" name="Text 27"/>
          <p:cNvSpPr txBox="1"/>
          <p:nvPr/>
        </p:nvSpPr>
        <p:spPr>
          <a:xfrm>
            <a:off x="484632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Belonging to something bigger</a:t>
            </a:r>
            <a:endParaRPr lang="en-US" sz="900" dirty="0"/>
          </a:p>
        </p:txBody>
      </p:sp>
      <p:sp>
        <p:nvSpPr>
          <p:cNvPr id="31" name="Shape 28"/>
          <p:cNvSpPr/>
          <p:nvPr/>
        </p:nvSpPr>
        <p:spPr>
          <a:xfrm>
            <a:off x="7040880" y="4206240"/>
            <a:ext cx="2240280" cy="2011680"/>
          </a:xfrm>
          <a:prstGeom prst="rect">
            <a:avLst/>
          </a:prstGeom>
          <a:solidFill>
            <a:srgbClr val="151513"/>
          </a:solidFill>
          <a:ln w="9525">
            <a:solidFill>
              <a:srgbClr val="2B2A26"/>
            </a:solidFill>
            <a:prstDash val="solid"/>
          </a:ln>
        </p:spPr>
      </p:sp>
      <p:sp>
        <p:nvSpPr>
          <p:cNvPr id="32" name="Text 29"/>
          <p:cNvSpPr txBox="1"/>
          <p:nvPr/>
        </p:nvSpPr>
        <p:spPr>
          <a:xfrm>
            <a:off x="7223760" y="4370832"/>
            <a:ext cx="914400" cy="365760"/>
          </a:xfrm>
          <a:prstGeom prst="rect">
            <a:avLst/>
          </a:prstGeom>
          <a:noFill/>
          <a:ln/>
        </p:spPr>
        <p:txBody>
          <a:bodyPr wrap="square" lIns="0" tIns="0" rIns="0" bIns="0" rtlCol="0" anchor="t"/>
          <a:lstStyle/>
          <a:p>
            <a:pPr indent="0" marL="0">
              <a:buNone/>
            </a:pPr>
            <a:r>
              <a:rPr lang="en-US" sz="1800" b="1" dirty="0">
                <a:solidFill>
                  <a:srgbClr val="E8DFC8"/>
                </a:solidFill>
                <a:latin typeface="Oswald" pitchFamily="34" charset="0"/>
                <a:ea typeface="Oswald" pitchFamily="34" charset="-122"/>
                <a:cs typeface="Oswald" pitchFamily="34" charset="-120"/>
              </a:rPr>
              <a:t>A2</a:t>
            </a:r>
            <a:endParaRPr lang="en-US" sz="1800" dirty="0"/>
          </a:p>
        </p:txBody>
      </p:sp>
      <p:sp>
        <p:nvSpPr>
          <p:cNvPr id="33" name="Text 30"/>
          <p:cNvSpPr txBox="1"/>
          <p:nvPr/>
        </p:nvSpPr>
        <p:spPr>
          <a:xfrm>
            <a:off x="722376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EVERYTHING MOVES</a:t>
            </a:r>
            <a:endParaRPr lang="en-US" sz="1400" dirty="0"/>
          </a:p>
        </p:txBody>
      </p:sp>
      <p:sp>
        <p:nvSpPr>
          <p:cNvPr id="34" name="Text 31"/>
          <p:cNvSpPr txBox="1"/>
          <p:nvPr/>
        </p:nvSpPr>
        <p:spPr>
          <a:xfrm>
            <a:off x="722376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Time-lapse · 20 s</a:t>
            </a:r>
            <a:endParaRPr lang="en-US" sz="850" dirty="0"/>
          </a:p>
        </p:txBody>
      </p:sp>
      <p:sp>
        <p:nvSpPr>
          <p:cNvPr id="35" name="Text 32"/>
          <p:cNvSpPr txBox="1"/>
          <p:nvPr/>
        </p:nvSpPr>
        <p:spPr>
          <a:xfrm>
            <a:off x="722376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Stillness as strength</a:t>
            </a:r>
            <a:endParaRPr lang="en-US" sz="900" dirty="0"/>
          </a:p>
        </p:txBody>
      </p:sp>
      <p:sp>
        <p:nvSpPr>
          <p:cNvPr id="36" name="Shape 33"/>
          <p:cNvSpPr/>
          <p:nvPr/>
        </p:nvSpPr>
        <p:spPr>
          <a:xfrm>
            <a:off x="9418320" y="4206240"/>
            <a:ext cx="2240280" cy="2011680"/>
          </a:xfrm>
          <a:prstGeom prst="rect">
            <a:avLst/>
          </a:prstGeom>
          <a:solidFill>
            <a:srgbClr val="151513"/>
          </a:solidFill>
          <a:ln w="9525">
            <a:solidFill>
              <a:srgbClr val="2B2A26"/>
            </a:solidFill>
            <a:prstDash val="solid"/>
          </a:ln>
        </p:spPr>
      </p:sp>
      <p:sp>
        <p:nvSpPr>
          <p:cNvPr id="37" name="Text 34"/>
          <p:cNvSpPr txBox="1"/>
          <p:nvPr/>
        </p:nvSpPr>
        <p:spPr>
          <a:xfrm>
            <a:off x="9601200" y="4370832"/>
            <a:ext cx="914400" cy="365760"/>
          </a:xfrm>
          <a:prstGeom prst="rect">
            <a:avLst/>
          </a:prstGeom>
          <a:noFill/>
          <a:ln/>
        </p:spPr>
        <p:txBody>
          <a:bodyPr wrap="square" lIns="0" tIns="0" rIns="0" bIns="0" rtlCol="0" anchor="t"/>
          <a:lstStyle/>
          <a:p>
            <a:pPr indent="0" marL="0">
              <a:buNone/>
            </a:pPr>
            <a:r>
              <a:rPr lang="en-US" sz="1800" b="1" dirty="0">
                <a:solidFill>
                  <a:srgbClr val="E8DFC8"/>
                </a:solidFill>
                <a:latin typeface="Oswald" pitchFamily="34" charset="0"/>
                <a:ea typeface="Oswald" pitchFamily="34" charset="-122"/>
                <a:cs typeface="Oswald" pitchFamily="34" charset="-120"/>
              </a:rPr>
              <a:t>A3</a:t>
            </a:r>
            <a:endParaRPr lang="en-US" sz="1800" dirty="0"/>
          </a:p>
        </p:txBody>
      </p:sp>
      <p:sp>
        <p:nvSpPr>
          <p:cNvPr id="38" name="Text 35"/>
          <p:cNvSpPr txBox="1"/>
          <p:nvPr/>
        </p:nvSpPr>
        <p:spPr>
          <a:xfrm>
            <a:off x="960120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THIRTY YEARS</a:t>
            </a:r>
            <a:endParaRPr lang="en-US" sz="1400" dirty="0"/>
          </a:p>
        </p:txBody>
      </p:sp>
      <p:sp>
        <p:nvSpPr>
          <p:cNvPr id="39" name="Text 36"/>
          <p:cNvSpPr txBox="1"/>
          <p:nvPr/>
        </p:nvSpPr>
        <p:spPr>
          <a:xfrm>
            <a:off x="960120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Punch · 10 s</a:t>
            </a:r>
            <a:endParaRPr lang="en-US" sz="850" dirty="0"/>
          </a:p>
        </p:txBody>
      </p:sp>
      <p:sp>
        <p:nvSpPr>
          <p:cNvPr id="40" name="Text 37"/>
          <p:cNvSpPr txBox="1"/>
          <p:nvPr/>
        </p:nvSpPr>
        <p:spPr>
          <a:xfrm>
            <a:off x="960120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One line you remember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08</a:t>
            </a:r>
            <a:endParaRPr lang="en-US" sz="750" dirty="0"/>
          </a:p>
        </p:txBody>
      </p:sp>
      <p:pic>
        <p:nvPicPr>
          <p:cNvPr id="4" name="Image 0" descr="/tmp/claude-0/-home-user-Sage-portfolio/d05fecce-977e-5eab-9cf5-7c09b306c551/scratchpad/wrdeck/gen/full/A1-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A1  ·  HERO  ·  30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WHAT SURVIVES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Belonging to something bigger</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Everything here was built to outlast the men who built it.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arches. The doors. Even the silence.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 hundred years on, they're still standing.</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Not because they were loud.</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Because they were made right.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Heritage isn't what you inherit.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It's what survives you.</a:t>
            </a:r>
            <a:endParaRPr lang="en-US" sz="1150" dirty="0"/>
          </a:p>
          <a:p>
            <a:pPr indent="0" marL="0">
              <a:lnSpc>
                <a:spcPct val="125000"/>
              </a:lnSpc>
              <a:buNone/>
            </a:pPr>
            <a:r>
              <a:rPr lang="en-US" sz="1150" b="1" i="1" dirty="0">
                <a:solidFill>
                  <a:srgbClr val="E8DFC8"/>
                </a:solidFill>
                <a:latin typeface="Inter" pitchFamily="34" charset="0"/>
                <a:ea typeface="Inter" pitchFamily="34" charset="-122"/>
                <a:cs typeface="Inter" pitchFamily="34" charset="-120"/>
              </a:rPr>
              <a:t>Here's to your roots.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Built to outlast → still standing → made right → heritage is what survives you. The watch is never named and every line is about it.</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Max Richter — "On the Nature of Daylight"</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Footsteps on marble · a door's brass studs · wind through the arches · one clasp click.</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QUIET THINGS</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The loudest things in history are gone. The parades. The speeches. The men who needed to be seen. What's left is the quiet work — the stone, the carving, the things made by people who never asked for applause. Heritage is quiet. That's how you know it's real.</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NOBODY RUSHED THIS</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Nobody rushed this palace. Nobody could. Stone doesn't care about deadlines. Neither does anything built to be remembered. You can make something fast, or you can make something last. The men who built this chose.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09</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A1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WHAT SURVIVES</a:t>
            </a:r>
            <a:endParaRPr lang="en-US" sz="2800" dirty="0"/>
          </a:p>
        </p:txBody>
      </p:sp>
      <p:pic>
        <p:nvPicPr>
          <p:cNvPr id="6" name="Image 0" descr="/tmp/claude-0/-home-user-Sage-portfolio/d05fecce-977e-5eab-9cf5-7c09b306c551/scratchpad/wrdeck/gen/full/A1-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E8DFC8"/>
          </a:solidFill>
          <a:ln w="12700">
            <a:solidFill>
              <a:srgbClr val="E8DFC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A1-1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Early morning in a long palace corridor of carved sandstone arches, low sun raking across the marble. He stands far down the corridor, small in frame, facing away.</a:t>
            </a:r>
            <a:endParaRPr lang="en-US" sz="750" dirty="0"/>
          </a:p>
        </p:txBody>
      </p:sp>
      <p:pic>
        <p:nvPicPr>
          <p:cNvPr id="10" name="Image 1" descr="/tmp/claude-0/-home-user-Sage-portfolio/d05fecce-977e-5eab-9cf5-7c09b306c551/scratchpad/wrdeck/gen/full/A1-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E8DFC8"/>
          </a:solidFill>
          <a:ln w="12700">
            <a:solidFill>
              <a:srgbClr val="E8DFC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A1-2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Close on his left hand resting flat on a massive carved wooden door studded with old brass; the ivory case beside the aged brass, both in the same warm light.</a:t>
            </a:r>
            <a:endParaRPr lang="en-US" sz="750" dirty="0"/>
          </a:p>
        </p:txBody>
      </p:sp>
      <p:pic>
        <p:nvPicPr>
          <p:cNvPr id="14" name="Image 2" descr="/tmp/claude-0/-home-user-Sage-portfolio/d05fecce-977e-5eab-9cf5-7c09b306c551/scratchpad/wrdeck/gen/full/A1-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E8DFC8"/>
          </a:solidFill>
          <a:ln w="12700">
            <a:solidFill>
              <a:srgbClr val="E8DFC8"/>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A1-3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The darbar hall, tall arches, soft haze. He sits perfectly still in a carved wooden chair at the centre, wrist on the armrest, looking straight at the lens.</a:t>
            </a:r>
            <a:endParaRPr lang="en-US" sz="750" dirty="0"/>
          </a:p>
        </p:txBody>
      </p:sp>
      <p:pic>
        <p:nvPicPr>
          <p:cNvPr id="18" name="Image 3" descr="/tmp/claude-0/-home-user-Sage-portfolio/d05fecce-977e-5eab-9cf5-7c09b306c551/scratchpad/wrdeck/img/crop_green.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A1-1: Slow push forward down the corridor as he walks away from camera, dust drifting in the light.</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A1-2: Very slow slide along the door; his hand lifts slightly so the watch catches a strip of sun.</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A1-3: Locked camera, slow push-in; the light shifts across the floor, he does not move.</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palace corridor cinematic portrait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@sabyasachiofficial — heritage pacing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10</a:t>
            </a:r>
            <a:endParaRPr lang="en-US" sz="750" dirty="0"/>
          </a:p>
        </p:txBody>
      </p:sp>
      <p:pic>
        <p:nvPicPr>
          <p:cNvPr id="4" name="Image 0" descr="/tmp/claude-0/-home-user-Sage-portfolio/d05fecce-977e-5eab-9cf5-7c09b306c551/scratchpad/wrdeck/gen/full/A2-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A2  ·  TIME-LAPSE  ·  20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EVERYTHING MOVES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Stillness as strength</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Everything moves.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Trends. Cities. What people call success this year.</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light in this hall alone has moved a hundred thousand times.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the hall hasn't.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That's the difference between a trend and a root.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One moves with time.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other, time moves around.</a:t>
            </a:r>
            <a:endParaRPr lang="en-US" sz="1150" dirty="0"/>
          </a:p>
          <a:p>
            <a:pPr indent="0" marL="0">
              <a:lnSpc>
                <a:spcPct val="125000"/>
              </a:lnSpc>
              <a:buNone/>
            </a:pPr>
            <a:r>
              <a:rPr lang="en-US" sz="1150" b="1" i="1" dirty="0">
                <a:solidFill>
                  <a:srgbClr val="E8DFC8"/>
                </a:solidFill>
                <a:latin typeface="Inter" pitchFamily="34" charset="0"/>
                <a:ea typeface="Inter" pitchFamily="34" charset="-122"/>
                <a:cs typeface="Inter" pitchFamily="34" charset="-120"/>
              </a:rPr>
              <a:t>Here's to your roots.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Everything moves → the light here moved a hundred thousand times, the hall didn't → trend vs root → the turn.</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Ólafur Arnalds — "Saman"</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A ticking second hand at real speed under the sped-up light · curtains · birds.</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BELONGS</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Some things look borrowed wherever they go. The wrong watch with a bandhgala. The wrong man in an old room. And some things look like they were always there. That's the whole secret of heritage. It never has to try.</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STILL HERE</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This hall has watched a hundred years of people trying to look important. None of them are here anymore. The hall is. Roots aren't about standing out. They're about standing.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11</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A2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EVERYTHING MOVES</a:t>
            </a:r>
            <a:endParaRPr lang="en-US" sz="2800" dirty="0"/>
          </a:p>
        </p:txBody>
      </p:sp>
      <p:pic>
        <p:nvPicPr>
          <p:cNvPr id="6" name="Image 0" descr="/tmp/claude-0/-home-user-Sage-portfolio/d05fecce-977e-5eab-9cf5-7c09b306c551/scratchpad/wrdeck/gen/full/A2-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E8DFC8"/>
          </a:solidFill>
          <a:ln w="12700">
            <a:solidFill>
              <a:srgbClr val="E8DFC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A2-1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Wide symmetrical hall with tall windows; sunlight falls in long diagonal bars across the floor. He sits motionless on a carved bench at the centre.</a:t>
            </a:r>
            <a:endParaRPr lang="en-US" sz="750" dirty="0"/>
          </a:p>
        </p:txBody>
      </p:sp>
      <p:pic>
        <p:nvPicPr>
          <p:cNvPr id="10" name="Image 1" descr="/tmp/claude-0/-home-user-Sage-portfolio/d05fecce-977e-5eab-9cf5-7c09b306c551/scratchpad/wrdeck/gen/full/A2-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E8DFC8"/>
          </a:solidFill>
          <a:ln w="12700">
            <a:solidFill>
              <a:srgbClr val="E8DFC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A2-2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Macro of the watch on his wrist on the carved bench: white waffle dial, eight screws, bottle-green strap.</a:t>
            </a:r>
            <a:endParaRPr lang="en-US" sz="750" dirty="0"/>
          </a:p>
        </p:txBody>
      </p:sp>
      <p:pic>
        <p:nvPicPr>
          <p:cNvPr id="14" name="Image 2" descr="/tmp/claude-0/-home-user-Sage-portfolio/d05fecce-977e-5eab-9cf5-7c09b306c551/scratchpad/wrdeck/gen/full/A2-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E8DFC8"/>
          </a:solidFill>
          <a:ln w="12700">
            <a:solidFill>
              <a:srgbClr val="E8DFC8"/>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A2-3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Same hall at dusk, deep amber light; he stands and faces the tall window, back half-turned, watch visible.</a:t>
            </a:r>
            <a:endParaRPr lang="en-US" sz="750" dirty="0"/>
          </a:p>
        </p:txBody>
      </p:sp>
      <p:pic>
        <p:nvPicPr>
          <p:cNvPr id="18" name="Image 3" descr="/tmp/claude-0/-home-user-Sage-portfolio/d05fecce-977e-5eab-9cf5-7c09b306c551/scratchpad/wrdeck/img/crop_green.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A2-1: Time-lapse: the bars of light sweep fast across the floor and walls, curtains flutter, while he stays absolutely still.</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A2-2: Locked macro; only the second hand sweeps at real speed, a reflection drifting across the crystal.</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A2-3: Slow push-in from behind as the light fades; he turns his head slightly toward the window.</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time-lapse light interior man still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@cartier — slow light play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12</a:t>
            </a:r>
            <a:endParaRPr lang="en-US" sz="750" dirty="0"/>
          </a:p>
        </p:txBody>
      </p:sp>
      <p:pic>
        <p:nvPicPr>
          <p:cNvPr id="4" name="Image 0" descr="/tmp/claude-0/-home-user-Sage-portfolio/d05fecce-977e-5eab-9cf5-7c09b306c551/scratchpad/wrdeck/gen/full/A3-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A3  ·  PUNCH  ·  10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THIRTY YEARS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One line you remember</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Fashion is what you wear this year.</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Heritage is what you're still wearing in thirty.</a:t>
            </a:r>
            <a:endParaRPr lang="en-US" sz="1150" dirty="0"/>
          </a:p>
          <a:p>
            <a:pPr indent="0" marL="0">
              <a:lnSpc>
                <a:spcPct val="125000"/>
              </a:lnSpc>
              <a:buNone/>
            </a:pPr>
            <a:r>
              <a:rPr lang="en-US" sz="1150" b="1" i="1" dirty="0">
                <a:solidFill>
                  <a:srgbClr val="E8DFC8"/>
                </a:solidFill>
                <a:latin typeface="Inter" pitchFamily="34" charset="0"/>
                <a:ea typeface="Inter" pitchFamily="34" charset="-122"/>
                <a:cs typeface="Inter" pitchFamily="34" charset="-120"/>
              </a:rPr>
              <a:t>Here's to your roots.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Two lines, one turn. It defines the watch as timeless without describing it.</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Nicholas Britell — "Succession (Main Title Theme)"</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Footsteps · one clasp click on the last word.</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OLD-FASHIONED</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They'll call it old-fashioned. Right up until it outlasts everything they're wearing.</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NO ANNOUNCEMENT</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Heritage doesn't announce itself. It was here before the announcement. It'll be here after.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FOREST IVORY · A3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13</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E8DFC8"/>
                </a:solidFill>
                <a:latin typeface="Inter" pitchFamily="34" charset="0"/>
                <a:ea typeface="Inter" pitchFamily="34" charset="-122"/>
                <a:cs typeface="Inter" pitchFamily="34" charset="-120"/>
              </a:rPr>
              <a:t>A3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THIRTY YEARS</a:t>
            </a:r>
            <a:endParaRPr lang="en-US" sz="2800" dirty="0"/>
          </a:p>
        </p:txBody>
      </p:sp>
      <p:pic>
        <p:nvPicPr>
          <p:cNvPr id="6" name="Image 0" descr="/tmp/claude-0/-home-user-Sage-portfolio/d05fecce-977e-5eab-9cf5-7c09b306c551/scratchpad/wrdeck/gen/full/A3-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E8DFC8"/>
          </a:solidFill>
          <a:ln w="12700">
            <a:solidFill>
              <a:srgbClr val="E8DFC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A3-1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A sunlit palace corridor of arches. He walks toward camera in the ivory bandhgala, mid-stride, calm.</a:t>
            </a:r>
            <a:endParaRPr lang="en-US" sz="750" dirty="0"/>
          </a:p>
        </p:txBody>
      </p:sp>
      <p:pic>
        <p:nvPicPr>
          <p:cNvPr id="10" name="Image 1" descr="/tmp/claude-0/-home-user-Sage-portfolio/d05fecce-977e-5eab-9cf5-7c09b306c551/scratchpad/wrdeck/gen/full/A3-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E8DFC8"/>
          </a:solidFill>
          <a:ln w="12700">
            <a:solidFill>
              <a:srgbClr val="E8DFC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A3-2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Close on his hands adjusting the cuff at chest height, the watch coming into view against the ivory fabric.</a:t>
            </a:r>
            <a:endParaRPr lang="en-US" sz="750" dirty="0"/>
          </a:p>
        </p:txBody>
      </p:sp>
      <p:pic>
        <p:nvPicPr>
          <p:cNvPr id="14" name="Image 2" descr="/tmp/claude-0/-home-user-Sage-portfolio/d05fecce-977e-5eab-9cf5-7c09b306c551/scratchpad/wrdeck/gen/full/A3-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E8DFC8"/>
          </a:solidFill>
          <a:ln w="12700">
            <a:solidFill>
              <a:srgbClr val="E8DFC8"/>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E8DFC8"/>
                </a:solidFill>
                <a:latin typeface="Inter" pitchFamily="34" charset="0"/>
                <a:ea typeface="Inter" pitchFamily="34" charset="-122"/>
                <a:cs typeface="Inter" pitchFamily="34" charset="-120"/>
              </a:rPr>
              <a:t>A3-3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Medium close: he stops under an arch and looks straight into the lens, steady, unsmiling, warm light on one side of his face.</a:t>
            </a:r>
            <a:endParaRPr lang="en-US" sz="750" dirty="0"/>
          </a:p>
        </p:txBody>
      </p:sp>
      <p:pic>
        <p:nvPicPr>
          <p:cNvPr id="18" name="Image 3" descr="/tmp/claude-0/-home-user-Sage-portfolio/d05fecce-977e-5eab-9cf5-7c09b306c551/scratchpad/wrdeck/img/crop_green.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A3-1: Slow backward track at waist height as he walks toward camera, light pulsing through each arch.</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A3-2: 85mm slow motion; the cuff slides back and sunlight flares across the case.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A3-3: Locked, slow push-in; he holds the look, barely breathing.</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E8DFC8"/>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bandhgala portrait palace arch</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14</a:t>
            </a:r>
            <a:endParaRPr lang="en-US" sz="750" dirty="0"/>
          </a:p>
        </p:txBody>
      </p:sp>
      <p:sp>
        <p:nvSpPr>
          <p:cNvPr id="4" name="Shape 2"/>
          <p:cNvSpPr/>
          <p:nvPr/>
        </p:nvSpPr>
        <p:spPr>
          <a:xfrm>
            <a:off x="0" y="0"/>
            <a:ext cx="4206240" cy="6858000"/>
          </a:xfrm>
          <a:prstGeom prst="rect">
            <a:avLst/>
          </a:prstGeom>
          <a:solidFill>
            <a:srgbClr val="173A31"/>
          </a:solidFill>
          <a:ln w="12700">
            <a:solidFill>
              <a:srgbClr val="173A31"/>
            </a:solidFill>
            <a:prstDash val="solid"/>
          </a:ln>
        </p:spPr>
      </p:sp>
      <p:pic>
        <p:nvPicPr>
          <p:cNvPr id="5" name="Image 0" descr="/tmp/claude-0/-home-user-Sage-portfolio/d05fecce-977e-5eab-9cf5-7c09b306c551/scratchpad/wrdeck/img/crop_lime.jpg">    </p:cNvPr>
          <p:cNvPicPr>
            <a:picLocks noChangeAspect="1"/>
          </p:cNvPicPr>
          <p:nvPr/>
        </p:nvPicPr>
        <p:blipFill>
          <a:blip r:embed="rId1"/>
          <a:srcRect l="0" r="0" t="0" b="0"/>
          <a:stretch/>
        </p:blipFill>
        <p:spPr>
          <a:xfrm>
            <a:off x="548640" y="2194560"/>
            <a:ext cx="3108960" cy="3383280"/>
          </a:xfrm>
          <a:prstGeom prst="rect">
            <a:avLst/>
          </a:prstGeom>
        </p:spPr>
      </p:pic>
      <p:sp>
        <p:nvSpPr>
          <p:cNvPr id="6" name="Text 3"/>
          <p:cNvSpPr txBox="1"/>
          <p:nvPr/>
        </p:nvSpPr>
        <p:spPr>
          <a:xfrm>
            <a:off x="548640" y="548640"/>
            <a:ext cx="3291840" cy="274320"/>
          </a:xfrm>
          <a:prstGeom prst="rect">
            <a:avLst/>
          </a:prstGeom>
          <a:noFill/>
          <a:ln/>
        </p:spPr>
        <p:txBody>
          <a:bodyPr wrap="square" lIns="0" tIns="0" rIns="0" bIns="0" rtlCol="0" anchor="t"/>
          <a:lstStyle/>
          <a:p>
            <a:pPr indent="0" marL="0">
              <a:buNone/>
            </a:pPr>
            <a:r>
              <a:rPr lang="en-US" sz="900" b="1" spc="400" kern="0" dirty="0">
                <a:solidFill>
                  <a:srgbClr val="D7F25A"/>
                </a:solidFill>
                <a:latin typeface="Inter" pitchFamily="34" charset="0"/>
                <a:ea typeface="Inter" pitchFamily="34" charset="-122"/>
                <a:cs typeface="Inter" pitchFamily="34" charset="-120"/>
              </a:rPr>
              <a:t>WORLD 02</a:t>
            </a:r>
            <a:endParaRPr lang="en-US" sz="900" dirty="0"/>
          </a:p>
        </p:txBody>
      </p:sp>
      <p:sp>
        <p:nvSpPr>
          <p:cNvPr id="7" name="Text 4"/>
          <p:cNvSpPr txBox="1"/>
          <p:nvPr/>
        </p:nvSpPr>
        <p:spPr>
          <a:xfrm>
            <a:off x="548640" y="868680"/>
            <a:ext cx="3474720" cy="685800"/>
          </a:xfrm>
          <a:prstGeom prst="rect">
            <a:avLst/>
          </a:prstGeom>
          <a:noFill/>
          <a:ln/>
        </p:spPr>
        <p:txBody>
          <a:bodyPr wrap="square" lIns="0" tIns="0" rIns="0" bIns="0" rtlCol="0" anchor="t"/>
          <a:lstStyle/>
          <a:p>
            <a:pPr indent="0" marL="0">
              <a:buNone/>
            </a:pPr>
            <a:r>
              <a:rPr lang="en-US" sz="3400" b="1" dirty="0">
                <a:solidFill>
                  <a:srgbClr val="F2EDE4"/>
                </a:solidFill>
                <a:latin typeface="Oswald" pitchFamily="34" charset="0"/>
                <a:ea typeface="Oswald" pitchFamily="34" charset="-122"/>
                <a:cs typeface="Oswald" pitchFamily="34" charset="-120"/>
              </a:rPr>
              <a:t>CITRUS MINT</a:t>
            </a:r>
            <a:endParaRPr lang="en-US" sz="3400" dirty="0"/>
          </a:p>
        </p:txBody>
      </p:sp>
      <p:sp>
        <p:nvSpPr>
          <p:cNvPr id="8" name="Text 5"/>
          <p:cNvSpPr txBox="1"/>
          <p:nvPr/>
        </p:nvSpPr>
        <p:spPr>
          <a:xfrm>
            <a:off x="548640" y="1554480"/>
            <a:ext cx="3474720" cy="502920"/>
          </a:xfrm>
          <a:prstGeom prst="rect">
            <a:avLst/>
          </a:prstGeom>
          <a:noFill/>
          <a:ln/>
        </p:spPr>
        <p:txBody>
          <a:bodyPr wrap="square" lIns="0" tIns="0" rIns="0" bIns="0" rtlCol="0" anchor="t"/>
          <a:lstStyle/>
          <a:p>
            <a:pPr indent="0" marL="0">
              <a:buNone/>
            </a:pPr>
            <a:r>
              <a:rPr lang="en-US" sz="1000" b="1" spc="200" kern="0" dirty="0">
                <a:solidFill>
                  <a:srgbClr val="D7F25A"/>
                </a:solidFill>
                <a:latin typeface="Inter" pitchFamily="34" charset="0"/>
                <a:ea typeface="Inter" pitchFamily="34" charset="-122"/>
                <a:cs typeface="Inter" pitchFamily="34" charset="-120"/>
              </a:rPr>
              <a:t>THE ONE THAT TRAINS WITH YOU</a:t>
            </a:r>
            <a:endParaRPr lang="en-US" sz="1000" dirty="0"/>
          </a:p>
        </p:txBody>
      </p:sp>
      <p:sp>
        <p:nvSpPr>
          <p:cNvPr id="9" name="Shape 6"/>
          <p:cNvSpPr/>
          <p:nvPr/>
        </p:nvSpPr>
        <p:spPr>
          <a:xfrm>
            <a:off x="548640" y="5760720"/>
            <a:ext cx="640080" cy="292608"/>
          </a:xfrm>
          <a:prstGeom prst="rect">
            <a:avLst/>
          </a:prstGeom>
          <a:solidFill>
            <a:srgbClr val="0A0A0A"/>
          </a:solidFill>
          <a:ln w="6350">
            <a:solidFill>
              <a:srgbClr val="0B0B0A"/>
            </a:solidFill>
            <a:prstDash val="solid"/>
          </a:ln>
        </p:spPr>
      </p:sp>
      <p:sp>
        <p:nvSpPr>
          <p:cNvPr id="10" name="Text 7"/>
          <p:cNvSpPr txBox="1"/>
          <p:nvPr/>
        </p:nvSpPr>
        <p:spPr>
          <a:xfrm>
            <a:off x="548640"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Black</a:t>
            </a:r>
            <a:endParaRPr lang="en-US" sz="650" dirty="0"/>
          </a:p>
        </p:txBody>
      </p:sp>
      <p:sp>
        <p:nvSpPr>
          <p:cNvPr id="11" name="Shape 8"/>
          <p:cNvSpPr/>
          <p:nvPr/>
        </p:nvSpPr>
        <p:spPr>
          <a:xfrm>
            <a:off x="1335024" y="5760720"/>
            <a:ext cx="640080" cy="292608"/>
          </a:xfrm>
          <a:prstGeom prst="rect">
            <a:avLst/>
          </a:prstGeom>
          <a:solidFill>
            <a:srgbClr val="D7F25A"/>
          </a:solidFill>
          <a:ln w="6350">
            <a:solidFill>
              <a:srgbClr val="0B0B0A"/>
            </a:solidFill>
            <a:prstDash val="solid"/>
          </a:ln>
        </p:spPr>
      </p:sp>
      <p:sp>
        <p:nvSpPr>
          <p:cNvPr id="12" name="Text 9"/>
          <p:cNvSpPr txBox="1"/>
          <p:nvPr/>
        </p:nvSpPr>
        <p:spPr>
          <a:xfrm>
            <a:off x="1335024"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Lime</a:t>
            </a:r>
            <a:endParaRPr lang="en-US" sz="650" dirty="0"/>
          </a:p>
        </p:txBody>
      </p:sp>
      <p:sp>
        <p:nvSpPr>
          <p:cNvPr id="13" name="Shape 10"/>
          <p:cNvSpPr/>
          <p:nvPr/>
        </p:nvSpPr>
        <p:spPr>
          <a:xfrm>
            <a:off x="2121408" y="5760720"/>
            <a:ext cx="640080" cy="292608"/>
          </a:xfrm>
          <a:prstGeom prst="rect">
            <a:avLst/>
          </a:prstGeom>
          <a:solidFill>
            <a:srgbClr val="8FE3C3"/>
          </a:solidFill>
          <a:ln w="6350">
            <a:solidFill>
              <a:srgbClr val="0B0B0A"/>
            </a:solidFill>
            <a:prstDash val="solid"/>
          </a:ln>
        </p:spPr>
      </p:sp>
      <p:sp>
        <p:nvSpPr>
          <p:cNvPr id="14" name="Text 11"/>
          <p:cNvSpPr txBox="1"/>
          <p:nvPr/>
        </p:nvSpPr>
        <p:spPr>
          <a:xfrm>
            <a:off x="2121408"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Mint</a:t>
            </a:r>
            <a:endParaRPr lang="en-US" sz="650" dirty="0"/>
          </a:p>
        </p:txBody>
      </p:sp>
      <p:sp>
        <p:nvSpPr>
          <p:cNvPr id="15" name="Shape 12"/>
          <p:cNvSpPr/>
          <p:nvPr/>
        </p:nvSpPr>
        <p:spPr>
          <a:xfrm>
            <a:off x="2907792" y="5760720"/>
            <a:ext cx="640080" cy="292608"/>
          </a:xfrm>
          <a:prstGeom prst="rect">
            <a:avLst/>
          </a:prstGeom>
          <a:solidFill>
            <a:srgbClr val="F2B544"/>
          </a:solidFill>
          <a:ln w="6350">
            <a:solidFill>
              <a:srgbClr val="0B0B0A"/>
            </a:solidFill>
            <a:prstDash val="solid"/>
          </a:ln>
        </p:spPr>
      </p:sp>
      <p:sp>
        <p:nvSpPr>
          <p:cNvPr id="16" name="Text 13"/>
          <p:cNvSpPr txBox="1"/>
          <p:nvPr/>
        </p:nvSpPr>
        <p:spPr>
          <a:xfrm>
            <a:off x="2907792"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Sunrise</a:t>
            </a:r>
            <a:endParaRPr lang="en-US" sz="650" dirty="0"/>
          </a:p>
        </p:txBody>
      </p:sp>
      <p:sp>
        <p:nvSpPr>
          <p:cNvPr id="17" name="Text 14"/>
          <p:cNvSpPr txBox="1"/>
          <p:nvPr/>
        </p:nvSpPr>
        <p:spPr>
          <a:xfrm>
            <a:off x="4663440" y="548640"/>
            <a:ext cx="7315200" cy="274320"/>
          </a:xfrm>
          <a:prstGeom prst="rect">
            <a:avLst/>
          </a:prstGeom>
          <a:noFill/>
          <a:ln/>
        </p:spPr>
        <p:txBody>
          <a:bodyPr wrap="square" lIns="0" tIns="0" rIns="0" bIns="0" rtlCol="0" anchor="t"/>
          <a:lstStyle/>
          <a:p>
            <a:pPr indent="0" marL="0">
              <a:buNone/>
            </a:pPr>
            <a:r>
              <a:rPr lang="en-US" sz="900" b="1" spc="400" kern="0" dirty="0">
                <a:solidFill>
                  <a:srgbClr val="D7F25A"/>
                </a:solidFill>
                <a:latin typeface="Inter" pitchFamily="34" charset="0"/>
                <a:ea typeface="Inter" pitchFamily="34" charset="-122"/>
                <a:cs typeface="Inter" pitchFamily="34" charset="-120"/>
              </a:rPr>
              <a:t>WORKOUT · ATHLETIC  ·  06:00–07:45</a:t>
            </a:r>
            <a:endParaRPr lang="en-US" sz="900" dirty="0"/>
          </a:p>
        </p:txBody>
      </p:sp>
      <p:sp>
        <p:nvSpPr>
          <p:cNvPr id="18" name="Text 15"/>
          <p:cNvSpPr txBox="1"/>
          <p:nvPr/>
        </p:nvSpPr>
        <p:spPr>
          <a:xfrm>
            <a:off x="4663440" y="914400"/>
            <a:ext cx="6949440" cy="1005840"/>
          </a:xfrm>
          <a:prstGeom prst="rect">
            <a:avLst/>
          </a:prstGeom>
          <a:noFill/>
          <a:ln/>
        </p:spPr>
        <p:txBody>
          <a:bodyPr wrap="square" lIns="0" tIns="0" rIns="0" bIns="0" rtlCol="0" anchor="t"/>
          <a:lstStyle/>
          <a:p>
            <a:pPr indent="0" marL="0">
              <a:lnSpc>
                <a:spcPct val="105000"/>
              </a:lnSpc>
              <a:buNone/>
            </a:pPr>
            <a:r>
              <a:rPr lang="en-US" sz="1800" dirty="0">
                <a:solidFill>
                  <a:srgbClr val="F2EDE4"/>
                </a:solidFill>
                <a:latin typeface="Oswald" pitchFamily="34" charset="0"/>
                <a:ea typeface="Oswald" pitchFamily="34" charset="-122"/>
                <a:cs typeface="Oswald" pitchFamily="34" charset="-120"/>
              </a:rPr>
              <a:t>Loud in colour, quiet in effort. The one luxury watch that doesn't come off for the workout — it was built for it.</a:t>
            </a:r>
            <a:endParaRPr lang="en-US" sz="1800" dirty="0"/>
          </a:p>
        </p:txBody>
      </p:sp>
      <p:sp>
        <p:nvSpPr>
          <p:cNvPr id="19" name="Text 16"/>
          <p:cNvSpPr txBox="1"/>
          <p:nvPr/>
        </p:nvSpPr>
        <p:spPr>
          <a:xfrm>
            <a:off x="4663440" y="1965960"/>
            <a:ext cx="6949440" cy="365760"/>
          </a:xfrm>
          <a:prstGeom prst="rect">
            <a:avLst/>
          </a:prstGeom>
          <a:noFill/>
          <a:ln/>
        </p:spPr>
        <p:txBody>
          <a:bodyPr wrap="square" lIns="0" tIns="0" rIns="0" bIns="0" rtlCol="0" anchor="t"/>
          <a:lstStyle/>
          <a:p>
            <a:pPr indent="0" marL="0">
              <a:buNone/>
            </a:pPr>
            <a:r>
              <a:rPr lang="en-US" sz="1500" i="1" dirty="0">
                <a:solidFill>
                  <a:srgbClr val="D7F25A"/>
                </a:solidFill>
                <a:latin typeface="Oswald" pitchFamily="34" charset="0"/>
                <a:ea typeface="Oswald" pitchFamily="34" charset="-122"/>
                <a:cs typeface="Oswald" pitchFamily="34" charset="-120"/>
              </a:rPr>
              <a:t>Here's to your sweat.  Wear what's yours.</a:t>
            </a:r>
            <a:endParaRPr lang="en-US" sz="1500" dirty="0"/>
          </a:p>
        </p:txBody>
      </p:sp>
      <p:sp>
        <p:nvSpPr>
          <p:cNvPr id="20" name="Text 17"/>
          <p:cNvSpPr txBox="1"/>
          <p:nvPr/>
        </p:nvSpPr>
        <p:spPr>
          <a:xfrm>
            <a:off x="4663440" y="2514600"/>
            <a:ext cx="13716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WHERE</a:t>
            </a:r>
            <a:endParaRPr lang="en-US" sz="750" dirty="0"/>
          </a:p>
        </p:txBody>
      </p:sp>
      <p:sp>
        <p:nvSpPr>
          <p:cNvPr id="21" name="Text 18"/>
          <p:cNvSpPr txBox="1"/>
          <p:nvPr/>
        </p:nvSpPr>
        <p:spPr>
          <a:xfrm>
            <a:off x="6035040" y="2487168"/>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Modern gym (black rubber floor, steel racks), a concrete rooftop at sunrise, a public park running track. No heritage anywhere.</a:t>
            </a:r>
            <a:endParaRPr lang="en-US" sz="1000" dirty="0"/>
          </a:p>
        </p:txBody>
      </p:sp>
      <p:sp>
        <p:nvSpPr>
          <p:cNvPr id="22" name="Text 19"/>
          <p:cNvSpPr txBox="1"/>
          <p:nvPr/>
        </p:nvSpPr>
        <p:spPr>
          <a:xfrm>
            <a:off x="4663440" y="3044952"/>
            <a:ext cx="13716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WARDROBE</a:t>
            </a:r>
            <a:endParaRPr lang="en-US" sz="750" dirty="0"/>
          </a:p>
        </p:txBody>
      </p:sp>
      <p:sp>
        <p:nvSpPr>
          <p:cNvPr id="23" name="Text 20"/>
          <p:cNvSpPr txBox="1"/>
          <p:nvPr/>
        </p:nvSpPr>
        <p:spPr>
          <a:xfrm>
            <a:off x="6035040" y="3017520"/>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Black training tee, black shorts, white trainers — so the lime pops.</a:t>
            </a:r>
            <a:endParaRPr lang="en-US" sz="1000" dirty="0"/>
          </a:p>
        </p:txBody>
      </p:sp>
      <p:sp>
        <p:nvSpPr>
          <p:cNvPr id="24" name="Text 21"/>
          <p:cNvSpPr txBox="1"/>
          <p:nvPr/>
        </p:nvSpPr>
        <p:spPr>
          <a:xfrm>
            <a:off x="4663440" y="3575304"/>
            <a:ext cx="13716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SOUND</a:t>
            </a:r>
            <a:endParaRPr lang="en-US" sz="750" dirty="0"/>
          </a:p>
        </p:txBody>
      </p:sp>
      <p:sp>
        <p:nvSpPr>
          <p:cNvPr id="25" name="Text 22"/>
          <p:cNvSpPr txBox="1"/>
          <p:nvPr/>
        </p:nvSpPr>
        <p:spPr>
          <a:xfrm>
            <a:off x="6035040" y="3547872"/>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Breath, rope, one kick drum.</a:t>
            </a:r>
            <a:endParaRPr lang="en-US" sz="1000" dirty="0"/>
          </a:p>
        </p:txBody>
      </p:sp>
      <p:sp>
        <p:nvSpPr>
          <p:cNvPr id="26" name="Shape 23"/>
          <p:cNvSpPr/>
          <p:nvPr/>
        </p:nvSpPr>
        <p:spPr>
          <a:xfrm>
            <a:off x="4663440" y="4206240"/>
            <a:ext cx="2240280" cy="2011680"/>
          </a:xfrm>
          <a:prstGeom prst="rect">
            <a:avLst/>
          </a:prstGeom>
          <a:solidFill>
            <a:srgbClr val="151513"/>
          </a:solidFill>
          <a:ln w="9525">
            <a:solidFill>
              <a:srgbClr val="2B2A26"/>
            </a:solidFill>
            <a:prstDash val="solid"/>
          </a:ln>
        </p:spPr>
      </p:sp>
      <p:sp>
        <p:nvSpPr>
          <p:cNvPr id="27" name="Text 24"/>
          <p:cNvSpPr txBox="1"/>
          <p:nvPr/>
        </p:nvSpPr>
        <p:spPr>
          <a:xfrm>
            <a:off x="4846320" y="4370832"/>
            <a:ext cx="914400" cy="365760"/>
          </a:xfrm>
          <a:prstGeom prst="rect">
            <a:avLst/>
          </a:prstGeom>
          <a:noFill/>
          <a:ln/>
        </p:spPr>
        <p:txBody>
          <a:bodyPr wrap="square" lIns="0" tIns="0" rIns="0" bIns="0" rtlCol="0" anchor="t"/>
          <a:lstStyle/>
          <a:p>
            <a:pPr indent="0" marL="0">
              <a:buNone/>
            </a:pPr>
            <a:r>
              <a:rPr lang="en-US" sz="1800" b="1" dirty="0">
                <a:solidFill>
                  <a:srgbClr val="D7F25A"/>
                </a:solidFill>
                <a:latin typeface="Oswald" pitchFamily="34" charset="0"/>
                <a:ea typeface="Oswald" pitchFamily="34" charset="-122"/>
                <a:cs typeface="Oswald" pitchFamily="34" charset="-120"/>
              </a:rPr>
              <a:t>B1</a:t>
            </a:r>
            <a:endParaRPr lang="en-US" sz="1800" dirty="0"/>
          </a:p>
        </p:txBody>
      </p:sp>
      <p:sp>
        <p:nvSpPr>
          <p:cNvPr id="28" name="Text 25"/>
          <p:cNvSpPr txBox="1"/>
          <p:nvPr/>
        </p:nvSpPr>
        <p:spPr>
          <a:xfrm>
            <a:off x="484632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NOBODY CLAPS</a:t>
            </a:r>
            <a:endParaRPr lang="en-US" sz="1400" dirty="0"/>
          </a:p>
        </p:txBody>
      </p:sp>
      <p:sp>
        <p:nvSpPr>
          <p:cNvPr id="29" name="Text 26"/>
          <p:cNvSpPr txBox="1"/>
          <p:nvPr/>
        </p:nvSpPr>
        <p:spPr>
          <a:xfrm>
            <a:off x="484632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Hero · 30 s</a:t>
            </a:r>
            <a:endParaRPr lang="en-US" sz="850" dirty="0"/>
          </a:p>
        </p:txBody>
      </p:sp>
      <p:sp>
        <p:nvSpPr>
          <p:cNvPr id="30" name="Text 27"/>
          <p:cNvSpPr txBox="1"/>
          <p:nvPr/>
        </p:nvSpPr>
        <p:spPr>
          <a:xfrm>
            <a:off x="484632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Respect for what nobody sees</a:t>
            </a:r>
            <a:endParaRPr lang="en-US" sz="900" dirty="0"/>
          </a:p>
        </p:txBody>
      </p:sp>
      <p:sp>
        <p:nvSpPr>
          <p:cNvPr id="31" name="Shape 28"/>
          <p:cNvSpPr/>
          <p:nvPr/>
        </p:nvSpPr>
        <p:spPr>
          <a:xfrm>
            <a:off x="7040880" y="4206240"/>
            <a:ext cx="2240280" cy="2011680"/>
          </a:xfrm>
          <a:prstGeom prst="rect">
            <a:avLst/>
          </a:prstGeom>
          <a:solidFill>
            <a:srgbClr val="151513"/>
          </a:solidFill>
          <a:ln w="9525">
            <a:solidFill>
              <a:srgbClr val="2B2A26"/>
            </a:solidFill>
            <a:prstDash val="solid"/>
          </a:ln>
        </p:spPr>
      </p:sp>
      <p:sp>
        <p:nvSpPr>
          <p:cNvPr id="32" name="Text 29"/>
          <p:cNvSpPr txBox="1"/>
          <p:nvPr/>
        </p:nvSpPr>
        <p:spPr>
          <a:xfrm>
            <a:off x="7223760" y="4370832"/>
            <a:ext cx="914400" cy="365760"/>
          </a:xfrm>
          <a:prstGeom prst="rect">
            <a:avLst/>
          </a:prstGeom>
          <a:noFill/>
          <a:ln/>
        </p:spPr>
        <p:txBody>
          <a:bodyPr wrap="square" lIns="0" tIns="0" rIns="0" bIns="0" rtlCol="0" anchor="t"/>
          <a:lstStyle/>
          <a:p>
            <a:pPr indent="0" marL="0">
              <a:buNone/>
            </a:pPr>
            <a:r>
              <a:rPr lang="en-US" sz="1800" b="1" dirty="0">
                <a:solidFill>
                  <a:srgbClr val="D7F25A"/>
                </a:solidFill>
                <a:latin typeface="Oswald" pitchFamily="34" charset="0"/>
                <a:ea typeface="Oswald" pitchFamily="34" charset="-122"/>
                <a:cs typeface="Oswald" pitchFamily="34" charset="-120"/>
              </a:rPr>
              <a:t>B2</a:t>
            </a:r>
            <a:endParaRPr lang="en-US" sz="1800" dirty="0"/>
          </a:p>
        </p:txBody>
      </p:sp>
      <p:sp>
        <p:nvSpPr>
          <p:cNvPr id="33" name="Text 30"/>
          <p:cNvSpPr txBox="1"/>
          <p:nvPr/>
        </p:nvSpPr>
        <p:spPr>
          <a:xfrm>
            <a:off x="722376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TWENTY-ONE</a:t>
            </a:r>
            <a:endParaRPr lang="en-US" sz="1400" dirty="0"/>
          </a:p>
        </p:txBody>
      </p:sp>
      <p:sp>
        <p:nvSpPr>
          <p:cNvPr id="34" name="Text 31"/>
          <p:cNvSpPr txBox="1"/>
          <p:nvPr/>
        </p:nvSpPr>
        <p:spPr>
          <a:xfrm>
            <a:off x="722376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Counter · 15 s</a:t>
            </a:r>
            <a:endParaRPr lang="en-US" sz="850" dirty="0"/>
          </a:p>
        </p:txBody>
      </p:sp>
      <p:sp>
        <p:nvSpPr>
          <p:cNvPr id="35" name="Text 32"/>
          <p:cNvSpPr txBox="1"/>
          <p:nvPr/>
        </p:nvSpPr>
        <p:spPr>
          <a:xfrm>
            <a:off x="722376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Adrenaline</a:t>
            </a:r>
            <a:endParaRPr lang="en-US" sz="900" dirty="0"/>
          </a:p>
        </p:txBody>
      </p:sp>
      <p:sp>
        <p:nvSpPr>
          <p:cNvPr id="36" name="Shape 33"/>
          <p:cNvSpPr/>
          <p:nvPr/>
        </p:nvSpPr>
        <p:spPr>
          <a:xfrm>
            <a:off x="9418320" y="4206240"/>
            <a:ext cx="2240280" cy="2011680"/>
          </a:xfrm>
          <a:prstGeom prst="rect">
            <a:avLst/>
          </a:prstGeom>
          <a:solidFill>
            <a:srgbClr val="151513"/>
          </a:solidFill>
          <a:ln w="9525">
            <a:solidFill>
              <a:srgbClr val="2B2A26"/>
            </a:solidFill>
            <a:prstDash val="solid"/>
          </a:ln>
        </p:spPr>
      </p:sp>
      <p:sp>
        <p:nvSpPr>
          <p:cNvPr id="37" name="Text 34"/>
          <p:cNvSpPr txBox="1"/>
          <p:nvPr/>
        </p:nvSpPr>
        <p:spPr>
          <a:xfrm>
            <a:off x="9601200" y="4370832"/>
            <a:ext cx="914400" cy="365760"/>
          </a:xfrm>
          <a:prstGeom prst="rect">
            <a:avLst/>
          </a:prstGeom>
          <a:noFill/>
          <a:ln/>
        </p:spPr>
        <p:txBody>
          <a:bodyPr wrap="square" lIns="0" tIns="0" rIns="0" bIns="0" rtlCol="0" anchor="t"/>
          <a:lstStyle/>
          <a:p>
            <a:pPr indent="0" marL="0">
              <a:buNone/>
            </a:pPr>
            <a:r>
              <a:rPr lang="en-US" sz="1800" b="1" dirty="0">
                <a:solidFill>
                  <a:srgbClr val="D7F25A"/>
                </a:solidFill>
                <a:latin typeface="Oswald" pitchFamily="34" charset="0"/>
                <a:ea typeface="Oswald" pitchFamily="34" charset="-122"/>
                <a:cs typeface="Oswald" pitchFamily="34" charset="-120"/>
              </a:rPr>
              <a:t>B3</a:t>
            </a:r>
            <a:endParaRPr lang="en-US" sz="1800" dirty="0"/>
          </a:p>
        </p:txBody>
      </p:sp>
      <p:sp>
        <p:nvSpPr>
          <p:cNvPr id="38" name="Text 35"/>
          <p:cNvSpPr txBox="1"/>
          <p:nvPr/>
        </p:nvSpPr>
        <p:spPr>
          <a:xfrm>
            <a:off x="960120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PROOF</a:t>
            </a:r>
            <a:endParaRPr lang="en-US" sz="1400" dirty="0"/>
          </a:p>
        </p:txBody>
      </p:sp>
      <p:sp>
        <p:nvSpPr>
          <p:cNvPr id="39" name="Text 36"/>
          <p:cNvSpPr txBox="1"/>
          <p:nvPr/>
        </p:nvSpPr>
        <p:spPr>
          <a:xfrm>
            <a:off x="960120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Punch · 10 s</a:t>
            </a:r>
            <a:endParaRPr lang="en-US" sz="850" dirty="0"/>
          </a:p>
        </p:txBody>
      </p:sp>
      <p:sp>
        <p:nvSpPr>
          <p:cNvPr id="40" name="Text 37"/>
          <p:cNvSpPr txBox="1"/>
          <p:nvPr/>
        </p:nvSpPr>
        <p:spPr>
          <a:xfrm>
            <a:off x="960120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A nod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15</a:t>
            </a:r>
            <a:endParaRPr lang="en-US" sz="750" dirty="0"/>
          </a:p>
        </p:txBody>
      </p:sp>
      <p:pic>
        <p:nvPicPr>
          <p:cNvPr id="4" name="Image 0" descr="/tmp/claude-0/-home-user-Sage-portfolio/d05fecce-977e-5eab-9cf5-7c09b306c551/scratchpad/wrdeck/gen/full/B1-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B1  ·  HERO  ·  30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NOBODY CLAPS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Respect for what nobody sees</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Nobody claps at five in the morning.</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 crowd. No camera. Nobody to impress.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Just you, and the version of you that wanted to stay in bed.</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 morning, one of them wins.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world only ever sees the result.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watch sees the mornings.</a:t>
            </a:r>
            <a:endParaRPr lang="en-US" sz="1150" dirty="0"/>
          </a:p>
          <a:p>
            <a:pPr indent="0" marL="0">
              <a:lnSpc>
                <a:spcPct val="125000"/>
              </a:lnSpc>
              <a:buNone/>
            </a:pPr>
            <a:r>
              <a:rPr lang="en-US" sz="1150" b="1" i="1" dirty="0">
                <a:solidFill>
                  <a:srgbClr val="D7F25A"/>
                </a:solidFill>
                <a:latin typeface="Inter" pitchFamily="34" charset="0"/>
                <a:ea typeface="Inter" pitchFamily="34" charset="-122"/>
                <a:cs typeface="Inter" pitchFamily="34" charset="-120"/>
              </a:rPr>
              <a:t>Here's to your sweat.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The watch becomes the only witness to the work. "The watch sees the mornings" is the line that makes it the athlete's watch.</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Hans Zimmer — "Mountains" (Interstellar)</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Laces · breath · a push-up on concrete · wind on the roof · one kick on the end card.</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YOU CAN'T BUY THIS</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You can buy the shoes. The gym. The coach. The playlist. You can buy everything that makes it look easy. You can't buy one drop of this. This, you earn. One morning at a time.</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IT COMES OFF</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Most luxury watches come off before the workout. Too precious. Too delicate. Too scared of a little sweat. This one was made for it. It doesn't watch you train. It trains with you.</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16</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B1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NOBODY CLAPS</a:t>
            </a:r>
            <a:endParaRPr lang="en-US" sz="2800" dirty="0"/>
          </a:p>
        </p:txBody>
      </p:sp>
      <p:pic>
        <p:nvPicPr>
          <p:cNvPr id="6" name="Image 0" descr="/tmp/claude-0/-home-user-Sage-portfolio/d05fecce-977e-5eab-9cf5-7c09b306c551/scratchpad/wrdeck/gen/full/B1-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D7F25A"/>
          </a:solidFill>
          <a:ln w="12700">
            <a:solidFill>
              <a:srgbClr val="D7F25A"/>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B1-1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Blue hour in a dark modern gym, one strip of LED light. He kneels and laces white trainers; the lime watch is the only bright thing in frame.</a:t>
            </a:r>
            <a:endParaRPr lang="en-US" sz="750" dirty="0"/>
          </a:p>
        </p:txBody>
      </p:sp>
      <p:pic>
        <p:nvPicPr>
          <p:cNvPr id="10" name="Image 1" descr="/tmp/claude-0/-home-user-Sage-portfolio/d05fecce-977e-5eab-9cf5-7c09b306c551/scratchpad/wrdeck/gen/full/B1-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D7F25A"/>
          </a:solidFill>
          <a:ln w="12700">
            <a:solidFill>
              <a:srgbClr val="D7F25A"/>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B1-2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Sunrise on a concrete rooftop, city towers behind: he is at the bottom of a push-up, backlit, sweat on his arms; macro on the lime watch flexing on his wrist.</a:t>
            </a:r>
            <a:endParaRPr lang="en-US" sz="750" dirty="0"/>
          </a:p>
        </p:txBody>
      </p:sp>
      <p:pic>
        <p:nvPicPr>
          <p:cNvPr id="14" name="Image 2" descr="/tmp/claude-0/-home-user-Sage-portfolio/d05fecce-977e-5eab-9cf5-7c09b306c551/scratchpad/wrdeck/gen/full/B1-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D7F25A"/>
          </a:solidFill>
          <a:ln w="12700">
            <a:solidFill>
              <a:srgbClr val="D7F25A"/>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B1-3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stands tall at the rooftop edge, chest heaving, steam off his shoulders, the sun over the skyline, wrist raised to check the watch.</a:t>
            </a:r>
            <a:endParaRPr lang="en-US" sz="750" dirty="0"/>
          </a:p>
        </p:txBody>
      </p:sp>
      <p:pic>
        <p:nvPicPr>
          <p:cNvPr id="18" name="Image 3" descr="/tmp/claude-0/-home-user-Sage-portfolio/d05fecce-977e-5eab-9cf5-7c09b306c551/scratchpad/wrdeck/img/crop_lim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B1-1: Handheld, quiet; he finishes lacing, exhales, looks up.</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B1-2: Slow motion; he presses up, a drop of sweat falls past the watch, the sun flares.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B1-3: Slow push-in from behind into silhouette; he lowers his wrist and stays facing the sun.</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5am rooftop workout sunrise cinematic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@tagheuer — sport edits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17</a:t>
            </a:r>
            <a:endParaRPr lang="en-US" sz="750" dirty="0"/>
          </a:p>
        </p:txBody>
      </p:sp>
      <p:pic>
        <p:nvPicPr>
          <p:cNvPr id="4" name="Image 0" descr="/tmp/claude-0/-home-user-Sage-portfolio/d05fecce-977e-5eab-9cf5-7c09b306c551/scratchpad/wrdeck/gen/full/B2-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B2  ·  COUNTER  ·  15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TWENTY-ONE</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Adrenaline</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body quits at ten.</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mind quits at twenty.</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Everything you want lives in twenty-one.</a:t>
            </a:r>
            <a:endParaRPr lang="en-US" sz="1150" dirty="0"/>
          </a:p>
          <a:p>
            <a:pPr indent="0" marL="0">
              <a:lnSpc>
                <a:spcPct val="125000"/>
              </a:lnSpc>
              <a:buNone/>
            </a:pPr>
            <a:r>
              <a:rPr lang="en-US" sz="1150" b="1" i="1" dirty="0">
                <a:solidFill>
                  <a:srgbClr val="D7F25A"/>
                </a:solidFill>
                <a:latin typeface="Inter" pitchFamily="34" charset="0"/>
                <a:ea typeface="Inter" pitchFamily="34" charset="-122"/>
                <a:cs typeface="Inter" pitchFamily="34" charset="-120"/>
              </a:rPr>
              <a:t>Here's to your sweat.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A counting rhythm with real tension. An on-screen rep counter (1 → 21) is added in the edit.</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Kendrick Lamar — "HUMBLE." (instrumental)</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Rope slams on the beat · breath · silence before rep 21 · one slam.</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REST DAY</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Rest days are for the body. Not for the standard.</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FROM TOMORROW</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Every fitness plan starts with the same two words. From tomorrow. From Monday. From the first. From after the wedding. Mine started the day I stopped saying them.</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18</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B2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TWENTY-ONE</a:t>
            </a:r>
            <a:endParaRPr lang="en-US" sz="2800" dirty="0"/>
          </a:p>
        </p:txBody>
      </p:sp>
      <p:pic>
        <p:nvPicPr>
          <p:cNvPr id="6" name="Image 0" descr="/tmp/claude-0/-home-user-Sage-portfolio/d05fecce-977e-5eab-9cf5-7c09b306c551/scratchpad/wrdeck/gen/full/B2-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D7F25A"/>
          </a:solidFill>
          <a:ln w="12700">
            <a:solidFill>
              <a:srgbClr val="D7F25A"/>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B2-1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Modern industrial gym, one hard shaft of window light: tight low-angle of him slamming battle ropes, rope waves rushing toward camera, lime watch on his gripping hand.</a:t>
            </a:r>
            <a:endParaRPr lang="en-US" sz="750" dirty="0"/>
          </a:p>
        </p:txBody>
      </p:sp>
      <p:pic>
        <p:nvPicPr>
          <p:cNvPr id="10" name="Image 1" descr="/tmp/claude-0/-home-user-Sage-portfolio/d05fecce-977e-5eab-9cf5-7c09b306c551/scratchpad/wrdeck/gen/full/B2-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D7F25A"/>
          </a:solidFill>
          <a:ln w="12700">
            <a:solidFill>
              <a:srgbClr val="D7F25A"/>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B2-2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Close on his face mid-effort: jaw clenched, sweat, eyes locked forward.</a:t>
            </a:r>
            <a:endParaRPr lang="en-US" sz="750" dirty="0"/>
          </a:p>
        </p:txBody>
      </p:sp>
      <p:pic>
        <p:nvPicPr>
          <p:cNvPr id="14" name="Image 2" descr="/tmp/claude-0/-home-user-Sage-portfolio/d05fecce-977e-5eab-9cf5-7c09b306c551/scratchpad/wrdeck/gen/full/B2-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D7F25A"/>
          </a:solidFill>
          <a:ln w="12700">
            <a:solidFill>
              <a:srgbClr val="D7F25A"/>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B2-3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stands bent over, hands on knees, gasping, then glances at the watch; ropes at his feet.</a:t>
            </a:r>
            <a:endParaRPr lang="en-US" sz="750" dirty="0"/>
          </a:p>
        </p:txBody>
      </p:sp>
      <p:pic>
        <p:nvPicPr>
          <p:cNvPr id="18" name="Image 3" descr="/tmp/claude-0/-home-user-Sage-portfolio/d05fecce-977e-5eab-9cf5-7c09b306c551/scratchpad/wrdeck/img/crop_lim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B2-1: Fast rhythmic slams, rope waves crashing toward lens, sweat flicking in the light.</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B2-2: 85mm, slight handheld shake with each slam; his breathing is visible.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B2-3: He straightens, grabs the ropes and delivers one final massive slam in extreme slow motion, sweat exploding off his arms.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battle ropes cinematic gym</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19</a:t>
            </a:r>
            <a:endParaRPr lang="en-US" sz="750" dirty="0"/>
          </a:p>
        </p:txBody>
      </p:sp>
      <p:pic>
        <p:nvPicPr>
          <p:cNvPr id="4" name="Image 0" descr="/tmp/claude-0/-home-user-Sage-portfolio/d05fecce-977e-5eab-9cf5-7c09b306c551/scratchpad/wrdeck/gen/full/B3-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B3  ·  PUNCH  ·  10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PROOF</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A nod</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Talent is a rumour.</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Sweat is proof.</a:t>
            </a:r>
            <a:endParaRPr lang="en-US" sz="1150" dirty="0"/>
          </a:p>
          <a:p>
            <a:pPr indent="0" marL="0">
              <a:lnSpc>
                <a:spcPct val="125000"/>
              </a:lnSpc>
              <a:buNone/>
            </a:pPr>
            <a:r>
              <a:rPr lang="en-US" sz="1150" b="1" i="1" dirty="0">
                <a:solidFill>
                  <a:srgbClr val="D7F25A"/>
                </a:solidFill>
                <a:latin typeface="Inter" pitchFamily="34" charset="0"/>
                <a:ea typeface="Inter" pitchFamily="34" charset="-122"/>
                <a:cs typeface="Inter" pitchFamily="34" charset="-120"/>
              </a:rPr>
              <a:t>Here's to your sweat.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Five words. It ties "sweat" to the ending line and needs no explanation.</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Gesaffelstein — "Opr"</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Footfalls · breath · a hard stop · one tick.</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WHY SO BRIGHT?</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(Uncle on the morning walk, off-screen): "Beta, why such a bright watch?" — So you can see me coming. And going.</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SNOOZE</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The snooze button has never built anything.</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CITRUS MINT · B3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20</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7F25A"/>
                </a:solidFill>
                <a:latin typeface="Inter" pitchFamily="34" charset="0"/>
                <a:ea typeface="Inter" pitchFamily="34" charset="-122"/>
                <a:cs typeface="Inter" pitchFamily="34" charset="-120"/>
              </a:rPr>
              <a:t>B3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PROOF</a:t>
            </a:r>
            <a:endParaRPr lang="en-US" sz="2800" dirty="0"/>
          </a:p>
        </p:txBody>
      </p:sp>
      <p:pic>
        <p:nvPicPr>
          <p:cNvPr id="6" name="Image 0" descr="/tmp/claude-0/-home-user-Sage-portfolio/d05fecce-977e-5eab-9cf5-7c09b306c551/scratchpad/wrdeck/gen/full/B3-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D7F25A"/>
          </a:solidFill>
          <a:ln w="12700">
            <a:solidFill>
              <a:srgbClr val="D7F25A"/>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B3-1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Sunrise on a tree-lined park running track, golden mist, empty path. He sprints straight toward camera, arms driving, the lime watch flashing.</a:t>
            </a:r>
            <a:endParaRPr lang="en-US" sz="750" dirty="0"/>
          </a:p>
        </p:txBody>
      </p:sp>
      <p:pic>
        <p:nvPicPr>
          <p:cNvPr id="10" name="Image 1" descr="/tmp/claude-0/-home-user-Sage-portfolio/d05fecce-977e-5eab-9cf5-7c09b306c551/scratchpad/wrdeck/gen/full/B3-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D7F25A"/>
          </a:solidFill>
          <a:ln w="12700">
            <a:solidFill>
              <a:srgbClr val="D7F25A"/>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B3-2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Macro of the watch on his wrist mid-stride, sweat on the skin, the mint strap damp, low sun on the lime case.</a:t>
            </a:r>
            <a:endParaRPr lang="en-US" sz="750" dirty="0"/>
          </a:p>
        </p:txBody>
      </p:sp>
      <p:pic>
        <p:nvPicPr>
          <p:cNvPr id="14" name="Image 2" descr="/tmp/claude-0/-home-user-Sage-portfolio/d05fecce-977e-5eab-9cf5-7c09b306c551/scratchpad/wrdeck/gen/full/B3-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D7F25A"/>
          </a:solidFill>
          <a:ln w="12700">
            <a:solidFill>
              <a:srgbClr val="D7F25A"/>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7F25A"/>
                </a:solidFill>
                <a:latin typeface="Inter" pitchFamily="34" charset="0"/>
                <a:ea typeface="Inter" pitchFamily="34" charset="-122"/>
                <a:cs typeface="Inter" pitchFamily="34" charset="-120"/>
              </a:rPr>
              <a:t>B3-3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stops, drenched, hands on hips, and looks dead into the lens with a slight nod, mist and sun behind him.</a:t>
            </a:r>
            <a:endParaRPr lang="en-US" sz="750" dirty="0"/>
          </a:p>
        </p:txBody>
      </p:sp>
      <p:pic>
        <p:nvPicPr>
          <p:cNvPr id="18" name="Image 3" descr="/tmp/claude-0/-home-user-Sage-portfolio/d05fecce-977e-5eab-9cf5-7c09b306c551/scratchpad/wrdeck/img/crop_lim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B3-1: Backward tracking, 35mm, sun flare pulsing through the trees as he closes the distance.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B3-2: Slow motion, the arm swings through frame once.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B3-3: Locked; he holds the look and takes one slow breath.</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7F25A"/>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sunrise run park track cinematic</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21</a:t>
            </a:r>
            <a:endParaRPr lang="en-US" sz="750" dirty="0"/>
          </a:p>
        </p:txBody>
      </p:sp>
      <p:sp>
        <p:nvSpPr>
          <p:cNvPr id="4" name="Shape 2"/>
          <p:cNvSpPr/>
          <p:nvPr/>
        </p:nvSpPr>
        <p:spPr>
          <a:xfrm>
            <a:off x="0" y="0"/>
            <a:ext cx="4206240" cy="6858000"/>
          </a:xfrm>
          <a:prstGeom prst="rect">
            <a:avLst/>
          </a:prstGeom>
          <a:solidFill>
            <a:srgbClr val="1E3A6B"/>
          </a:solidFill>
          <a:ln w="12700">
            <a:solidFill>
              <a:srgbClr val="1E3A6B"/>
            </a:solidFill>
            <a:prstDash val="solid"/>
          </a:ln>
        </p:spPr>
      </p:sp>
      <p:pic>
        <p:nvPicPr>
          <p:cNvPr id="5" name="Image 0" descr="/tmp/claude-0/-home-user-Sage-portfolio/d05fecce-977e-5eab-9cf5-7c09b306c551/scratchpad/wrdeck/img/crop_skyblue.jpg">    </p:cNvPr>
          <p:cNvPicPr>
            <a:picLocks noChangeAspect="1"/>
          </p:cNvPicPr>
          <p:nvPr/>
        </p:nvPicPr>
        <p:blipFill>
          <a:blip r:embed="rId1"/>
          <a:srcRect l="0" r="0" t="0" b="0"/>
          <a:stretch/>
        </p:blipFill>
        <p:spPr>
          <a:xfrm>
            <a:off x="548640" y="2194560"/>
            <a:ext cx="3108960" cy="3383280"/>
          </a:xfrm>
          <a:prstGeom prst="rect">
            <a:avLst/>
          </a:prstGeom>
        </p:spPr>
      </p:pic>
      <p:sp>
        <p:nvSpPr>
          <p:cNvPr id="6" name="Text 3"/>
          <p:cNvSpPr txBox="1"/>
          <p:nvPr/>
        </p:nvSpPr>
        <p:spPr>
          <a:xfrm>
            <a:off x="548640" y="548640"/>
            <a:ext cx="3291840" cy="274320"/>
          </a:xfrm>
          <a:prstGeom prst="rect">
            <a:avLst/>
          </a:prstGeom>
          <a:noFill/>
          <a:ln/>
        </p:spPr>
        <p:txBody>
          <a:bodyPr wrap="square" lIns="0" tIns="0" rIns="0" bIns="0" rtlCol="0" anchor="t"/>
          <a:lstStyle/>
          <a:p>
            <a:pPr indent="0" marL="0">
              <a:buNone/>
            </a:pPr>
            <a:r>
              <a:rPr lang="en-US" sz="900" b="1" spc="400" kern="0" dirty="0">
                <a:solidFill>
                  <a:srgbClr val="8EC9EE"/>
                </a:solidFill>
                <a:latin typeface="Inter" pitchFamily="34" charset="0"/>
                <a:ea typeface="Inter" pitchFamily="34" charset="-122"/>
                <a:cs typeface="Inter" pitchFamily="34" charset="-120"/>
              </a:rPr>
              <a:t>WORLD 03</a:t>
            </a:r>
            <a:endParaRPr lang="en-US" sz="900" dirty="0"/>
          </a:p>
        </p:txBody>
      </p:sp>
      <p:sp>
        <p:nvSpPr>
          <p:cNvPr id="7" name="Text 4"/>
          <p:cNvSpPr txBox="1"/>
          <p:nvPr/>
        </p:nvSpPr>
        <p:spPr>
          <a:xfrm>
            <a:off x="548640" y="868680"/>
            <a:ext cx="3474720" cy="685800"/>
          </a:xfrm>
          <a:prstGeom prst="rect">
            <a:avLst/>
          </a:prstGeom>
          <a:noFill/>
          <a:ln/>
        </p:spPr>
        <p:txBody>
          <a:bodyPr wrap="square" lIns="0" tIns="0" rIns="0" bIns="0" rtlCol="0" anchor="t"/>
          <a:lstStyle/>
          <a:p>
            <a:pPr indent="0" marL="0">
              <a:buNone/>
            </a:pPr>
            <a:r>
              <a:rPr lang="en-US" sz="3400" b="1" dirty="0">
                <a:solidFill>
                  <a:srgbClr val="F2EDE4"/>
                </a:solidFill>
                <a:latin typeface="Oswald" pitchFamily="34" charset="0"/>
                <a:ea typeface="Oswald" pitchFamily="34" charset="-122"/>
                <a:cs typeface="Oswald" pitchFamily="34" charset="-120"/>
              </a:rPr>
              <a:t>CERULEAN</a:t>
            </a:r>
            <a:endParaRPr lang="en-US" sz="3400" dirty="0"/>
          </a:p>
        </p:txBody>
      </p:sp>
      <p:sp>
        <p:nvSpPr>
          <p:cNvPr id="8" name="Text 5"/>
          <p:cNvSpPr txBox="1"/>
          <p:nvPr/>
        </p:nvSpPr>
        <p:spPr>
          <a:xfrm>
            <a:off x="548640" y="1554480"/>
            <a:ext cx="3474720" cy="502920"/>
          </a:xfrm>
          <a:prstGeom prst="rect">
            <a:avLst/>
          </a:prstGeom>
          <a:noFill/>
          <a:ln/>
        </p:spPr>
        <p:txBody>
          <a:bodyPr wrap="square" lIns="0" tIns="0" rIns="0" bIns="0" rtlCol="0" anchor="t"/>
          <a:lstStyle/>
          <a:p>
            <a:pPr indent="0" marL="0">
              <a:buNone/>
            </a:pPr>
            <a:r>
              <a:rPr lang="en-US" sz="1000" b="1" spc="200" kern="0" dirty="0">
                <a:solidFill>
                  <a:srgbClr val="8EC9EE"/>
                </a:solidFill>
                <a:latin typeface="Inter" pitchFamily="34" charset="0"/>
                <a:ea typeface="Inter" pitchFamily="34" charset="-122"/>
                <a:cs typeface="Inter" pitchFamily="34" charset="-120"/>
              </a:rPr>
              <a:t>THE ONE THAT GOES ANYWHERE</a:t>
            </a:r>
            <a:endParaRPr lang="en-US" sz="1000" dirty="0"/>
          </a:p>
        </p:txBody>
      </p:sp>
      <p:sp>
        <p:nvSpPr>
          <p:cNvPr id="9" name="Shape 6"/>
          <p:cNvSpPr/>
          <p:nvPr/>
        </p:nvSpPr>
        <p:spPr>
          <a:xfrm>
            <a:off x="548640" y="5760720"/>
            <a:ext cx="640080" cy="292608"/>
          </a:xfrm>
          <a:prstGeom prst="rect">
            <a:avLst/>
          </a:prstGeom>
          <a:solidFill>
            <a:srgbClr val="8EC9EE"/>
          </a:solidFill>
          <a:ln w="6350">
            <a:solidFill>
              <a:srgbClr val="0B0B0A"/>
            </a:solidFill>
            <a:prstDash val="solid"/>
          </a:ln>
        </p:spPr>
      </p:sp>
      <p:sp>
        <p:nvSpPr>
          <p:cNvPr id="10" name="Text 7"/>
          <p:cNvSpPr txBox="1"/>
          <p:nvPr/>
        </p:nvSpPr>
        <p:spPr>
          <a:xfrm>
            <a:off x="548640"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Sky blue</a:t>
            </a:r>
            <a:endParaRPr lang="en-US" sz="650" dirty="0"/>
          </a:p>
        </p:txBody>
      </p:sp>
      <p:sp>
        <p:nvSpPr>
          <p:cNvPr id="11" name="Shape 8"/>
          <p:cNvSpPr/>
          <p:nvPr/>
        </p:nvSpPr>
        <p:spPr>
          <a:xfrm>
            <a:off x="1335024" y="5760720"/>
            <a:ext cx="640080" cy="292608"/>
          </a:xfrm>
          <a:prstGeom prst="rect">
            <a:avLst/>
          </a:prstGeom>
          <a:solidFill>
            <a:srgbClr val="FFFFFF"/>
          </a:solidFill>
          <a:ln w="6350">
            <a:solidFill>
              <a:srgbClr val="0B0B0A"/>
            </a:solidFill>
            <a:prstDash val="solid"/>
          </a:ln>
        </p:spPr>
      </p:sp>
      <p:sp>
        <p:nvSpPr>
          <p:cNvPr id="12" name="Text 9"/>
          <p:cNvSpPr txBox="1"/>
          <p:nvPr/>
        </p:nvSpPr>
        <p:spPr>
          <a:xfrm>
            <a:off x="1335024"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White</a:t>
            </a:r>
            <a:endParaRPr lang="en-US" sz="650" dirty="0"/>
          </a:p>
        </p:txBody>
      </p:sp>
      <p:sp>
        <p:nvSpPr>
          <p:cNvPr id="13" name="Shape 10"/>
          <p:cNvSpPr/>
          <p:nvPr/>
        </p:nvSpPr>
        <p:spPr>
          <a:xfrm>
            <a:off x="2121408" y="5760720"/>
            <a:ext cx="640080" cy="292608"/>
          </a:xfrm>
          <a:prstGeom prst="rect">
            <a:avLst/>
          </a:prstGeom>
          <a:solidFill>
            <a:srgbClr val="1E3A6B"/>
          </a:solidFill>
          <a:ln w="6350">
            <a:solidFill>
              <a:srgbClr val="0B0B0A"/>
            </a:solidFill>
            <a:prstDash val="solid"/>
          </a:ln>
        </p:spPr>
      </p:sp>
      <p:sp>
        <p:nvSpPr>
          <p:cNvPr id="14" name="Text 11"/>
          <p:cNvSpPr txBox="1"/>
          <p:nvPr/>
        </p:nvSpPr>
        <p:spPr>
          <a:xfrm>
            <a:off x="2121408"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Navy</a:t>
            </a:r>
            <a:endParaRPr lang="en-US" sz="650" dirty="0"/>
          </a:p>
        </p:txBody>
      </p:sp>
      <p:sp>
        <p:nvSpPr>
          <p:cNvPr id="15" name="Shape 12"/>
          <p:cNvSpPr/>
          <p:nvPr/>
        </p:nvSpPr>
        <p:spPr>
          <a:xfrm>
            <a:off x="2907792" y="5760720"/>
            <a:ext cx="640080" cy="292608"/>
          </a:xfrm>
          <a:prstGeom prst="rect">
            <a:avLst/>
          </a:prstGeom>
          <a:solidFill>
            <a:srgbClr val="3FC1C9"/>
          </a:solidFill>
          <a:ln w="6350">
            <a:solidFill>
              <a:srgbClr val="0B0B0A"/>
            </a:solidFill>
            <a:prstDash val="solid"/>
          </a:ln>
        </p:spPr>
      </p:sp>
      <p:sp>
        <p:nvSpPr>
          <p:cNvPr id="16" name="Text 13"/>
          <p:cNvSpPr txBox="1"/>
          <p:nvPr/>
        </p:nvSpPr>
        <p:spPr>
          <a:xfrm>
            <a:off x="2907792"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Pool</a:t>
            </a:r>
            <a:endParaRPr lang="en-US" sz="650" dirty="0"/>
          </a:p>
        </p:txBody>
      </p:sp>
      <p:sp>
        <p:nvSpPr>
          <p:cNvPr id="17" name="Text 14"/>
          <p:cNvSpPr txBox="1"/>
          <p:nvPr/>
        </p:nvSpPr>
        <p:spPr>
          <a:xfrm>
            <a:off x="4663440" y="548640"/>
            <a:ext cx="7315200" cy="274320"/>
          </a:xfrm>
          <a:prstGeom prst="rect">
            <a:avLst/>
          </a:prstGeom>
          <a:noFill/>
          <a:ln/>
        </p:spPr>
        <p:txBody>
          <a:bodyPr wrap="square" lIns="0" tIns="0" rIns="0" bIns="0" rtlCol="0" anchor="t"/>
          <a:lstStyle/>
          <a:p>
            <a:pPr indent="0" marL="0">
              <a:buNone/>
            </a:pPr>
            <a:r>
              <a:rPr lang="en-US" sz="900" b="1" spc="400" kern="0" dirty="0">
                <a:solidFill>
                  <a:srgbClr val="8EC9EE"/>
                </a:solidFill>
                <a:latin typeface="Inter" pitchFamily="34" charset="0"/>
                <a:ea typeface="Inter" pitchFamily="34" charset="-122"/>
                <a:cs typeface="Inter" pitchFamily="34" charset="-120"/>
              </a:rPr>
              <a:t>TRAVEL · SKY · WATER · FREEDOM  ·  10:30–13:00</a:t>
            </a:r>
            <a:endParaRPr lang="en-US" sz="900" dirty="0"/>
          </a:p>
        </p:txBody>
      </p:sp>
      <p:sp>
        <p:nvSpPr>
          <p:cNvPr id="18" name="Text 15"/>
          <p:cNvSpPr txBox="1"/>
          <p:nvPr/>
        </p:nvSpPr>
        <p:spPr>
          <a:xfrm>
            <a:off x="4663440" y="914400"/>
            <a:ext cx="6949440" cy="1005840"/>
          </a:xfrm>
          <a:prstGeom prst="rect">
            <a:avLst/>
          </a:prstGeom>
          <a:noFill/>
          <a:ln/>
        </p:spPr>
        <p:txBody>
          <a:bodyPr wrap="square" lIns="0" tIns="0" rIns="0" bIns="0" rtlCol="0" anchor="t"/>
          <a:lstStyle/>
          <a:p>
            <a:pPr indent="0" marL="0">
              <a:lnSpc>
                <a:spcPct val="105000"/>
              </a:lnSpc>
              <a:buNone/>
            </a:pPr>
            <a:r>
              <a:rPr lang="en-US" sz="1800" dirty="0">
                <a:solidFill>
                  <a:srgbClr val="F2EDE4"/>
                </a:solidFill>
                <a:latin typeface="Oswald" pitchFamily="34" charset="0"/>
                <a:ea typeface="Oswald" pitchFamily="34" charset="-122"/>
                <a:cs typeface="Oswald" pitchFamily="34" charset="-120"/>
              </a:rPr>
              <a:t>Sky on the case, clouds on the dial, deep water on the strap. The watch that reminds you that you can be anywhere — even under water.</a:t>
            </a:r>
            <a:endParaRPr lang="en-US" sz="1800" dirty="0"/>
          </a:p>
        </p:txBody>
      </p:sp>
      <p:sp>
        <p:nvSpPr>
          <p:cNvPr id="19" name="Text 16"/>
          <p:cNvSpPr txBox="1"/>
          <p:nvPr/>
        </p:nvSpPr>
        <p:spPr>
          <a:xfrm>
            <a:off x="4663440" y="1965960"/>
            <a:ext cx="6949440" cy="365760"/>
          </a:xfrm>
          <a:prstGeom prst="rect">
            <a:avLst/>
          </a:prstGeom>
          <a:noFill/>
          <a:ln/>
        </p:spPr>
        <p:txBody>
          <a:bodyPr wrap="square" lIns="0" tIns="0" rIns="0" bIns="0" rtlCol="0" anchor="t"/>
          <a:lstStyle/>
          <a:p>
            <a:pPr indent="0" marL="0">
              <a:buNone/>
            </a:pPr>
            <a:r>
              <a:rPr lang="en-US" sz="1500" i="1" dirty="0">
                <a:solidFill>
                  <a:srgbClr val="8EC9EE"/>
                </a:solidFill>
                <a:latin typeface="Oswald" pitchFamily="34" charset="0"/>
                <a:ea typeface="Oswald" pitchFamily="34" charset="-122"/>
                <a:cs typeface="Oswald" pitchFamily="34" charset="-120"/>
              </a:rPr>
              <a:t>Here's to your freedom.  Wear what's yours.</a:t>
            </a:r>
            <a:endParaRPr lang="en-US" sz="1500" dirty="0"/>
          </a:p>
        </p:txBody>
      </p:sp>
      <p:sp>
        <p:nvSpPr>
          <p:cNvPr id="20" name="Text 17"/>
          <p:cNvSpPr txBox="1"/>
          <p:nvPr/>
        </p:nvSpPr>
        <p:spPr>
          <a:xfrm>
            <a:off x="4663440" y="2514600"/>
            <a:ext cx="13716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WHERE</a:t>
            </a:r>
            <a:endParaRPr lang="en-US" sz="750" dirty="0"/>
          </a:p>
        </p:txBody>
      </p:sp>
      <p:sp>
        <p:nvSpPr>
          <p:cNvPr id="21" name="Text 18"/>
          <p:cNvSpPr txBox="1"/>
          <p:nvPr/>
        </p:nvSpPr>
        <p:spPr>
          <a:xfrm>
            <a:off x="6035040" y="2487168"/>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A modern minimalist villa pool — clean white stone edges, turquoise water, open sky. No heritage.</a:t>
            </a:r>
            <a:endParaRPr lang="en-US" sz="1000" dirty="0"/>
          </a:p>
        </p:txBody>
      </p:sp>
      <p:sp>
        <p:nvSpPr>
          <p:cNvPr id="22" name="Text 19"/>
          <p:cNvSpPr txBox="1"/>
          <p:nvPr/>
        </p:nvSpPr>
        <p:spPr>
          <a:xfrm>
            <a:off x="4663440" y="3044952"/>
            <a:ext cx="13716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WARDROBE</a:t>
            </a:r>
            <a:endParaRPr lang="en-US" sz="750" dirty="0"/>
          </a:p>
        </p:txBody>
      </p:sp>
      <p:sp>
        <p:nvSpPr>
          <p:cNvPr id="23" name="Text 20"/>
          <p:cNvSpPr txBox="1"/>
          <p:nvPr/>
        </p:nvSpPr>
        <p:spPr>
          <a:xfrm>
            <a:off x="6035040" y="3017520"/>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Open white linen shirt, navy swim shorts / navy linen trousers.</a:t>
            </a:r>
            <a:endParaRPr lang="en-US" sz="1000" dirty="0"/>
          </a:p>
        </p:txBody>
      </p:sp>
      <p:sp>
        <p:nvSpPr>
          <p:cNvPr id="24" name="Text 21"/>
          <p:cNvSpPr txBox="1"/>
          <p:nvPr/>
        </p:nvSpPr>
        <p:spPr>
          <a:xfrm>
            <a:off x="4663440" y="3575304"/>
            <a:ext cx="13716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SOUND</a:t>
            </a:r>
            <a:endParaRPr lang="en-US" sz="750" dirty="0"/>
          </a:p>
        </p:txBody>
      </p:sp>
      <p:sp>
        <p:nvSpPr>
          <p:cNvPr id="25" name="Text 22"/>
          <p:cNvSpPr txBox="1"/>
          <p:nvPr/>
        </p:nvSpPr>
        <p:spPr>
          <a:xfrm>
            <a:off x="6035040" y="3547872"/>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Piano, water, breath.</a:t>
            </a:r>
            <a:endParaRPr lang="en-US" sz="1000" dirty="0"/>
          </a:p>
        </p:txBody>
      </p:sp>
      <p:sp>
        <p:nvSpPr>
          <p:cNvPr id="26" name="Shape 23"/>
          <p:cNvSpPr/>
          <p:nvPr/>
        </p:nvSpPr>
        <p:spPr>
          <a:xfrm>
            <a:off x="4663440" y="4206240"/>
            <a:ext cx="2240280" cy="2011680"/>
          </a:xfrm>
          <a:prstGeom prst="rect">
            <a:avLst/>
          </a:prstGeom>
          <a:solidFill>
            <a:srgbClr val="151513"/>
          </a:solidFill>
          <a:ln w="9525">
            <a:solidFill>
              <a:srgbClr val="2B2A26"/>
            </a:solidFill>
            <a:prstDash val="solid"/>
          </a:ln>
        </p:spPr>
      </p:sp>
      <p:sp>
        <p:nvSpPr>
          <p:cNvPr id="27" name="Text 24"/>
          <p:cNvSpPr txBox="1"/>
          <p:nvPr/>
        </p:nvSpPr>
        <p:spPr>
          <a:xfrm>
            <a:off x="4846320" y="4370832"/>
            <a:ext cx="914400" cy="365760"/>
          </a:xfrm>
          <a:prstGeom prst="rect">
            <a:avLst/>
          </a:prstGeom>
          <a:noFill/>
          <a:ln/>
        </p:spPr>
        <p:txBody>
          <a:bodyPr wrap="square" lIns="0" tIns="0" rIns="0" bIns="0" rtlCol="0" anchor="t"/>
          <a:lstStyle/>
          <a:p>
            <a:pPr indent="0" marL="0">
              <a:buNone/>
            </a:pPr>
            <a:r>
              <a:rPr lang="en-US" sz="1800" b="1" dirty="0">
                <a:solidFill>
                  <a:srgbClr val="8EC9EE"/>
                </a:solidFill>
                <a:latin typeface="Oswald" pitchFamily="34" charset="0"/>
                <a:ea typeface="Oswald" pitchFamily="34" charset="-122"/>
                <a:cs typeface="Oswald" pitchFamily="34" charset="-120"/>
              </a:rPr>
              <a:t>C1</a:t>
            </a:r>
            <a:endParaRPr lang="en-US" sz="1800" dirty="0"/>
          </a:p>
        </p:txBody>
      </p:sp>
      <p:sp>
        <p:nvSpPr>
          <p:cNvPr id="28" name="Text 25"/>
          <p:cNvSpPr txBox="1"/>
          <p:nvPr/>
        </p:nvSpPr>
        <p:spPr>
          <a:xfrm>
            <a:off x="484632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SUPPOSED TO BE</a:t>
            </a:r>
            <a:endParaRPr lang="en-US" sz="1400" dirty="0"/>
          </a:p>
        </p:txBody>
      </p:sp>
      <p:sp>
        <p:nvSpPr>
          <p:cNvPr id="29" name="Text 26"/>
          <p:cNvSpPr txBox="1"/>
          <p:nvPr/>
        </p:nvSpPr>
        <p:spPr>
          <a:xfrm>
            <a:off x="484632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Hero · 30 s</a:t>
            </a:r>
            <a:endParaRPr lang="en-US" sz="850" dirty="0"/>
          </a:p>
        </p:txBody>
      </p:sp>
      <p:sp>
        <p:nvSpPr>
          <p:cNvPr id="30" name="Text 27"/>
          <p:cNvSpPr txBox="1"/>
          <p:nvPr/>
        </p:nvSpPr>
        <p:spPr>
          <a:xfrm>
            <a:off x="484632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Letting go</a:t>
            </a:r>
            <a:endParaRPr lang="en-US" sz="900" dirty="0"/>
          </a:p>
        </p:txBody>
      </p:sp>
      <p:sp>
        <p:nvSpPr>
          <p:cNvPr id="31" name="Shape 28"/>
          <p:cNvSpPr/>
          <p:nvPr/>
        </p:nvSpPr>
        <p:spPr>
          <a:xfrm>
            <a:off x="7040880" y="4206240"/>
            <a:ext cx="2240280" cy="2011680"/>
          </a:xfrm>
          <a:prstGeom prst="rect">
            <a:avLst/>
          </a:prstGeom>
          <a:solidFill>
            <a:srgbClr val="151513"/>
          </a:solidFill>
          <a:ln w="9525">
            <a:solidFill>
              <a:srgbClr val="2B2A26"/>
            </a:solidFill>
            <a:prstDash val="solid"/>
          </a:ln>
        </p:spPr>
      </p:sp>
      <p:sp>
        <p:nvSpPr>
          <p:cNvPr id="32" name="Text 29"/>
          <p:cNvSpPr txBox="1"/>
          <p:nvPr/>
        </p:nvSpPr>
        <p:spPr>
          <a:xfrm>
            <a:off x="7223760" y="4370832"/>
            <a:ext cx="914400" cy="365760"/>
          </a:xfrm>
          <a:prstGeom prst="rect">
            <a:avLst/>
          </a:prstGeom>
          <a:noFill/>
          <a:ln/>
        </p:spPr>
        <p:txBody>
          <a:bodyPr wrap="square" lIns="0" tIns="0" rIns="0" bIns="0" rtlCol="0" anchor="t"/>
          <a:lstStyle/>
          <a:p>
            <a:pPr indent="0" marL="0">
              <a:buNone/>
            </a:pPr>
            <a:r>
              <a:rPr lang="en-US" sz="1800" b="1" dirty="0">
                <a:solidFill>
                  <a:srgbClr val="8EC9EE"/>
                </a:solidFill>
                <a:latin typeface="Oswald" pitchFamily="34" charset="0"/>
                <a:ea typeface="Oswald" pitchFamily="34" charset="-122"/>
                <a:cs typeface="Oswald" pitchFamily="34" charset="-120"/>
              </a:rPr>
              <a:t>C2</a:t>
            </a:r>
            <a:endParaRPr lang="en-US" sz="1800" dirty="0"/>
          </a:p>
        </p:txBody>
      </p:sp>
      <p:sp>
        <p:nvSpPr>
          <p:cNvPr id="33" name="Text 30"/>
          <p:cNvSpPr txBox="1"/>
          <p:nvPr/>
        </p:nvSpPr>
        <p:spPr>
          <a:xfrm>
            <a:off x="722376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QUIET</a:t>
            </a:r>
            <a:endParaRPr lang="en-US" sz="1400" dirty="0"/>
          </a:p>
        </p:txBody>
      </p:sp>
      <p:sp>
        <p:nvSpPr>
          <p:cNvPr id="34" name="Text 31"/>
          <p:cNvSpPr txBox="1"/>
          <p:nvPr/>
        </p:nvSpPr>
        <p:spPr>
          <a:xfrm>
            <a:off x="722376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Underwater · 15 s</a:t>
            </a:r>
            <a:endParaRPr lang="en-US" sz="850" dirty="0"/>
          </a:p>
        </p:txBody>
      </p:sp>
      <p:sp>
        <p:nvSpPr>
          <p:cNvPr id="35" name="Text 32"/>
          <p:cNvSpPr txBox="1"/>
          <p:nvPr/>
        </p:nvSpPr>
        <p:spPr>
          <a:xfrm>
            <a:off x="722376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Total calm</a:t>
            </a:r>
            <a:endParaRPr lang="en-US" sz="900" dirty="0"/>
          </a:p>
        </p:txBody>
      </p:sp>
      <p:sp>
        <p:nvSpPr>
          <p:cNvPr id="36" name="Shape 33"/>
          <p:cNvSpPr/>
          <p:nvPr/>
        </p:nvSpPr>
        <p:spPr>
          <a:xfrm>
            <a:off x="9418320" y="4206240"/>
            <a:ext cx="2240280" cy="2011680"/>
          </a:xfrm>
          <a:prstGeom prst="rect">
            <a:avLst/>
          </a:prstGeom>
          <a:solidFill>
            <a:srgbClr val="151513"/>
          </a:solidFill>
          <a:ln w="9525">
            <a:solidFill>
              <a:srgbClr val="2B2A26"/>
            </a:solidFill>
            <a:prstDash val="solid"/>
          </a:ln>
        </p:spPr>
      </p:sp>
      <p:sp>
        <p:nvSpPr>
          <p:cNvPr id="37" name="Text 34"/>
          <p:cNvSpPr txBox="1"/>
          <p:nvPr/>
        </p:nvSpPr>
        <p:spPr>
          <a:xfrm>
            <a:off x="9601200" y="4370832"/>
            <a:ext cx="914400" cy="365760"/>
          </a:xfrm>
          <a:prstGeom prst="rect">
            <a:avLst/>
          </a:prstGeom>
          <a:noFill/>
          <a:ln/>
        </p:spPr>
        <p:txBody>
          <a:bodyPr wrap="square" lIns="0" tIns="0" rIns="0" bIns="0" rtlCol="0" anchor="t"/>
          <a:lstStyle/>
          <a:p>
            <a:pPr indent="0" marL="0">
              <a:buNone/>
            </a:pPr>
            <a:r>
              <a:rPr lang="en-US" sz="1800" b="1" dirty="0">
                <a:solidFill>
                  <a:srgbClr val="8EC9EE"/>
                </a:solidFill>
                <a:latin typeface="Oswald" pitchFamily="34" charset="0"/>
                <a:ea typeface="Oswald" pitchFamily="34" charset="-122"/>
                <a:cs typeface="Oswald" pitchFamily="34" charset="-120"/>
              </a:rPr>
              <a:t>C3</a:t>
            </a:r>
            <a:endParaRPr lang="en-US" sz="1800" dirty="0"/>
          </a:p>
        </p:txBody>
      </p:sp>
      <p:sp>
        <p:nvSpPr>
          <p:cNvPr id="38" name="Text 35"/>
          <p:cNvSpPr txBox="1"/>
          <p:nvPr/>
        </p:nvSpPr>
        <p:spPr>
          <a:xfrm>
            <a:off x="960120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MONDAY</a:t>
            </a:r>
            <a:endParaRPr lang="en-US" sz="1400" dirty="0"/>
          </a:p>
        </p:txBody>
      </p:sp>
      <p:sp>
        <p:nvSpPr>
          <p:cNvPr id="39" name="Text 36"/>
          <p:cNvSpPr txBox="1"/>
          <p:nvPr/>
        </p:nvSpPr>
        <p:spPr>
          <a:xfrm>
            <a:off x="960120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Punch · 10 s</a:t>
            </a:r>
            <a:endParaRPr lang="en-US" sz="850" dirty="0"/>
          </a:p>
        </p:txBody>
      </p:sp>
      <p:sp>
        <p:nvSpPr>
          <p:cNvPr id="40" name="Text 37"/>
          <p:cNvSpPr txBox="1"/>
          <p:nvPr/>
        </p:nvSpPr>
        <p:spPr>
          <a:xfrm>
            <a:off x="960120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A smile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22</a:t>
            </a:r>
            <a:endParaRPr lang="en-US" sz="750" dirty="0"/>
          </a:p>
        </p:txBody>
      </p:sp>
      <p:pic>
        <p:nvPicPr>
          <p:cNvPr id="4" name="Image 0" descr="/tmp/claude-0/-home-user-Sage-portfolio/d05fecce-977e-5eab-9cf5-7c09b306c551/scratchpad/wrdeck/gen/full/C1-1.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C1  ·  HERO  ·  30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SUPPOSED TO BE</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Letting go</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 watch you've ever owned told you where you were supposed to be.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meeting. The deadline. The flight you couldn't miss.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This one tells you something else.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sky doesn't keep a schedule.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water doesn't check the time.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today, neither do you.</a:t>
            </a:r>
            <a:endParaRPr lang="en-US" sz="1150" dirty="0"/>
          </a:p>
          <a:p>
            <a:pPr indent="0" marL="0">
              <a:lnSpc>
                <a:spcPct val="125000"/>
              </a:lnSpc>
              <a:buNone/>
            </a:pPr>
            <a:r>
              <a:rPr lang="en-US" sz="1150" b="1" i="1" dirty="0">
                <a:solidFill>
                  <a:srgbClr val="8EC9EE"/>
                </a:solidFill>
                <a:latin typeface="Inter" pitchFamily="34" charset="0"/>
                <a:ea typeface="Inter" pitchFamily="34" charset="-122"/>
                <a:cs typeface="Inter" pitchFamily="34" charset="-120"/>
              </a:rPr>
              <a:t>Here's to your freedom.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Watches tell you where to be → this one says the sky and the water don't keep time → and today neither do you.</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Ludovico Einaudi — "Experience"</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Water lapping · a distant plane · wind · nothing else.</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NOTHING, FINALLY</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People think freedom is doing nothing. It isn't. It's years of doing everything… so that one afternoon, nothing is finally allowed.</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THE WINDOW SEAT</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Sky blue, for every horizon you haven't reached yet. White, like the clouds outside a window seat. Navy, like the deep end you finally jumped into. Most watches remind you where you're supposed to be. This one reminds you that you can be anywhere.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23</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C1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SUPPOSED TO BE</a:t>
            </a:r>
            <a:endParaRPr lang="en-US" sz="2800" dirty="0"/>
          </a:p>
        </p:txBody>
      </p:sp>
      <p:pic>
        <p:nvPicPr>
          <p:cNvPr id="6" name="Image 0" descr="/tmp/claude-0/-home-user-Sage-portfolio/d05fecce-977e-5eab-9cf5-7c09b306c551/scratchpad/wrdeck/gen/full/C1-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8EC9EE"/>
          </a:solidFill>
          <a:ln w="12700">
            <a:solidFill>
              <a:srgbClr val="8EC9EE"/>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C1-1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Top-down: he floats on his back in a still turquoise infinity pool at a modern villa, arms out, eyes on the sky, the sky-blue watch above the water.</a:t>
            </a:r>
            <a:endParaRPr lang="en-US" sz="750" dirty="0"/>
          </a:p>
        </p:txBody>
      </p:sp>
      <p:pic>
        <p:nvPicPr>
          <p:cNvPr id="10" name="Image 1" descr="/tmp/claude-0/-home-user-Sage-portfolio/d05fecce-977e-5eab-9cf5-7c09b306c551/scratchpad/wrdeck/gen/full/C1-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8EC9EE"/>
          </a:solidFill>
          <a:ln w="12700">
            <a:solidFill>
              <a:srgbClr val="8EC9EE"/>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C1-2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Low angle: his left wrist raised against a vast clear blue sky, the sky-blue case almost melting into it, one plane contrail high above.</a:t>
            </a:r>
            <a:endParaRPr lang="en-US" sz="750" dirty="0"/>
          </a:p>
        </p:txBody>
      </p:sp>
      <p:pic>
        <p:nvPicPr>
          <p:cNvPr id="14" name="Image 2" descr="/tmp/claude-0/-home-user-Sage-portfolio/d05fecce-977e-5eab-9cf5-7c09b306c551/scratchpad/wrdeck/gen/full/C1-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8EC9EE"/>
          </a:solidFill>
          <a:ln w="12700">
            <a:solidFill>
              <a:srgbClr val="8EC9EE"/>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C1-3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sits on the white stone pool edge in the open linen shirt, legs in the water, a leather weekender beside him with a passport tucked in, looking at the open sky.</a:t>
            </a:r>
            <a:endParaRPr lang="en-US" sz="750" dirty="0"/>
          </a:p>
        </p:txBody>
      </p:sp>
      <p:pic>
        <p:nvPicPr>
          <p:cNvPr id="18" name="Image 3" descr="/tmp/claude-0/-home-user-Sage-portfolio/d05fecce-977e-5eab-9cf5-7c09b306c551/scratchpad/wrdeck/img/crop_skyblu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C1-1: Very slow overhead rotation; ripples spread gently from his hands.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C1-2: Slow drift; the sun flares behind the wrist, the contrail lengthens.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C1-3: Slow push-in from the side; water laps at his legs, he leans back on his hands.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infinity pool villa man floating sky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@omega — water and sky</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24</a:t>
            </a:r>
            <a:endParaRPr lang="en-US" sz="750" dirty="0"/>
          </a:p>
        </p:txBody>
      </p:sp>
      <p:pic>
        <p:nvPicPr>
          <p:cNvPr id="4" name="Image 0" descr="/tmp/claude-0/-home-user-Sage-portfolio/d05fecce-977e-5eab-9cf5-7c09b306c551/scratchpad/wrdeck/gen/full/C2-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C2  ·  UNDERWATER  ·  15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QUIET</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Total calm</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Underwater, the world goes quiet.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 calls. No meetings. No one who needs "just five minutes."</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Just your breath. Your heartbeat.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the one thing that never needs to come off.</a:t>
            </a:r>
            <a:endParaRPr lang="en-US" sz="1150" dirty="0"/>
          </a:p>
          <a:p>
            <a:pPr indent="0" marL="0">
              <a:lnSpc>
                <a:spcPct val="125000"/>
              </a:lnSpc>
              <a:buNone/>
            </a:pPr>
            <a:r>
              <a:rPr lang="en-US" sz="1150" b="1" i="1" dirty="0">
                <a:solidFill>
                  <a:srgbClr val="8EC9EE"/>
                </a:solidFill>
                <a:latin typeface="Inter" pitchFamily="34" charset="0"/>
                <a:ea typeface="Inter" pitchFamily="34" charset="-122"/>
                <a:cs typeface="Inter" pitchFamily="34" charset="-120"/>
              </a:rPr>
              <a:t>Here's to your freedom.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Water resistance sold as peace, not specs. The sound drops out underwater and returns when he surfaces.</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Ólafur Arnalds — "Saman"</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Surface splash → muffled underwater hush → heartbeat → air on the surface.</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PERMISSION</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Freedom isn't a holiday. It's the first time you don't have to ask anyone for one.</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TWO SKIES</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Some days, you get the sky twice. Once above you. Once all around you.</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25</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C2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QUIET</a:t>
            </a:r>
            <a:endParaRPr lang="en-US" sz="2800" dirty="0"/>
          </a:p>
        </p:txBody>
      </p:sp>
      <p:pic>
        <p:nvPicPr>
          <p:cNvPr id="6" name="Image 0" descr="/tmp/claude-0/-home-user-Sage-portfolio/d05fecce-977e-5eab-9cf5-7c09b306c551/scratchpad/wrdeck/gen/full/C2-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8EC9EE"/>
          </a:solidFill>
          <a:ln w="12700">
            <a:solidFill>
              <a:srgbClr val="8EC9EE"/>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C2-1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Side angle: he is mid-dive into the turquoise pool, body straight, inches from the surface, sunlight on the water.</a:t>
            </a:r>
            <a:endParaRPr lang="en-US" sz="750" dirty="0"/>
          </a:p>
        </p:txBody>
      </p:sp>
      <p:pic>
        <p:nvPicPr>
          <p:cNvPr id="10" name="Image 1" descr="/tmp/claude-0/-home-user-Sage-portfolio/d05fecce-977e-5eab-9cf5-7c09b306c551/scratchpad/wrdeck/gen/full/C2-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8EC9EE"/>
          </a:solidFill>
          <a:ln w="12700">
            <a:solidFill>
              <a:srgbClr val="8EC9EE"/>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C2-2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Underwater: he hangs completely still beneath the surface, eyes closed, arms loose, sun rays through the water, bubbles rising across the white dial.</a:t>
            </a:r>
            <a:endParaRPr lang="en-US" sz="750" dirty="0"/>
          </a:p>
        </p:txBody>
      </p:sp>
      <p:pic>
        <p:nvPicPr>
          <p:cNvPr id="14" name="Image 2" descr="/tmp/claude-0/-home-user-Sage-portfolio/d05fecce-977e-5eab-9cf5-7c09b306c551/scratchpad/wrdeck/gen/full/C2-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8EC9EE"/>
          </a:solidFill>
          <a:ln w="12700">
            <a:solidFill>
              <a:srgbClr val="8EC9EE"/>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C2-3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breaks the surface, head back, eyes to the sky, water streaming off his face and the watch.</a:t>
            </a:r>
            <a:endParaRPr lang="en-US" sz="750" dirty="0"/>
          </a:p>
        </p:txBody>
      </p:sp>
      <p:pic>
        <p:nvPicPr>
          <p:cNvPr id="18" name="Image 3" descr="/tmp/claude-0/-home-user-Sage-portfolio/d05fecce-977e-5eab-9cf5-7c09b306c551/scratchpad/wrdeck/img/crop_skyblu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C2-1: Slow motion; he enters cleanly, the surface swallows him, bubbles bloom.</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C2-2: Locked underwater camera; bubbles rise slowly, light caustics ripple over him and the watch.</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C2-3: Slow motion; one slow breath, the water settles to glass.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underwater portrait man still sun rays</a:t>
            </a:r>
            <a:endParaRPr lang="en-US" sz="850" dirty="0"/>
          </a:p>
        </p:txBody>
      </p:sp>
      <p:sp>
        <p:nvSpPr>
          <p:cNvPr id="24" name="Text 18"/>
          <p:cNvSpPr txBox="1"/>
          <p:nvPr/>
        </p:nvSpPr>
        <p:spPr>
          <a:xfrm>
            <a:off x="548640" y="6053328"/>
            <a:ext cx="6949440" cy="365760"/>
          </a:xfrm>
          <a:prstGeom prst="rect">
            <a:avLst/>
          </a:prstGeom>
          <a:noFill/>
          <a:ln/>
        </p:spPr>
        <p:txBody>
          <a:bodyPr wrap="square" lIns="0" tIns="0" rIns="0" bIns="0" rtlCol="0" anchor="t"/>
          <a:lstStyle/>
          <a:p>
            <a:pPr indent="0" marL="0">
              <a:buNone/>
            </a:pPr>
            <a:r>
              <a:rPr lang="en-US" sz="800" dirty="0">
                <a:solidFill>
                  <a:srgbClr val="C9A45C"/>
                </a:solidFill>
                <a:latin typeface="Inter" pitchFamily="34" charset="0"/>
                <a:ea typeface="Inter" pitchFamily="34" charset="-122"/>
                <a:cs typeface="Inter" pitchFamily="34" charset="-120"/>
              </a:rPr>
              <a:t>Needs the official water-resistance rating and an underwater housing. If the rating is under 50 m, shoot C2 at the surface only.</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26</a:t>
            </a:r>
            <a:endParaRPr lang="en-US" sz="750" dirty="0"/>
          </a:p>
        </p:txBody>
      </p:sp>
      <p:pic>
        <p:nvPicPr>
          <p:cNvPr id="4" name="Image 0" descr="/tmp/claude-0/-home-user-Sage-portfolio/d05fecce-977e-5eab-9cf5-7c09b306c551/scratchpad/wrdeck/gen/full/C3-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C3  ·  PUNCH  ·  10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MONDAY</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A smile</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It's Monday. Eleven a.m.</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I'm exactly where I want to be.</a:t>
            </a:r>
            <a:endParaRPr lang="en-US" sz="1150" dirty="0"/>
          </a:p>
          <a:p>
            <a:pPr indent="0" marL="0">
              <a:lnSpc>
                <a:spcPct val="125000"/>
              </a:lnSpc>
              <a:buNone/>
            </a:pPr>
            <a:r>
              <a:rPr lang="en-US" sz="1150" b="1" i="1" dirty="0">
                <a:solidFill>
                  <a:srgbClr val="8EC9EE"/>
                </a:solidFill>
                <a:latin typeface="Inter" pitchFamily="34" charset="0"/>
                <a:ea typeface="Inter" pitchFamily="34" charset="-122"/>
                <a:cs typeface="Inter" pitchFamily="34" charset="-120"/>
              </a:rPr>
              <a:t>Here's to your freedom.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Everyone knows where they usually are on a Monday at 11. The dial reads 11:00 in the macro.</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Khruangbin — "Time (You and I)"</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A phone buzz left unanswered · water · wind.</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PACKED</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Passport. Sunglasses. One linen shirt. The watch? Already on.</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OUT OF OFFICE</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(on-screen auto-reply) Out of office. Back when I feel like it.</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CERULEAN · C3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27</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8EC9EE"/>
                </a:solidFill>
                <a:latin typeface="Inter" pitchFamily="34" charset="0"/>
                <a:ea typeface="Inter" pitchFamily="34" charset="-122"/>
                <a:cs typeface="Inter" pitchFamily="34" charset="-120"/>
              </a:rPr>
              <a:t>C3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MONDAY</a:t>
            </a:r>
            <a:endParaRPr lang="en-US" sz="2800" dirty="0"/>
          </a:p>
        </p:txBody>
      </p:sp>
      <p:pic>
        <p:nvPicPr>
          <p:cNvPr id="6" name="Image 0" descr="/tmp/claude-0/-home-user-Sage-portfolio/d05fecce-977e-5eab-9cf5-7c09b306c551/scratchpad/wrdeck/gen/full/C3-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8EC9EE"/>
          </a:solidFill>
          <a:ln w="12700">
            <a:solidFill>
              <a:srgbClr val="8EC9EE"/>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C3-1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Bright late morning: a white sun lounger by the pool with a closed laptop on it; he walks past it toward the water in the open linen shirt.</a:t>
            </a:r>
            <a:endParaRPr lang="en-US" sz="750" dirty="0"/>
          </a:p>
        </p:txBody>
      </p:sp>
      <p:pic>
        <p:nvPicPr>
          <p:cNvPr id="10" name="Image 1" descr="/tmp/claude-0/-home-user-Sage-portfolio/d05fecce-977e-5eab-9cf5-7c09b306c551/scratchpad/wrdeck/gen/full/C3-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8EC9EE"/>
          </a:solidFill>
          <a:ln w="12700">
            <a:solidFill>
              <a:srgbClr val="8EC9EE"/>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C3-2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Macro of the watch on his wrist at the pool edge, white dial reading eleven o'clock, sky reflected in the crystal.</a:t>
            </a:r>
            <a:endParaRPr lang="en-US" sz="750" dirty="0"/>
          </a:p>
        </p:txBody>
      </p:sp>
      <p:pic>
        <p:nvPicPr>
          <p:cNvPr id="14" name="Image 2" descr="/tmp/claude-0/-home-user-Sage-portfolio/d05fecce-977e-5eab-9cf5-7c09b306c551/scratchpad/wrdeck/gen/full/C3-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8EC9EE"/>
          </a:solidFill>
          <a:ln w="12700">
            <a:solidFill>
              <a:srgbClr val="8EC9EE"/>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8EC9EE"/>
                </a:solidFill>
                <a:latin typeface="Inter" pitchFamily="34" charset="0"/>
                <a:ea typeface="Inter" pitchFamily="34" charset="-122"/>
                <a:cs typeface="Inter" pitchFamily="34" charset="-120"/>
              </a:rPr>
              <a:t>C3-3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Wide from above: he lies back on the pool edge, one arm behind his head, the other wrist on his chest, pool and open sky filling the frame.</a:t>
            </a:r>
            <a:endParaRPr lang="en-US" sz="750" dirty="0"/>
          </a:p>
        </p:txBody>
      </p:sp>
      <p:pic>
        <p:nvPicPr>
          <p:cNvPr id="18" name="Image 3" descr="/tmp/claude-0/-home-user-Sage-portfolio/d05fecce-977e-5eab-9cf5-7c09b306c551/scratchpad/wrdeck/img/crop_skyblu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C3-1: Slow lateral track; he doesn't look at the laptop.</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C3-2: Locked macro; a cloud drifts across the reflection.</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C3-3: Slow push-in from above; the water glitters, he closes his eyes.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8EC9EE"/>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pool edge lying back linen shirt</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28</a:t>
            </a:r>
            <a:endParaRPr lang="en-US" sz="750" dirty="0"/>
          </a:p>
        </p:txBody>
      </p:sp>
      <p:sp>
        <p:nvSpPr>
          <p:cNvPr id="4" name="Shape 2"/>
          <p:cNvSpPr/>
          <p:nvPr/>
        </p:nvSpPr>
        <p:spPr>
          <a:xfrm>
            <a:off x="0" y="0"/>
            <a:ext cx="4206240" cy="6858000"/>
          </a:xfrm>
          <a:prstGeom prst="rect">
            <a:avLst/>
          </a:prstGeom>
          <a:solidFill>
            <a:srgbClr val="2547A8"/>
          </a:solidFill>
          <a:ln w="12700">
            <a:solidFill>
              <a:srgbClr val="2547A8"/>
            </a:solidFill>
            <a:prstDash val="solid"/>
          </a:ln>
        </p:spPr>
      </p:sp>
      <p:pic>
        <p:nvPicPr>
          <p:cNvPr id="5" name="Image 0" descr="/tmp/claude-0/-home-user-Sage-portfolio/d05fecce-977e-5eab-9cf5-7c09b306c551/scratchpad/wrdeck/img/crop_orange.jpg">    </p:cNvPr>
          <p:cNvPicPr>
            <a:picLocks noChangeAspect="1"/>
          </p:cNvPicPr>
          <p:nvPr/>
        </p:nvPicPr>
        <p:blipFill>
          <a:blip r:embed="rId1"/>
          <a:srcRect l="0" r="0" t="0" b="0"/>
          <a:stretch/>
        </p:blipFill>
        <p:spPr>
          <a:xfrm>
            <a:off x="548640" y="2194560"/>
            <a:ext cx="3108960" cy="3383280"/>
          </a:xfrm>
          <a:prstGeom prst="rect">
            <a:avLst/>
          </a:prstGeom>
        </p:spPr>
      </p:pic>
      <p:sp>
        <p:nvSpPr>
          <p:cNvPr id="6" name="Text 3"/>
          <p:cNvSpPr txBox="1"/>
          <p:nvPr/>
        </p:nvSpPr>
        <p:spPr>
          <a:xfrm>
            <a:off x="548640" y="548640"/>
            <a:ext cx="3291840" cy="274320"/>
          </a:xfrm>
          <a:prstGeom prst="rect">
            <a:avLst/>
          </a:prstGeom>
          <a:noFill/>
          <a:ln/>
        </p:spPr>
        <p:txBody>
          <a:bodyPr wrap="square" lIns="0" tIns="0" rIns="0" bIns="0" rtlCol="0" anchor="t"/>
          <a:lstStyle/>
          <a:p>
            <a:pPr indent="0" marL="0">
              <a:buNone/>
            </a:pPr>
            <a:r>
              <a:rPr lang="en-US" sz="900" b="1" spc="400" kern="0" dirty="0">
                <a:solidFill>
                  <a:srgbClr val="F28C28"/>
                </a:solidFill>
                <a:latin typeface="Inter" pitchFamily="34" charset="0"/>
                <a:ea typeface="Inter" pitchFamily="34" charset="-122"/>
                <a:cs typeface="Inter" pitchFamily="34" charset="-120"/>
              </a:rPr>
              <a:t>WORLD 04</a:t>
            </a:r>
            <a:endParaRPr lang="en-US" sz="900" dirty="0"/>
          </a:p>
        </p:txBody>
      </p:sp>
      <p:sp>
        <p:nvSpPr>
          <p:cNvPr id="7" name="Text 4"/>
          <p:cNvSpPr txBox="1"/>
          <p:nvPr/>
        </p:nvSpPr>
        <p:spPr>
          <a:xfrm>
            <a:off x="548640" y="868680"/>
            <a:ext cx="3474720" cy="685800"/>
          </a:xfrm>
          <a:prstGeom prst="rect">
            <a:avLst/>
          </a:prstGeom>
          <a:noFill/>
          <a:ln/>
        </p:spPr>
        <p:txBody>
          <a:bodyPr wrap="square" lIns="0" tIns="0" rIns="0" bIns="0" rtlCol="0" anchor="t"/>
          <a:lstStyle/>
          <a:p>
            <a:pPr indent="0" marL="0">
              <a:buNone/>
            </a:pPr>
            <a:r>
              <a:rPr lang="en-US" sz="3400" b="1" dirty="0">
                <a:solidFill>
                  <a:srgbClr val="F2EDE4"/>
                </a:solidFill>
                <a:latin typeface="Oswald" pitchFamily="34" charset="0"/>
                <a:ea typeface="Oswald" pitchFamily="34" charset="-122"/>
                <a:cs typeface="Oswald" pitchFamily="34" charset="-120"/>
              </a:rPr>
              <a:t>ROYAL TANGERINE</a:t>
            </a:r>
            <a:endParaRPr lang="en-US" sz="3400" dirty="0"/>
          </a:p>
        </p:txBody>
      </p:sp>
      <p:sp>
        <p:nvSpPr>
          <p:cNvPr id="8" name="Text 5"/>
          <p:cNvSpPr txBox="1"/>
          <p:nvPr/>
        </p:nvSpPr>
        <p:spPr>
          <a:xfrm>
            <a:off x="548640" y="1554480"/>
            <a:ext cx="3474720" cy="502920"/>
          </a:xfrm>
          <a:prstGeom prst="rect">
            <a:avLst/>
          </a:prstGeom>
          <a:noFill/>
          <a:ln/>
        </p:spPr>
        <p:txBody>
          <a:bodyPr wrap="square" lIns="0" tIns="0" rIns="0" bIns="0" rtlCol="0" anchor="t"/>
          <a:lstStyle/>
          <a:p>
            <a:pPr indent="0" marL="0">
              <a:buNone/>
            </a:pPr>
            <a:r>
              <a:rPr lang="en-US" sz="1000" b="1" spc="200" kern="0" dirty="0">
                <a:solidFill>
                  <a:srgbClr val="F28C28"/>
                </a:solidFill>
                <a:latin typeface="Inter" pitchFamily="34" charset="0"/>
                <a:ea typeface="Inter" pitchFamily="34" charset="-122"/>
                <a:cs typeface="Inter" pitchFamily="34" charset="-120"/>
              </a:rPr>
              <a:t>THE SELF-MADE</a:t>
            </a:r>
            <a:endParaRPr lang="en-US" sz="1000" dirty="0"/>
          </a:p>
        </p:txBody>
      </p:sp>
      <p:sp>
        <p:nvSpPr>
          <p:cNvPr id="9" name="Shape 6"/>
          <p:cNvSpPr/>
          <p:nvPr/>
        </p:nvSpPr>
        <p:spPr>
          <a:xfrm>
            <a:off x="548640" y="5760720"/>
            <a:ext cx="640080" cy="292608"/>
          </a:xfrm>
          <a:prstGeom prst="rect">
            <a:avLst/>
          </a:prstGeom>
          <a:solidFill>
            <a:srgbClr val="2547A8"/>
          </a:solidFill>
          <a:ln w="6350">
            <a:solidFill>
              <a:srgbClr val="0B0B0A"/>
            </a:solidFill>
            <a:prstDash val="solid"/>
          </a:ln>
        </p:spPr>
      </p:sp>
      <p:sp>
        <p:nvSpPr>
          <p:cNvPr id="10" name="Text 7"/>
          <p:cNvSpPr txBox="1"/>
          <p:nvPr/>
        </p:nvSpPr>
        <p:spPr>
          <a:xfrm>
            <a:off x="548640"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Royal blue</a:t>
            </a:r>
            <a:endParaRPr lang="en-US" sz="650" dirty="0"/>
          </a:p>
        </p:txBody>
      </p:sp>
      <p:sp>
        <p:nvSpPr>
          <p:cNvPr id="11" name="Shape 8"/>
          <p:cNvSpPr/>
          <p:nvPr/>
        </p:nvSpPr>
        <p:spPr>
          <a:xfrm>
            <a:off x="1335024" y="5760720"/>
            <a:ext cx="640080" cy="292608"/>
          </a:xfrm>
          <a:prstGeom prst="rect">
            <a:avLst/>
          </a:prstGeom>
          <a:solidFill>
            <a:srgbClr val="F28C28"/>
          </a:solidFill>
          <a:ln w="6350">
            <a:solidFill>
              <a:srgbClr val="0B0B0A"/>
            </a:solidFill>
            <a:prstDash val="solid"/>
          </a:ln>
        </p:spPr>
      </p:sp>
      <p:sp>
        <p:nvSpPr>
          <p:cNvPr id="12" name="Text 9"/>
          <p:cNvSpPr txBox="1"/>
          <p:nvPr/>
        </p:nvSpPr>
        <p:spPr>
          <a:xfrm>
            <a:off x="1335024"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Orange</a:t>
            </a:r>
            <a:endParaRPr lang="en-US" sz="650" dirty="0"/>
          </a:p>
        </p:txBody>
      </p:sp>
      <p:sp>
        <p:nvSpPr>
          <p:cNvPr id="13" name="Shape 10"/>
          <p:cNvSpPr/>
          <p:nvPr/>
        </p:nvSpPr>
        <p:spPr>
          <a:xfrm>
            <a:off x="2121408" y="5760720"/>
            <a:ext cx="640080" cy="292608"/>
          </a:xfrm>
          <a:prstGeom prst="rect">
            <a:avLst/>
          </a:prstGeom>
          <a:solidFill>
            <a:srgbClr val="FFFFFF"/>
          </a:solidFill>
          <a:ln w="6350">
            <a:solidFill>
              <a:srgbClr val="0B0B0A"/>
            </a:solidFill>
            <a:prstDash val="solid"/>
          </a:ln>
        </p:spPr>
      </p:sp>
      <p:sp>
        <p:nvSpPr>
          <p:cNvPr id="14" name="Text 11"/>
          <p:cNvSpPr txBox="1"/>
          <p:nvPr/>
        </p:nvSpPr>
        <p:spPr>
          <a:xfrm>
            <a:off x="2121408"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White</a:t>
            </a:r>
            <a:endParaRPr lang="en-US" sz="650" dirty="0"/>
          </a:p>
        </p:txBody>
      </p:sp>
      <p:sp>
        <p:nvSpPr>
          <p:cNvPr id="15" name="Shape 12"/>
          <p:cNvSpPr/>
          <p:nvPr/>
        </p:nvSpPr>
        <p:spPr>
          <a:xfrm>
            <a:off x="2907792" y="5760720"/>
            <a:ext cx="640080" cy="292608"/>
          </a:xfrm>
          <a:prstGeom prst="rect">
            <a:avLst/>
          </a:prstGeom>
          <a:solidFill>
            <a:srgbClr val="1A1A1A"/>
          </a:solidFill>
          <a:ln w="6350">
            <a:solidFill>
              <a:srgbClr val="0B0B0A"/>
            </a:solidFill>
            <a:prstDash val="solid"/>
          </a:ln>
        </p:spPr>
      </p:sp>
      <p:sp>
        <p:nvSpPr>
          <p:cNvPr id="16" name="Text 13"/>
          <p:cNvSpPr txBox="1"/>
          <p:nvPr/>
        </p:nvSpPr>
        <p:spPr>
          <a:xfrm>
            <a:off x="2907792"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Steel</a:t>
            </a:r>
            <a:endParaRPr lang="en-US" sz="650" dirty="0"/>
          </a:p>
        </p:txBody>
      </p:sp>
      <p:sp>
        <p:nvSpPr>
          <p:cNvPr id="17" name="Text 14"/>
          <p:cNvSpPr txBox="1"/>
          <p:nvPr/>
        </p:nvSpPr>
        <p:spPr>
          <a:xfrm>
            <a:off x="4663440" y="548640"/>
            <a:ext cx="7315200" cy="274320"/>
          </a:xfrm>
          <a:prstGeom prst="rect">
            <a:avLst/>
          </a:prstGeom>
          <a:noFill/>
          <a:ln/>
        </p:spPr>
        <p:txBody>
          <a:bodyPr wrap="square" lIns="0" tIns="0" rIns="0" bIns="0" rtlCol="0" anchor="t"/>
          <a:lstStyle/>
          <a:p>
            <a:pPr indent="0" marL="0">
              <a:buNone/>
            </a:pPr>
            <a:r>
              <a:rPr lang="en-US" sz="900" b="1" spc="400" kern="0" dirty="0">
                <a:solidFill>
                  <a:srgbClr val="F28C28"/>
                </a:solidFill>
                <a:latin typeface="Inter" pitchFamily="34" charset="0"/>
                <a:ea typeface="Inter" pitchFamily="34" charset="-122"/>
                <a:cs typeface="Inter" pitchFamily="34" charset="-120"/>
              </a:rPr>
              <a:t>ENERGY · FAST · THE CLIMB  ·  14:00–16:30</a:t>
            </a:r>
            <a:endParaRPr lang="en-US" sz="900" dirty="0"/>
          </a:p>
        </p:txBody>
      </p:sp>
      <p:sp>
        <p:nvSpPr>
          <p:cNvPr id="18" name="Text 15"/>
          <p:cNvSpPr txBox="1"/>
          <p:nvPr/>
        </p:nvSpPr>
        <p:spPr>
          <a:xfrm>
            <a:off x="4663440" y="914400"/>
            <a:ext cx="6949440" cy="1005840"/>
          </a:xfrm>
          <a:prstGeom prst="rect">
            <a:avLst/>
          </a:prstGeom>
          <a:noFill/>
          <a:ln/>
        </p:spPr>
        <p:txBody>
          <a:bodyPr wrap="square" lIns="0" tIns="0" rIns="0" bIns="0" rtlCol="0" anchor="t"/>
          <a:lstStyle/>
          <a:p>
            <a:pPr indent="0" marL="0">
              <a:lnSpc>
                <a:spcPct val="105000"/>
              </a:lnSpc>
              <a:buNone/>
            </a:pPr>
            <a:r>
              <a:rPr lang="en-US" sz="1800" dirty="0">
                <a:solidFill>
                  <a:srgbClr val="F2EDE4"/>
                </a:solidFill>
                <a:latin typeface="Oswald" pitchFamily="34" charset="0"/>
                <a:ea typeface="Oswald" pitchFamily="34" charset="-122"/>
                <a:cs typeface="Oswald" pitchFamily="34" charset="-120"/>
              </a:rPr>
              <a:t>Orange is the hunger. Royal blue is the arrival. Nothing about it was handed over. Fast cuts, momentum, no pause.</a:t>
            </a:r>
            <a:endParaRPr lang="en-US" sz="1800" dirty="0"/>
          </a:p>
        </p:txBody>
      </p:sp>
      <p:sp>
        <p:nvSpPr>
          <p:cNvPr id="19" name="Text 16"/>
          <p:cNvSpPr txBox="1"/>
          <p:nvPr/>
        </p:nvSpPr>
        <p:spPr>
          <a:xfrm>
            <a:off x="4663440" y="1965960"/>
            <a:ext cx="6949440" cy="365760"/>
          </a:xfrm>
          <a:prstGeom prst="rect">
            <a:avLst/>
          </a:prstGeom>
          <a:noFill/>
          <a:ln/>
        </p:spPr>
        <p:txBody>
          <a:bodyPr wrap="square" lIns="0" tIns="0" rIns="0" bIns="0" rtlCol="0" anchor="t"/>
          <a:lstStyle/>
          <a:p>
            <a:pPr indent="0" marL="0">
              <a:buNone/>
            </a:pPr>
            <a:r>
              <a:rPr lang="en-US" sz="1500" i="1" dirty="0">
                <a:solidFill>
                  <a:srgbClr val="F28C28"/>
                </a:solidFill>
                <a:latin typeface="Oswald" pitchFamily="34" charset="0"/>
                <a:ea typeface="Oswald" pitchFamily="34" charset="-122"/>
                <a:cs typeface="Oswald" pitchFamily="34" charset="-120"/>
              </a:rPr>
              <a:t>Here's to your journey.  Wear what's yours.</a:t>
            </a:r>
            <a:endParaRPr lang="en-US" sz="1500" dirty="0"/>
          </a:p>
        </p:txBody>
      </p:sp>
      <p:sp>
        <p:nvSpPr>
          <p:cNvPr id="20" name="Text 17"/>
          <p:cNvSpPr txBox="1"/>
          <p:nvPr/>
        </p:nvSpPr>
        <p:spPr>
          <a:xfrm>
            <a:off x="4663440" y="2514600"/>
            <a:ext cx="13716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WHERE</a:t>
            </a:r>
            <a:endParaRPr lang="en-US" sz="750" dirty="0"/>
          </a:p>
        </p:txBody>
      </p:sp>
      <p:sp>
        <p:nvSpPr>
          <p:cNvPr id="21" name="Text 18"/>
          <p:cNvSpPr txBox="1"/>
          <p:nvPr/>
        </p:nvSpPr>
        <p:spPr>
          <a:xfrm>
            <a:off x="6035040" y="2487168"/>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A modern glass office tower — concrete-and-steel stairwell, frosted-glass doors, glass corridors, a night desk, floor-to-ceiling windows over the city. No heritage.</a:t>
            </a:r>
            <a:endParaRPr lang="en-US" sz="1000" dirty="0"/>
          </a:p>
        </p:txBody>
      </p:sp>
      <p:sp>
        <p:nvSpPr>
          <p:cNvPr id="22" name="Text 19"/>
          <p:cNvSpPr txBox="1"/>
          <p:nvPr/>
        </p:nvSpPr>
        <p:spPr>
          <a:xfrm>
            <a:off x="4663440" y="3044952"/>
            <a:ext cx="13716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WARDROBE</a:t>
            </a:r>
            <a:endParaRPr lang="en-US" sz="750" dirty="0"/>
          </a:p>
        </p:txBody>
      </p:sp>
      <p:sp>
        <p:nvSpPr>
          <p:cNvPr id="23" name="Text 20"/>
          <p:cNvSpPr txBox="1"/>
          <p:nvPr/>
        </p:nvSpPr>
        <p:spPr>
          <a:xfrm>
            <a:off x="6035040" y="3017520"/>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White shirt, sleeves rolled, royal-blue trousers (D1) · royal-blue suit (D2, D3).</a:t>
            </a:r>
            <a:endParaRPr lang="en-US" sz="1000" dirty="0"/>
          </a:p>
        </p:txBody>
      </p:sp>
      <p:sp>
        <p:nvSpPr>
          <p:cNvPr id="24" name="Text 21"/>
          <p:cNvSpPr txBox="1"/>
          <p:nvPr/>
        </p:nvSpPr>
        <p:spPr>
          <a:xfrm>
            <a:off x="4663440" y="3575304"/>
            <a:ext cx="13716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SOUND</a:t>
            </a:r>
            <a:endParaRPr lang="en-US" sz="750" dirty="0"/>
          </a:p>
        </p:txBody>
      </p:sp>
      <p:sp>
        <p:nvSpPr>
          <p:cNvPr id="25" name="Text 22"/>
          <p:cNvSpPr txBox="1"/>
          <p:nvPr/>
        </p:nvSpPr>
        <p:spPr>
          <a:xfrm>
            <a:off x="6035040" y="3547872"/>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Driving percussion, strings that never resolve.</a:t>
            </a:r>
            <a:endParaRPr lang="en-US" sz="1000" dirty="0"/>
          </a:p>
        </p:txBody>
      </p:sp>
      <p:sp>
        <p:nvSpPr>
          <p:cNvPr id="26" name="Shape 23"/>
          <p:cNvSpPr/>
          <p:nvPr/>
        </p:nvSpPr>
        <p:spPr>
          <a:xfrm>
            <a:off x="4663440" y="4206240"/>
            <a:ext cx="2240280" cy="2011680"/>
          </a:xfrm>
          <a:prstGeom prst="rect">
            <a:avLst/>
          </a:prstGeom>
          <a:solidFill>
            <a:srgbClr val="151513"/>
          </a:solidFill>
          <a:ln w="9525">
            <a:solidFill>
              <a:srgbClr val="2B2A26"/>
            </a:solidFill>
            <a:prstDash val="solid"/>
          </a:ln>
        </p:spPr>
      </p:sp>
      <p:sp>
        <p:nvSpPr>
          <p:cNvPr id="27" name="Text 24"/>
          <p:cNvSpPr txBox="1"/>
          <p:nvPr/>
        </p:nvSpPr>
        <p:spPr>
          <a:xfrm>
            <a:off x="4846320" y="4370832"/>
            <a:ext cx="914400" cy="365760"/>
          </a:xfrm>
          <a:prstGeom prst="rect">
            <a:avLst/>
          </a:prstGeom>
          <a:noFill/>
          <a:ln/>
        </p:spPr>
        <p:txBody>
          <a:bodyPr wrap="square" lIns="0" tIns="0" rIns="0" bIns="0" rtlCol="0" anchor="t"/>
          <a:lstStyle/>
          <a:p>
            <a:pPr indent="0" marL="0">
              <a:buNone/>
            </a:pPr>
            <a:r>
              <a:rPr lang="en-US" sz="1800" b="1" dirty="0">
                <a:solidFill>
                  <a:srgbClr val="F28C28"/>
                </a:solidFill>
                <a:latin typeface="Oswald" pitchFamily="34" charset="0"/>
                <a:ea typeface="Oswald" pitchFamily="34" charset="-122"/>
                <a:cs typeface="Oswald" pitchFamily="34" charset="-120"/>
              </a:rPr>
              <a:t>D1</a:t>
            </a:r>
            <a:endParaRPr lang="en-US" sz="1800" dirty="0"/>
          </a:p>
        </p:txBody>
      </p:sp>
      <p:sp>
        <p:nvSpPr>
          <p:cNvPr id="28" name="Text 25"/>
          <p:cNvSpPr txBox="1"/>
          <p:nvPr/>
        </p:nvSpPr>
        <p:spPr>
          <a:xfrm>
            <a:off x="484632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NOBODY WAS COMING</a:t>
            </a:r>
            <a:endParaRPr lang="en-US" sz="1400" dirty="0"/>
          </a:p>
        </p:txBody>
      </p:sp>
      <p:sp>
        <p:nvSpPr>
          <p:cNvPr id="29" name="Text 26"/>
          <p:cNvSpPr txBox="1"/>
          <p:nvPr/>
        </p:nvSpPr>
        <p:spPr>
          <a:xfrm>
            <a:off x="484632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Hero · 30 s</a:t>
            </a:r>
            <a:endParaRPr lang="en-US" sz="850" dirty="0"/>
          </a:p>
        </p:txBody>
      </p:sp>
      <p:sp>
        <p:nvSpPr>
          <p:cNvPr id="30" name="Text 27"/>
          <p:cNvSpPr txBox="1"/>
          <p:nvPr/>
        </p:nvSpPr>
        <p:spPr>
          <a:xfrm>
            <a:off x="484632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Momentum</a:t>
            </a:r>
            <a:endParaRPr lang="en-US" sz="900" dirty="0"/>
          </a:p>
        </p:txBody>
      </p:sp>
      <p:sp>
        <p:nvSpPr>
          <p:cNvPr id="31" name="Shape 28"/>
          <p:cNvSpPr/>
          <p:nvPr/>
        </p:nvSpPr>
        <p:spPr>
          <a:xfrm>
            <a:off x="7040880" y="4206240"/>
            <a:ext cx="2240280" cy="2011680"/>
          </a:xfrm>
          <a:prstGeom prst="rect">
            <a:avLst/>
          </a:prstGeom>
          <a:solidFill>
            <a:srgbClr val="151513"/>
          </a:solidFill>
          <a:ln w="9525">
            <a:solidFill>
              <a:srgbClr val="2B2A26"/>
            </a:solidFill>
            <a:prstDash val="solid"/>
          </a:ln>
        </p:spPr>
      </p:sp>
      <p:sp>
        <p:nvSpPr>
          <p:cNvPr id="32" name="Text 29"/>
          <p:cNvSpPr txBox="1"/>
          <p:nvPr/>
        </p:nvSpPr>
        <p:spPr>
          <a:xfrm>
            <a:off x="7223760" y="4370832"/>
            <a:ext cx="914400" cy="365760"/>
          </a:xfrm>
          <a:prstGeom prst="rect">
            <a:avLst/>
          </a:prstGeom>
          <a:noFill/>
          <a:ln/>
        </p:spPr>
        <p:txBody>
          <a:bodyPr wrap="square" lIns="0" tIns="0" rIns="0" bIns="0" rtlCol="0" anchor="t"/>
          <a:lstStyle/>
          <a:p>
            <a:pPr indent="0" marL="0">
              <a:buNone/>
            </a:pPr>
            <a:r>
              <a:rPr lang="en-US" sz="1800" b="1" dirty="0">
                <a:solidFill>
                  <a:srgbClr val="F28C28"/>
                </a:solidFill>
                <a:latin typeface="Oswald" pitchFamily="34" charset="0"/>
                <a:ea typeface="Oswald" pitchFamily="34" charset="-122"/>
                <a:cs typeface="Oswald" pitchFamily="34" charset="-120"/>
              </a:rPr>
              <a:t>D2</a:t>
            </a:r>
            <a:endParaRPr lang="en-US" sz="1800" dirty="0"/>
          </a:p>
        </p:txBody>
      </p:sp>
      <p:sp>
        <p:nvSpPr>
          <p:cNvPr id="33" name="Text 30"/>
          <p:cNvSpPr txBox="1"/>
          <p:nvPr/>
        </p:nvSpPr>
        <p:spPr>
          <a:xfrm>
            <a:off x="722376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TWO COLOURS</a:t>
            </a:r>
            <a:endParaRPr lang="en-US" sz="1400" dirty="0"/>
          </a:p>
        </p:txBody>
      </p:sp>
      <p:sp>
        <p:nvSpPr>
          <p:cNvPr id="34" name="Text 31"/>
          <p:cNvSpPr txBox="1"/>
          <p:nvPr/>
        </p:nvSpPr>
        <p:spPr>
          <a:xfrm>
            <a:off x="722376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Night → day · 15 s</a:t>
            </a:r>
            <a:endParaRPr lang="en-US" sz="850" dirty="0"/>
          </a:p>
        </p:txBody>
      </p:sp>
      <p:sp>
        <p:nvSpPr>
          <p:cNvPr id="35" name="Text 32"/>
          <p:cNvSpPr txBox="1"/>
          <p:nvPr/>
        </p:nvSpPr>
        <p:spPr>
          <a:xfrm>
            <a:off x="722376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Hunger, then arrival</a:t>
            </a:r>
            <a:endParaRPr lang="en-US" sz="900" dirty="0"/>
          </a:p>
        </p:txBody>
      </p:sp>
      <p:sp>
        <p:nvSpPr>
          <p:cNvPr id="36" name="Shape 33"/>
          <p:cNvSpPr/>
          <p:nvPr/>
        </p:nvSpPr>
        <p:spPr>
          <a:xfrm>
            <a:off x="9418320" y="4206240"/>
            <a:ext cx="2240280" cy="2011680"/>
          </a:xfrm>
          <a:prstGeom prst="rect">
            <a:avLst/>
          </a:prstGeom>
          <a:solidFill>
            <a:srgbClr val="151513"/>
          </a:solidFill>
          <a:ln w="9525">
            <a:solidFill>
              <a:srgbClr val="2B2A26"/>
            </a:solidFill>
            <a:prstDash val="solid"/>
          </a:ln>
        </p:spPr>
      </p:sp>
      <p:sp>
        <p:nvSpPr>
          <p:cNvPr id="37" name="Text 34"/>
          <p:cNvSpPr txBox="1"/>
          <p:nvPr/>
        </p:nvSpPr>
        <p:spPr>
          <a:xfrm>
            <a:off x="9601200" y="4370832"/>
            <a:ext cx="914400" cy="365760"/>
          </a:xfrm>
          <a:prstGeom prst="rect">
            <a:avLst/>
          </a:prstGeom>
          <a:noFill/>
          <a:ln/>
        </p:spPr>
        <p:txBody>
          <a:bodyPr wrap="square" lIns="0" tIns="0" rIns="0" bIns="0" rtlCol="0" anchor="t"/>
          <a:lstStyle/>
          <a:p>
            <a:pPr indent="0" marL="0">
              <a:buNone/>
            </a:pPr>
            <a:r>
              <a:rPr lang="en-US" sz="1800" b="1" dirty="0">
                <a:solidFill>
                  <a:srgbClr val="F28C28"/>
                </a:solidFill>
                <a:latin typeface="Oswald" pitchFamily="34" charset="0"/>
                <a:ea typeface="Oswald" pitchFamily="34" charset="-122"/>
                <a:cs typeface="Oswald" pitchFamily="34" charset="-120"/>
              </a:rPr>
              <a:t>D3</a:t>
            </a:r>
            <a:endParaRPr lang="en-US" sz="1800" dirty="0"/>
          </a:p>
        </p:txBody>
      </p:sp>
      <p:sp>
        <p:nvSpPr>
          <p:cNvPr id="38" name="Text 35"/>
          <p:cNvSpPr txBox="1"/>
          <p:nvPr/>
        </p:nvSpPr>
        <p:spPr>
          <a:xfrm>
            <a:off x="960120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ONLY ONE</a:t>
            </a:r>
            <a:endParaRPr lang="en-US" sz="1400" dirty="0"/>
          </a:p>
        </p:txBody>
      </p:sp>
      <p:sp>
        <p:nvSpPr>
          <p:cNvPr id="39" name="Text 36"/>
          <p:cNvSpPr txBox="1"/>
          <p:nvPr/>
        </p:nvSpPr>
        <p:spPr>
          <a:xfrm>
            <a:off x="960120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Punch · 10 s</a:t>
            </a:r>
            <a:endParaRPr lang="en-US" sz="850" dirty="0"/>
          </a:p>
        </p:txBody>
      </p:sp>
      <p:sp>
        <p:nvSpPr>
          <p:cNvPr id="40" name="Text 37"/>
          <p:cNvSpPr txBox="1"/>
          <p:nvPr/>
        </p:nvSpPr>
        <p:spPr>
          <a:xfrm>
            <a:off x="960120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Hunger</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29</a:t>
            </a:r>
            <a:endParaRPr lang="en-US" sz="750" dirty="0"/>
          </a:p>
        </p:txBody>
      </p:sp>
      <p:pic>
        <p:nvPicPr>
          <p:cNvPr id="4" name="Image 0" descr="/tmp/claude-0/-home-user-Sage-portfolio/d05fecce-977e-5eab-9cf5-7c09b306c551/scratchpad/wrdeck/gen/full/D1-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D1  ·  HERO  ·  30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NOBODY WAS COMING</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Momentum</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Nobody was coming to save me.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 contacts. No surname that opened doors. No plan B.</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So I became the plan.</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 door they didn't open, I built my own.</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 room I wasn't invited to, I built a bigger one.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Self-made isn't a story.</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It's a pace.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I've never slowed down.</a:t>
            </a:r>
            <a:endParaRPr lang="en-US" sz="1150" dirty="0"/>
          </a:p>
          <a:p>
            <a:pPr indent="0" marL="0">
              <a:lnSpc>
                <a:spcPct val="125000"/>
              </a:lnSpc>
              <a:buNone/>
            </a:pPr>
            <a:r>
              <a:rPr lang="en-US" sz="1150" b="1" i="1" dirty="0">
                <a:solidFill>
                  <a:srgbClr val="F28C28"/>
                </a:solidFill>
                <a:latin typeface="Inter" pitchFamily="34" charset="0"/>
                <a:ea typeface="Inter" pitchFamily="34" charset="-122"/>
                <a:cs typeface="Inter" pitchFamily="34" charset="-120"/>
              </a:rPr>
              <a:t>Here's to your journey.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Nobody coming → became the plan → built his own doors and rooms → self-made is a pace. The edit never stops moving.</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Ludwig Göransson — "Can You Hear the Music" (Oppenheimer)</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Footsteps hammering stairs · a door hit flat · a corridor whoosh · heartbeat.</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THE LIST</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At twenty-two, I wrote a list. Take Maa on a flight. A house with my name on the door. Start something of my own. Order without looking at the prices. The last line, I almost didn't write. It felt too big. A watch, bought with my own money. Thirteen years. Every line, ticked.</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RECEIPTS</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Too young. Too small-town. Too ambitious. Too late. I heard them all. I kept every one. Like receipts. Because one day I'd come back to show them exactly what they'd paid for.</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30</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D1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NOBODY WAS COMING</a:t>
            </a:r>
            <a:endParaRPr lang="en-US" sz="2800" dirty="0"/>
          </a:p>
        </p:txBody>
      </p:sp>
      <p:pic>
        <p:nvPicPr>
          <p:cNvPr id="6" name="Image 0" descr="/tmp/claude-0/-home-user-Sage-portfolio/d05fecce-977e-5eab-9cf5-7c09b306c551/scratchpad/wrdeck/gen/full/D1-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F28C28"/>
          </a:solidFill>
          <a:ln w="12700">
            <a:solidFill>
              <a:srgbClr val="F28C2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D1-1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A steep concrete-and-steel stairwell inside a glass office tower, hard daylight. He takes the steps two at a time, mid-motion, blurred edges, the orange strap on his swinging wrist.</a:t>
            </a:r>
            <a:endParaRPr lang="en-US" sz="750" dirty="0"/>
          </a:p>
        </p:txBody>
      </p:sp>
      <p:pic>
        <p:nvPicPr>
          <p:cNvPr id="10" name="Image 1" descr="/tmp/claude-0/-home-user-Sage-portfolio/d05fecce-977e-5eab-9cf5-7c09b306c551/scratchpad/wrdeck/gen/full/D1-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F28C28"/>
          </a:solidFill>
          <a:ln w="12700">
            <a:solidFill>
              <a:srgbClr val="F28C2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D1-2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A heavy frosted-glass office door with a steel handle; his left hand hits it flat, the orange dial sharp against the glass, white light glowing through.</a:t>
            </a:r>
            <a:endParaRPr lang="en-US" sz="750" dirty="0"/>
          </a:p>
        </p:txBody>
      </p:sp>
      <p:pic>
        <p:nvPicPr>
          <p:cNvPr id="14" name="Image 2" descr="/tmp/claude-0/-home-user-Sage-portfolio/d05fecce-977e-5eab-9cf5-7c09b306c551/scratchpad/wrdeck/gen/full/D1-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F28C28"/>
          </a:solidFill>
          <a:ln w="12700">
            <a:solidFill>
              <a:srgbClr val="F28C28"/>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D1-3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strides down a long glass-walled corridor straight at camera, city visible through the glass, unbuttoning his cuff, the royal-blue and orange watch flashing.</a:t>
            </a:r>
            <a:endParaRPr lang="en-US" sz="750" dirty="0"/>
          </a:p>
        </p:txBody>
      </p:sp>
      <p:pic>
        <p:nvPicPr>
          <p:cNvPr id="18" name="Image 3" descr="/tmp/claude-0/-home-user-Sage-portfolio/d05fecce-977e-5eab-9cf5-7c09b306c551/scratchpad/wrdeck/img/crop_orang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D1-1: Fast handheld follow from below, slight whip, footsteps hard.</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D1-2: Snap zoom; the door swings open to a blast of white light.</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D1-3: Fast backward track, speed ramp into slow motion on the last two steps as he looks into the lens.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office stairwell running cinematic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@hublot — bold pace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31</a:t>
            </a:r>
            <a:endParaRPr lang="en-US" sz="750" dirty="0"/>
          </a:p>
        </p:txBody>
      </p:sp>
      <p:pic>
        <p:nvPicPr>
          <p:cNvPr id="4" name="Image 0" descr="/tmp/claude-0/-home-user-Sage-portfolio/d05fecce-977e-5eab-9cf5-7c09b306c551/scratchpad/wrdeck/gen/full/D2-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D2  ·  NIGHT → DAY  ·  15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TWO COLOURS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Hunger, then arrival</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Orange is the colour of hunger.</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fire that kept you up at 2 a.m.</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Every "not yet" you turned into "watch me."</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Royal blue is the colour of arrival.</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This watch wears both.</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Because you never get one without the other.</a:t>
            </a:r>
            <a:endParaRPr lang="en-US" sz="1150" dirty="0"/>
          </a:p>
          <a:p>
            <a:pPr indent="0" marL="0">
              <a:lnSpc>
                <a:spcPct val="125000"/>
              </a:lnSpc>
              <a:buNone/>
            </a:pPr>
            <a:r>
              <a:rPr lang="en-US" sz="1150" b="1" i="1" dirty="0">
                <a:solidFill>
                  <a:srgbClr val="F28C28"/>
                </a:solidFill>
                <a:latin typeface="Inter" pitchFamily="34" charset="0"/>
                <a:ea typeface="Inter" pitchFamily="34" charset="-122"/>
                <a:cs typeface="Inter" pitchFamily="34" charset="-120"/>
              </a:rPr>
              <a:t>Here's to your journey.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The watch's two colours tell the whole self-made story. Night desk → daylight lobby.</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Hans Zimmer — "Time" (Inception)</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Pen on paper · a lamp hum · hard cut to daylight and footsteps on marble.</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LUCK</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People call it luck. Luck doesn't show up at five in the morning. Luck doesn't take the last train home. Luck doesn't eat the same lunch for three years. I know. I was there. Luck wasn't.</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THIS SPEED</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They keep telling me to slow down. Enjoy it. I am enjoying it. At this speed.</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32</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D2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TWO COLOURS</a:t>
            </a:r>
            <a:endParaRPr lang="en-US" sz="2800" dirty="0"/>
          </a:p>
        </p:txBody>
      </p:sp>
      <p:pic>
        <p:nvPicPr>
          <p:cNvPr id="6" name="Image 0" descr="/tmp/claude-0/-home-user-Sage-portfolio/d05fecce-977e-5eab-9cf5-7c09b306c551/scratchpad/wrdeck/gen/full/D2-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F28C28"/>
          </a:solidFill>
          <a:ln w="12700">
            <a:solidFill>
              <a:srgbClr val="F28C2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D2-1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Night in a modern glass office, one desk lamp, city lights blurred through the window. He is bent over papers and a laptop at 2 a.m., the orange dial glowing warm in the lamplight.</a:t>
            </a:r>
            <a:endParaRPr lang="en-US" sz="750" dirty="0"/>
          </a:p>
        </p:txBody>
      </p:sp>
      <p:pic>
        <p:nvPicPr>
          <p:cNvPr id="10" name="Image 1" descr="/tmp/claude-0/-home-user-Sage-portfolio/d05fecce-977e-5eab-9cf5-7c09b306c551/scratchpad/wrdeck/gen/full/D2-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F28C28"/>
          </a:solidFill>
          <a:ln w="12700">
            <a:solidFill>
              <a:srgbClr val="F28C2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D2-2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Macro of the orange striped dial and orange strap in hot tungsten light, every stripe sharp.</a:t>
            </a:r>
            <a:endParaRPr lang="en-US" sz="750" dirty="0"/>
          </a:p>
        </p:txBody>
      </p:sp>
      <p:pic>
        <p:nvPicPr>
          <p:cNvPr id="14" name="Image 2" descr="/tmp/claude-0/-home-user-Sage-portfolio/d05fecce-977e-5eab-9cf5-7c09b306c551/scratchpad/wrdeck/gen/full/D2-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F28C28"/>
          </a:solidFill>
          <a:ln w="12700">
            <a:solidFill>
              <a:srgbClr val="F28C28"/>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D2-3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Bright day: he walks through the vast glass-and-marble lobby of the tower in a sharp royal-blue suit, sunlight pouring in, adjusting his cuff so both colours of the watch show.</a:t>
            </a:r>
            <a:endParaRPr lang="en-US" sz="750" dirty="0"/>
          </a:p>
        </p:txBody>
      </p:sp>
      <p:pic>
        <p:nvPicPr>
          <p:cNvPr id="18" name="Image 3" descr="/tmp/claude-0/-home-user-Sage-portfolio/d05fecce-977e-5eab-9cf5-7c09b306c551/scratchpad/wrdeck/img/crop_orang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D2-1: Slow push-in; he writes fast, the lamp flickers once.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D2-2: Locked; the light slowly cools from orange to clean daylight across the dial.</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D2-3: Gimbal at waist height moving with him, speed ramp to slow motion as the cuff settles.</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late night desk lamp city window</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33</a:t>
            </a:r>
            <a:endParaRPr lang="en-US" sz="750" dirty="0"/>
          </a:p>
        </p:txBody>
      </p:sp>
      <p:sp>
        <p:nvSpPr>
          <p:cNvPr id="4" name="Shape 2"/>
          <p:cNvSpPr/>
          <p:nvPr/>
        </p:nvSpPr>
        <p:spPr>
          <a:xfrm>
            <a:off x="548640" y="502920"/>
            <a:ext cx="3017520" cy="5394960"/>
          </a:xfrm>
          <a:prstGeom prst="rect">
            <a:avLst/>
          </a:prstGeom>
          <a:solidFill>
            <a:srgbClr val="151513"/>
          </a:solidFill>
          <a:ln w="9525">
            <a:solidFill>
              <a:srgbClr val="2B2A26"/>
            </a:solidFill>
            <a:prstDash val="solid"/>
          </a:ln>
        </p:spPr>
      </p:sp>
      <p:pic>
        <p:nvPicPr>
          <p:cNvPr id="5" name="Image 0" descr="/tmp/claude-0/-home-user-Sage-portfolio/d05fecce-977e-5eab-9cf5-7c09b306c551/scratchpad/wrdeck/img/crop_orange.jpg">    </p:cNvPr>
          <p:cNvPicPr>
            <a:picLocks noChangeAspect="1"/>
          </p:cNvPicPr>
          <p:nvPr/>
        </p:nvPicPr>
        <p:blipFill>
          <a:blip r:embed="rId1"/>
          <a:srcRect l="0" r="0" t="0" b="0"/>
          <a:stretch/>
        </p:blipFill>
        <p:spPr>
          <a:xfrm>
            <a:off x="1001268" y="1581912"/>
            <a:ext cx="2112264" cy="2427732"/>
          </a:xfrm>
          <a:prstGeom prst="rect">
            <a:avLst/>
          </a:prstGeom>
        </p:spPr>
      </p:pic>
      <p:sp>
        <p:nvSpPr>
          <p:cNvPr id="6" name="Text 3"/>
          <p:cNvSpPr txBox="1"/>
          <p:nvPr/>
        </p:nvSpPr>
        <p:spPr>
          <a:xfrm>
            <a:off x="548640" y="4279392"/>
            <a:ext cx="3017520" cy="457200"/>
          </a:xfrm>
          <a:prstGeom prst="rect">
            <a:avLst/>
          </a:prstGeom>
          <a:noFill/>
          <a:ln/>
        </p:spPr>
        <p:txBody>
          <a:bodyPr wrap="square" lIns="0" tIns="0" rIns="0" bIns="0" rtlCol="0" anchor="t"/>
          <a:lstStyle/>
          <a:p>
            <a:pPr algn="ctr" indent="0" marL="0">
              <a:buNone/>
            </a:pPr>
            <a:r>
              <a:rPr lang="en-US" sz="800" b="1" spc="200" kern="0" dirty="0">
                <a:solidFill>
                  <a:srgbClr val="9C978E"/>
                </a:solidFill>
                <a:latin typeface="Inter" pitchFamily="34" charset="0"/>
                <a:ea typeface="Inter" pitchFamily="34" charset="-122"/>
                <a:cs typeface="Inter" pitchFamily="34" charset="-120"/>
              </a:rPr>
              <a:t>FRAME D3-3</a:t>
            </a:r>
            <a:endParaRPr lang="en-US" sz="800" dirty="0"/>
          </a:p>
          <a:p>
            <a:pPr algn="ctr" indent="0" marL="0">
              <a:buNone/>
            </a:pPr>
            <a:r>
              <a:rPr lang="en-US" sz="800" b="1" spc="200" kern="0" dirty="0">
                <a:solidFill>
                  <a:srgbClr val="9C978E"/>
                </a:solidFill>
                <a:latin typeface="Inter" pitchFamily="34" charset="0"/>
                <a:ea typeface="Inter" pitchFamily="34" charset="-122"/>
                <a:cs typeface="Inter" pitchFamily="34" charset="-120"/>
              </a:rPr>
              <a:t>SEE FRAME NOTE</a:t>
            </a:r>
            <a:endParaRPr lang="en-US" sz="800" dirty="0"/>
          </a:p>
        </p:txBody>
      </p:sp>
      <p:sp>
        <p:nvSpPr>
          <p:cNvPr id="7" name="Text 4"/>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frame described below</a:t>
            </a:r>
            <a:endParaRPr lang="en-US" sz="750" dirty="0"/>
          </a:p>
        </p:txBody>
      </p:sp>
      <p:sp>
        <p:nvSpPr>
          <p:cNvPr id="8" name="Text 5"/>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D3  ·  PUNCH  ·  10 S  ·  9:16  ·  ENGLISH VO</a:t>
            </a:r>
            <a:endParaRPr lang="en-US" sz="900" dirty="0"/>
          </a:p>
        </p:txBody>
      </p:sp>
      <p:sp>
        <p:nvSpPr>
          <p:cNvPr id="9" name="Text 6"/>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ONLY ONE</a:t>
            </a:r>
            <a:endParaRPr lang="en-US" sz="3600" dirty="0"/>
          </a:p>
        </p:txBody>
      </p:sp>
      <p:sp>
        <p:nvSpPr>
          <p:cNvPr id="10" name="Text 7"/>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Hunger</a:t>
            </a:r>
            <a:endParaRPr lang="en-US" sz="1100" dirty="0"/>
          </a:p>
        </p:txBody>
      </p:sp>
      <p:sp>
        <p:nvSpPr>
          <p:cNvPr id="11" name="Text 8"/>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VOICE-OVER · THE PICK</a:t>
            </a:r>
            <a:endParaRPr lang="en-US" sz="750" dirty="0"/>
          </a:p>
        </p:txBody>
      </p:sp>
      <p:sp>
        <p:nvSpPr>
          <p:cNvPr id="12" name="Text 9"/>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Given and earned look the same on the wrist.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Only one of them keeps you hungry.</a:t>
            </a:r>
            <a:endParaRPr lang="en-US" sz="1150" dirty="0"/>
          </a:p>
          <a:p>
            <a:pPr indent="0" marL="0">
              <a:lnSpc>
                <a:spcPct val="125000"/>
              </a:lnSpc>
              <a:buNone/>
            </a:pPr>
            <a:r>
              <a:rPr lang="en-US" sz="1150" b="1" i="1" dirty="0">
                <a:solidFill>
                  <a:srgbClr val="F28C28"/>
                </a:solidFill>
                <a:latin typeface="Inter" pitchFamily="34" charset="0"/>
                <a:ea typeface="Inter" pitchFamily="34" charset="-122"/>
                <a:cs typeface="Inter" pitchFamily="34" charset="-120"/>
              </a:rPr>
              <a:t>Here's to your journey. Wear what's yours.</a:t>
            </a:r>
            <a:endParaRPr lang="en-US" sz="1150" dirty="0"/>
          </a:p>
        </p:txBody>
      </p:sp>
      <p:sp>
        <p:nvSpPr>
          <p:cNvPr id="13" name="Text 10"/>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WHY THIS ONE</a:t>
            </a:r>
            <a:endParaRPr lang="en-US" sz="750" dirty="0"/>
          </a:p>
        </p:txBody>
      </p:sp>
      <p:sp>
        <p:nvSpPr>
          <p:cNvPr id="14" name="Text 11"/>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A luxury watch admitting that the object alone proves nothing — only the way it was earned does.</a:t>
            </a:r>
            <a:endParaRPr lang="en-US" sz="900" dirty="0"/>
          </a:p>
        </p:txBody>
      </p:sp>
      <p:sp>
        <p:nvSpPr>
          <p:cNvPr id="15" name="Text 12"/>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MUSIC REFERENCE · TAP TO LISTEN</a:t>
            </a:r>
            <a:endParaRPr lang="en-US" sz="750" dirty="0"/>
          </a:p>
        </p:txBody>
      </p:sp>
      <p:sp>
        <p:nvSpPr>
          <p:cNvPr id="16" name="Text 13"/>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Trent Reznor &amp; Atticus Ross — "In Motion"</a:t>
            </a:r>
            <a:endParaRPr lang="en-US" sz="950" dirty="0"/>
          </a:p>
        </p:txBody>
      </p:sp>
      <p:sp>
        <p:nvSpPr>
          <p:cNvPr id="17" name="Text 14"/>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A city hum through glass · one exhale · footsteps leaving.</a:t>
            </a:r>
            <a:endParaRPr lang="en-US" sz="850" dirty="0"/>
          </a:p>
        </p:txBody>
      </p:sp>
      <p:sp>
        <p:nvSpPr>
          <p:cNvPr id="18" name="Text 15"/>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OTHER OPTIONS WRITTEN FOR THIS REEL</a:t>
            </a:r>
            <a:endParaRPr lang="en-US" sz="750" dirty="0"/>
          </a:p>
        </p:txBody>
      </p:sp>
      <p:sp>
        <p:nvSpPr>
          <p:cNvPr id="19" name="Shape 16"/>
          <p:cNvSpPr/>
          <p:nvPr/>
        </p:nvSpPr>
        <p:spPr>
          <a:xfrm>
            <a:off x="3977640" y="4754880"/>
            <a:ext cx="3749040" cy="1417320"/>
          </a:xfrm>
          <a:prstGeom prst="rect">
            <a:avLst/>
          </a:prstGeom>
          <a:solidFill>
            <a:srgbClr val="151513"/>
          </a:solidFill>
          <a:ln w="9525">
            <a:solidFill>
              <a:srgbClr val="2B2A26"/>
            </a:solidFill>
            <a:prstDash val="solid"/>
          </a:ln>
        </p:spPr>
      </p:sp>
      <p:sp>
        <p:nvSpPr>
          <p:cNvPr id="20" name="Text 17"/>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BUILT</a:t>
            </a:r>
            <a:endParaRPr lang="en-US" sz="850" dirty="0"/>
          </a:p>
        </p:txBody>
      </p:sp>
      <p:sp>
        <p:nvSpPr>
          <p:cNvPr id="21" name="Text 18"/>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You can buy a watch. You build the man who wears it.</a:t>
            </a:r>
            <a:endParaRPr lang="en-US" sz="800" dirty="0"/>
          </a:p>
        </p:txBody>
      </p:sp>
      <p:sp>
        <p:nvSpPr>
          <p:cNvPr id="22" name="Shape 19"/>
          <p:cNvSpPr/>
          <p:nvPr/>
        </p:nvSpPr>
        <p:spPr>
          <a:xfrm>
            <a:off x="7909560" y="4754880"/>
            <a:ext cx="3749040" cy="1417320"/>
          </a:xfrm>
          <a:prstGeom prst="rect">
            <a:avLst/>
          </a:prstGeom>
          <a:solidFill>
            <a:srgbClr val="151513"/>
          </a:solidFill>
          <a:ln w="9525">
            <a:solidFill>
              <a:srgbClr val="2B2A26"/>
            </a:solidFill>
            <a:prstDash val="solid"/>
          </a:ln>
        </p:spPr>
      </p:sp>
      <p:sp>
        <p:nvSpPr>
          <p:cNvPr id="23" name="Text 20"/>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THE LONG WAY</a:t>
            </a:r>
            <a:endParaRPr lang="en-US" sz="850" dirty="0"/>
          </a:p>
        </p:txBody>
      </p:sp>
      <p:sp>
        <p:nvSpPr>
          <p:cNvPr id="24" name="Text 21"/>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No shortcut. No contacts. No uncle in the business. The long way. The only way that's actually yours.</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ROYAL TANGERINE · D3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34</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F28C28"/>
                </a:solidFill>
                <a:latin typeface="Inter" pitchFamily="34" charset="0"/>
                <a:ea typeface="Inter" pitchFamily="34" charset="-122"/>
                <a:cs typeface="Inter" pitchFamily="34" charset="-120"/>
              </a:rPr>
              <a:t>D3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ONLY ONE</a:t>
            </a:r>
            <a:endParaRPr lang="en-US" sz="2800" dirty="0"/>
          </a:p>
        </p:txBody>
      </p:sp>
      <p:pic>
        <p:nvPicPr>
          <p:cNvPr id="6" name="Image 0" descr="/tmp/claude-0/-home-user-Sage-portfolio/d05fecce-977e-5eab-9cf5-7c09b306c551/scratchpad/wrdeck/gen/full/D3-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F28C28"/>
          </a:solidFill>
          <a:ln w="12700">
            <a:solidFill>
              <a:srgbClr val="F28C28"/>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D3-1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Extreme close-up of the watch on his wrist against a royal-blue suit sleeve, orange striped dial, clean hard light.</a:t>
            </a:r>
            <a:endParaRPr lang="en-US" sz="750" dirty="0"/>
          </a:p>
        </p:txBody>
      </p:sp>
      <p:pic>
        <p:nvPicPr>
          <p:cNvPr id="10" name="Image 1" descr="/tmp/claude-0/-home-user-Sage-portfolio/d05fecce-977e-5eab-9cf5-7c09b306c551/scratchpad/wrdeck/gen/full/D3-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F28C28"/>
          </a:solidFill>
          <a:ln w="12700">
            <a:solidFill>
              <a:srgbClr val="F28C28"/>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D3-2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stands at a floor-to-ceiling window high in the tower, the city below, jaw set, looking out, hungry rather than satisfied.</a:t>
            </a:r>
            <a:endParaRPr lang="en-US" sz="750" dirty="0"/>
          </a:p>
        </p:txBody>
      </p:sp>
      <p:sp>
        <p:nvSpPr>
          <p:cNvPr id="14" name="Shape 10"/>
          <p:cNvSpPr/>
          <p:nvPr/>
        </p:nvSpPr>
        <p:spPr>
          <a:xfrm>
            <a:off x="5212080" y="1371600"/>
            <a:ext cx="2148840" cy="3822192"/>
          </a:xfrm>
          <a:prstGeom prst="rect">
            <a:avLst/>
          </a:prstGeom>
          <a:solidFill>
            <a:srgbClr val="151513"/>
          </a:solidFill>
          <a:ln w="9525">
            <a:solidFill>
              <a:srgbClr val="2B2A26"/>
            </a:solidFill>
            <a:prstDash val="solid"/>
          </a:ln>
        </p:spPr>
      </p:sp>
      <p:pic>
        <p:nvPicPr>
          <p:cNvPr id="15" name="Image 2" descr="/tmp/claude-0/-home-user-Sage-portfolio/d05fecce-977e-5eab-9cf5-7c09b306c551/scratchpad/wrdeck/img/crop_orange.jpg">    </p:cNvPr>
          <p:cNvPicPr>
            <a:picLocks noChangeAspect="1"/>
          </p:cNvPicPr>
          <p:nvPr/>
        </p:nvPicPr>
        <p:blipFill>
          <a:blip r:embed="rId3"/>
          <a:srcRect l="0" r="0" t="0" b="0"/>
          <a:stretch/>
        </p:blipFill>
        <p:spPr>
          <a:xfrm>
            <a:off x="5534406" y="2136038"/>
            <a:ext cx="1504188" cy="1719986"/>
          </a:xfrm>
          <a:prstGeom prst="rect">
            <a:avLst/>
          </a:prstGeom>
        </p:spPr>
      </p:pic>
      <p:sp>
        <p:nvSpPr>
          <p:cNvPr id="16" name="Text 11"/>
          <p:cNvSpPr txBox="1"/>
          <p:nvPr/>
        </p:nvSpPr>
        <p:spPr>
          <a:xfrm>
            <a:off x="5212080" y="4047134"/>
            <a:ext cx="2148840" cy="457200"/>
          </a:xfrm>
          <a:prstGeom prst="rect">
            <a:avLst/>
          </a:prstGeom>
          <a:noFill/>
          <a:ln/>
        </p:spPr>
        <p:txBody>
          <a:bodyPr wrap="square" lIns="0" tIns="0" rIns="0" bIns="0" rtlCol="0" anchor="t"/>
          <a:lstStyle/>
          <a:p>
            <a:pPr algn="ctr" indent="0" marL="0">
              <a:buNone/>
            </a:pPr>
            <a:r>
              <a:rPr lang="en-US" sz="800" b="1" spc="200" kern="0" dirty="0">
                <a:solidFill>
                  <a:srgbClr val="9C978E"/>
                </a:solidFill>
                <a:latin typeface="Inter" pitchFamily="34" charset="0"/>
                <a:ea typeface="Inter" pitchFamily="34" charset="-122"/>
                <a:cs typeface="Inter" pitchFamily="34" charset="-120"/>
              </a:rPr>
              <a:t>FRAME D3-3</a:t>
            </a:r>
            <a:endParaRPr lang="en-US" sz="800" dirty="0"/>
          </a:p>
          <a:p>
            <a:pPr algn="ctr" indent="0" marL="0">
              <a:buNone/>
            </a:pPr>
            <a:r>
              <a:rPr lang="en-US" sz="800" b="1" spc="200" kern="0" dirty="0">
                <a:solidFill>
                  <a:srgbClr val="9C978E"/>
                </a:solidFill>
                <a:latin typeface="Inter" pitchFamily="34" charset="0"/>
                <a:ea typeface="Inter" pitchFamily="34" charset="-122"/>
                <a:cs typeface="Inter" pitchFamily="34" charset="-120"/>
              </a:rPr>
              <a:t>SEE FRAME NOTE</a:t>
            </a:r>
            <a:endParaRPr lang="en-US" sz="800" dirty="0"/>
          </a:p>
        </p:txBody>
      </p:sp>
      <p:sp>
        <p:nvSpPr>
          <p:cNvPr id="17" name="Shape 12"/>
          <p:cNvSpPr/>
          <p:nvPr/>
        </p:nvSpPr>
        <p:spPr>
          <a:xfrm>
            <a:off x="5212080" y="5266944"/>
            <a:ext cx="2148840" cy="27432"/>
          </a:xfrm>
          <a:prstGeom prst="rect">
            <a:avLst/>
          </a:prstGeom>
          <a:solidFill>
            <a:srgbClr val="F28C28"/>
          </a:solidFill>
          <a:ln w="12700">
            <a:solidFill>
              <a:srgbClr val="F28C28"/>
            </a:solidFill>
            <a:prstDash val="solid"/>
          </a:ln>
        </p:spPr>
      </p:sp>
      <p:sp>
        <p:nvSpPr>
          <p:cNvPr id="18" name="Text 13"/>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F28C28"/>
                </a:solidFill>
                <a:latin typeface="Inter" pitchFamily="34" charset="0"/>
                <a:ea typeface="Inter" pitchFamily="34" charset="-122"/>
                <a:cs typeface="Inter" pitchFamily="34" charset="-120"/>
              </a:rPr>
              <a:t>D3-3  ·  CLOSE</a:t>
            </a:r>
            <a:endParaRPr lang="en-US" sz="800" dirty="0"/>
          </a:p>
        </p:txBody>
      </p:sp>
      <p:sp>
        <p:nvSpPr>
          <p:cNvPr id="19" name="Text 14"/>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He turns from the window and walks straight past the camera, fast, out of frame.</a:t>
            </a:r>
            <a:endParaRPr lang="en-US" sz="750" dirty="0"/>
          </a:p>
        </p:txBody>
      </p:sp>
      <p:pic>
        <p:nvPicPr>
          <p:cNvPr id="20" name="Image 3" descr="/tmp/claude-0/-home-user-Sage-portfolio/d05fecce-977e-5eab-9cf5-7c09b306c551/scratchpad/wrdeck/img/crop_orange.jpg">    </p:cNvPr>
          <p:cNvPicPr>
            <a:picLocks noChangeAspect="1"/>
          </p:cNvPicPr>
          <p:nvPr/>
        </p:nvPicPr>
        <p:blipFill>
          <a:blip r:embed="rId4"/>
          <a:srcRect l="0" r="0" t="0" b="0"/>
          <a:stretch/>
        </p:blipFill>
        <p:spPr>
          <a:xfrm>
            <a:off x="7680960" y="1371600"/>
            <a:ext cx="3959352" cy="2194560"/>
          </a:xfrm>
          <a:prstGeom prst="rect">
            <a:avLst/>
          </a:prstGeom>
        </p:spPr>
      </p:pic>
      <p:sp>
        <p:nvSpPr>
          <p:cNvPr id="21" name="Text 15"/>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2" name="Text 16"/>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MOTION · FOR THE VIDEO PASS</a:t>
            </a:r>
            <a:endParaRPr lang="en-US" sz="750" dirty="0"/>
          </a:p>
        </p:txBody>
      </p:sp>
      <p:sp>
        <p:nvSpPr>
          <p:cNvPr id="23" name="Text 17"/>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D3-1: Slow 360-degree orbit around the wrist.</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D3-2: Slow push-in; his hand tightens slightly into a fist, the watch flexes.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D3-3: Whip pan following him out, the frame left on the empty window light.</a:t>
            </a:r>
            <a:endParaRPr lang="en-US" sz="800" dirty="0"/>
          </a:p>
        </p:txBody>
      </p:sp>
      <p:sp>
        <p:nvSpPr>
          <p:cNvPr id="24" name="Text 18"/>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F28C28"/>
                </a:solidFill>
                <a:latin typeface="Inter" pitchFamily="34" charset="0"/>
                <a:ea typeface="Inter" pitchFamily="34" charset="-122"/>
                <a:cs typeface="Inter" pitchFamily="34" charset="-120"/>
              </a:rPr>
              <a:t>VISUAL REFERENCES — TAP TO OPEN</a:t>
            </a:r>
            <a:endParaRPr lang="en-US" sz="750" dirty="0"/>
          </a:p>
        </p:txBody>
      </p:sp>
      <p:sp>
        <p:nvSpPr>
          <p:cNvPr id="25" name="Text 19"/>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man at skyscraper window city below suit</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35</a:t>
            </a:r>
            <a:endParaRPr lang="en-US" sz="750" dirty="0"/>
          </a:p>
        </p:txBody>
      </p:sp>
      <p:sp>
        <p:nvSpPr>
          <p:cNvPr id="4" name="Shape 2"/>
          <p:cNvSpPr/>
          <p:nvPr/>
        </p:nvSpPr>
        <p:spPr>
          <a:xfrm>
            <a:off x="0" y="0"/>
            <a:ext cx="4206240" cy="6858000"/>
          </a:xfrm>
          <a:prstGeom prst="rect">
            <a:avLst/>
          </a:prstGeom>
          <a:solidFill>
            <a:srgbClr val="1C2A55"/>
          </a:solidFill>
          <a:ln w="12700">
            <a:solidFill>
              <a:srgbClr val="1C2A55"/>
            </a:solidFill>
            <a:prstDash val="solid"/>
          </a:ln>
        </p:spPr>
      </p:sp>
      <p:pic>
        <p:nvPicPr>
          <p:cNvPr id="5" name="Image 0" descr="/tmp/claude-0/-home-user-Sage-portfolio/d05fecce-977e-5eab-9cf5-7c09b306c551/scratchpad/wrdeck/img/crop_redblue.jpg">    </p:cNvPr>
          <p:cNvPicPr>
            <a:picLocks noChangeAspect="1"/>
          </p:cNvPicPr>
          <p:nvPr/>
        </p:nvPicPr>
        <p:blipFill>
          <a:blip r:embed="rId1"/>
          <a:srcRect l="0" r="0" t="0" b="0"/>
          <a:stretch/>
        </p:blipFill>
        <p:spPr>
          <a:xfrm>
            <a:off x="548640" y="2194560"/>
            <a:ext cx="3108960" cy="3383280"/>
          </a:xfrm>
          <a:prstGeom prst="rect">
            <a:avLst/>
          </a:prstGeom>
        </p:spPr>
      </p:pic>
      <p:sp>
        <p:nvSpPr>
          <p:cNvPr id="6" name="Text 3"/>
          <p:cNvSpPr txBox="1"/>
          <p:nvPr/>
        </p:nvSpPr>
        <p:spPr>
          <a:xfrm>
            <a:off x="548640" y="548640"/>
            <a:ext cx="3291840" cy="274320"/>
          </a:xfrm>
          <a:prstGeom prst="rect">
            <a:avLst/>
          </a:prstGeom>
          <a:noFill/>
          <a:ln/>
        </p:spPr>
        <p:txBody>
          <a:bodyPr wrap="square" lIns="0" tIns="0" rIns="0" bIns="0" rtlCol="0" anchor="t"/>
          <a:lstStyle/>
          <a:p>
            <a:pPr indent="0" marL="0">
              <a:buNone/>
            </a:pPr>
            <a:r>
              <a:rPr lang="en-US" sz="900" b="1" spc="400" kern="0" dirty="0">
                <a:solidFill>
                  <a:srgbClr val="D2283A"/>
                </a:solidFill>
                <a:latin typeface="Inter" pitchFamily="34" charset="0"/>
                <a:ea typeface="Inter" pitchFamily="34" charset="-122"/>
                <a:cs typeface="Inter" pitchFamily="34" charset="-120"/>
              </a:rPr>
              <a:t>WORLD 05</a:t>
            </a:r>
            <a:endParaRPr lang="en-US" sz="900" dirty="0"/>
          </a:p>
        </p:txBody>
      </p:sp>
      <p:sp>
        <p:nvSpPr>
          <p:cNvPr id="7" name="Text 4"/>
          <p:cNvSpPr txBox="1"/>
          <p:nvPr/>
        </p:nvSpPr>
        <p:spPr>
          <a:xfrm>
            <a:off x="548640" y="868680"/>
            <a:ext cx="3474720" cy="685800"/>
          </a:xfrm>
          <a:prstGeom prst="rect">
            <a:avLst/>
          </a:prstGeom>
          <a:noFill/>
          <a:ln/>
        </p:spPr>
        <p:txBody>
          <a:bodyPr wrap="square" lIns="0" tIns="0" rIns="0" bIns="0" rtlCol="0" anchor="t"/>
          <a:lstStyle/>
          <a:p>
            <a:pPr indent="0" marL="0">
              <a:buNone/>
            </a:pPr>
            <a:r>
              <a:rPr lang="en-US" sz="3400" b="1" dirty="0">
                <a:solidFill>
                  <a:srgbClr val="F2EDE4"/>
                </a:solidFill>
                <a:latin typeface="Oswald" pitchFamily="34" charset="0"/>
                <a:ea typeface="Oswald" pitchFamily="34" charset="-122"/>
                <a:cs typeface="Oswald" pitchFamily="34" charset="-120"/>
              </a:rPr>
              <a:t>CRIMSON NAVY</a:t>
            </a:r>
            <a:endParaRPr lang="en-US" sz="3400" dirty="0"/>
          </a:p>
        </p:txBody>
      </p:sp>
      <p:sp>
        <p:nvSpPr>
          <p:cNvPr id="8" name="Text 5"/>
          <p:cNvSpPr txBox="1"/>
          <p:nvPr/>
        </p:nvSpPr>
        <p:spPr>
          <a:xfrm>
            <a:off x="548640" y="1554480"/>
            <a:ext cx="3474720" cy="502920"/>
          </a:xfrm>
          <a:prstGeom prst="rect">
            <a:avLst/>
          </a:prstGeom>
          <a:noFill/>
          <a:ln/>
        </p:spPr>
        <p:txBody>
          <a:bodyPr wrap="square" lIns="0" tIns="0" rIns="0" bIns="0" rtlCol="0" anchor="t"/>
          <a:lstStyle/>
          <a:p>
            <a:pPr indent="0" marL="0">
              <a:buNone/>
            </a:pPr>
            <a:r>
              <a:rPr lang="en-US" sz="1000" b="1" spc="200" kern="0" dirty="0">
                <a:solidFill>
                  <a:srgbClr val="D2283A"/>
                </a:solidFill>
                <a:latin typeface="Inter" pitchFamily="34" charset="0"/>
                <a:ea typeface="Inter" pitchFamily="34" charset="-122"/>
                <a:cs typeface="Inter" pitchFamily="34" charset="-120"/>
              </a:rPr>
              <a:t>THE DOMINANT</a:t>
            </a:r>
            <a:endParaRPr lang="en-US" sz="1000" dirty="0"/>
          </a:p>
        </p:txBody>
      </p:sp>
      <p:sp>
        <p:nvSpPr>
          <p:cNvPr id="9" name="Shape 6"/>
          <p:cNvSpPr/>
          <p:nvPr/>
        </p:nvSpPr>
        <p:spPr>
          <a:xfrm>
            <a:off x="548640" y="5760720"/>
            <a:ext cx="640080" cy="292608"/>
          </a:xfrm>
          <a:prstGeom prst="rect">
            <a:avLst/>
          </a:prstGeom>
          <a:solidFill>
            <a:srgbClr val="0A0A0C"/>
          </a:solidFill>
          <a:ln w="6350">
            <a:solidFill>
              <a:srgbClr val="0B0B0A"/>
            </a:solidFill>
            <a:prstDash val="solid"/>
          </a:ln>
        </p:spPr>
      </p:sp>
      <p:sp>
        <p:nvSpPr>
          <p:cNvPr id="10" name="Text 7"/>
          <p:cNvSpPr txBox="1"/>
          <p:nvPr/>
        </p:nvSpPr>
        <p:spPr>
          <a:xfrm>
            <a:off x="548640"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Black</a:t>
            </a:r>
            <a:endParaRPr lang="en-US" sz="650" dirty="0"/>
          </a:p>
        </p:txBody>
      </p:sp>
      <p:sp>
        <p:nvSpPr>
          <p:cNvPr id="11" name="Shape 8"/>
          <p:cNvSpPr/>
          <p:nvPr/>
        </p:nvSpPr>
        <p:spPr>
          <a:xfrm>
            <a:off x="1335024" y="5760720"/>
            <a:ext cx="640080" cy="292608"/>
          </a:xfrm>
          <a:prstGeom prst="rect">
            <a:avLst/>
          </a:prstGeom>
          <a:solidFill>
            <a:srgbClr val="D2283A"/>
          </a:solidFill>
          <a:ln w="6350">
            <a:solidFill>
              <a:srgbClr val="0B0B0A"/>
            </a:solidFill>
            <a:prstDash val="solid"/>
          </a:ln>
        </p:spPr>
      </p:sp>
      <p:sp>
        <p:nvSpPr>
          <p:cNvPr id="12" name="Text 9"/>
          <p:cNvSpPr txBox="1"/>
          <p:nvPr/>
        </p:nvSpPr>
        <p:spPr>
          <a:xfrm>
            <a:off x="1335024"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Red</a:t>
            </a:r>
            <a:endParaRPr lang="en-US" sz="650" dirty="0"/>
          </a:p>
        </p:txBody>
      </p:sp>
      <p:sp>
        <p:nvSpPr>
          <p:cNvPr id="13" name="Shape 10"/>
          <p:cNvSpPr/>
          <p:nvPr/>
        </p:nvSpPr>
        <p:spPr>
          <a:xfrm>
            <a:off x="2121408" y="5760720"/>
            <a:ext cx="640080" cy="292608"/>
          </a:xfrm>
          <a:prstGeom prst="rect">
            <a:avLst/>
          </a:prstGeom>
          <a:solidFill>
            <a:srgbClr val="1C2A55"/>
          </a:solidFill>
          <a:ln w="6350">
            <a:solidFill>
              <a:srgbClr val="0B0B0A"/>
            </a:solidFill>
            <a:prstDash val="solid"/>
          </a:ln>
        </p:spPr>
      </p:sp>
      <p:sp>
        <p:nvSpPr>
          <p:cNvPr id="14" name="Text 11"/>
          <p:cNvSpPr txBox="1"/>
          <p:nvPr/>
        </p:nvSpPr>
        <p:spPr>
          <a:xfrm>
            <a:off x="2121408"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Navy</a:t>
            </a:r>
            <a:endParaRPr lang="en-US" sz="650" dirty="0"/>
          </a:p>
        </p:txBody>
      </p:sp>
      <p:sp>
        <p:nvSpPr>
          <p:cNvPr id="15" name="Shape 12"/>
          <p:cNvSpPr/>
          <p:nvPr/>
        </p:nvSpPr>
        <p:spPr>
          <a:xfrm>
            <a:off x="2907792" y="5760720"/>
            <a:ext cx="640080" cy="292608"/>
          </a:xfrm>
          <a:prstGeom prst="rect">
            <a:avLst/>
          </a:prstGeom>
          <a:solidFill>
            <a:srgbClr val="5CFF7A"/>
          </a:solidFill>
          <a:ln w="6350">
            <a:solidFill>
              <a:srgbClr val="0B0B0A"/>
            </a:solidFill>
            <a:prstDash val="solid"/>
          </a:ln>
        </p:spPr>
      </p:sp>
      <p:sp>
        <p:nvSpPr>
          <p:cNvPr id="16" name="Text 13"/>
          <p:cNvSpPr txBox="1"/>
          <p:nvPr/>
        </p:nvSpPr>
        <p:spPr>
          <a:xfrm>
            <a:off x="2907792" y="6108192"/>
            <a:ext cx="777240" cy="201168"/>
          </a:xfrm>
          <a:prstGeom prst="rect">
            <a:avLst/>
          </a:prstGeom>
          <a:noFill/>
          <a:ln/>
        </p:spPr>
        <p:txBody>
          <a:bodyPr wrap="square" lIns="0" tIns="0" rIns="0" bIns="0" rtlCol="0" anchor="t"/>
          <a:lstStyle/>
          <a:p>
            <a:pPr indent="0" marL="0">
              <a:buNone/>
            </a:pPr>
            <a:r>
              <a:rPr lang="en-US" sz="650" dirty="0">
                <a:solidFill>
                  <a:srgbClr val="F2EDE4"/>
                </a:solidFill>
                <a:latin typeface="Inter" pitchFamily="34" charset="0"/>
                <a:ea typeface="Inter" pitchFamily="34" charset="-122"/>
                <a:cs typeface="Inter" pitchFamily="34" charset="-120"/>
              </a:rPr>
              <a:t>Glow</a:t>
            </a:r>
            <a:endParaRPr lang="en-US" sz="650" dirty="0"/>
          </a:p>
        </p:txBody>
      </p:sp>
      <p:sp>
        <p:nvSpPr>
          <p:cNvPr id="17" name="Text 14"/>
          <p:cNvSpPr txBox="1"/>
          <p:nvPr/>
        </p:nvSpPr>
        <p:spPr>
          <a:xfrm>
            <a:off x="4663440" y="548640"/>
            <a:ext cx="7315200" cy="274320"/>
          </a:xfrm>
          <a:prstGeom prst="rect">
            <a:avLst/>
          </a:prstGeom>
          <a:noFill/>
          <a:ln/>
        </p:spPr>
        <p:txBody>
          <a:bodyPr wrap="square" lIns="0" tIns="0" rIns="0" bIns="0" rtlCol="0" anchor="t"/>
          <a:lstStyle/>
          <a:p>
            <a:pPr indent="0" marL="0">
              <a:buNone/>
            </a:pPr>
            <a:r>
              <a:rPr lang="en-US" sz="900" b="1" spc="400" kern="0" dirty="0">
                <a:solidFill>
                  <a:srgbClr val="D2283A"/>
                </a:solidFill>
                <a:latin typeface="Inter" pitchFamily="34" charset="0"/>
                <a:ea typeface="Inter" pitchFamily="34" charset="-122"/>
                <a:cs typeface="Inter" pitchFamily="34" charset="-120"/>
              </a:rPr>
              <a:t>POWER · ALPHA · BLACK SUIT · RED CONVERTIBLE  ·  18:30–22:00</a:t>
            </a:r>
            <a:endParaRPr lang="en-US" sz="900" dirty="0"/>
          </a:p>
        </p:txBody>
      </p:sp>
      <p:sp>
        <p:nvSpPr>
          <p:cNvPr id="18" name="Text 15"/>
          <p:cNvSpPr txBox="1"/>
          <p:nvPr/>
        </p:nvSpPr>
        <p:spPr>
          <a:xfrm>
            <a:off x="4663440" y="914400"/>
            <a:ext cx="6949440" cy="1005840"/>
          </a:xfrm>
          <a:prstGeom prst="rect">
            <a:avLst/>
          </a:prstGeom>
          <a:noFill/>
          <a:ln/>
        </p:spPr>
        <p:txBody>
          <a:bodyPr wrap="square" lIns="0" tIns="0" rIns="0" bIns="0" rtlCol="0" anchor="t"/>
          <a:lstStyle/>
          <a:p>
            <a:pPr indent="0" marL="0">
              <a:lnSpc>
                <a:spcPct val="105000"/>
              </a:lnSpc>
              <a:buNone/>
            </a:pPr>
            <a:r>
              <a:rPr lang="en-US" sz="1800" dirty="0">
                <a:solidFill>
                  <a:srgbClr val="F2EDE4"/>
                </a:solidFill>
                <a:latin typeface="Oswald" pitchFamily="34" charset="0"/>
                <a:ea typeface="Oswald" pitchFamily="34" charset="-122"/>
                <a:cs typeface="Oswald" pitchFamily="34" charset="-120"/>
              </a:rPr>
              <a:t>Red is a decision, not a colour. Built for the black suit, the red car and the night. Power that never raises its voice.</a:t>
            </a:r>
            <a:endParaRPr lang="en-US" sz="1800" dirty="0"/>
          </a:p>
        </p:txBody>
      </p:sp>
      <p:sp>
        <p:nvSpPr>
          <p:cNvPr id="19" name="Text 16"/>
          <p:cNvSpPr txBox="1"/>
          <p:nvPr/>
        </p:nvSpPr>
        <p:spPr>
          <a:xfrm>
            <a:off x="4663440" y="1965960"/>
            <a:ext cx="6949440" cy="365760"/>
          </a:xfrm>
          <a:prstGeom prst="rect">
            <a:avLst/>
          </a:prstGeom>
          <a:noFill/>
          <a:ln/>
        </p:spPr>
        <p:txBody>
          <a:bodyPr wrap="square" lIns="0" tIns="0" rIns="0" bIns="0" rtlCol="0" anchor="t"/>
          <a:lstStyle/>
          <a:p>
            <a:pPr indent="0" marL="0">
              <a:buNone/>
            </a:pPr>
            <a:r>
              <a:rPr lang="en-US" sz="1500" i="1" dirty="0">
                <a:solidFill>
                  <a:srgbClr val="D2283A"/>
                </a:solidFill>
                <a:latin typeface="Oswald" pitchFamily="34" charset="0"/>
                <a:ea typeface="Oswald" pitchFamily="34" charset="-122"/>
                <a:cs typeface="Oswald" pitchFamily="34" charset="-120"/>
              </a:rPr>
              <a:t>Here's to your power.  Wear what's yours.</a:t>
            </a:r>
            <a:endParaRPr lang="en-US" sz="1500" dirty="0"/>
          </a:p>
        </p:txBody>
      </p:sp>
      <p:sp>
        <p:nvSpPr>
          <p:cNvPr id="20" name="Text 17"/>
          <p:cNvSpPr txBox="1"/>
          <p:nvPr/>
        </p:nvSpPr>
        <p:spPr>
          <a:xfrm>
            <a:off x="4663440" y="2514600"/>
            <a:ext cx="13716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WHERE</a:t>
            </a:r>
            <a:endParaRPr lang="en-US" sz="750" dirty="0"/>
          </a:p>
        </p:txBody>
      </p:sp>
      <p:sp>
        <p:nvSpPr>
          <p:cNvPr id="21" name="Text 18"/>
          <p:cNvSpPr txBox="1"/>
          <p:nvPr/>
        </p:nvSpPr>
        <p:spPr>
          <a:xfrm>
            <a:off x="6035040" y="2487168"/>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Night only — a modern luxury-hotel porte-cochère, a private dining room, a wide city boulevard (JLN Marg / Albert Hall exterior, free). Red convertible on rental.</a:t>
            </a:r>
            <a:endParaRPr lang="en-US" sz="1000" dirty="0"/>
          </a:p>
        </p:txBody>
      </p:sp>
      <p:sp>
        <p:nvSpPr>
          <p:cNvPr id="22" name="Text 19"/>
          <p:cNvSpPr txBox="1"/>
          <p:nvPr/>
        </p:nvSpPr>
        <p:spPr>
          <a:xfrm>
            <a:off x="4663440" y="3044952"/>
            <a:ext cx="13716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WARDROBE</a:t>
            </a:r>
            <a:endParaRPr lang="en-US" sz="750" dirty="0"/>
          </a:p>
        </p:txBody>
      </p:sp>
      <p:sp>
        <p:nvSpPr>
          <p:cNvPr id="23" name="Text 20"/>
          <p:cNvSpPr txBox="1"/>
          <p:nvPr/>
        </p:nvSpPr>
        <p:spPr>
          <a:xfrm>
            <a:off x="6035040" y="3017520"/>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Black suit, black shirt open at the collar. No tie.</a:t>
            </a:r>
            <a:endParaRPr lang="en-US" sz="1000" dirty="0"/>
          </a:p>
        </p:txBody>
      </p:sp>
      <p:sp>
        <p:nvSpPr>
          <p:cNvPr id="24" name="Text 21"/>
          <p:cNvSpPr txBox="1"/>
          <p:nvPr/>
        </p:nvSpPr>
        <p:spPr>
          <a:xfrm>
            <a:off x="4663440" y="3575304"/>
            <a:ext cx="13716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SOUND</a:t>
            </a:r>
            <a:endParaRPr lang="en-US" sz="750" dirty="0"/>
          </a:p>
        </p:txBody>
      </p:sp>
      <p:sp>
        <p:nvSpPr>
          <p:cNvPr id="25" name="Text 22"/>
          <p:cNvSpPr txBox="1"/>
          <p:nvPr/>
        </p:nvSpPr>
        <p:spPr>
          <a:xfrm>
            <a:off x="6035040" y="3547872"/>
            <a:ext cx="5577840" cy="5029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Low synth, sub heartbeat.</a:t>
            </a:r>
            <a:endParaRPr lang="en-US" sz="1000" dirty="0"/>
          </a:p>
        </p:txBody>
      </p:sp>
      <p:sp>
        <p:nvSpPr>
          <p:cNvPr id="26" name="Shape 23"/>
          <p:cNvSpPr/>
          <p:nvPr/>
        </p:nvSpPr>
        <p:spPr>
          <a:xfrm>
            <a:off x="4663440" y="4206240"/>
            <a:ext cx="2240280" cy="2011680"/>
          </a:xfrm>
          <a:prstGeom prst="rect">
            <a:avLst/>
          </a:prstGeom>
          <a:solidFill>
            <a:srgbClr val="151513"/>
          </a:solidFill>
          <a:ln w="9525">
            <a:solidFill>
              <a:srgbClr val="2B2A26"/>
            </a:solidFill>
            <a:prstDash val="solid"/>
          </a:ln>
        </p:spPr>
      </p:sp>
      <p:sp>
        <p:nvSpPr>
          <p:cNvPr id="27" name="Text 24"/>
          <p:cNvSpPr txBox="1"/>
          <p:nvPr/>
        </p:nvSpPr>
        <p:spPr>
          <a:xfrm>
            <a:off x="4846320" y="4370832"/>
            <a:ext cx="914400" cy="365760"/>
          </a:xfrm>
          <a:prstGeom prst="rect">
            <a:avLst/>
          </a:prstGeom>
          <a:noFill/>
          <a:ln/>
        </p:spPr>
        <p:txBody>
          <a:bodyPr wrap="square" lIns="0" tIns="0" rIns="0" bIns="0" rtlCol="0" anchor="t"/>
          <a:lstStyle/>
          <a:p>
            <a:pPr indent="0" marL="0">
              <a:buNone/>
            </a:pPr>
            <a:r>
              <a:rPr lang="en-US" sz="1800" b="1" dirty="0">
                <a:solidFill>
                  <a:srgbClr val="D2283A"/>
                </a:solidFill>
                <a:latin typeface="Oswald" pitchFamily="34" charset="0"/>
                <a:ea typeface="Oswald" pitchFamily="34" charset="-122"/>
                <a:cs typeface="Oswald" pitchFamily="34" charset="-120"/>
              </a:rPr>
              <a:t>E1</a:t>
            </a:r>
            <a:endParaRPr lang="en-US" sz="1800" dirty="0"/>
          </a:p>
        </p:txBody>
      </p:sp>
      <p:sp>
        <p:nvSpPr>
          <p:cNvPr id="28" name="Text 25"/>
          <p:cNvSpPr txBox="1"/>
          <p:nvPr/>
        </p:nvSpPr>
        <p:spPr>
          <a:xfrm>
            <a:off x="484632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RED IS A DECISION</a:t>
            </a:r>
            <a:endParaRPr lang="en-US" sz="1400" dirty="0"/>
          </a:p>
        </p:txBody>
      </p:sp>
      <p:sp>
        <p:nvSpPr>
          <p:cNvPr id="29" name="Text 26"/>
          <p:cNvSpPr txBox="1"/>
          <p:nvPr/>
        </p:nvSpPr>
        <p:spPr>
          <a:xfrm>
            <a:off x="484632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Hero · 30 s</a:t>
            </a:r>
            <a:endParaRPr lang="en-US" sz="850" dirty="0"/>
          </a:p>
        </p:txBody>
      </p:sp>
      <p:sp>
        <p:nvSpPr>
          <p:cNvPr id="30" name="Text 27"/>
          <p:cNvSpPr txBox="1"/>
          <p:nvPr/>
        </p:nvSpPr>
        <p:spPr>
          <a:xfrm>
            <a:off x="484632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The room adjusts</a:t>
            </a:r>
            <a:endParaRPr lang="en-US" sz="900" dirty="0"/>
          </a:p>
        </p:txBody>
      </p:sp>
      <p:sp>
        <p:nvSpPr>
          <p:cNvPr id="31" name="Shape 28"/>
          <p:cNvSpPr/>
          <p:nvPr/>
        </p:nvSpPr>
        <p:spPr>
          <a:xfrm>
            <a:off x="7040880" y="4206240"/>
            <a:ext cx="2240280" cy="2011680"/>
          </a:xfrm>
          <a:prstGeom prst="rect">
            <a:avLst/>
          </a:prstGeom>
          <a:solidFill>
            <a:srgbClr val="151513"/>
          </a:solidFill>
          <a:ln w="9525">
            <a:solidFill>
              <a:srgbClr val="2B2A26"/>
            </a:solidFill>
            <a:prstDash val="solid"/>
          </a:ln>
        </p:spPr>
      </p:sp>
      <p:sp>
        <p:nvSpPr>
          <p:cNvPr id="32" name="Text 29"/>
          <p:cNvSpPr txBox="1"/>
          <p:nvPr/>
        </p:nvSpPr>
        <p:spPr>
          <a:xfrm>
            <a:off x="7223760" y="4370832"/>
            <a:ext cx="914400" cy="365760"/>
          </a:xfrm>
          <a:prstGeom prst="rect">
            <a:avLst/>
          </a:prstGeom>
          <a:noFill/>
          <a:ln/>
        </p:spPr>
        <p:txBody>
          <a:bodyPr wrap="square" lIns="0" tIns="0" rIns="0" bIns="0" rtlCol="0" anchor="t"/>
          <a:lstStyle/>
          <a:p>
            <a:pPr indent="0" marL="0">
              <a:buNone/>
            </a:pPr>
            <a:r>
              <a:rPr lang="en-US" sz="1800" b="1" dirty="0">
                <a:solidFill>
                  <a:srgbClr val="D2283A"/>
                </a:solidFill>
                <a:latin typeface="Oswald" pitchFamily="34" charset="0"/>
                <a:ea typeface="Oswald" pitchFamily="34" charset="-122"/>
                <a:cs typeface="Oswald" pitchFamily="34" charset="-120"/>
              </a:rPr>
              <a:t>E2</a:t>
            </a:r>
            <a:endParaRPr lang="en-US" sz="1800" dirty="0"/>
          </a:p>
        </p:txBody>
      </p:sp>
      <p:sp>
        <p:nvSpPr>
          <p:cNvPr id="33" name="Text 30"/>
          <p:cNvSpPr txBox="1"/>
          <p:nvPr/>
        </p:nvSpPr>
        <p:spPr>
          <a:xfrm>
            <a:off x="722376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NOTICED</a:t>
            </a:r>
            <a:endParaRPr lang="en-US" sz="1400" dirty="0"/>
          </a:p>
        </p:txBody>
      </p:sp>
      <p:sp>
        <p:nvSpPr>
          <p:cNvPr id="34" name="Text 31"/>
          <p:cNvSpPr txBox="1"/>
          <p:nvPr/>
        </p:nvSpPr>
        <p:spPr>
          <a:xfrm>
            <a:off x="722376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Beat cut · 15 s</a:t>
            </a:r>
            <a:endParaRPr lang="en-US" sz="850" dirty="0"/>
          </a:p>
        </p:txBody>
      </p:sp>
      <p:sp>
        <p:nvSpPr>
          <p:cNvPr id="35" name="Text 32"/>
          <p:cNvSpPr txBox="1"/>
          <p:nvPr/>
        </p:nvSpPr>
        <p:spPr>
          <a:xfrm>
            <a:off x="722376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Swagger</a:t>
            </a:r>
            <a:endParaRPr lang="en-US" sz="900" dirty="0"/>
          </a:p>
        </p:txBody>
      </p:sp>
      <p:sp>
        <p:nvSpPr>
          <p:cNvPr id="36" name="Shape 33"/>
          <p:cNvSpPr/>
          <p:nvPr/>
        </p:nvSpPr>
        <p:spPr>
          <a:xfrm>
            <a:off x="9418320" y="4206240"/>
            <a:ext cx="2240280" cy="2011680"/>
          </a:xfrm>
          <a:prstGeom prst="rect">
            <a:avLst/>
          </a:prstGeom>
          <a:solidFill>
            <a:srgbClr val="151513"/>
          </a:solidFill>
          <a:ln w="9525">
            <a:solidFill>
              <a:srgbClr val="2B2A26"/>
            </a:solidFill>
            <a:prstDash val="solid"/>
          </a:ln>
        </p:spPr>
      </p:sp>
      <p:sp>
        <p:nvSpPr>
          <p:cNvPr id="37" name="Text 34"/>
          <p:cNvSpPr txBox="1"/>
          <p:nvPr/>
        </p:nvSpPr>
        <p:spPr>
          <a:xfrm>
            <a:off x="9601200" y="4370832"/>
            <a:ext cx="914400" cy="365760"/>
          </a:xfrm>
          <a:prstGeom prst="rect">
            <a:avLst/>
          </a:prstGeom>
          <a:noFill/>
          <a:ln/>
        </p:spPr>
        <p:txBody>
          <a:bodyPr wrap="square" lIns="0" tIns="0" rIns="0" bIns="0" rtlCol="0" anchor="t"/>
          <a:lstStyle/>
          <a:p>
            <a:pPr indent="0" marL="0">
              <a:buNone/>
            </a:pPr>
            <a:r>
              <a:rPr lang="en-US" sz="1800" b="1" dirty="0">
                <a:solidFill>
                  <a:srgbClr val="D2283A"/>
                </a:solidFill>
                <a:latin typeface="Oswald" pitchFamily="34" charset="0"/>
                <a:ea typeface="Oswald" pitchFamily="34" charset="-122"/>
                <a:cs typeface="Oswald" pitchFamily="34" charset="-120"/>
              </a:rPr>
              <a:t>E3</a:t>
            </a:r>
            <a:endParaRPr lang="en-US" sz="1800" dirty="0"/>
          </a:p>
        </p:txBody>
      </p:sp>
      <p:sp>
        <p:nvSpPr>
          <p:cNvPr id="38" name="Text 35"/>
          <p:cNvSpPr txBox="1"/>
          <p:nvPr/>
        </p:nvSpPr>
        <p:spPr>
          <a:xfrm>
            <a:off x="9601200" y="4773168"/>
            <a:ext cx="1920240" cy="45720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IT GLOWS</a:t>
            </a:r>
            <a:endParaRPr lang="en-US" sz="1400" dirty="0"/>
          </a:p>
        </p:txBody>
      </p:sp>
      <p:sp>
        <p:nvSpPr>
          <p:cNvPr id="39" name="Text 36"/>
          <p:cNvSpPr txBox="1"/>
          <p:nvPr/>
        </p:nvSpPr>
        <p:spPr>
          <a:xfrm>
            <a:off x="9601200" y="5349240"/>
            <a:ext cx="1920240" cy="2286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Signature · 12 s</a:t>
            </a:r>
            <a:endParaRPr lang="en-US" sz="850" dirty="0"/>
          </a:p>
        </p:txBody>
      </p:sp>
      <p:sp>
        <p:nvSpPr>
          <p:cNvPr id="40" name="Text 37"/>
          <p:cNvSpPr txBox="1"/>
          <p:nvPr/>
        </p:nvSpPr>
        <p:spPr>
          <a:xfrm>
            <a:off x="9601200" y="5596128"/>
            <a:ext cx="1920240" cy="457200"/>
          </a:xfrm>
          <a:prstGeom prst="rect">
            <a:avLst/>
          </a:prstGeom>
          <a:noFill/>
          <a:ln/>
        </p:spPr>
        <p:txBody>
          <a:bodyPr wrap="square" lIns="0" tIns="0" rIns="0" bIns="0" rtlCol="0" anchor="t"/>
          <a:lstStyle/>
          <a:p>
            <a:pPr indent="0" marL="0">
              <a:buNone/>
            </a:pPr>
            <a:r>
              <a:rPr lang="en-US" sz="900" i="1" dirty="0">
                <a:solidFill>
                  <a:srgbClr val="9C978E"/>
                </a:solidFill>
                <a:latin typeface="Inter" pitchFamily="34" charset="0"/>
                <a:ea typeface="Inter" pitchFamily="34" charset="-122"/>
                <a:cs typeface="Inter" pitchFamily="34" charset="-120"/>
              </a:rPr>
              <a:t>The signature</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36</a:t>
            </a:r>
            <a:endParaRPr lang="en-US" sz="750" dirty="0"/>
          </a:p>
        </p:txBody>
      </p:sp>
      <p:pic>
        <p:nvPicPr>
          <p:cNvPr id="4" name="Image 0" descr="/tmp/claude-0/-home-user-Sage-portfolio/d05fecce-977e-5eab-9cf5-7c09b306c551/scratchpad/wrdeck/gen/full/E1-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E1  ·  HERO  ·  30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RED IS A DECISION</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The room adjusts</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Red isn't a colour you wear by accident.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It's a decision.</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 black suit. A red car. A red dial.</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None of it asks for attention.</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 takes it.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Crimson Navy.</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For the man the room adjusts to.</a:t>
            </a:r>
            <a:endParaRPr lang="en-US" sz="1150" dirty="0"/>
          </a:p>
          <a:p>
            <a:pPr indent="0" marL="0">
              <a:lnSpc>
                <a:spcPct val="125000"/>
              </a:lnSpc>
              <a:buNone/>
            </a:pPr>
            <a:r>
              <a:rPr lang="en-US" sz="1150" b="1" i="1" dirty="0">
                <a:solidFill>
                  <a:srgbClr val="D2283A"/>
                </a:solidFill>
                <a:latin typeface="Inter" pitchFamily="34" charset="0"/>
                <a:ea typeface="Inter" pitchFamily="34" charset="-122"/>
                <a:cs typeface="Inter" pitchFamily="34" charset="-120"/>
              </a:rPr>
              <a:t>Here's to your power.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The watch's colour becomes the attitude. "The man the room adjusts to" is power without shouting.</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Nicholas Britell — "Succession (Main Title Theme)"</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Engine idle · a car door shut once, firmly · footsteps on stone · silence in the hall.</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THE QUIET ONES</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Every room has a loud man. He talks first. Laughs hardest. Needs everyone to know. I used to think that was power. Then I watched the quiet ones. They never raised their voice. They never had to.</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MAKING SPACE</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Power isn't taking up space. It's the room making space… before you've said a word.</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E1</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37</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E1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RED IS A DECISION</a:t>
            </a:r>
            <a:endParaRPr lang="en-US" sz="2800" dirty="0"/>
          </a:p>
        </p:txBody>
      </p:sp>
      <p:pic>
        <p:nvPicPr>
          <p:cNvPr id="6" name="Image 0" descr="/tmp/claude-0/-home-user-Sage-portfolio/d05fecce-977e-5eab-9cf5-7c09b306c551/scratchpad/wrdeck/gen/full/E1-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D2283A"/>
          </a:solidFill>
          <a:ln w="12700">
            <a:solidFill>
              <a:srgbClr val="D2283A"/>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E1-1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Night: a glossy red convertible, roof down, under the lit porte-cochère of a modern luxury hotel, headlights on; he steps out in a black suit, hand on the door, the red-dialled watch leading the motion.</a:t>
            </a:r>
            <a:endParaRPr lang="en-US" sz="750" dirty="0"/>
          </a:p>
        </p:txBody>
      </p:sp>
      <p:pic>
        <p:nvPicPr>
          <p:cNvPr id="10" name="Image 1" descr="/tmp/claude-0/-home-user-Sage-portfolio/d05fecce-977e-5eab-9cf5-7c09b306c551/scratchpad/wrdeck/gen/full/E1-2.jpg">    </p:cNvPr>
          <p:cNvPicPr>
            <a:picLocks noChangeAspect="1"/>
          </p:cNvPicPr>
          <p:nvPr/>
        </p:nvPicPr>
        <p:blipFill>
          <a:blip r:embed="rId2"/>
          <a:srcRect l="0" r="0" t="0" b="0"/>
          <a:stretch/>
        </p:blipFill>
        <p:spPr>
          <a:xfrm>
            <a:off x="2880360" y="1371600"/>
            <a:ext cx="2148840" cy="3822192"/>
          </a:xfrm>
          <a:prstGeom prst="rect">
            <a:avLst/>
          </a:prstGeom>
        </p:spPr>
      </p:pic>
      <p:sp>
        <p:nvSpPr>
          <p:cNvPr id="11" name="Shape 7"/>
          <p:cNvSpPr/>
          <p:nvPr/>
        </p:nvSpPr>
        <p:spPr>
          <a:xfrm>
            <a:off x="2880360" y="5266944"/>
            <a:ext cx="2148840" cy="27432"/>
          </a:xfrm>
          <a:prstGeom prst="rect">
            <a:avLst/>
          </a:prstGeom>
          <a:solidFill>
            <a:srgbClr val="D2283A"/>
          </a:solidFill>
          <a:ln w="12700">
            <a:solidFill>
              <a:srgbClr val="D2283A"/>
            </a:solidFill>
            <a:prstDash val="solid"/>
          </a:ln>
        </p:spPr>
      </p:sp>
      <p:sp>
        <p:nvSpPr>
          <p:cNvPr id="12" name="Text 8"/>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E1-2  ·  MIDDLE</a:t>
            </a:r>
            <a:endParaRPr lang="en-US" sz="800" dirty="0"/>
          </a:p>
        </p:txBody>
      </p:sp>
      <p:sp>
        <p:nvSpPr>
          <p:cNvPr id="13" name="Text 9"/>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Macro: the red dial and rose-gold hands, the navy case gleaming under warm porch light, the car's red paint blurred behind.</a:t>
            </a:r>
            <a:endParaRPr lang="en-US" sz="750" dirty="0"/>
          </a:p>
        </p:txBody>
      </p:sp>
      <p:pic>
        <p:nvPicPr>
          <p:cNvPr id="14" name="Image 2" descr="/tmp/claude-0/-home-user-Sage-portfolio/d05fecce-977e-5eab-9cf5-7c09b306c551/scratchpad/wrdeck/gen/full/E1-3.jpg">    </p:cNvPr>
          <p:cNvPicPr>
            <a:picLocks noChangeAspect="1"/>
          </p:cNvPicPr>
          <p:nvPr/>
        </p:nvPicPr>
        <p:blipFill>
          <a:blip r:embed="rId3"/>
          <a:srcRect l="0" r="0" t="0" b="0"/>
          <a:stretch/>
        </p:blipFill>
        <p:spPr>
          <a:xfrm>
            <a:off x="5212080" y="1371600"/>
            <a:ext cx="2148840" cy="3822192"/>
          </a:xfrm>
          <a:prstGeom prst="rect">
            <a:avLst/>
          </a:prstGeom>
        </p:spPr>
      </p:pic>
      <p:sp>
        <p:nvSpPr>
          <p:cNvPr id="15" name="Shape 10"/>
          <p:cNvSpPr/>
          <p:nvPr/>
        </p:nvSpPr>
        <p:spPr>
          <a:xfrm>
            <a:off x="5212080" y="5266944"/>
            <a:ext cx="2148840" cy="27432"/>
          </a:xfrm>
          <a:prstGeom prst="rect">
            <a:avLst/>
          </a:prstGeom>
          <a:solidFill>
            <a:srgbClr val="D2283A"/>
          </a:solidFill>
          <a:ln w="12700">
            <a:solidFill>
              <a:srgbClr val="D2283A"/>
            </a:solidFill>
            <a:prstDash val="solid"/>
          </a:ln>
        </p:spPr>
      </p:sp>
      <p:sp>
        <p:nvSpPr>
          <p:cNvPr id="16" name="Text 11"/>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E1-3  ·  CLOSE</a:t>
            </a:r>
            <a:endParaRPr lang="en-US" sz="800" dirty="0"/>
          </a:p>
        </p:txBody>
      </p:sp>
      <p:sp>
        <p:nvSpPr>
          <p:cNvPr id="17" name="Text 12"/>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A private dining room: a long polished black table, a low chandelier, candles. He sits alone at the head of the empty table, jacket unbuttoned, left forearm on the table, looking straight into the lens.</a:t>
            </a:r>
            <a:endParaRPr lang="en-US" sz="750" dirty="0"/>
          </a:p>
        </p:txBody>
      </p:sp>
      <p:pic>
        <p:nvPicPr>
          <p:cNvPr id="18" name="Image 3" descr="/tmp/claude-0/-home-user-Sage-portfolio/d05fecce-977e-5eab-9cf5-7c09b306c551/scratchpad/wrdeck/img/crop_redblue.jpg">    </p:cNvPr>
          <p:cNvPicPr>
            <a:picLocks noChangeAspect="1"/>
          </p:cNvPicPr>
          <p:nvPr/>
        </p:nvPicPr>
        <p:blipFill>
          <a:blip r:embed="rId4"/>
          <a:srcRect l="0" r="0" t="0" b="0"/>
          <a:stretch/>
        </p:blipFill>
        <p:spPr>
          <a:xfrm>
            <a:off x="7680960" y="1371600"/>
            <a:ext cx="3959352" cy="2194560"/>
          </a:xfrm>
          <a:prstGeom prst="rect">
            <a:avLst/>
          </a:prstGeom>
        </p:spPr>
      </p:pic>
      <p:sp>
        <p:nvSpPr>
          <p:cNvPr id="19" name="Text 13"/>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0" name="Text 14"/>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MOTION · FOR THE VIDEO PASS</a:t>
            </a:r>
            <a:endParaRPr lang="en-US" sz="750" dirty="0"/>
          </a:p>
        </p:txBody>
      </p:sp>
      <p:sp>
        <p:nvSpPr>
          <p:cNvPr id="21" name="Text 15"/>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E1-1: Low wide; he steps out and shuts the door with one firm push, headlights sweep the columns.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E1-2: Slow slide; a red reflection glides across the crystal.</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E1-3: Wide symmetrical, slow push-in; he leans back one inch and holds the gaze.</a:t>
            </a:r>
            <a:endParaRPr lang="en-US" sz="800" dirty="0"/>
          </a:p>
        </p:txBody>
      </p:sp>
      <p:sp>
        <p:nvSpPr>
          <p:cNvPr id="22" name="Text 16"/>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VISUAL REFERENCES — TAP TO OPEN</a:t>
            </a:r>
            <a:endParaRPr lang="en-US" sz="750" dirty="0"/>
          </a:p>
        </p:txBody>
      </p:sp>
      <p:sp>
        <p:nvSpPr>
          <p:cNvPr id="23" name="Text 17"/>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black suit red convertible night hotel
</a:t>
            </a:r>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Instagram · @jacobandco — dramatic night</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38</a:t>
            </a:r>
            <a:endParaRPr lang="en-US" sz="750" dirty="0"/>
          </a:p>
        </p:txBody>
      </p:sp>
      <p:pic>
        <p:nvPicPr>
          <p:cNvPr id="4" name="Image 0" descr="/tmp/claude-0/-home-user-Sage-portfolio/d05fecce-977e-5eab-9cf5-7c09b306c551/scratchpad/wrdeck/gen/full/E2-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E2  ·  BEAT CUT  ·  15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NOTICED</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Swagger</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Some people dress to be noticed.</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Some people are noticed…</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…and dress accordingly.</a:t>
            </a:r>
            <a:endParaRPr lang="en-US" sz="1150" dirty="0"/>
          </a:p>
          <a:p>
            <a:pPr indent="0" marL="0">
              <a:lnSpc>
                <a:spcPct val="125000"/>
              </a:lnSpc>
              <a:buNone/>
            </a:pPr>
            <a:r>
              <a:rPr lang="en-US" sz="1150" b="1" i="1" dirty="0">
                <a:solidFill>
                  <a:srgbClr val="D2283A"/>
                </a:solidFill>
                <a:latin typeface="Inter" pitchFamily="34" charset="0"/>
                <a:ea typeface="Inter" pitchFamily="34" charset="-122"/>
                <a:cs typeface="Inter" pitchFamily="34" charset="-120"/>
              </a:rPr>
              <a:t>Here's to your power.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One flipped sentence. Red car, red dial, black suit, cut to the beat.</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Kavinsky — "Nightcall"</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Engine start · the roof motor · a cuff · every cut on the beat.</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SAME RED</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Same red. Same attitude. One waits in the driveway. One never leaves my wrist.</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ANNOUNCED</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Power that has to be announced… isn't power.</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39</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E2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NOTICED</a:t>
            </a:r>
            <a:endParaRPr lang="en-US" sz="2800" dirty="0"/>
          </a:p>
        </p:txBody>
      </p:sp>
      <p:sp>
        <p:nvSpPr>
          <p:cNvPr id="6" name="Shape 4"/>
          <p:cNvSpPr/>
          <p:nvPr/>
        </p:nvSpPr>
        <p:spPr>
          <a:xfrm>
            <a:off x="548640" y="1371600"/>
            <a:ext cx="2148840" cy="3822192"/>
          </a:xfrm>
          <a:prstGeom prst="rect">
            <a:avLst/>
          </a:prstGeom>
          <a:solidFill>
            <a:srgbClr val="151513"/>
          </a:solidFill>
          <a:ln w="9525">
            <a:solidFill>
              <a:srgbClr val="2B2A26"/>
            </a:solidFill>
            <a:prstDash val="solid"/>
          </a:ln>
        </p:spPr>
      </p:sp>
      <p:pic>
        <p:nvPicPr>
          <p:cNvPr id="7" name="Image 0" descr="/tmp/claude-0/-home-user-Sage-portfolio/d05fecce-977e-5eab-9cf5-7c09b306c551/scratchpad/wrdeck/img/crop_redblue.jpg">    </p:cNvPr>
          <p:cNvPicPr>
            <a:picLocks noChangeAspect="1"/>
          </p:cNvPicPr>
          <p:nvPr/>
        </p:nvPicPr>
        <p:blipFill>
          <a:blip r:embed="rId1"/>
          <a:srcRect l="0" r="0" t="0" b="0"/>
          <a:stretch/>
        </p:blipFill>
        <p:spPr>
          <a:xfrm>
            <a:off x="870966" y="2136038"/>
            <a:ext cx="1504188" cy="1719986"/>
          </a:xfrm>
          <a:prstGeom prst="rect">
            <a:avLst/>
          </a:prstGeom>
        </p:spPr>
      </p:pic>
      <p:sp>
        <p:nvSpPr>
          <p:cNvPr id="8" name="Text 5"/>
          <p:cNvSpPr txBox="1"/>
          <p:nvPr/>
        </p:nvSpPr>
        <p:spPr>
          <a:xfrm>
            <a:off x="548640" y="4047134"/>
            <a:ext cx="2148840" cy="457200"/>
          </a:xfrm>
          <a:prstGeom prst="rect">
            <a:avLst/>
          </a:prstGeom>
          <a:noFill/>
          <a:ln/>
        </p:spPr>
        <p:txBody>
          <a:bodyPr wrap="square" lIns="0" tIns="0" rIns="0" bIns="0" rtlCol="0" anchor="t"/>
          <a:lstStyle/>
          <a:p>
            <a:pPr algn="ctr" indent="0" marL="0">
              <a:buNone/>
            </a:pPr>
            <a:r>
              <a:rPr lang="en-US" sz="800" b="1" spc="200" kern="0" dirty="0">
                <a:solidFill>
                  <a:srgbClr val="9C978E"/>
                </a:solidFill>
                <a:latin typeface="Inter" pitchFamily="34" charset="0"/>
                <a:ea typeface="Inter" pitchFamily="34" charset="-122"/>
                <a:cs typeface="Inter" pitchFamily="34" charset="-120"/>
              </a:rPr>
              <a:t>FRAME E2-1</a:t>
            </a:r>
            <a:endParaRPr lang="en-US" sz="800" dirty="0"/>
          </a:p>
          <a:p>
            <a:pPr algn="ctr" indent="0" marL="0">
              <a:buNone/>
            </a:pPr>
            <a:r>
              <a:rPr lang="en-US" sz="800" b="1" spc="200" kern="0" dirty="0">
                <a:solidFill>
                  <a:srgbClr val="9C978E"/>
                </a:solidFill>
                <a:latin typeface="Inter" pitchFamily="34" charset="0"/>
                <a:ea typeface="Inter" pitchFamily="34" charset="-122"/>
                <a:cs typeface="Inter" pitchFamily="34" charset="-120"/>
              </a:rPr>
              <a:t>SEE FRAME NOTE</a:t>
            </a:r>
            <a:endParaRPr lang="en-US" sz="800" dirty="0"/>
          </a:p>
        </p:txBody>
      </p:sp>
      <p:sp>
        <p:nvSpPr>
          <p:cNvPr id="9" name="Shape 6"/>
          <p:cNvSpPr/>
          <p:nvPr/>
        </p:nvSpPr>
        <p:spPr>
          <a:xfrm>
            <a:off x="548640" y="5266944"/>
            <a:ext cx="2148840" cy="27432"/>
          </a:xfrm>
          <a:prstGeom prst="rect">
            <a:avLst/>
          </a:prstGeom>
          <a:solidFill>
            <a:srgbClr val="D2283A"/>
          </a:solidFill>
          <a:ln w="12700">
            <a:solidFill>
              <a:srgbClr val="D2283A"/>
            </a:solidFill>
            <a:prstDash val="solid"/>
          </a:ln>
        </p:spPr>
      </p:sp>
      <p:sp>
        <p:nvSpPr>
          <p:cNvPr id="10" name="Text 7"/>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E2-1  ·  OPEN</a:t>
            </a:r>
            <a:endParaRPr lang="en-US" sz="800" dirty="0"/>
          </a:p>
        </p:txBody>
      </p:sp>
      <p:sp>
        <p:nvSpPr>
          <p:cNvPr id="11" name="Text 8"/>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Night macro: his hand on a red-and-black leather steering wheel, the red dial matching the red stitching, city lights beyond the windscreen.</a:t>
            </a:r>
            <a:endParaRPr lang="en-US" sz="750" dirty="0"/>
          </a:p>
        </p:txBody>
      </p:sp>
      <p:sp>
        <p:nvSpPr>
          <p:cNvPr id="12" name="Shape 9"/>
          <p:cNvSpPr/>
          <p:nvPr/>
        </p:nvSpPr>
        <p:spPr>
          <a:xfrm>
            <a:off x="2880360" y="1371600"/>
            <a:ext cx="2148840" cy="3822192"/>
          </a:xfrm>
          <a:prstGeom prst="rect">
            <a:avLst/>
          </a:prstGeom>
          <a:solidFill>
            <a:srgbClr val="151513"/>
          </a:solidFill>
          <a:ln w="9525">
            <a:solidFill>
              <a:srgbClr val="2B2A26"/>
            </a:solidFill>
            <a:prstDash val="solid"/>
          </a:ln>
        </p:spPr>
      </p:sp>
      <p:pic>
        <p:nvPicPr>
          <p:cNvPr id="13" name="Image 1" descr="/tmp/claude-0/-home-user-Sage-portfolio/d05fecce-977e-5eab-9cf5-7c09b306c551/scratchpad/wrdeck/img/crop_redblue.jpg">    </p:cNvPr>
          <p:cNvPicPr>
            <a:picLocks noChangeAspect="1"/>
          </p:cNvPicPr>
          <p:nvPr/>
        </p:nvPicPr>
        <p:blipFill>
          <a:blip r:embed="rId2"/>
          <a:srcRect l="0" r="0" t="0" b="0"/>
          <a:stretch/>
        </p:blipFill>
        <p:spPr>
          <a:xfrm>
            <a:off x="3202686" y="2136038"/>
            <a:ext cx="1504188" cy="1719986"/>
          </a:xfrm>
          <a:prstGeom prst="rect">
            <a:avLst/>
          </a:prstGeom>
        </p:spPr>
      </p:pic>
      <p:sp>
        <p:nvSpPr>
          <p:cNvPr id="14" name="Text 10"/>
          <p:cNvSpPr txBox="1"/>
          <p:nvPr/>
        </p:nvSpPr>
        <p:spPr>
          <a:xfrm>
            <a:off x="2880360" y="4047134"/>
            <a:ext cx="2148840" cy="457200"/>
          </a:xfrm>
          <a:prstGeom prst="rect">
            <a:avLst/>
          </a:prstGeom>
          <a:noFill/>
          <a:ln/>
        </p:spPr>
        <p:txBody>
          <a:bodyPr wrap="square" lIns="0" tIns="0" rIns="0" bIns="0" rtlCol="0" anchor="t"/>
          <a:lstStyle/>
          <a:p>
            <a:pPr algn="ctr" indent="0" marL="0">
              <a:buNone/>
            </a:pPr>
            <a:r>
              <a:rPr lang="en-US" sz="800" b="1" spc="200" kern="0" dirty="0">
                <a:solidFill>
                  <a:srgbClr val="9C978E"/>
                </a:solidFill>
                <a:latin typeface="Inter" pitchFamily="34" charset="0"/>
                <a:ea typeface="Inter" pitchFamily="34" charset="-122"/>
                <a:cs typeface="Inter" pitchFamily="34" charset="-120"/>
              </a:rPr>
              <a:t>FRAME E2-2</a:t>
            </a:r>
            <a:endParaRPr lang="en-US" sz="800" dirty="0"/>
          </a:p>
          <a:p>
            <a:pPr algn="ctr" indent="0" marL="0">
              <a:buNone/>
            </a:pPr>
            <a:r>
              <a:rPr lang="en-US" sz="800" b="1" spc="200" kern="0" dirty="0">
                <a:solidFill>
                  <a:srgbClr val="9C978E"/>
                </a:solidFill>
                <a:latin typeface="Inter" pitchFamily="34" charset="0"/>
                <a:ea typeface="Inter" pitchFamily="34" charset="-122"/>
                <a:cs typeface="Inter" pitchFamily="34" charset="-120"/>
              </a:rPr>
              <a:t>SEE FRAME NOTE</a:t>
            </a:r>
            <a:endParaRPr lang="en-US" sz="800" dirty="0"/>
          </a:p>
        </p:txBody>
      </p:sp>
      <p:sp>
        <p:nvSpPr>
          <p:cNvPr id="15" name="Shape 11"/>
          <p:cNvSpPr/>
          <p:nvPr/>
        </p:nvSpPr>
        <p:spPr>
          <a:xfrm>
            <a:off x="2880360" y="5266944"/>
            <a:ext cx="2148840" cy="27432"/>
          </a:xfrm>
          <a:prstGeom prst="rect">
            <a:avLst/>
          </a:prstGeom>
          <a:solidFill>
            <a:srgbClr val="D2283A"/>
          </a:solidFill>
          <a:ln w="12700">
            <a:solidFill>
              <a:srgbClr val="D2283A"/>
            </a:solidFill>
            <a:prstDash val="solid"/>
          </a:ln>
        </p:spPr>
      </p:sp>
      <p:sp>
        <p:nvSpPr>
          <p:cNvPr id="16" name="Text 12"/>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E2-2  ·  MIDDLE</a:t>
            </a:r>
            <a:endParaRPr lang="en-US" sz="800" dirty="0"/>
          </a:p>
        </p:txBody>
      </p:sp>
      <p:sp>
        <p:nvSpPr>
          <p:cNvPr id="17" name="Text 13"/>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The convertible's roof mid-fold under the hotel porch lights, him in the driver's seat in a black suit, looking ahead.</a:t>
            </a:r>
            <a:endParaRPr lang="en-US" sz="750" dirty="0"/>
          </a:p>
        </p:txBody>
      </p:sp>
      <p:pic>
        <p:nvPicPr>
          <p:cNvPr id="18" name="Image 2" descr="/tmp/claude-0/-home-user-Sage-portfolio/d05fecce-977e-5eab-9cf5-7c09b306c551/scratchpad/wrdeck/gen/full/E2-3.jpg">    </p:cNvPr>
          <p:cNvPicPr>
            <a:picLocks noChangeAspect="1"/>
          </p:cNvPicPr>
          <p:nvPr/>
        </p:nvPicPr>
        <p:blipFill>
          <a:blip r:embed="rId3"/>
          <a:srcRect l="0" r="0" t="0" b="0"/>
          <a:stretch/>
        </p:blipFill>
        <p:spPr>
          <a:xfrm>
            <a:off x="5212080" y="1371600"/>
            <a:ext cx="2148840" cy="3822192"/>
          </a:xfrm>
          <a:prstGeom prst="rect">
            <a:avLst/>
          </a:prstGeom>
        </p:spPr>
      </p:pic>
      <p:sp>
        <p:nvSpPr>
          <p:cNvPr id="19" name="Shape 14"/>
          <p:cNvSpPr/>
          <p:nvPr/>
        </p:nvSpPr>
        <p:spPr>
          <a:xfrm>
            <a:off x="5212080" y="5266944"/>
            <a:ext cx="2148840" cy="27432"/>
          </a:xfrm>
          <a:prstGeom prst="rect">
            <a:avLst/>
          </a:prstGeom>
          <a:solidFill>
            <a:srgbClr val="D2283A"/>
          </a:solidFill>
          <a:ln w="12700">
            <a:solidFill>
              <a:srgbClr val="D2283A"/>
            </a:solidFill>
            <a:prstDash val="solid"/>
          </a:ln>
        </p:spPr>
      </p:sp>
      <p:sp>
        <p:nvSpPr>
          <p:cNvPr id="20" name="Text 15"/>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E2-3  ·  CLOSE</a:t>
            </a:r>
            <a:endParaRPr lang="en-US" sz="800" dirty="0"/>
          </a:p>
        </p:txBody>
      </p:sp>
      <p:sp>
        <p:nvSpPr>
          <p:cNvPr id="21" name="Text 16"/>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Close-up: he adjusts his cuff with one hand, red dial showing, black suit, city bokeh, no smile, eyes straight ahead.</a:t>
            </a:r>
            <a:endParaRPr lang="en-US" sz="750" dirty="0"/>
          </a:p>
        </p:txBody>
      </p:sp>
      <p:pic>
        <p:nvPicPr>
          <p:cNvPr id="22" name="Image 3" descr="/tmp/claude-0/-home-user-Sage-portfolio/d05fecce-977e-5eab-9cf5-7c09b306c551/scratchpad/wrdeck/img/crop_redblue.jpg">    </p:cNvPr>
          <p:cNvPicPr>
            <a:picLocks noChangeAspect="1"/>
          </p:cNvPicPr>
          <p:nvPr/>
        </p:nvPicPr>
        <p:blipFill>
          <a:blip r:embed="rId4"/>
          <a:srcRect l="0" r="0" t="0" b="0"/>
          <a:stretch/>
        </p:blipFill>
        <p:spPr>
          <a:xfrm>
            <a:off x="7680960" y="1371600"/>
            <a:ext cx="3959352" cy="2194560"/>
          </a:xfrm>
          <a:prstGeom prst="rect">
            <a:avLst/>
          </a:prstGeom>
        </p:spPr>
      </p:pic>
      <p:sp>
        <p:nvSpPr>
          <p:cNvPr id="23" name="Text 17"/>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4" name="Text 18"/>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MOTION · FOR THE VIDEO PASS</a:t>
            </a:r>
            <a:endParaRPr lang="en-US" sz="750" dirty="0"/>
          </a:p>
        </p:txBody>
      </p:sp>
      <p:sp>
        <p:nvSpPr>
          <p:cNvPr id="25" name="Text 19"/>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E2-1: Slow slide along the wheel; his thumb taps once.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E2-2: Low angle; the roof folds fully back, porch light spills onto his face.</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E2-3: 85mm slow motion; the cuff settles, he turns his head to the lens for the last second.</a:t>
            </a:r>
            <a:endParaRPr lang="en-US" sz="800" dirty="0"/>
          </a:p>
        </p:txBody>
      </p:sp>
      <p:sp>
        <p:nvSpPr>
          <p:cNvPr id="26" name="Text 20"/>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VISUAL REFERENCES — TAP TO OPEN</a:t>
            </a:r>
            <a:endParaRPr lang="en-US" sz="750" dirty="0"/>
          </a:p>
        </p:txBody>
      </p:sp>
      <p:sp>
        <p:nvSpPr>
          <p:cNvPr id="27" name="Text 21"/>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red steering wheel hand watch night</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40</a:t>
            </a:r>
            <a:endParaRPr lang="en-US" sz="750" dirty="0"/>
          </a:p>
        </p:txBody>
      </p:sp>
      <p:pic>
        <p:nvPicPr>
          <p:cNvPr id="4" name="Image 0" descr="/tmp/claude-0/-home-user-Sage-portfolio/d05fecce-977e-5eab-9cf5-7c09b306c551/scratchpad/wrdeck/gen/full/E3-3.jpg">    </p:cNvPr>
          <p:cNvPicPr>
            <a:picLocks noChangeAspect="1"/>
          </p:cNvPicPr>
          <p:nvPr/>
        </p:nvPicPr>
        <p:blipFill>
          <a:blip r:embed="rId1"/>
          <a:srcRect l="0" r="0" t="0" b="0"/>
          <a:stretch/>
        </p:blipFill>
        <p:spPr>
          <a:xfrm>
            <a:off x="548640" y="502920"/>
            <a:ext cx="3017520" cy="5394960"/>
          </a:xfrm>
          <a:prstGeom prst="rect">
            <a:avLst/>
          </a:prstGeom>
        </p:spPr>
      </p:pic>
      <p:sp>
        <p:nvSpPr>
          <p:cNvPr id="5" name="Text 2"/>
          <p:cNvSpPr txBox="1"/>
          <p:nvPr/>
        </p:nvSpPr>
        <p:spPr>
          <a:xfrm>
            <a:off x="548640" y="5971032"/>
            <a:ext cx="30175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AI frame · Mukesh ji likeness, watch exact</a:t>
            </a:r>
            <a:endParaRPr lang="en-US" sz="750" dirty="0"/>
          </a:p>
        </p:txBody>
      </p:sp>
      <p:sp>
        <p:nvSpPr>
          <p:cNvPr id="6" name="Text 3"/>
          <p:cNvSpPr txBox="1"/>
          <p:nvPr/>
        </p:nvSpPr>
        <p:spPr>
          <a:xfrm>
            <a:off x="3977640" y="502920"/>
            <a:ext cx="768096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E3  ·  SIGNATURE  ·  12 S  ·  9:16  ·  ENGLISH VO</a:t>
            </a:r>
            <a:endParaRPr lang="en-US" sz="900" dirty="0"/>
          </a:p>
        </p:txBody>
      </p:sp>
      <p:sp>
        <p:nvSpPr>
          <p:cNvPr id="7" name="Text 4"/>
          <p:cNvSpPr txBox="1"/>
          <p:nvPr/>
        </p:nvSpPr>
        <p:spPr>
          <a:xfrm>
            <a:off x="3977640" y="777240"/>
            <a:ext cx="7680960" cy="685800"/>
          </a:xfrm>
          <a:prstGeom prst="rect">
            <a:avLst/>
          </a:prstGeom>
          <a:noFill/>
          <a:ln/>
        </p:spPr>
        <p:txBody>
          <a:bodyPr wrap="square" lIns="0" tIns="0" rIns="0" bIns="0" rtlCol="0" anchor="t"/>
          <a:lstStyle/>
          <a:p>
            <a:pPr indent="0" marL="0">
              <a:buNone/>
            </a:pPr>
            <a:r>
              <a:rPr lang="en-US" sz="3600" b="1" dirty="0">
                <a:solidFill>
                  <a:srgbClr val="F2EDE4"/>
                </a:solidFill>
                <a:latin typeface="Oswald" pitchFamily="34" charset="0"/>
                <a:ea typeface="Oswald" pitchFamily="34" charset="-122"/>
                <a:cs typeface="Oswald" pitchFamily="34" charset="-120"/>
              </a:rPr>
              <a:t>IT GLOWS</a:t>
            </a:r>
            <a:endParaRPr lang="en-US" sz="3600" dirty="0"/>
          </a:p>
        </p:txBody>
      </p:sp>
      <p:sp>
        <p:nvSpPr>
          <p:cNvPr id="8" name="Text 5"/>
          <p:cNvSpPr txBox="1"/>
          <p:nvPr/>
        </p:nvSpPr>
        <p:spPr>
          <a:xfrm>
            <a:off x="3977640" y="1417320"/>
            <a:ext cx="7680960" cy="274320"/>
          </a:xfrm>
          <a:prstGeom prst="rect">
            <a:avLst/>
          </a:prstGeom>
          <a:noFill/>
          <a:ln/>
        </p:spPr>
        <p:txBody>
          <a:bodyPr wrap="square" lIns="0" tIns="0" rIns="0" bIns="0" rtlCol="0" anchor="t"/>
          <a:lstStyle/>
          <a:p>
            <a:pPr indent="0" marL="0">
              <a:buNone/>
            </a:pPr>
            <a:r>
              <a:rPr lang="en-US" sz="1100" i="1" dirty="0">
                <a:solidFill>
                  <a:srgbClr val="9C978E"/>
                </a:solidFill>
                <a:latin typeface="Inter" pitchFamily="34" charset="0"/>
                <a:ea typeface="Inter" pitchFamily="34" charset="-122"/>
                <a:cs typeface="Inter" pitchFamily="34" charset="-120"/>
              </a:rPr>
              <a:t>The signature</a:t>
            </a:r>
            <a:endParaRPr lang="en-US" sz="1100" dirty="0"/>
          </a:p>
        </p:txBody>
      </p:sp>
      <p:sp>
        <p:nvSpPr>
          <p:cNvPr id="9" name="Text 6"/>
          <p:cNvSpPr txBox="1"/>
          <p:nvPr/>
        </p:nvSpPr>
        <p:spPr>
          <a:xfrm>
            <a:off x="3977640" y="1783080"/>
            <a:ext cx="27432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VOICE-OVER · THE PICK</a:t>
            </a:r>
            <a:endParaRPr lang="en-US" sz="750" dirty="0"/>
          </a:p>
        </p:txBody>
      </p:sp>
      <p:sp>
        <p:nvSpPr>
          <p:cNvPr id="10" name="Text 7"/>
          <p:cNvSpPr txBox="1"/>
          <p:nvPr/>
        </p:nvSpPr>
        <p:spPr>
          <a:xfrm>
            <a:off x="3977640" y="2011680"/>
            <a:ext cx="4572000" cy="2377440"/>
          </a:xfrm>
          <a:prstGeom prst="rect">
            <a:avLst/>
          </a:prstGeom>
          <a:noFill/>
          <a:ln/>
        </p:spPr>
        <p:txBody>
          <a:bodyPr wrap="square" lIns="0" tIns="0" rIns="0" bIns="0" rtlCol="0" anchor="t"/>
          <a:lstStyle/>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When the lights go out, most things disappear.</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The car. The suit. The city.</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Power doesn't.</a:t>
            </a:r>
            <a:endParaRPr lang="en-US" sz="1150" dirty="0"/>
          </a:p>
          <a:p>
            <a:pPr indent="0" marL="0">
              <a:lnSpc>
                <a:spcPct val="125000"/>
              </a:lnSpc>
              <a:buNone/>
            </a:pPr>
            <a:r>
              <a:rPr lang="en-US" sz="1150" i="1" dirty="0">
                <a:solidFill>
                  <a:srgbClr val="F2EDE4"/>
                </a:solidFill>
                <a:latin typeface="Inter" pitchFamily="34" charset="0"/>
                <a:ea typeface="Inter" pitchFamily="34" charset="-122"/>
                <a:cs typeface="Inter" pitchFamily="34" charset="-120"/>
              </a:rPr>
              <a:t>It glows.</a:t>
            </a:r>
            <a:endParaRPr lang="en-US" sz="1150" dirty="0"/>
          </a:p>
          <a:p>
            <a:pPr indent="0" marL="0">
              <a:lnSpc>
                <a:spcPct val="125000"/>
              </a:lnSpc>
              <a:buNone/>
            </a:pPr>
            <a:r>
              <a:rPr lang="en-US" sz="1150" b="1" i="1" dirty="0">
                <a:solidFill>
                  <a:srgbClr val="D2283A"/>
                </a:solidFill>
                <a:latin typeface="Inter" pitchFamily="34" charset="0"/>
                <a:ea typeface="Inter" pitchFamily="34" charset="-122"/>
                <a:cs typeface="Inter" pitchFamily="34" charset="-120"/>
              </a:rPr>
              <a:t>Here's to your power. Wear what's yours.</a:t>
            </a:r>
            <a:endParaRPr lang="en-US" sz="1150" dirty="0"/>
          </a:p>
        </p:txBody>
      </p:sp>
      <p:sp>
        <p:nvSpPr>
          <p:cNvPr id="11" name="Text 8"/>
          <p:cNvSpPr txBox="1"/>
          <p:nvPr/>
        </p:nvSpPr>
        <p:spPr>
          <a:xfrm>
            <a:off x="8823960" y="178308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WHY THIS ONE</a:t>
            </a:r>
            <a:endParaRPr lang="en-US" sz="750" dirty="0"/>
          </a:p>
        </p:txBody>
      </p:sp>
      <p:sp>
        <p:nvSpPr>
          <p:cNvPr id="12" name="Text 9"/>
          <p:cNvSpPr txBox="1"/>
          <p:nvPr/>
        </p:nvSpPr>
        <p:spPr>
          <a:xfrm>
            <a:off x="8823960" y="2011680"/>
            <a:ext cx="2834640" cy="1188720"/>
          </a:xfrm>
          <a:prstGeom prst="rect">
            <a:avLst/>
          </a:prstGeom>
          <a:noFill/>
          <a:ln/>
        </p:spPr>
        <p:txBody>
          <a:bodyPr wrap="square" lIns="0" tIns="0" rIns="0" bIns="0" rtlCol="0" anchor="t"/>
          <a:lstStyle/>
          <a:p>
            <a:pPr indent="0" marL="0">
              <a:lnSpc>
                <a:spcPct val="115000"/>
              </a:lnSpc>
              <a:buNone/>
            </a:pPr>
            <a:r>
              <a:rPr lang="en-US" sz="900" dirty="0">
                <a:solidFill>
                  <a:srgbClr val="9C978E"/>
                </a:solidFill>
                <a:latin typeface="Inter" pitchFamily="34" charset="0"/>
                <a:ea typeface="Inter" pitchFamily="34" charset="-122"/>
                <a:cs typeface="Inter" pitchFamily="34" charset="-120"/>
              </a:rPr>
              <a:t>The whole campaign ends on the watch's signature — the full-case night glow.</a:t>
            </a:r>
            <a:endParaRPr lang="en-US" sz="900" dirty="0"/>
          </a:p>
        </p:txBody>
      </p:sp>
      <p:sp>
        <p:nvSpPr>
          <p:cNvPr id="13" name="Text 10"/>
          <p:cNvSpPr txBox="1"/>
          <p:nvPr/>
        </p:nvSpPr>
        <p:spPr>
          <a:xfrm>
            <a:off x="8823960" y="3291840"/>
            <a:ext cx="283464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MUSIC REFERENCE · TAP TO LISTEN</a:t>
            </a:r>
            <a:endParaRPr lang="en-US" sz="750" dirty="0"/>
          </a:p>
        </p:txBody>
      </p:sp>
      <p:sp>
        <p:nvSpPr>
          <p:cNvPr id="14" name="Text 11"/>
          <p:cNvSpPr txBox="1"/>
          <p:nvPr/>
        </p:nvSpPr>
        <p:spPr>
          <a:xfrm>
            <a:off x="8823960" y="3520440"/>
            <a:ext cx="2834640" cy="411480"/>
          </a:xfrm>
          <a:prstGeom prst="rect">
            <a:avLst/>
          </a:prstGeom>
          <a:noFill/>
          <a:ln/>
        </p:spPr>
        <p:txBody>
          <a:bodyPr wrap="square" lIns="0" tIns="0" rIns="0" bIns="0" rtlCol="0" anchor="t"/>
          <a:lstStyle/>
          <a:p>
            <a:pPr indent="0" marL="0">
              <a:buNone/>
            </a:pPr>
            <a:r>
              <a:rPr lang="en-US" sz="950" u="sng" dirty="0">
                <a:solidFill>
                  <a:srgbClr val="F2EDE4"/>
                </a:solidFill>
                <a:uFill>
                  <a:solidFill>
                    <a:srgbClr val="2B2A26"/>
                  </a:solidFill>
                </a:u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Gesaffelstein — "Pursuit"</a:t>
            </a:r>
            <a:endParaRPr lang="en-US" sz="950" dirty="0"/>
          </a:p>
        </p:txBody>
      </p:sp>
      <p:sp>
        <p:nvSpPr>
          <p:cNvPr id="15" name="Text 12"/>
          <p:cNvSpPr txBox="1"/>
          <p:nvPr/>
        </p:nvSpPr>
        <p:spPr>
          <a:xfrm>
            <a:off x="8823960" y="3931920"/>
            <a:ext cx="2834640" cy="54864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City noise → dashboard click → total silence on the glow → the signal's tick → engine.</a:t>
            </a:r>
            <a:endParaRPr lang="en-US" sz="850" dirty="0"/>
          </a:p>
        </p:txBody>
      </p:sp>
      <p:sp>
        <p:nvSpPr>
          <p:cNvPr id="16" name="Text 13"/>
          <p:cNvSpPr txBox="1"/>
          <p:nvPr/>
        </p:nvSpPr>
        <p:spPr>
          <a:xfrm>
            <a:off x="3977640" y="4526280"/>
            <a:ext cx="45720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OTHER OPTIONS WRITTEN FOR THIS REEL</a:t>
            </a:r>
            <a:endParaRPr lang="en-US" sz="750" dirty="0"/>
          </a:p>
        </p:txBody>
      </p:sp>
      <p:sp>
        <p:nvSpPr>
          <p:cNvPr id="17" name="Shape 14"/>
          <p:cNvSpPr/>
          <p:nvPr/>
        </p:nvSpPr>
        <p:spPr>
          <a:xfrm>
            <a:off x="3977640" y="4754880"/>
            <a:ext cx="3749040" cy="1417320"/>
          </a:xfrm>
          <a:prstGeom prst="rect">
            <a:avLst/>
          </a:prstGeom>
          <a:solidFill>
            <a:srgbClr val="151513"/>
          </a:solidFill>
          <a:ln w="9525">
            <a:solidFill>
              <a:srgbClr val="2B2A26"/>
            </a:solidFill>
            <a:prstDash val="solid"/>
          </a:ln>
        </p:spPr>
      </p:sp>
      <p:sp>
        <p:nvSpPr>
          <p:cNvPr id="18" name="Text 15"/>
          <p:cNvSpPr txBox="1"/>
          <p:nvPr/>
        </p:nvSpPr>
        <p:spPr>
          <a:xfrm>
            <a:off x="411480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WALK IN</a:t>
            </a:r>
            <a:endParaRPr lang="en-US" sz="850" dirty="0"/>
          </a:p>
        </p:txBody>
      </p:sp>
      <p:sp>
        <p:nvSpPr>
          <p:cNvPr id="19" name="Text 16"/>
          <p:cNvSpPr txBox="1"/>
          <p:nvPr/>
        </p:nvSpPr>
        <p:spPr>
          <a:xfrm>
            <a:off x="411480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Some men need an introduction. Some just need to walk in.</a:t>
            </a:r>
            <a:endParaRPr lang="en-US" sz="800" dirty="0"/>
          </a:p>
        </p:txBody>
      </p:sp>
      <p:sp>
        <p:nvSpPr>
          <p:cNvPr id="20" name="Shape 17"/>
          <p:cNvSpPr/>
          <p:nvPr/>
        </p:nvSpPr>
        <p:spPr>
          <a:xfrm>
            <a:off x="7909560" y="4754880"/>
            <a:ext cx="3749040" cy="1417320"/>
          </a:xfrm>
          <a:prstGeom prst="rect">
            <a:avLst/>
          </a:prstGeom>
          <a:solidFill>
            <a:srgbClr val="151513"/>
          </a:solidFill>
          <a:ln w="9525">
            <a:solidFill>
              <a:srgbClr val="2B2A26"/>
            </a:solidFill>
            <a:prstDash val="solid"/>
          </a:ln>
        </p:spPr>
      </p:sp>
      <p:sp>
        <p:nvSpPr>
          <p:cNvPr id="21" name="Text 18"/>
          <p:cNvSpPr txBox="1"/>
          <p:nvPr/>
        </p:nvSpPr>
        <p:spPr>
          <a:xfrm>
            <a:off x="8046720" y="4846320"/>
            <a:ext cx="3474720" cy="228600"/>
          </a:xfrm>
          <a:prstGeom prst="rect">
            <a:avLst/>
          </a:prstGeom>
          <a:noFill/>
          <a:ln/>
        </p:spPr>
        <p:txBody>
          <a:bodyPr wrap="square" lIns="0" tIns="0" rIns="0" bIns="0" rtlCol="0" anchor="t"/>
          <a:lstStyle/>
          <a:p>
            <a:pPr indent="0" marL="0">
              <a:buNone/>
            </a:pPr>
            <a:r>
              <a:rPr lang="en-US" sz="850" b="1" spc="200" kern="0" dirty="0">
                <a:solidFill>
                  <a:srgbClr val="F2EDE4"/>
                </a:solidFill>
                <a:latin typeface="Inter" pitchFamily="34" charset="0"/>
                <a:ea typeface="Inter" pitchFamily="34" charset="-122"/>
                <a:cs typeface="Inter" pitchFamily="34" charset="-120"/>
              </a:rPr>
              <a:t>THE NIGHT</a:t>
            </a:r>
            <a:endParaRPr lang="en-US" sz="850" dirty="0"/>
          </a:p>
        </p:txBody>
      </p:sp>
      <p:sp>
        <p:nvSpPr>
          <p:cNvPr id="22" name="Text 19"/>
          <p:cNvSpPr txBox="1"/>
          <p:nvPr/>
        </p:nvSpPr>
        <p:spPr>
          <a:xfrm>
            <a:off x="8046720" y="5102352"/>
            <a:ext cx="3474720" cy="1051560"/>
          </a:xfrm>
          <a:prstGeom prst="rect">
            <a:avLst/>
          </a:prstGeom>
          <a:noFill/>
          <a:ln/>
        </p:spPr>
        <p:txBody>
          <a:bodyPr wrap="square" lIns="0" tIns="0" rIns="0" bIns="0" rtlCol="0" anchor="t"/>
          <a:lstStyle/>
          <a:p>
            <a:pPr indent="0" marL="0">
              <a:lnSpc>
                <a:spcPct val="110000"/>
              </a:lnSpc>
              <a:buNone/>
            </a:pPr>
            <a:r>
              <a:rPr lang="en-US" sz="800" i="1" dirty="0">
                <a:solidFill>
                  <a:srgbClr val="9C978E"/>
                </a:solidFill>
                <a:latin typeface="Inter" pitchFamily="34" charset="0"/>
                <a:ea typeface="Inter" pitchFamily="34" charset="-122"/>
                <a:cs typeface="Inter" pitchFamily="34" charset="-120"/>
              </a:rPr>
              <a:t>The day belongs to everyone. The night belongs to the ones who still have somewhere to be.</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CRIMSON NAVY · E3</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41</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300" kern="0" dirty="0">
                <a:solidFill>
                  <a:srgbClr val="D2283A"/>
                </a:solidFill>
                <a:latin typeface="Inter" pitchFamily="34" charset="0"/>
                <a:ea typeface="Inter" pitchFamily="34" charset="-122"/>
                <a:cs typeface="Inter" pitchFamily="34" charset="-120"/>
              </a:rPr>
              <a:t>E3  ·  STORYBOARD  ·  3 CLIPS × 8 S</a:t>
            </a:r>
            <a:endParaRPr lang="en-US" sz="900" dirty="0"/>
          </a:p>
        </p:txBody>
      </p:sp>
      <p:sp>
        <p:nvSpPr>
          <p:cNvPr id="5" name="Text 3"/>
          <p:cNvSpPr txBox="1"/>
          <p:nvPr/>
        </p:nvSpPr>
        <p:spPr>
          <a:xfrm>
            <a:off x="548640" y="731520"/>
            <a:ext cx="73152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IT GLOWS</a:t>
            </a:r>
            <a:endParaRPr lang="en-US" sz="2800" dirty="0"/>
          </a:p>
        </p:txBody>
      </p:sp>
      <p:pic>
        <p:nvPicPr>
          <p:cNvPr id="6" name="Image 0" descr="/tmp/claude-0/-home-user-Sage-portfolio/d05fecce-977e-5eab-9cf5-7c09b306c551/scratchpad/wrdeck/gen/full/E3-1.jpg">    </p:cNvPr>
          <p:cNvPicPr>
            <a:picLocks noChangeAspect="1"/>
          </p:cNvPicPr>
          <p:nvPr/>
        </p:nvPicPr>
        <p:blipFill>
          <a:blip r:embed="rId1"/>
          <a:srcRect l="0" r="0" t="0" b="0"/>
          <a:stretch/>
        </p:blipFill>
        <p:spPr>
          <a:xfrm>
            <a:off x="548640" y="1371600"/>
            <a:ext cx="2148840" cy="3822192"/>
          </a:xfrm>
          <a:prstGeom prst="rect">
            <a:avLst/>
          </a:prstGeom>
        </p:spPr>
      </p:pic>
      <p:sp>
        <p:nvSpPr>
          <p:cNvPr id="7" name="Shape 4"/>
          <p:cNvSpPr/>
          <p:nvPr/>
        </p:nvSpPr>
        <p:spPr>
          <a:xfrm>
            <a:off x="548640" y="5266944"/>
            <a:ext cx="2148840" cy="27432"/>
          </a:xfrm>
          <a:prstGeom prst="rect">
            <a:avLst/>
          </a:prstGeom>
          <a:solidFill>
            <a:srgbClr val="D2283A"/>
          </a:solidFill>
          <a:ln w="12700">
            <a:solidFill>
              <a:srgbClr val="D2283A"/>
            </a:solidFill>
            <a:prstDash val="solid"/>
          </a:ln>
        </p:spPr>
      </p:sp>
      <p:sp>
        <p:nvSpPr>
          <p:cNvPr id="8" name="Text 5"/>
          <p:cNvSpPr txBox="1"/>
          <p:nvPr/>
        </p:nvSpPr>
        <p:spPr>
          <a:xfrm>
            <a:off x="54864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E3-1  ·  OPEN</a:t>
            </a:r>
            <a:endParaRPr lang="en-US" sz="800" dirty="0"/>
          </a:p>
        </p:txBody>
      </p:sp>
      <p:sp>
        <p:nvSpPr>
          <p:cNvPr id="9" name="Text 6"/>
          <p:cNvSpPr txBox="1"/>
          <p:nvPr/>
        </p:nvSpPr>
        <p:spPr>
          <a:xfrm>
            <a:off x="54864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Night on a wide city boulevard: the red convertible, roof down, stopped at a red signal, city lights all around, him at the wheel in a black suit.</a:t>
            </a:r>
            <a:endParaRPr lang="en-US" sz="750" dirty="0"/>
          </a:p>
        </p:txBody>
      </p:sp>
      <p:sp>
        <p:nvSpPr>
          <p:cNvPr id="10" name="Shape 7"/>
          <p:cNvSpPr/>
          <p:nvPr/>
        </p:nvSpPr>
        <p:spPr>
          <a:xfrm>
            <a:off x="2880360" y="1371600"/>
            <a:ext cx="2148840" cy="3822192"/>
          </a:xfrm>
          <a:prstGeom prst="rect">
            <a:avLst/>
          </a:prstGeom>
          <a:solidFill>
            <a:srgbClr val="151513"/>
          </a:solidFill>
          <a:ln w="9525">
            <a:solidFill>
              <a:srgbClr val="2B2A26"/>
            </a:solidFill>
            <a:prstDash val="solid"/>
          </a:ln>
        </p:spPr>
      </p:sp>
      <p:pic>
        <p:nvPicPr>
          <p:cNvPr id="11" name="Image 1" descr="/tmp/claude-0/-home-user-Sage-portfolio/d05fecce-977e-5eab-9cf5-7c09b306c551/scratchpad/wrdeck/img/crop_redblue.jpg">    </p:cNvPr>
          <p:cNvPicPr>
            <a:picLocks noChangeAspect="1"/>
          </p:cNvPicPr>
          <p:nvPr/>
        </p:nvPicPr>
        <p:blipFill>
          <a:blip r:embed="rId2"/>
          <a:srcRect l="0" r="0" t="0" b="0"/>
          <a:stretch/>
        </p:blipFill>
        <p:spPr>
          <a:xfrm>
            <a:off x="3202686" y="2136038"/>
            <a:ext cx="1504188" cy="1719986"/>
          </a:xfrm>
          <a:prstGeom prst="rect">
            <a:avLst/>
          </a:prstGeom>
        </p:spPr>
      </p:pic>
      <p:sp>
        <p:nvSpPr>
          <p:cNvPr id="12" name="Text 8"/>
          <p:cNvSpPr txBox="1"/>
          <p:nvPr/>
        </p:nvSpPr>
        <p:spPr>
          <a:xfrm>
            <a:off x="2880360" y="4047134"/>
            <a:ext cx="2148840" cy="457200"/>
          </a:xfrm>
          <a:prstGeom prst="rect">
            <a:avLst/>
          </a:prstGeom>
          <a:noFill/>
          <a:ln/>
        </p:spPr>
        <p:txBody>
          <a:bodyPr wrap="square" lIns="0" tIns="0" rIns="0" bIns="0" rtlCol="0" anchor="t"/>
          <a:lstStyle/>
          <a:p>
            <a:pPr algn="ctr" indent="0" marL="0">
              <a:buNone/>
            </a:pPr>
            <a:r>
              <a:rPr lang="en-US" sz="800" b="1" spc="200" kern="0" dirty="0">
                <a:solidFill>
                  <a:srgbClr val="9C978E"/>
                </a:solidFill>
                <a:latin typeface="Inter" pitchFamily="34" charset="0"/>
                <a:ea typeface="Inter" pitchFamily="34" charset="-122"/>
                <a:cs typeface="Inter" pitchFamily="34" charset="-120"/>
              </a:rPr>
              <a:t>FRAME E3-2</a:t>
            </a:r>
            <a:endParaRPr lang="en-US" sz="800" dirty="0"/>
          </a:p>
          <a:p>
            <a:pPr algn="ctr" indent="0" marL="0">
              <a:buNone/>
            </a:pPr>
            <a:r>
              <a:rPr lang="en-US" sz="800" b="1" spc="200" kern="0" dirty="0">
                <a:solidFill>
                  <a:srgbClr val="9C978E"/>
                </a:solidFill>
                <a:latin typeface="Inter" pitchFamily="34" charset="0"/>
                <a:ea typeface="Inter" pitchFamily="34" charset="-122"/>
                <a:cs typeface="Inter" pitchFamily="34" charset="-120"/>
              </a:rPr>
              <a:t>SEE FRAME NOTE</a:t>
            </a:r>
            <a:endParaRPr lang="en-US" sz="800" dirty="0"/>
          </a:p>
        </p:txBody>
      </p:sp>
      <p:sp>
        <p:nvSpPr>
          <p:cNvPr id="13" name="Shape 9"/>
          <p:cNvSpPr/>
          <p:nvPr/>
        </p:nvSpPr>
        <p:spPr>
          <a:xfrm>
            <a:off x="2880360" y="5266944"/>
            <a:ext cx="2148840" cy="27432"/>
          </a:xfrm>
          <a:prstGeom prst="rect">
            <a:avLst/>
          </a:prstGeom>
          <a:solidFill>
            <a:srgbClr val="D2283A"/>
          </a:solidFill>
          <a:ln w="12700">
            <a:solidFill>
              <a:srgbClr val="D2283A"/>
            </a:solidFill>
            <a:prstDash val="solid"/>
          </a:ln>
        </p:spPr>
      </p:sp>
      <p:sp>
        <p:nvSpPr>
          <p:cNvPr id="14" name="Text 10"/>
          <p:cNvSpPr txBox="1"/>
          <p:nvPr/>
        </p:nvSpPr>
        <p:spPr>
          <a:xfrm>
            <a:off x="288036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E3-2  ·  MIDDLE</a:t>
            </a:r>
            <a:endParaRPr lang="en-US" sz="800" dirty="0"/>
          </a:p>
        </p:txBody>
      </p:sp>
      <p:sp>
        <p:nvSpPr>
          <p:cNvPr id="15" name="Text 11"/>
          <p:cNvSpPr txBox="1"/>
          <p:nvPr/>
        </p:nvSpPr>
        <p:spPr>
          <a:xfrm>
            <a:off x="288036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Inside the car: his hand flicks off the dashboard lights; the cabin goes almost black, only the red signal on his jaw and wrist.</a:t>
            </a:r>
            <a:endParaRPr lang="en-US" sz="750" dirty="0"/>
          </a:p>
        </p:txBody>
      </p:sp>
      <p:pic>
        <p:nvPicPr>
          <p:cNvPr id="16" name="Image 2" descr="/tmp/claude-0/-home-user-Sage-portfolio/d05fecce-977e-5eab-9cf5-7c09b306c551/scratchpad/wrdeck/gen/full/E3-3.jpg">    </p:cNvPr>
          <p:cNvPicPr>
            <a:picLocks noChangeAspect="1"/>
          </p:cNvPicPr>
          <p:nvPr/>
        </p:nvPicPr>
        <p:blipFill>
          <a:blip r:embed="rId3"/>
          <a:srcRect l="0" r="0" t="0" b="0"/>
          <a:stretch/>
        </p:blipFill>
        <p:spPr>
          <a:xfrm>
            <a:off x="5212080" y="1371600"/>
            <a:ext cx="2148840" cy="3822192"/>
          </a:xfrm>
          <a:prstGeom prst="rect">
            <a:avLst/>
          </a:prstGeom>
        </p:spPr>
      </p:pic>
      <p:sp>
        <p:nvSpPr>
          <p:cNvPr id="17" name="Shape 12"/>
          <p:cNvSpPr/>
          <p:nvPr/>
        </p:nvSpPr>
        <p:spPr>
          <a:xfrm>
            <a:off x="5212080" y="5266944"/>
            <a:ext cx="2148840" cy="27432"/>
          </a:xfrm>
          <a:prstGeom prst="rect">
            <a:avLst/>
          </a:prstGeom>
          <a:solidFill>
            <a:srgbClr val="D2283A"/>
          </a:solidFill>
          <a:ln w="12700">
            <a:solidFill>
              <a:srgbClr val="D2283A"/>
            </a:solidFill>
            <a:prstDash val="solid"/>
          </a:ln>
        </p:spPr>
      </p:sp>
      <p:sp>
        <p:nvSpPr>
          <p:cNvPr id="18" name="Text 13"/>
          <p:cNvSpPr txBox="1"/>
          <p:nvPr/>
        </p:nvSpPr>
        <p:spPr>
          <a:xfrm>
            <a:off x="5212080" y="5358384"/>
            <a:ext cx="2148840" cy="228600"/>
          </a:xfrm>
          <a:prstGeom prst="rect">
            <a:avLst/>
          </a:prstGeom>
          <a:noFill/>
          <a:ln/>
        </p:spPr>
        <p:txBody>
          <a:bodyPr wrap="square" lIns="0" tIns="0" rIns="0" bIns="0" rtlCol="0" anchor="t"/>
          <a:lstStyle/>
          <a:p>
            <a:pPr indent="0" marL="0">
              <a:buNone/>
            </a:pPr>
            <a:r>
              <a:rPr lang="en-US" sz="800" b="1" spc="200" kern="0" dirty="0">
                <a:solidFill>
                  <a:srgbClr val="D2283A"/>
                </a:solidFill>
                <a:latin typeface="Inter" pitchFamily="34" charset="0"/>
                <a:ea typeface="Inter" pitchFamily="34" charset="-122"/>
                <a:cs typeface="Inter" pitchFamily="34" charset="-120"/>
              </a:rPr>
              <a:t>E3-3  ·  CLOSE</a:t>
            </a:r>
            <a:endParaRPr lang="en-US" sz="800" dirty="0"/>
          </a:p>
        </p:txBody>
      </p:sp>
      <p:sp>
        <p:nvSpPr>
          <p:cNvPr id="19" name="Text 14"/>
          <p:cNvSpPr txBox="1"/>
          <p:nvPr/>
        </p:nvSpPr>
        <p:spPr>
          <a:xfrm>
            <a:off x="5212080" y="5605272"/>
            <a:ext cx="2148840" cy="868680"/>
          </a:xfrm>
          <a:prstGeom prst="rect">
            <a:avLst/>
          </a:prstGeom>
          <a:noFill/>
          <a:ln/>
        </p:spPr>
        <p:txBody>
          <a:bodyPr wrap="square" lIns="0" tIns="0" rIns="0" bIns="0" rtlCol="0" anchor="t"/>
          <a:lstStyle/>
          <a:p>
            <a:pPr indent="0" marL="0">
              <a:lnSpc>
                <a:spcPct val="110000"/>
              </a:lnSpc>
              <a:buNone/>
            </a:pPr>
            <a:r>
              <a:rPr lang="en-US" sz="750" b="1" dirty="0">
                <a:solidFill>
                  <a:srgbClr val="F2EDE4"/>
                </a:solidFill>
                <a:latin typeface="Inter" pitchFamily="34" charset="0"/>
                <a:ea typeface="Inter" pitchFamily="34" charset="-122"/>
                <a:cs typeface="Inter" pitchFamily="34" charset="-120"/>
              </a:rPr>
              <a:t>Frame: </a:t>
            </a:r>
            <a:pPr indent="0" marL="0">
              <a:lnSpc>
                <a:spcPct val="110000"/>
              </a:lnSpc>
              <a:buNone/>
            </a:pPr>
            <a:r>
              <a:rPr lang="en-US" sz="750" dirty="0">
                <a:solidFill>
                  <a:srgbClr val="9C978E"/>
                </a:solidFill>
                <a:latin typeface="Inter" pitchFamily="34" charset="0"/>
                <a:ea typeface="Inter" pitchFamily="34" charset="-122"/>
                <a:cs typeface="Inter" pitchFamily="34" charset="-120"/>
              </a:rPr>
              <a:t>Total darkness: the whole watch case, bezel, hands and indices glow bright green on his wrist on the steering wheel, lighting his jaw; nothing else visible.</a:t>
            </a:r>
            <a:endParaRPr lang="en-US" sz="750" dirty="0"/>
          </a:p>
        </p:txBody>
      </p:sp>
      <p:pic>
        <p:nvPicPr>
          <p:cNvPr id="20" name="Image 3" descr="/tmp/claude-0/-home-user-Sage-portfolio/d05fecce-977e-5eab-9cf5-7c09b306c551/scratchpad/wrdeck/img/crop_redblue.jpg">    </p:cNvPr>
          <p:cNvPicPr>
            <a:picLocks noChangeAspect="1"/>
          </p:cNvPicPr>
          <p:nvPr/>
        </p:nvPicPr>
        <p:blipFill>
          <a:blip r:embed="rId4"/>
          <a:srcRect l="0" r="0" t="0" b="0"/>
          <a:stretch/>
        </p:blipFill>
        <p:spPr>
          <a:xfrm>
            <a:off x="7680960" y="1371600"/>
            <a:ext cx="3959352" cy="2194560"/>
          </a:xfrm>
          <a:prstGeom prst="rect">
            <a:avLst/>
          </a:prstGeom>
        </p:spPr>
      </p:pic>
      <p:sp>
        <p:nvSpPr>
          <p:cNvPr id="21" name="Text 15"/>
          <p:cNvSpPr txBox="1"/>
          <p:nvPr/>
        </p:nvSpPr>
        <p:spPr>
          <a:xfrm>
            <a:off x="7680960" y="3611880"/>
            <a:ext cx="39319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The real watch — match colours exactly</a:t>
            </a:r>
            <a:endParaRPr lang="en-US" sz="750" dirty="0"/>
          </a:p>
        </p:txBody>
      </p:sp>
      <p:sp>
        <p:nvSpPr>
          <p:cNvPr id="22" name="Text 16"/>
          <p:cNvSpPr txBox="1"/>
          <p:nvPr/>
        </p:nvSpPr>
        <p:spPr>
          <a:xfrm>
            <a:off x="7680960" y="393192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MOTION · FOR THE VIDEO PASS</a:t>
            </a:r>
            <a:endParaRPr lang="en-US" sz="750" dirty="0"/>
          </a:p>
        </p:txBody>
      </p:sp>
      <p:sp>
        <p:nvSpPr>
          <p:cNvPr id="23" name="Text 17"/>
          <p:cNvSpPr txBox="1"/>
          <p:nvPr/>
        </p:nvSpPr>
        <p:spPr>
          <a:xfrm>
            <a:off x="7680960" y="4160520"/>
            <a:ext cx="3959352" cy="1188720"/>
          </a:xfrm>
          <a:prstGeom prst="rect">
            <a:avLst/>
          </a:prstGeom>
          <a:noFill/>
          <a:ln/>
        </p:spPr>
        <p:txBody>
          <a:bodyPr wrap="square" lIns="0" tIns="0" rIns="0" bIns="0" rtlCol="0" anchor="t"/>
          <a:lstStyle/>
          <a:p>
            <a:pPr indent="0" marL="0">
              <a:lnSpc>
                <a:spcPct val="115000"/>
              </a:lnSpc>
              <a:buNone/>
            </a:pPr>
            <a:r>
              <a:rPr lang="en-US" sz="800" dirty="0">
                <a:solidFill>
                  <a:srgbClr val="F2EDE4"/>
                </a:solidFill>
                <a:latin typeface="Inter" pitchFamily="34" charset="0"/>
                <a:ea typeface="Inter" pitchFamily="34" charset="-122"/>
                <a:cs typeface="Inter" pitchFamily="34" charset="-120"/>
              </a:rPr>
              <a:t>E3-1: Low wide; traffic light streaks pass, he waits, still.</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E3-2: The red signal light fades out too, leaving near-total darkness.</a:t>
            </a:r>
            <a:endParaRPr lang="en-US" sz="800" dirty="0"/>
          </a:p>
          <a:p>
            <a:pPr indent="0" marL="0">
              <a:lnSpc>
                <a:spcPct val="115000"/>
              </a:lnSpc>
              <a:buNone/>
            </a:pPr>
            <a:r>
              <a:rPr lang="en-US" sz="800" dirty="0">
                <a:solidFill>
                  <a:srgbClr val="F2EDE4"/>
                </a:solidFill>
                <a:latin typeface="Inter" pitchFamily="34" charset="0"/>
                <a:ea typeface="Inter" pitchFamily="34" charset="-122"/>
                <a:cs typeface="Inter" pitchFamily="34" charset="-120"/>
              </a:rPr>
              <a:t>E3-3: Locked; the glow is the only light; after a beat the signal turns green on the bonnet and the car pulls away.</a:t>
            </a:r>
            <a:endParaRPr lang="en-US" sz="800" dirty="0"/>
          </a:p>
        </p:txBody>
      </p:sp>
      <p:sp>
        <p:nvSpPr>
          <p:cNvPr id="24" name="Text 18"/>
          <p:cNvSpPr txBox="1"/>
          <p:nvPr/>
        </p:nvSpPr>
        <p:spPr>
          <a:xfrm>
            <a:off x="7680960" y="5440680"/>
            <a:ext cx="393192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VISUAL REFERENCES — TAP TO OPEN</a:t>
            </a:r>
            <a:endParaRPr lang="en-US" sz="750" dirty="0"/>
          </a:p>
        </p:txBody>
      </p:sp>
      <p:sp>
        <p:nvSpPr>
          <p:cNvPr id="25" name="Text 19"/>
          <p:cNvSpPr txBox="1"/>
          <p:nvPr/>
        </p:nvSpPr>
        <p:spPr>
          <a:xfrm>
            <a:off x="7680960" y="5669280"/>
            <a:ext cx="3959352" cy="548640"/>
          </a:xfrm>
          <a:prstGeom prst="rect">
            <a:avLst/>
          </a:prstGeom>
          <a:noFill/>
          <a:ln/>
        </p:spPr>
        <p:txBody>
          <a:bodyPr wrap="square" lIns="0" tIns="0" rIns="0" bIns="0" rtlCol="0" anchor="t"/>
          <a:lstStyle/>
          <a:p>
            <a:pPr indent="0" marL="0">
              <a:buNone/>
            </a:pPr>
            <a:r>
              <a:rPr lang="en-US" sz="850" u="sng" dirty="0">
                <a:solidFill>
                  <a:srgbClr val="F2EDE4"/>
                </a:solidFill>
                <a:uFill>
                  <a:solidFill>
                    <a:srgbClr val="2B2A26"/>
                  </a:solidFill>
                </a:u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Pinterest · lume watch glow dark car</a:t>
            </a:r>
            <a:endParaRPr lang="en-US" sz="850" dirty="0"/>
          </a:p>
        </p:txBody>
      </p:sp>
      <p:sp>
        <p:nvSpPr>
          <p:cNvPr id="26" name="Text 20"/>
          <p:cNvSpPr txBox="1"/>
          <p:nvPr/>
        </p:nvSpPr>
        <p:spPr>
          <a:xfrm>
            <a:off x="548640" y="6053328"/>
            <a:ext cx="6949440" cy="365760"/>
          </a:xfrm>
          <a:prstGeom prst="rect">
            <a:avLst/>
          </a:prstGeom>
          <a:noFill/>
          <a:ln/>
        </p:spPr>
        <p:txBody>
          <a:bodyPr wrap="square" lIns="0" tIns="0" rIns="0" bIns="0" rtlCol="0" anchor="t"/>
          <a:lstStyle/>
          <a:p>
            <a:pPr indent="0" marL="0">
              <a:buNone/>
            </a:pPr>
            <a:r>
              <a:rPr lang="en-US" sz="800" dirty="0">
                <a:solidFill>
                  <a:srgbClr val="C9A45C"/>
                </a:solidFill>
                <a:latin typeface="Inter" pitchFamily="34" charset="0"/>
                <a:ea typeface="Inter" pitchFamily="34" charset="-122"/>
                <a:cs typeface="Inter" pitchFamily="34" charset="-120"/>
              </a:rPr>
              <a:t>Safety: moving shots from a follow car at normal speed, or parked with light passes. Nothing rigged outside the car. Charge the lume with a UV torch for 30 s before every glow take.</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AI CLIPS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42</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TURNING THE FRAMES INTO CLIPS · GEMINI</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45 FRAMES. 45 CLIPS. TWO STEPS EACH.</a:t>
            </a:r>
            <a:endParaRPr lang="en-US" sz="3000" dirty="0"/>
          </a:p>
        </p:txBody>
      </p:sp>
      <p:sp>
        <p:nvSpPr>
          <p:cNvPr id="6" name="Shape 4"/>
          <p:cNvSpPr/>
          <p:nvPr/>
        </p:nvSpPr>
        <p:spPr>
          <a:xfrm>
            <a:off x="548640" y="1463040"/>
            <a:ext cx="2651760" cy="1828800"/>
          </a:xfrm>
          <a:prstGeom prst="rect">
            <a:avLst/>
          </a:prstGeom>
          <a:solidFill>
            <a:srgbClr val="151513"/>
          </a:solidFill>
          <a:ln w="9525">
            <a:solidFill>
              <a:srgbClr val="2B2A26"/>
            </a:solidFill>
            <a:prstDash val="solid"/>
          </a:ln>
        </p:spPr>
      </p:sp>
      <p:sp>
        <p:nvSpPr>
          <p:cNvPr id="7" name="Text 5"/>
          <p:cNvSpPr txBox="1"/>
          <p:nvPr/>
        </p:nvSpPr>
        <p:spPr>
          <a:xfrm>
            <a:off x="777240" y="1600200"/>
            <a:ext cx="914400" cy="457200"/>
          </a:xfrm>
          <a:prstGeom prst="rect">
            <a:avLst/>
          </a:prstGeom>
          <a:noFill/>
          <a:ln/>
        </p:spPr>
        <p:txBody>
          <a:bodyPr wrap="square" lIns="0" tIns="0" rIns="0" bIns="0" rtlCol="0" anchor="t"/>
          <a:lstStyle/>
          <a:p>
            <a:pPr indent="0" marL="0">
              <a:buNone/>
            </a:pPr>
            <a:r>
              <a:rPr lang="en-US" sz="2400" b="1" dirty="0">
                <a:solidFill>
                  <a:srgbClr val="C9A45C"/>
                </a:solidFill>
                <a:latin typeface="Oswald" pitchFamily="34" charset="0"/>
                <a:ea typeface="Oswald" pitchFamily="34" charset="-122"/>
                <a:cs typeface="Oswald" pitchFamily="34" charset="-120"/>
              </a:rPr>
              <a:t>01</a:t>
            </a:r>
            <a:endParaRPr lang="en-US" sz="2400" dirty="0"/>
          </a:p>
        </p:txBody>
      </p:sp>
      <p:sp>
        <p:nvSpPr>
          <p:cNvPr id="8" name="Text 6"/>
          <p:cNvSpPr txBox="1"/>
          <p:nvPr/>
        </p:nvSpPr>
        <p:spPr>
          <a:xfrm>
            <a:off x="777240" y="2103120"/>
            <a:ext cx="2286000" cy="274320"/>
          </a:xfrm>
          <a:prstGeom prst="rect">
            <a:avLst/>
          </a:prstGeom>
          <a:noFill/>
          <a:ln/>
        </p:spPr>
        <p:txBody>
          <a:bodyPr wrap="square" lIns="0" tIns="0" rIns="0" bIns="0" rtlCol="0" anchor="t"/>
          <a:lstStyle/>
          <a:p>
            <a:pPr indent="0" marL="0">
              <a:buNone/>
            </a:pPr>
            <a:r>
              <a:rPr lang="en-US" sz="1050" b="1" dirty="0">
                <a:solidFill>
                  <a:srgbClr val="F2EDE4"/>
                </a:solidFill>
                <a:latin typeface="Inter" pitchFamily="34" charset="0"/>
                <a:ea typeface="Inter" pitchFamily="34" charset="-122"/>
                <a:cs typeface="Inter" pitchFamily="34" charset="-120"/>
              </a:rPr>
              <a:t>ATTACH TWO PHOTOS</a:t>
            </a:r>
            <a:endParaRPr lang="en-US" sz="1050" dirty="0"/>
          </a:p>
        </p:txBody>
      </p:sp>
      <p:sp>
        <p:nvSpPr>
          <p:cNvPr id="9" name="Text 7"/>
          <p:cNvSpPr txBox="1"/>
          <p:nvPr/>
        </p:nvSpPr>
        <p:spPr>
          <a:xfrm>
            <a:off x="777240" y="2395728"/>
            <a:ext cx="2240280" cy="86868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Mukesh ji's face reference + the watch photo for that reel (crop_green / lime / skyblue / orange / redblue; add crop_glow for E3-3).</a:t>
            </a:r>
            <a:endParaRPr lang="en-US" sz="850" dirty="0"/>
          </a:p>
        </p:txBody>
      </p:sp>
      <p:sp>
        <p:nvSpPr>
          <p:cNvPr id="10" name="Shape 8"/>
          <p:cNvSpPr/>
          <p:nvPr/>
        </p:nvSpPr>
        <p:spPr>
          <a:xfrm>
            <a:off x="3355848" y="1463040"/>
            <a:ext cx="2651760" cy="1828800"/>
          </a:xfrm>
          <a:prstGeom prst="rect">
            <a:avLst/>
          </a:prstGeom>
          <a:solidFill>
            <a:srgbClr val="151513"/>
          </a:solidFill>
          <a:ln w="9525">
            <a:solidFill>
              <a:srgbClr val="2B2A26"/>
            </a:solidFill>
            <a:prstDash val="solid"/>
          </a:ln>
        </p:spPr>
      </p:sp>
      <p:sp>
        <p:nvSpPr>
          <p:cNvPr id="11" name="Text 9"/>
          <p:cNvSpPr txBox="1"/>
          <p:nvPr/>
        </p:nvSpPr>
        <p:spPr>
          <a:xfrm>
            <a:off x="3584448" y="1600200"/>
            <a:ext cx="914400" cy="457200"/>
          </a:xfrm>
          <a:prstGeom prst="rect">
            <a:avLst/>
          </a:prstGeom>
          <a:noFill/>
          <a:ln/>
        </p:spPr>
        <p:txBody>
          <a:bodyPr wrap="square" lIns="0" tIns="0" rIns="0" bIns="0" rtlCol="0" anchor="t"/>
          <a:lstStyle/>
          <a:p>
            <a:pPr indent="0" marL="0">
              <a:buNone/>
            </a:pPr>
            <a:r>
              <a:rPr lang="en-US" sz="2400" b="1" dirty="0">
                <a:solidFill>
                  <a:srgbClr val="C9A45C"/>
                </a:solidFill>
                <a:latin typeface="Oswald" pitchFamily="34" charset="0"/>
                <a:ea typeface="Oswald" pitchFamily="34" charset="-122"/>
                <a:cs typeface="Oswald" pitchFamily="34" charset="-120"/>
              </a:rPr>
              <a:t>02</a:t>
            </a:r>
            <a:endParaRPr lang="en-US" sz="2400" dirty="0"/>
          </a:p>
        </p:txBody>
      </p:sp>
      <p:sp>
        <p:nvSpPr>
          <p:cNvPr id="12" name="Text 10"/>
          <p:cNvSpPr txBox="1"/>
          <p:nvPr/>
        </p:nvSpPr>
        <p:spPr>
          <a:xfrm>
            <a:off x="3584448" y="2103120"/>
            <a:ext cx="2286000" cy="274320"/>
          </a:xfrm>
          <a:prstGeom prst="rect">
            <a:avLst/>
          </a:prstGeom>
          <a:noFill/>
          <a:ln/>
        </p:spPr>
        <p:txBody>
          <a:bodyPr wrap="square" lIns="0" tIns="0" rIns="0" bIns="0" rtlCol="0" anchor="t"/>
          <a:lstStyle/>
          <a:p>
            <a:pPr indent="0" marL="0">
              <a:buNone/>
            </a:pPr>
            <a:r>
              <a:rPr lang="en-US" sz="1050" b="1" dirty="0">
                <a:solidFill>
                  <a:srgbClr val="F2EDE4"/>
                </a:solidFill>
                <a:latin typeface="Inter" pitchFamily="34" charset="0"/>
                <a:ea typeface="Inter" pitchFamily="34" charset="-122"/>
                <a:cs typeface="Inter" pitchFamily="34" charset="-120"/>
              </a:rPr>
              <a:t>MAKE THE STILL</a:t>
            </a:r>
            <a:endParaRPr lang="en-US" sz="1050" dirty="0"/>
          </a:p>
        </p:txBody>
      </p:sp>
      <p:sp>
        <p:nvSpPr>
          <p:cNvPr id="13" name="Text 11"/>
          <p:cNvSpPr txBox="1"/>
          <p:nvPr/>
        </p:nvSpPr>
        <p:spPr>
          <a:xfrm>
            <a:off x="3584448" y="2395728"/>
            <a:ext cx="2240280" cy="86868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Paste the header below, then the clip's Frame line. If the watch or the face is off, regenerate before moving on.</a:t>
            </a:r>
            <a:endParaRPr lang="en-US" sz="850" dirty="0"/>
          </a:p>
        </p:txBody>
      </p:sp>
      <p:sp>
        <p:nvSpPr>
          <p:cNvPr id="14" name="Shape 12"/>
          <p:cNvSpPr/>
          <p:nvPr/>
        </p:nvSpPr>
        <p:spPr>
          <a:xfrm>
            <a:off x="6163056" y="1463040"/>
            <a:ext cx="2651760" cy="1828800"/>
          </a:xfrm>
          <a:prstGeom prst="rect">
            <a:avLst/>
          </a:prstGeom>
          <a:solidFill>
            <a:srgbClr val="151513"/>
          </a:solidFill>
          <a:ln w="9525">
            <a:solidFill>
              <a:srgbClr val="2B2A26"/>
            </a:solidFill>
            <a:prstDash val="solid"/>
          </a:ln>
        </p:spPr>
      </p:sp>
      <p:sp>
        <p:nvSpPr>
          <p:cNvPr id="15" name="Text 13"/>
          <p:cNvSpPr txBox="1"/>
          <p:nvPr/>
        </p:nvSpPr>
        <p:spPr>
          <a:xfrm>
            <a:off x="6391656" y="1600200"/>
            <a:ext cx="914400" cy="457200"/>
          </a:xfrm>
          <a:prstGeom prst="rect">
            <a:avLst/>
          </a:prstGeom>
          <a:noFill/>
          <a:ln/>
        </p:spPr>
        <p:txBody>
          <a:bodyPr wrap="square" lIns="0" tIns="0" rIns="0" bIns="0" rtlCol="0" anchor="t"/>
          <a:lstStyle/>
          <a:p>
            <a:pPr indent="0" marL="0">
              <a:buNone/>
            </a:pPr>
            <a:r>
              <a:rPr lang="en-US" sz="2400" b="1" dirty="0">
                <a:solidFill>
                  <a:srgbClr val="C9A45C"/>
                </a:solidFill>
                <a:latin typeface="Oswald" pitchFamily="34" charset="0"/>
                <a:ea typeface="Oswald" pitchFamily="34" charset="-122"/>
                <a:cs typeface="Oswald" pitchFamily="34" charset="-120"/>
              </a:rPr>
              <a:t>03</a:t>
            </a:r>
            <a:endParaRPr lang="en-US" sz="2400" dirty="0"/>
          </a:p>
        </p:txBody>
      </p:sp>
      <p:sp>
        <p:nvSpPr>
          <p:cNvPr id="16" name="Text 14"/>
          <p:cNvSpPr txBox="1"/>
          <p:nvPr/>
        </p:nvSpPr>
        <p:spPr>
          <a:xfrm>
            <a:off x="6391656" y="2103120"/>
            <a:ext cx="2286000" cy="274320"/>
          </a:xfrm>
          <a:prstGeom prst="rect">
            <a:avLst/>
          </a:prstGeom>
          <a:noFill/>
          <a:ln/>
        </p:spPr>
        <p:txBody>
          <a:bodyPr wrap="square" lIns="0" tIns="0" rIns="0" bIns="0" rtlCol="0" anchor="t"/>
          <a:lstStyle/>
          <a:p>
            <a:pPr indent="0" marL="0">
              <a:buNone/>
            </a:pPr>
            <a:r>
              <a:rPr lang="en-US" sz="1050" b="1" dirty="0">
                <a:solidFill>
                  <a:srgbClr val="F2EDE4"/>
                </a:solidFill>
                <a:latin typeface="Inter" pitchFamily="34" charset="0"/>
                <a:ea typeface="Inter" pitchFamily="34" charset="-122"/>
                <a:cs typeface="Inter" pitchFamily="34" charset="-120"/>
              </a:rPr>
              <a:t>ANIMATE IT</a:t>
            </a:r>
            <a:endParaRPr lang="en-US" sz="1050" dirty="0"/>
          </a:p>
        </p:txBody>
      </p:sp>
      <p:sp>
        <p:nvSpPr>
          <p:cNvPr id="17" name="Text 15"/>
          <p:cNvSpPr txBox="1"/>
          <p:nvPr/>
        </p:nvSpPr>
        <p:spPr>
          <a:xfrm>
            <a:off x="6391656" y="2395728"/>
            <a:ext cx="2240280" cy="86868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On that image choose Create video and paste the clip's Motion line plus the motion note.</a:t>
            </a:r>
            <a:endParaRPr lang="en-US" sz="850" dirty="0"/>
          </a:p>
        </p:txBody>
      </p:sp>
      <p:sp>
        <p:nvSpPr>
          <p:cNvPr id="18" name="Shape 16"/>
          <p:cNvSpPr/>
          <p:nvPr/>
        </p:nvSpPr>
        <p:spPr>
          <a:xfrm>
            <a:off x="8970264" y="1463040"/>
            <a:ext cx="2651760" cy="1828800"/>
          </a:xfrm>
          <a:prstGeom prst="rect">
            <a:avLst/>
          </a:prstGeom>
          <a:solidFill>
            <a:srgbClr val="151513"/>
          </a:solidFill>
          <a:ln w="9525">
            <a:solidFill>
              <a:srgbClr val="2B2A26"/>
            </a:solidFill>
            <a:prstDash val="solid"/>
          </a:ln>
        </p:spPr>
      </p:sp>
      <p:sp>
        <p:nvSpPr>
          <p:cNvPr id="19" name="Text 17"/>
          <p:cNvSpPr txBox="1"/>
          <p:nvPr/>
        </p:nvSpPr>
        <p:spPr>
          <a:xfrm>
            <a:off x="9198864" y="1600200"/>
            <a:ext cx="914400" cy="457200"/>
          </a:xfrm>
          <a:prstGeom prst="rect">
            <a:avLst/>
          </a:prstGeom>
          <a:noFill/>
          <a:ln/>
        </p:spPr>
        <p:txBody>
          <a:bodyPr wrap="square" lIns="0" tIns="0" rIns="0" bIns="0" rtlCol="0" anchor="t"/>
          <a:lstStyle/>
          <a:p>
            <a:pPr indent="0" marL="0">
              <a:buNone/>
            </a:pPr>
            <a:r>
              <a:rPr lang="en-US" sz="2400" b="1" dirty="0">
                <a:solidFill>
                  <a:srgbClr val="C9A45C"/>
                </a:solidFill>
                <a:latin typeface="Oswald" pitchFamily="34" charset="0"/>
                <a:ea typeface="Oswald" pitchFamily="34" charset="-122"/>
                <a:cs typeface="Oswald" pitchFamily="34" charset="-120"/>
              </a:rPr>
              <a:t>04</a:t>
            </a:r>
            <a:endParaRPr lang="en-US" sz="2400" dirty="0"/>
          </a:p>
        </p:txBody>
      </p:sp>
      <p:sp>
        <p:nvSpPr>
          <p:cNvPr id="20" name="Text 18"/>
          <p:cNvSpPr txBox="1"/>
          <p:nvPr/>
        </p:nvSpPr>
        <p:spPr>
          <a:xfrm>
            <a:off x="9198864" y="2103120"/>
            <a:ext cx="2286000" cy="274320"/>
          </a:xfrm>
          <a:prstGeom prst="rect">
            <a:avLst/>
          </a:prstGeom>
          <a:noFill/>
          <a:ln/>
        </p:spPr>
        <p:txBody>
          <a:bodyPr wrap="square" lIns="0" tIns="0" rIns="0" bIns="0" rtlCol="0" anchor="t"/>
          <a:lstStyle/>
          <a:p>
            <a:pPr indent="0" marL="0">
              <a:buNone/>
            </a:pPr>
            <a:r>
              <a:rPr lang="en-US" sz="1050" b="1" dirty="0">
                <a:solidFill>
                  <a:srgbClr val="F2EDE4"/>
                </a:solidFill>
                <a:latin typeface="Inter" pitchFamily="34" charset="0"/>
                <a:ea typeface="Inter" pitchFamily="34" charset="-122"/>
                <a:cs typeface="Inter" pitchFamily="34" charset="-120"/>
              </a:rPr>
              <a:t>SEND THEM BACK</a:t>
            </a:r>
            <a:endParaRPr lang="en-US" sz="1050" dirty="0"/>
          </a:p>
        </p:txBody>
      </p:sp>
      <p:sp>
        <p:nvSpPr>
          <p:cNvPr id="21" name="Text 19"/>
          <p:cNvSpPr txBox="1"/>
          <p:nvPr/>
        </p:nvSpPr>
        <p:spPr>
          <a:xfrm>
            <a:off x="9198864" y="2395728"/>
            <a:ext cx="2240280" cy="86868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Name clips A1-1, A1-2 … E3-3. We cut them to the VO and drop them into this deck.</a:t>
            </a:r>
            <a:endParaRPr lang="en-US" sz="850" dirty="0"/>
          </a:p>
        </p:txBody>
      </p:sp>
      <p:sp>
        <p:nvSpPr>
          <p:cNvPr id="22" name="Text 20"/>
          <p:cNvSpPr txBox="1"/>
          <p:nvPr/>
        </p:nvSpPr>
        <p:spPr>
          <a:xfrm>
            <a:off x="548640" y="3474720"/>
            <a:ext cx="54864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HEADER — PASTE BEFORE EVERY FRAME LINE</a:t>
            </a:r>
            <a:endParaRPr lang="en-US" sz="750" dirty="0"/>
          </a:p>
        </p:txBody>
      </p:sp>
      <p:sp>
        <p:nvSpPr>
          <p:cNvPr id="23" name="Shape 21"/>
          <p:cNvSpPr/>
          <p:nvPr/>
        </p:nvSpPr>
        <p:spPr>
          <a:xfrm>
            <a:off x="548640" y="3703320"/>
            <a:ext cx="11064240" cy="1554480"/>
          </a:xfrm>
          <a:prstGeom prst="rect">
            <a:avLst/>
          </a:prstGeom>
          <a:solidFill>
            <a:srgbClr val="151513"/>
          </a:solidFill>
          <a:ln w="9525">
            <a:solidFill>
              <a:srgbClr val="2B2A26"/>
            </a:solidFill>
            <a:prstDash val="solid"/>
          </a:ln>
        </p:spPr>
      </p:sp>
      <p:sp>
        <p:nvSpPr>
          <p:cNvPr id="24" name="Text 22"/>
          <p:cNvSpPr txBox="1"/>
          <p:nvPr/>
        </p:nvSpPr>
        <p:spPr>
          <a:xfrm>
            <a:off x="731520" y="3794760"/>
            <a:ext cx="10698480" cy="1371600"/>
          </a:xfrm>
          <a:prstGeom prst="rect">
            <a:avLst/>
          </a:prstGeom>
          <a:noFill/>
          <a:ln/>
        </p:spPr>
        <p:txBody>
          <a:bodyPr wrap="square" lIns="0" tIns="0" rIns="0" bIns="0" rtlCol="0" anchor="t"/>
          <a:lstStyle/>
          <a:p>
            <a:pPr indent="0" marL="0">
              <a:lnSpc>
                <a:spcPct val="120000"/>
              </a:lnSpc>
              <a:buNone/>
            </a:pPr>
            <a:r>
              <a:rPr lang="en-US" sz="850" dirty="0">
                <a:solidFill>
                  <a:srgbClr val="F2EDE4"/>
                </a:solidFill>
                <a:latin typeface="Inter" pitchFamily="34" charset="0"/>
                <a:ea typeface="Inter" pitchFamily="34" charset="-122"/>
                <a:cs typeface="Inter" pitchFamily="34" charset="-120"/>
              </a:rPr>
              <a:t>Photoreal cinematic still, vertical 9:16, luxury watch commercial: ARRI Alexa look, soft film grain, shallow depth of field, real lens behaviour. The man is the one in the attached photo — thick full dark beard, swept-back pompadour hair, strong eyebrows, small ear stud, Indian, mid-30s, muscular — calm, never speaking. On his left wrist is the watch in the attached watch photo: copy it exactly — square case, eight exposed bezel screws, layered case, WR monogram at 12, textured dial, colour-blocked rubber strap, crown on the right. Never change its shape or colours. The watch is always worn, never lying on any surface. He is the only person in frame. No text, captions, logos or watermarks.</a:t>
            </a:r>
            <a:endParaRPr lang="en-US" sz="850" dirty="0"/>
          </a:p>
        </p:txBody>
      </p:sp>
      <p:sp>
        <p:nvSpPr>
          <p:cNvPr id="25" name="Text 23"/>
          <p:cNvSpPr txBox="1"/>
          <p:nvPr/>
        </p:nvSpPr>
        <p:spPr>
          <a:xfrm>
            <a:off x="548640" y="5394960"/>
            <a:ext cx="54864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MOTION NOTE — ADD TO EVERY MOTION LINE</a:t>
            </a:r>
            <a:endParaRPr lang="en-US" sz="750" dirty="0"/>
          </a:p>
        </p:txBody>
      </p:sp>
      <p:sp>
        <p:nvSpPr>
          <p:cNvPr id="26" name="Text 24"/>
          <p:cNvSpPr txBox="1"/>
          <p:nvPr/>
        </p:nvSpPr>
        <p:spPr>
          <a:xfrm>
            <a:off x="548640" y="5623560"/>
            <a:ext cx="10972800" cy="365760"/>
          </a:xfrm>
          <a:prstGeom prst="rect">
            <a:avLst/>
          </a:prstGeom>
          <a:noFill/>
          <a:ln/>
        </p:spPr>
        <p:txBody>
          <a:bodyPr wrap="square" lIns="0" tIns="0" rIns="0" bIns="0" rtlCol="0" anchor="t"/>
          <a:lstStyle/>
          <a:p>
            <a:pPr indent="0" marL="0">
              <a:buNone/>
            </a:pPr>
            <a:r>
              <a:rPr lang="en-US" sz="900" dirty="0">
                <a:solidFill>
                  <a:srgbClr val="F2EDE4"/>
                </a:solidFill>
                <a:latin typeface="Inter" pitchFamily="34" charset="0"/>
                <a:ea typeface="Inter" pitchFamily="34" charset="-122"/>
                <a:cs typeface="Inter" pitchFamily="34" charset="-120"/>
              </a:rPr>
              <a:t>Natural cinematic motion, no dialogue, no speech, ambient sound only. Keep the man and the watch exactly as in the image.</a:t>
            </a:r>
            <a:endParaRPr lang="en-US" sz="900" dirty="0"/>
          </a:p>
        </p:txBody>
      </p:sp>
      <p:sp>
        <p:nvSpPr>
          <p:cNvPr id="27" name="Text 25"/>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two clips already made (A1-1 corridor, A1-2 door) are the proof the pipeline works — the watch came out exact.</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43</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DAY 2 · HALF PRODUCT, HALF NEETU</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THE WATCH ALONE. THEN THE WOMAN WHO MADE IT.</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463040"/>
                <a:gridCol w="8229600"/>
                <a:gridCol w="1371600"/>
              </a:tblGrid>
              <a:tr h="36576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TIME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SETUP</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UNIT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07:30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Crew call · product sets lit (white sweep, colour sweep, macro rig) · stands ready</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08:00–09:00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Set A · white sweep e-com — all five watches on acrylic stands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09:00–10:30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Set B · colour-matched heroes on stands (ivory/green, lime, sky, royal blue, navy/red)</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10:30–11:30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Set C · macros with focus stacking (screws, monogram, dial, crown, caseback, clasp)</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11:30–12:15</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Set D · glow on a hand model's wrist + 360° turntable on a watch pillow</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12:15–13:00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Set E · packaging + unboxing (magnetic lid, 001/500 card)</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Product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13:00–14:00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Lunch · founder set dressed · Neetu HMU</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14:00–15:15</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Neetu · her story — 12 questions, two cameras, Hinglish</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Founder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15:15–16:30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Neetu · each watch in her words — five segments, the watch in her hands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Founder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16:30–17:30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B-roll: sketching, loupe on a dial, numbering cards · portraits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Founder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50" b="1" dirty="0">
                          <a:solidFill>
                            <a:srgbClr val="F2EDE4"/>
                          </a:solidFill>
                          <a:latin typeface="Inter" pitchFamily="34" charset="0"/>
                          <a:ea typeface="Inter" pitchFamily="34" charset="-122"/>
                          <a:cs typeface="Inter" pitchFamily="34" charset="-120"/>
                        </a:rPr>
                        <a:t>17:30–18:00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Golden-hour portrait · wrap</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Founder</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 · PRODUCT</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44</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DAY 2 · PRODUCT SHOOT (07:30–13:00)</a:t>
            </a:r>
            <a:endParaRPr lang="en-US" sz="900" dirty="0"/>
          </a:p>
        </p:txBody>
      </p:sp>
      <p:sp>
        <p:nvSpPr>
          <p:cNvPr id="5" name="Text 3"/>
          <p:cNvSpPr txBox="1"/>
          <p:nvPr/>
        </p:nvSpPr>
        <p:spPr>
          <a:xfrm>
            <a:off x="548640" y="731520"/>
            <a:ext cx="768096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SIX SETS. NEVER FLAT ON A TABLE.</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680960" cy="914400"/>
        </p:xfrm>
        <a:graphic>
          <a:graphicData uri="http://schemas.openxmlformats.org/drawingml/2006/table">
            <a:tbl>
              <a:tblPr/>
              <a:tblGrid>
                <a:gridCol w="1554480"/>
                <a:gridCol w="3291840"/>
                <a:gridCol w="1463040"/>
                <a:gridCol w="1371600"/>
              </a:tblGrid>
              <a:tr h="56692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SET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SHOTS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USED FOR</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PER WATCH</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A · White sweep</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Front · 3/4 · crown side · caseback · clasp · strap — on a clear acrylic stand</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E-com + website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6 stills × 5 watches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B · Colour seamless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Each watch on its own colour, on a stand</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Hero / ads / launch</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2 stills × 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C · Macro rig</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Eight screws · WR monogram · waffle dial · crown · caseback crest · deployant clasp</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Detail carousels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6 stills × 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D · Glow</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Lume charged with UV torch, on a hand model's wrist in black</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Glow posts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1 still × 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E · 360° turntable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On a leather watch pillow on a lazy susan, 10 s loop</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Website + reels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1 video × 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00" b="1" dirty="0">
                          <a:solidFill>
                            <a:srgbClr val="F2EDE4"/>
                          </a:solidFill>
                          <a:latin typeface="Inter" pitchFamily="34" charset="0"/>
                          <a:ea typeface="Inter" pitchFamily="34" charset="-122"/>
                          <a:cs typeface="Inter" pitchFamily="34" charset="-120"/>
                        </a:rPr>
                        <a:t>F · Packaging</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Watch seated in its box · magnetic lid opening (sound) · 001/500 card</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Unboxing reel + launch</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1 set + 1 video</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pic>
        <p:nvPicPr>
          <p:cNvPr id="7" name="Image 0" descr="/tmp/claude-0/-home-user-Sage-portfolio/d05fecce-977e-5eab-9cf5-7c09b306c551/scratchpad/wrdeck/img/crop_caseback.jpg">    </p:cNvPr>
          <p:cNvPicPr>
            <a:picLocks noChangeAspect="1"/>
          </p:cNvPicPr>
          <p:nvPr/>
        </p:nvPicPr>
        <p:blipFill>
          <a:blip r:embed="rId1"/>
          <a:srcRect l="0" r="0" t="0" b="0"/>
          <a:stretch/>
        </p:blipFill>
        <p:spPr>
          <a:xfrm>
            <a:off x="8549640" y="502920"/>
            <a:ext cx="3090672" cy="2651760"/>
          </a:xfrm>
          <a:prstGeom prst="rect">
            <a:avLst/>
          </a:prstGeom>
        </p:spPr>
      </p:pic>
      <p:pic>
        <p:nvPicPr>
          <p:cNvPr id="8" name="Image 1" descr="/tmp/claude-0/-home-user-Sage-portfolio/d05fecce-977e-5eab-9cf5-7c09b306c551/scratchpad/wrdeck/img/crop_redblue.jpg">    </p:cNvPr>
          <p:cNvPicPr>
            <a:picLocks noChangeAspect="1"/>
          </p:cNvPicPr>
          <p:nvPr/>
        </p:nvPicPr>
        <p:blipFill>
          <a:blip r:embed="rId2"/>
          <a:srcRect l="0" r="0" t="0" b="0"/>
          <a:stretch/>
        </p:blipFill>
        <p:spPr>
          <a:xfrm>
            <a:off x="8549640" y="3246120"/>
            <a:ext cx="1499616" cy="1828800"/>
          </a:xfrm>
          <a:prstGeom prst="rect">
            <a:avLst/>
          </a:prstGeom>
        </p:spPr>
      </p:pic>
      <p:pic>
        <p:nvPicPr>
          <p:cNvPr id="9" name="Image 2" descr="/tmp/claude-0/-home-user-Sage-portfolio/d05fecce-977e-5eab-9cf5-7c09b306c551/scratchpad/wrdeck/img/crop_lime.jpg">    </p:cNvPr>
          <p:cNvPicPr>
            <a:picLocks noChangeAspect="1"/>
          </p:cNvPicPr>
          <p:nvPr/>
        </p:nvPicPr>
        <p:blipFill>
          <a:blip r:embed="rId3"/>
          <a:srcRect l="0" r="0" t="0" b="0"/>
          <a:stretch/>
        </p:blipFill>
        <p:spPr>
          <a:xfrm>
            <a:off x="10140696" y="3246120"/>
            <a:ext cx="1499616" cy="1828800"/>
          </a:xfrm>
          <a:prstGeom prst="rect">
            <a:avLst/>
          </a:prstGeom>
        </p:spPr>
      </p:pic>
      <p:sp>
        <p:nvSpPr>
          <p:cNvPr id="10" name="Text 4"/>
          <p:cNvSpPr txBox="1"/>
          <p:nvPr/>
        </p:nvSpPr>
        <p:spPr>
          <a:xfrm>
            <a:off x="8549640" y="5212080"/>
            <a:ext cx="3108960" cy="109728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Rule: the watch sits on a clear acrylic stand, a leather pillow, in its box, or on a hand model's wrist — never flat on a surface. Kit: 100 mm macro + focus stacking · probe lens · lazy susan · cotton gloves · blower · UV torch · 5 coloured seamless rolls.</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 · NEETU</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45</a:t>
            </a:r>
            <a:endParaRPr lang="en-US" sz="750" dirty="0"/>
          </a:p>
        </p:txBody>
      </p:sp>
      <p:sp>
        <p:nvSpPr>
          <p:cNvPr id="4" name="Shape 2"/>
          <p:cNvSpPr/>
          <p:nvPr/>
        </p:nvSpPr>
        <p:spPr>
          <a:xfrm>
            <a:off x="0" y="0"/>
            <a:ext cx="4206240" cy="6858000"/>
          </a:xfrm>
          <a:prstGeom prst="rect">
            <a:avLst/>
          </a:prstGeom>
          <a:solidFill>
            <a:srgbClr val="1A1712"/>
          </a:solidFill>
          <a:ln w="12700">
            <a:solidFill>
              <a:srgbClr val="1A1712"/>
            </a:solidFill>
            <a:prstDash val="solid"/>
          </a:ln>
        </p:spPr>
      </p:sp>
      <p:sp>
        <p:nvSpPr>
          <p:cNvPr id="5" name="Text 3"/>
          <p:cNvSpPr txBox="1"/>
          <p:nvPr/>
        </p:nvSpPr>
        <p:spPr>
          <a:xfrm>
            <a:off x="548640" y="54864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DAY 2 · NEETU (14:00–18:00)</a:t>
            </a:r>
            <a:endParaRPr lang="en-US" sz="900" dirty="0"/>
          </a:p>
        </p:txBody>
      </p:sp>
      <p:sp>
        <p:nvSpPr>
          <p:cNvPr id="6" name="Text 4"/>
          <p:cNvSpPr txBox="1"/>
          <p:nvPr/>
        </p:nvSpPr>
        <p:spPr>
          <a:xfrm>
            <a:off x="548640" y="914400"/>
            <a:ext cx="3474720" cy="1645920"/>
          </a:xfrm>
          <a:prstGeom prst="rect">
            <a:avLst/>
          </a:prstGeom>
          <a:noFill/>
          <a:ln/>
        </p:spPr>
        <p:txBody>
          <a:bodyPr wrap="square" lIns="0" tIns="0" rIns="0" bIns="0" rtlCol="0" anchor="t"/>
          <a:lstStyle/>
          <a:p>
            <a:pPr indent="0" marL="0">
              <a:lnSpc>
                <a:spcPct val="90000"/>
              </a:lnSpc>
              <a:buNone/>
            </a:pPr>
            <a:r>
              <a:rPr lang="en-US" sz="4800" b="1" dirty="0">
                <a:solidFill>
                  <a:srgbClr val="F2EDE4"/>
                </a:solidFill>
                <a:latin typeface="Oswald" pitchFamily="34" charset="0"/>
                <a:ea typeface="Oswald" pitchFamily="34" charset="-122"/>
                <a:cs typeface="Oswald" pitchFamily="34" charset="-120"/>
              </a:rPr>
              <a:t>THE</a:t>
            </a:r>
            <a:endParaRPr lang="en-US" sz="4800" dirty="0"/>
          </a:p>
          <a:p>
            <a:pPr indent="0" marL="0">
              <a:lnSpc>
                <a:spcPct val="90000"/>
              </a:lnSpc>
              <a:buNone/>
            </a:pPr>
            <a:r>
              <a:rPr lang="en-US" sz="4800" b="1" dirty="0">
                <a:solidFill>
                  <a:srgbClr val="F2EDE4"/>
                </a:solidFill>
                <a:latin typeface="Oswald" pitchFamily="34" charset="0"/>
                <a:ea typeface="Oswald" pitchFamily="34" charset="-122"/>
                <a:cs typeface="Oswald" pitchFamily="34" charset="-120"/>
              </a:rPr>
              <a:t>FOUNDER</a:t>
            </a:r>
            <a:endParaRPr lang="en-US" sz="4800" dirty="0"/>
          </a:p>
        </p:txBody>
      </p:sp>
      <p:sp>
        <p:nvSpPr>
          <p:cNvPr id="7" name="Text 5"/>
          <p:cNvSpPr txBox="1"/>
          <p:nvPr/>
        </p:nvSpPr>
        <p:spPr>
          <a:xfrm>
            <a:off x="548640" y="2743200"/>
            <a:ext cx="3291840" cy="731520"/>
          </a:xfrm>
          <a:prstGeom prst="rect">
            <a:avLst/>
          </a:prstGeom>
          <a:noFill/>
          <a:ln/>
        </p:spPr>
        <p:txBody>
          <a:bodyPr wrap="square" lIns="0" tIns="0" rIns="0" bIns="0" rtlCol="0" anchor="t"/>
          <a:lstStyle/>
          <a:p>
            <a:pPr indent="0" marL="0">
              <a:buNone/>
            </a:pPr>
            <a:r>
              <a:rPr lang="en-US" sz="1800" i="1" dirty="0">
                <a:solidFill>
                  <a:srgbClr val="C9A45C"/>
                </a:solidFill>
                <a:latin typeface="Oswald" pitchFamily="34" charset="0"/>
                <a:ea typeface="Oswald" pitchFamily="34" charset="-122"/>
                <a:cs typeface="Oswald" pitchFamily="34" charset="-120"/>
              </a:rPr>
              <a:t>"Jo tumhara hai — wahi pehno."</a:t>
            </a:r>
            <a:endParaRPr lang="en-US" sz="1800" dirty="0"/>
          </a:p>
        </p:txBody>
      </p:sp>
      <p:sp>
        <p:nvSpPr>
          <p:cNvPr id="8" name="Text 6"/>
          <p:cNvSpPr txBox="1"/>
          <p:nvPr/>
        </p:nvSpPr>
        <p:spPr>
          <a:xfrm>
            <a:off x="548640" y="3657600"/>
            <a:ext cx="3291840" cy="1280160"/>
          </a:xfrm>
          <a:prstGeom prst="rect">
            <a:avLst/>
          </a:prstGeom>
          <a:noFill/>
          <a:ln/>
        </p:spPr>
        <p:txBody>
          <a:bodyPr wrap="square" lIns="0" tIns="0" rIns="0" bIns="0" rtlCol="0" anchor="t"/>
          <a:lstStyle/>
          <a:p>
            <a:pPr indent="0" marL="0">
              <a:buNone/>
            </a:pPr>
            <a:r>
              <a:rPr lang="en-US" sz="1100" dirty="0">
                <a:solidFill>
                  <a:srgbClr val="9C978E"/>
                </a:solidFill>
                <a:latin typeface="Inter" pitchFamily="34" charset="0"/>
                <a:ea typeface="Inter" pitchFamily="34" charset="-122"/>
                <a:cs typeface="Inter" pitchFamily="34" charset="-120"/>
              </a:rPr>
              <a:t>Neetu — from a government school in Dalelpura and a ₹5,000 first salary in Jaipur, to an Indian luxury house for people who built everything themselves.</a:t>
            </a:r>
            <a:endParaRPr lang="en-US" sz="1100" dirty="0"/>
          </a:p>
        </p:txBody>
      </p:sp>
      <p:sp>
        <p:nvSpPr>
          <p:cNvPr id="9" name="Text 7"/>
          <p:cNvSpPr txBox="1"/>
          <p:nvPr/>
        </p:nvSpPr>
        <p:spPr>
          <a:xfrm>
            <a:off x="4663440" y="548640"/>
            <a:ext cx="54864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ONLY TALK — NO CONCEPTS, NO ACTING</a:t>
            </a:r>
            <a:endParaRPr lang="en-US" sz="750" dirty="0"/>
          </a:p>
        </p:txBody>
      </p:sp>
      <p:sp>
        <p:nvSpPr>
          <p:cNvPr id="10" name="Text 8"/>
          <p:cNvSpPr txBox="1"/>
          <p:nvPr/>
        </p:nvSpPr>
        <p:spPr>
          <a:xfrm>
            <a:off x="4663440" y="822960"/>
            <a:ext cx="6949440" cy="640080"/>
          </a:xfrm>
          <a:prstGeom prst="rect">
            <a:avLst/>
          </a:prstGeom>
          <a:noFill/>
          <a:ln/>
        </p:spPr>
        <p:txBody>
          <a:bodyPr wrap="square" lIns="0" tIns="0" rIns="0" bIns="0" rtlCol="0" anchor="t"/>
          <a:lstStyle/>
          <a:p>
            <a:pPr indent="0" marL="0">
              <a:buNone/>
            </a:pPr>
            <a:r>
              <a:rPr lang="en-US" sz="1100" dirty="0">
                <a:solidFill>
                  <a:srgbClr val="F2EDE4"/>
                </a:solidFill>
                <a:latin typeface="Inter" pitchFamily="34" charset="0"/>
                <a:ea typeface="Inter" pitchFamily="34" charset="-122"/>
                <a:cs typeface="Inter" pitchFamily="34" charset="-120"/>
              </a:rPr>
              <a:t>Neetu is on camera only on Day 2, seated, talking: first her own story, then each of the five watches in her words. Hinglish, the way she speaks. No scripted scenes.</a:t>
            </a:r>
            <a:endParaRPr lang="en-US" sz="1100" dirty="0"/>
          </a:p>
        </p:txBody>
      </p:sp>
      <p:sp>
        <p:nvSpPr>
          <p:cNvPr id="11" name="Text 9"/>
          <p:cNvSpPr txBox="1"/>
          <p:nvPr/>
        </p:nvSpPr>
        <p:spPr>
          <a:xfrm>
            <a:off x="4663440" y="164592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OUTPUTS</a:t>
            </a:r>
            <a:endParaRPr lang="en-US" sz="750" dirty="0"/>
          </a:p>
        </p:txBody>
      </p:sp>
      <p:sp>
        <p:nvSpPr>
          <p:cNvPr id="12" name="Text 10"/>
          <p:cNvSpPr txBox="1"/>
          <p:nvPr/>
        </p:nvSpPr>
        <p:spPr>
          <a:xfrm>
            <a:off x="4663440" y="1920240"/>
            <a:ext cx="6949440" cy="1280160"/>
          </a:xfrm>
          <a:prstGeom prst="rect">
            <a:avLst/>
          </a:prstGeom>
          <a:noFill/>
          <a:ln/>
        </p:spPr>
        <p:txBody>
          <a:bodyPr wrap="square" lIns="0" tIns="0" rIns="0" bIns="0" rtlCol="0" anchor="t"/>
          <a:lstStyle/>
          <a:p>
            <a:pPr indent="0" marL="0">
              <a:spcAft>
                <a:spcPts val="400"/>
              </a:spcAft>
              <a:buNone/>
            </a:pPr>
            <a:r>
              <a:rPr lang="en-US" sz="1050" dirty="0">
                <a:solidFill>
                  <a:srgbClr val="F2EDE4"/>
                </a:solidFill>
                <a:latin typeface="Inter" pitchFamily="34" charset="0"/>
                <a:ea typeface="Inter" pitchFamily="34" charset="-122"/>
                <a:cs typeface="Inter" pitchFamily="34" charset="-120"/>
              </a:rPr>
              <a:t>FOUNDER FILM  —  60–90 s, her whole story, closing on "Wear what's yours"
</a:t>
            </a:r>
            <a:pPr indent="0" marL="0">
              <a:spcAft>
                <a:spcPts val="400"/>
              </a:spcAft>
              <a:buNone/>
            </a:pPr>
            <a:r>
              <a:rPr lang="en-US" sz="1050" dirty="0">
                <a:solidFill>
                  <a:srgbClr val="F2EDE4"/>
                </a:solidFill>
                <a:latin typeface="Inter" pitchFamily="34" charset="0"/>
                <a:ea typeface="Inter" pitchFamily="34" charset="-122"/>
                <a:cs typeface="Inter" pitchFamily="34" charset="-120"/>
              </a:rPr>
              <a:t>4 STORY REELS  —  cut from her answers
</a:t>
            </a:r>
            <a:pPr indent="0" marL="0">
              <a:spcAft>
                <a:spcPts val="400"/>
              </a:spcAft>
              <a:buNone/>
            </a:pPr>
            <a:r>
              <a:rPr lang="en-US" sz="1050" dirty="0">
                <a:solidFill>
                  <a:srgbClr val="F2EDE4"/>
                </a:solidFill>
                <a:latin typeface="Inter" pitchFamily="34" charset="0"/>
                <a:ea typeface="Inter" pitchFamily="34" charset="-122"/>
                <a:cs typeface="Inter" pitchFamily="34" charset="-120"/>
              </a:rPr>
              <a:t>5 WATCH REELS  —  Neetu on each character, 30–40 s each
</a:t>
            </a:r>
            <a:pPr indent="0" marL="0">
              <a:spcAft>
                <a:spcPts val="400"/>
              </a:spcAft>
              <a:buNone/>
            </a:pPr>
            <a:r>
              <a:rPr lang="en-US" sz="1050" dirty="0">
                <a:solidFill>
                  <a:srgbClr val="F2EDE4"/>
                </a:solidFill>
                <a:latin typeface="Inter" pitchFamily="34" charset="0"/>
                <a:ea typeface="Inter" pitchFamily="34" charset="-122"/>
                <a:cs typeface="Inter" pitchFamily="34" charset="-120"/>
              </a:rPr>
              <a:t>12 PORTRAITS  —  press, website, LinkedIn</a:t>
            </a:r>
            <a:endParaRPr lang="en-US" sz="1050" dirty="0"/>
          </a:p>
        </p:txBody>
      </p:sp>
      <p:sp>
        <p:nvSpPr>
          <p:cNvPr id="13" name="Text 11"/>
          <p:cNvSpPr txBox="1"/>
          <p:nvPr/>
        </p:nvSpPr>
        <p:spPr>
          <a:xfrm>
            <a:off x="4663440" y="338328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HOW WE FILM HER</a:t>
            </a:r>
            <a:endParaRPr lang="en-US" sz="750" dirty="0"/>
          </a:p>
        </p:txBody>
      </p:sp>
      <p:sp>
        <p:nvSpPr>
          <p:cNvPr id="14" name="Text 12"/>
          <p:cNvSpPr txBox="1"/>
          <p:nvPr/>
        </p:nvSpPr>
        <p:spPr>
          <a:xfrm>
            <a:off x="4663440" y="3657600"/>
            <a:ext cx="6949440" cy="182880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F2EDE4"/>
                </a:solidFill>
                <a:latin typeface="Inter" pitchFamily="34" charset="0"/>
                <a:ea typeface="Inter" pitchFamily="34" charset="-122"/>
                <a:cs typeface="Inter" pitchFamily="34" charset="-120"/>
              </a:rPr>
              <a:t>Seated, warm practical lamps, dark background — a quiet corner of the hotel, dressed.</a:t>
            </a:r>
            <a:endParaRPr lang="en-US" sz="1050" dirty="0"/>
          </a:p>
          <a:p>
            <a:pPr marL="152400" indent="-152400">
              <a:spcAft>
                <a:spcPts val="600"/>
              </a:spcAft>
              <a:buSzPct val="100000"/>
              <a:buChar char="•"/>
            </a:pPr>
            <a:r>
              <a:rPr lang="en-US" sz="1050" dirty="0">
                <a:solidFill>
                  <a:srgbClr val="F2EDE4"/>
                </a:solidFill>
                <a:latin typeface="Inter" pitchFamily="34" charset="0"/>
                <a:ea typeface="Inter" pitchFamily="34" charset="-122"/>
                <a:cs typeface="Inter" pitchFamily="34" charset="-120"/>
              </a:rPr>
              <a:t>Two cameras: A wide on 35 mm, B tight on 85 mm. A third locked macro on the watch in her hands for the watch segments.</a:t>
            </a:r>
            <a:endParaRPr lang="en-US" sz="1050" dirty="0"/>
          </a:p>
          <a:p>
            <a:pPr marL="152400" indent="-152400">
              <a:spcAft>
                <a:spcPts val="600"/>
              </a:spcAft>
              <a:buSzPct val="100000"/>
              <a:buChar char="•"/>
            </a:pPr>
            <a:r>
              <a:rPr lang="en-US" sz="1050" dirty="0">
                <a:solidFill>
                  <a:srgbClr val="F2EDE4"/>
                </a:solidFill>
                <a:latin typeface="Inter" pitchFamily="34" charset="0"/>
                <a:ea typeface="Inter" pitchFamily="34" charset="-122"/>
                <a:cs typeface="Inter" pitchFamily="34" charset="-120"/>
              </a:rPr>
              <a:t>She answers in Hinglish — we cut from her real answers, no teleprompter.</a:t>
            </a:r>
            <a:endParaRPr lang="en-US" sz="1050" dirty="0"/>
          </a:p>
          <a:p>
            <a:pPr marL="152400" indent="-152400">
              <a:spcAft>
                <a:spcPts val="600"/>
              </a:spcAft>
              <a:buSzPct val="100000"/>
              <a:buChar char="•"/>
            </a:pPr>
            <a:r>
              <a:rPr lang="en-US" sz="1050" dirty="0">
                <a:solidFill>
                  <a:srgbClr val="F2EDE4"/>
                </a:solidFill>
                <a:latin typeface="Inter" pitchFamily="34" charset="0"/>
                <a:ea typeface="Inter" pitchFamily="34" charset="-122"/>
                <a:cs typeface="Inter" pitchFamily="34" charset="-120"/>
              </a:rPr>
              <a:t>Wardrobe her call: a structured blazer or pantsuit, or a saree with a structured blouse. Solid colours, no logos.</a:t>
            </a:r>
            <a:endParaRPr lang="en-US" sz="1050" dirty="0"/>
          </a:p>
        </p:txBody>
      </p:sp>
      <p:sp>
        <p:nvSpPr>
          <p:cNvPr id="15" name="Text 13"/>
          <p:cNvSpPr txBox="1"/>
          <p:nvPr/>
        </p:nvSpPr>
        <p:spPr>
          <a:xfrm>
            <a:off x="4663440" y="553212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B-ROLL + PORTRAITS</a:t>
            </a:r>
            <a:endParaRPr lang="en-US" sz="750" dirty="0"/>
          </a:p>
        </p:txBody>
      </p:sp>
      <p:sp>
        <p:nvSpPr>
          <p:cNvPr id="16" name="Text 14"/>
          <p:cNvSpPr txBox="1"/>
          <p:nvPr/>
        </p:nvSpPr>
        <p:spPr>
          <a:xfrm>
            <a:off x="4663440" y="5760720"/>
            <a:ext cx="6949440" cy="457200"/>
          </a:xfrm>
          <a:prstGeom prst="rect">
            <a:avLst/>
          </a:prstGeom>
          <a:noFill/>
          <a:ln/>
        </p:spPr>
        <p:txBody>
          <a:bodyPr wrap="square" lIns="0" tIns="0" rIns="0" bIns="0" rtlCol="0" anchor="t"/>
          <a:lstStyle/>
          <a:p>
            <a:pPr indent="0" marL="0">
              <a:buNone/>
            </a:pPr>
            <a:r>
              <a:rPr lang="en-US" sz="950" dirty="0">
                <a:solidFill>
                  <a:srgbClr val="9C978E"/>
                </a:solidFill>
                <a:latin typeface="Inter" pitchFamily="34" charset="0"/>
                <a:ea typeface="Inter" pitchFamily="34" charset="-122"/>
                <a:cs typeface="Inter" pitchFamily="34" charset="-120"/>
              </a:rPr>
              <a:t>Sketching the square case · a jeweller's loupe on a dial · numbering cards 001–500 · window-light portrait · golden hour.</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 · NEETU</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46</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PART 1 · HER STORY · 12 QUESTIONS IN HINGLISH</a:t>
            </a:r>
            <a:endParaRPr lang="en-US" sz="900" dirty="0"/>
          </a:p>
        </p:txBody>
      </p:sp>
      <p:sp>
        <p:nvSpPr>
          <p:cNvPr id="5" name="Text 3"/>
          <p:cNvSpPr txBox="1"/>
          <p:nvPr/>
        </p:nvSpPr>
        <p:spPr>
          <a:xfrm>
            <a:off x="548640" y="731520"/>
            <a:ext cx="109728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ASK LIKE A CONVERSATION. LISTEN FOR THESE.</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57200"/>
                <a:gridCol w="5120640"/>
                <a:gridCol w="5486400"/>
              </a:tblGrid>
              <a:tr h="36576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QUESTION (HINGLISH)</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WHAT WE'RE LISTENING FOR</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01</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Dalelpura se Jaipur — woh pehla din yaad hai?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Studied in a village government school; moved to Jaipur.</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02</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Pehli salary ₹5,000 thi. Tab time ki value kaise samjhi?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"When you have no safety net, time is your only real currency."</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03</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Ek ladki, men's luxury watch brand — logon ne kya kaha?</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Polite smiles, "vanity hobby" — she answered with drawings, tolerances, sourcing.</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04</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Aapke liye "dominance" ka matlab kya hai?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"Restraint. The loudest man in the room is usually the most insecure."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Ghadi bolne se pehle insaan ke baare mein kya batati hai?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"It tells you their relationship with time."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06</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Pehli ghadi jo aap chahti thi — jo mili hi nahi?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"It didn't exist, which is why Wealth Roots exists."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07</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Aapne ghadi ki taaqat pehli baar kab samjhi?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Her husband reaching for one watch before a decisive meeting, like a ritual.</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08</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Sirf 500 Alpha Founder pieces kyun? Advisors ne kya kaha?</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"500 lifetime advocates over early vanity sales."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09</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Woh packaging wala kissa — poori run kyun reject ki?</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"Luxury is obsessive, unglamorous friction."</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10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Wealth Roots kaun pehnega?</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The founder in a seed round, the architect, the surgeon — people with grit.</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11</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Paanch saal baad London ya Dubai mein koi caseback palte — kya dikhe?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"Roots in Jaipur" — Indian horology on the world stage.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65760">
                <a:tc>
                  <a:txBody>
                    <a:bodyPr/>
                    <a:lstStyle/>
                    <a:p>
                      <a:pPr indent="0" marL="0">
                        <a:buNone/>
                      </a:pPr>
                      <a:r>
                        <a:rPr lang="en-US" sz="900" b="1" dirty="0">
                          <a:solidFill>
                            <a:srgbClr val="C9A45C"/>
                          </a:solidFill>
                          <a:latin typeface="Inter" pitchFamily="34" charset="0"/>
                          <a:ea typeface="Inter" pitchFamily="34" charset="-122"/>
                          <a:cs typeface="Inter" pitchFamily="34" charset="-120"/>
                        </a:rPr>
                        <a:t>12</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"Wear what's yours" — aapke liye iska matlab?</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Her own line to close the founder film.</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 · NEETU</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47</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PART 1 · STORY REELS · CUT FROM HER REAL ANSWERS</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FOUR REELS, IN HER VOICE.</a:t>
            </a:r>
            <a:endParaRPr lang="en-US" sz="3000" dirty="0"/>
          </a:p>
        </p:txBody>
      </p:sp>
      <p:sp>
        <p:nvSpPr>
          <p:cNvPr id="6" name="Shape 4"/>
          <p:cNvSpPr/>
          <p:nvPr/>
        </p:nvSpPr>
        <p:spPr>
          <a:xfrm>
            <a:off x="548640" y="1463040"/>
            <a:ext cx="5440680" cy="2057400"/>
          </a:xfrm>
          <a:prstGeom prst="rect">
            <a:avLst/>
          </a:prstGeom>
          <a:solidFill>
            <a:srgbClr val="151513"/>
          </a:solidFill>
          <a:ln w="9525">
            <a:solidFill>
              <a:srgbClr val="2B2A26"/>
            </a:solidFill>
            <a:prstDash val="solid"/>
          </a:ln>
        </p:spPr>
      </p:sp>
      <p:sp>
        <p:nvSpPr>
          <p:cNvPr id="7" name="Text 5"/>
          <p:cNvSpPr txBox="1"/>
          <p:nvPr/>
        </p:nvSpPr>
        <p:spPr>
          <a:xfrm>
            <a:off x="777240" y="1645920"/>
            <a:ext cx="731520" cy="365760"/>
          </a:xfrm>
          <a:prstGeom prst="rect">
            <a:avLst/>
          </a:prstGeom>
          <a:noFill/>
          <a:ln/>
        </p:spPr>
        <p:txBody>
          <a:bodyPr wrap="square" lIns="0" tIns="0" rIns="0" bIns="0" rtlCol="0" anchor="t"/>
          <a:lstStyle/>
          <a:p>
            <a:pPr indent="0" marL="0">
              <a:buNone/>
            </a:pPr>
            <a:r>
              <a:rPr lang="en-US" sz="1800" b="1" dirty="0">
                <a:solidFill>
                  <a:srgbClr val="C9A45C"/>
                </a:solidFill>
                <a:latin typeface="Oswald" pitchFamily="34" charset="0"/>
                <a:ea typeface="Oswald" pitchFamily="34" charset="-122"/>
                <a:cs typeface="Oswald" pitchFamily="34" charset="-120"/>
              </a:rPr>
              <a:t>F1</a:t>
            </a:r>
            <a:endParaRPr lang="en-US" sz="1800" dirty="0"/>
          </a:p>
        </p:txBody>
      </p:sp>
      <p:sp>
        <p:nvSpPr>
          <p:cNvPr id="8" name="Text 6"/>
          <p:cNvSpPr txBox="1"/>
          <p:nvPr/>
        </p:nvSpPr>
        <p:spPr>
          <a:xfrm>
            <a:off x="1463040" y="1664208"/>
            <a:ext cx="3291840" cy="365760"/>
          </a:xfrm>
          <a:prstGeom prst="rect">
            <a:avLst/>
          </a:prstGeom>
          <a:noFill/>
          <a:ln/>
        </p:spPr>
        <p:txBody>
          <a:bodyPr wrap="square" lIns="0" tIns="0" rIns="0" bIns="0" rtlCol="0" anchor="t"/>
          <a:lstStyle/>
          <a:p>
            <a:pPr indent="0" marL="0">
              <a:buNone/>
            </a:pPr>
            <a:r>
              <a:rPr lang="en-US" sz="1700" b="1" dirty="0">
                <a:solidFill>
                  <a:srgbClr val="F2EDE4"/>
                </a:solidFill>
                <a:latin typeface="Oswald" pitchFamily="34" charset="0"/>
                <a:ea typeface="Oswald" pitchFamily="34" charset="-122"/>
                <a:cs typeface="Oswald" pitchFamily="34" charset="-120"/>
              </a:rPr>
              <a:t>₹5,000 SE</a:t>
            </a:r>
            <a:endParaRPr lang="en-US" sz="1700" dirty="0"/>
          </a:p>
        </p:txBody>
      </p:sp>
      <p:sp>
        <p:nvSpPr>
          <p:cNvPr id="9" name="Text 7"/>
          <p:cNvSpPr txBox="1"/>
          <p:nvPr/>
        </p:nvSpPr>
        <p:spPr>
          <a:xfrm>
            <a:off x="4572000" y="1719072"/>
            <a:ext cx="1234440" cy="274320"/>
          </a:xfrm>
          <a:prstGeom prst="rect">
            <a:avLst/>
          </a:prstGeom>
          <a:noFill/>
          <a:ln/>
        </p:spPr>
        <p:txBody>
          <a:bodyPr wrap="square" lIns="0" tIns="0" rIns="0" bIns="0" rtlCol="0" anchor="t"/>
          <a:lstStyle/>
          <a:p>
            <a:pPr algn="r" indent="0" marL="0">
              <a:buNone/>
            </a:pPr>
            <a:r>
              <a:rPr lang="en-US" sz="800" b="1" spc="200" kern="0" dirty="0">
                <a:solidFill>
                  <a:srgbClr val="9C978E"/>
                </a:solidFill>
                <a:latin typeface="Inter" pitchFamily="34" charset="0"/>
                <a:ea typeface="Inter" pitchFamily="34" charset="-122"/>
                <a:cs typeface="Inter" pitchFamily="34" charset="-120"/>
              </a:rPr>
              <a:t>HER STORY</a:t>
            </a:r>
            <a:endParaRPr lang="en-US" sz="800" dirty="0"/>
          </a:p>
        </p:txBody>
      </p:sp>
      <p:sp>
        <p:nvSpPr>
          <p:cNvPr id="10" name="Text 8"/>
          <p:cNvSpPr txBox="1"/>
          <p:nvPr/>
        </p:nvSpPr>
        <p:spPr>
          <a:xfrm>
            <a:off x="777240" y="2148840"/>
            <a:ext cx="4983480" cy="1280160"/>
          </a:xfrm>
          <a:prstGeom prst="rect">
            <a:avLst/>
          </a:prstGeom>
          <a:noFill/>
          <a:ln/>
        </p:spPr>
        <p:txBody>
          <a:bodyPr wrap="square" lIns="0" tIns="0" rIns="0" bIns="0" rtlCol="0" anchor="t"/>
          <a:lstStyle/>
          <a:p>
            <a:pPr indent="0" marL="0">
              <a:lnSpc>
                <a:spcPct val="115000"/>
              </a:lnSpc>
              <a:buNone/>
            </a:pPr>
            <a:r>
              <a:rPr lang="en-US" sz="1050" i="1" dirty="0">
                <a:solidFill>
                  <a:srgbClr val="F2EDE4"/>
                </a:solidFill>
                <a:latin typeface="Inter" pitchFamily="34" charset="0"/>
                <a:ea typeface="Inter" pitchFamily="34" charset="-122"/>
                <a:cs typeface="Inter" pitchFamily="34" charset="-120"/>
              </a:rPr>
              <a:t>"Dalelpura ke sarkari school se padhi. Jaipur mein pehli naukri — ₹5,000 mahina. Tab samjha: jab koi safety net nahi hota, toh time hi asli currency hai. Wealth Roots wahin se aaya."</a:t>
            </a:r>
            <a:endParaRPr lang="en-US" sz="1050" dirty="0"/>
          </a:p>
        </p:txBody>
      </p:sp>
      <p:sp>
        <p:nvSpPr>
          <p:cNvPr id="11" name="Shape 9"/>
          <p:cNvSpPr/>
          <p:nvPr/>
        </p:nvSpPr>
        <p:spPr>
          <a:xfrm>
            <a:off x="6172200" y="1463040"/>
            <a:ext cx="5440680" cy="2057400"/>
          </a:xfrm>
          <a:prstGeom prst="rect">
            <a:avLst/>
          </a:prstGeom>
          <a:solidFill>
            <a:srgbClr val="151513"/>
          </a:solidFill>
          <a:ln w="9525">
            <a:solidFill>
              <a:srgbClr val="2B2A26"/>
            </a:solidFill>
            <a:prstDash val="solid"/>
          </a:ln>
        </p:spPr>
      </p:sp>
      <p:sp>
        <p:nvSpPr>
          <p:cNvPr id="12" name="Text 10"/>
          <p:cNvSpPr txBox="1"/>
          <p:nvPr/>
        </p:nvSpPr>
        <p:spPr>
          <a:xfrm>
            <a:off x="6400800" y="1645920"/>
            <a:ext cx="731520" cy="365760"/>
          </a:xfrm>
          <a:prstGeom prst="rect">
            <a:avLst/>
          </a:prstGeom>
          <a:noFill/>
          <a:ln/>
        </p:spPr>
        <p:txBody>
          <a:bodyPr wrap="square" lIns="0" tIns="0" rIns="0" bIns="0" rtlCol="0" anchor="t"/>
          <a:lstStyle/>
          <a:p>
            <a:pPr indent="0" marL="0">
              <a:buNone/>
            </a:pPr>
            <a:r>
              <a:rPr lang="en-US" sz="1800" b="1" dirty="0">
                <a:solidFill>
                  <a:srgbClr val="C9A45C"/>
                </a:solidFill>
                <a:latin typeface="Oswald" pitchFamily="34" charset="0"/>
                <a:ea typeface="Oswald" pitchFamily="34" charset="-122"/>
                <a:cs typeface="Oswald" pitchFamily="34" charset="-120"/>
              </a:rPr>
              <a:t>F2</a:t>
            </a:r>
            <a:endParaRPr lang="en-US" sz="1800" dirty="0"/>
          </a:p>
        </p:txBody>
      </p:sp>
      <p:sp>
        <p:nvSpPr>
          <p:cNvPr id="13" name="Text 11"/>
          <p:cNvSpPr txBox="1"/>
          <p:nvPr/>
        </p:nvSpPr>
        <p:spPr>
          <a:xfrm>
            <a:off x="7086600" y="1664208"/>
            <a:ext cx="3291840" cy="365760"/>
          </a:xfrm>
          <a:prstGeom prst="rect">
            <a:avLst/>
          </a:prstGeom>
          <a:noFill/>
          <a:ln/>
        </p:spPr>
        <p:txBody>
          <a:bodyPr wrap="square" lIns="0" tIns="0" rIns="0" bIns="0" rtlCol="0" anchor="t"/>
          <a:lstStyle/>
          <a:p>
            <a:pPr indent="0" marL="0">
              <a:buNone/>
            </a:pPr>
            <a:r>
              <a:rPr lang="en-US" sz="1700" b="1" dirty="0">
                <a:solidFill>
                  <a:srgbClr val="F2EDE4"/>
                </a:solidFill>
                <a:latin typeface="Oswald" pitchFamily="34" charset="0"/>
                <a:ea typeface="Oswald" pitchFamily="34" charset="-122"/>
                <a:cs typeface="Oswald" pitchFamily="34" charset="-120"/>
              </a:rPr>
              <a:t>DOMINANCE = RESTRAINT</a:t>
            </a:r>
            <a:endParaRPr lang="en-US" sz="1700" dirty="0"/>
          </a:p>
        </p:txBody>
      </p:sp>
      <p:sp>
        <p:nvSpPr>
          <p:cNvPr id="14" name="Text 12"/>
          <p:cNvSpPr txBox="1"/>
          <p:nvPr/>
        </p:nvSpPr>
        <p:spPr>
          <a:xfrm>
            <a:off x="10195560" y="1719072"/>
            <a:ext cx="1234440" cy="274320"/>
          </a:xfrm>
          <a:prstGeom prst="rect">
            <a:avLst/>
          </a:prstGeom>
          <a:noFill/>
          <a:ln/>
        </p:spPr>
        <p:txBody>
          <a:bodyPr wrap="square" lIns="0" tIns="0" rIns="0" bIns="0" rtlCol="0" anchor="t"/>
          <a:lstStyle/>
          <a:p>
            <a:pPr algn="r" indent="0" marL="0">
              <a:buNone/>
            </a:pPr>
            <a:r>
              <a:rPr lang="en-US" sz="800" b="1" spc="200" kern="0" dirty="0">
                <a:solidFill>
                  <a:srgbClr val="9C978E"/>
                </a:solidFill>
                <a:latin typeface="Inter" pitchFamily="34" charset="0"/>
                <a:ea typeface="Inter" pitchFamily="34" charset="-122"/>
                <a:cs typeface="Inter" pitchFamily="34" charset="-120"/>
              </a:rPr>
              <a:t>HER BELIEF</a:t>
            </a:r>
            <a:endParaRPr lang="en-US" sz="800" dirty="0"/>
          </a:p>
        </p:txBody>
      </p:sp>
      <p:sp>
        <p:nvSpPr>
          <p:cNvPr id="15" name="Text 13"/>
          <p:cNvSpPr txBox="1"/>
          <p:nvPr/>
        </p:nvSpPr>
        <p:spPr>
          <a:xfrm>
            <a:off x="6400800" y="2148840"/>
            <a:ext cx="4983480" cy="1280160"/>
          </a:xfrm>
          <a:prstGeom prst="rect">
            <a:avLst/>
          </a:prstGeom>
          <a:noFill/>
          <a:ln/>
        </p:spPr>
        <p:txBody>
          <a:bodyPr wrap="square" lIns="0" tIns="0" rIns="0" bIns="0" rtlCol="0" anchor="t"/>
          <a:lstStyle/>
          <a:p>
            <a:pPr indent="0" marL="0">
              <a:lnSpc>
                <a:spcPct val="115000"/>
              </a:lnSpc>
              <a:buNone/>
            </a:pPr>
            <a:r>
              <a:rPr lang="en-US" sz="1050" i="1" dirty="0">
                <a:solidFill>
                  <a:srgbClr val="F2EDE4"/>
                </a:solidFill>
                <a:latin typeface="Inter" pitchFamily="34" charset="0"/>
                <a:ea typeface="Inter" pitchFamily="34" charset="-122"/>
                <a:cs typeface="Inter" pitchFamily="34" charset="-120"/>
              </a:rPr>
              <a:t>"Mere liye dominance ka matlab hai restraint. Room ka sabse loud aadmi aksar sabse insecure hota hai. Asli power — apne calendar, emotions aur standards pe control."</a:t>
            </a:r>
            <a:endParaRPr lang="en-US" sz="1050" dirty="0"/>
          </a:p>
        </p:txBody>
      </p:sp>
      <p:sp>
        <p:nvSpPr>
          <p:cNvPr id="16" name="Shape 14"/>
          <p:cNvSpPr/>
          <p:nvPr/>
        </p:nvSpPr>
        <p:spPr>
          <a:xfrm>
            <a:off x="548640" y="3657600"/>
            <a:ext cx="5440680" cy="2057400"/>
          </a:xfrm>
          <a:prstGeom prst="rect">
            <a:avLst/>
          </a:prstGeom>
          <a:solidFill>
            <a:srgbClr val="151513"/>
          </a:solidFill>
          <a:ln w="9525">
            <a:solidFill>
              <a:srgbClr val="2B2A26"/>
            </a:solidFill>
            <a:prstDash val="solid"/>
          </a:ln>
        </p:spPr>
      </p:sp>
      <p:sp>
        <p:nvSpPr>
          <p:cNvPr id="17" name="Text 15"/>
          <p:cNvSpPr txBox="1"/>
          <p:nvPr/>
        </p:nvSpPr>
        <p:spPr>
          <a:xfrm>
            <a:off x="777240" y="3840480"/>
            <a:ext cx="731520" cy="365760"/>
          </a:xfrm>
          <a:prstGeom prst="rect">
            <a:avLst/>
          </a:prstGeom>
          <a:noFill/>
          <a:ln/>
        </p:spPr>
        <p:txBody>
          <a:bodyPr wrap="square" lIns="0" tIns="0" rIns="0" bIns="0" rtlCol="0" anchor="t"/>
          <a:lstStyle/>
          <a:p>
            <a:pPr indent="0" marL="0">
              <a:buNone/>
            </a:pPr>
            <a:r>
              <a:rPr lang="en-US" sz="1800" b="1" dirty="0">
                <a:solidFill>
                  <a:srgbClr val="C9A45C"/>
                </a:solidFill>
                <a:latin typeface="Oswald" pitchFamily="34" charset="0"/>
                <a:ea typeface="Oswald" pitchFamily="34" charset="-122"/>
                <a:cs typeface="Oswald" pitchFamily="34" charset="-120"/>
              </a:rPr>
              <a:t>F3</a:t>
            </a:r>
            <a:endParaRPr lang="en-US" sz="1800" dirty="0"/>
          </a:p>
        </p:txBody>
      </p:sp>
      <p:sp>
        <p:nvSpPr>
          <p:cNvPr id="18" name="Text 16"/>
          <p:cNvSpPr txBox="1"/>
          <p:nvPr/>
        </p:nvSpPr>
        <p:spPr>
          <a:xfrm>
            <a:off x="1463040" y="3858768"/>
            <a:ext cx="3291840" cy="365760"/>
          </a:xfrm>
          <a:prstGeom prst="rect">
            <a:avLst/>
          </a:prstGeom>
          <a:noFill/>
          <a:ln/>
        </p:spPr>
        <p:txBody>
          <a:bodyPr wrap="square" lIns="0" tIns="0" rIns="0" bIns="0" rtlCol="0" anchor="t"/>
          <a:lstStyle/>
          <a:p>
            <a:pPr indent="0" marL="0">
              <a:buNone/>
            </a:pPr>
            <a:r>
              <a:rPr lang="en-US" sz="1700" b="1" dirty="0">
                <a:solidFill>
                  <a:srgbClr val="F2EDE4"/>
                </a:solidFill>
                <a:latin typeface="Oswald" pitchFamily="34" charset="0"/>
                <a:ea typeface="Oswald" pitchFamily="34" charset="-122"/>
                <a:cs typeface="Oswald" pitchFamily="34" charset="-120"/>
              </a:rPr>
              <a:t>SIRF 500</a:t>
            </a:r>
            <a:endParaRPr lang="en-US" sz="1700" dirty="0"/>
          </a:p>
        </p:txBody>
      </p:sp>
      <p:sp>
        <p:nvSpPr>
          <p:cNvPr id="19" name="Text 17"/>
          <p:cNvSpPr txBox="1"/>
          <p:nvPr/>
        </p:nvSpPr>
        <p:spPr>
          <a:xfrm>
            <a:off x="4572000" y="3913632"/>
            <a:ext cx="1234440" cy="274320"/>
          </a:xfrm>
          <a:prstGeom prst="rect">
            <a:avLst/>
          </a:prstGeom>
          <a:noFill/>
          <a:ln/>
        </p:spPr>
        <p:txBody>
          <a:bodyPr wrap="square" lIns="0" tIns="0" rIns="0" bIns="0" rtlCol="0" anchor="t"/>
          <a:lstStyle/>
          <a:p>
            <a:pPr algn="r" indent="0" marL="0">
              <a:buNone/>
            </a:pPr>
            <a:r>
              <a:rPr lang="en-US" sz="800" b="1" spc="200" kern="0" dirty="0">
                <a:solidFill>
                  <a:srgbClr val="9C978E"/>
                </a:solidFill>
                <a:latin typeface="Inter" pitchFamily="34" charset="0"/>
                <a:ea typeface="Inter" pitchFamily="34" charset="-122"/>
                <a:cs typeface="Inter" pitchFamily="34" charset="-120"/>
              </a:rPr>
              <a:t>HER DECISION</a:t>
            </a:r>
            <a:endParaRPr lang="en-US" sz="800" dirty="0"/>
          </a:p>
        </p:txBody>
      </p:sp>
      <p:sp>
        <p:nvSpPr>
          <p:cNvPr id="20" name="Text 18"/>
          <p:cNvSpPr txBox="1"/>
          <p:nvPr/>
        </p:nvSpPr>
        <p:spPr>
          <a:xfrm>
            <a:off x="777240" y="4343400"/>
            <a:ext cx="4983480" cy="1280160"/>
          </a:xfrm>
          <a:prstGeom prst="rect">
            <a:avLst/>
          </a:prstGeom>
          <a:noFill/>
          <a:ln/>
        </p:spPr>
        <p:txBody>
          <a:bodyPr wrap="square" lIns="0" tIns="0" rIns="0" bIns="0" rtlCol="0" anchor="t"/>
          <a:lstStyle/>
          <a:p>
            <a:pPr indent="0" marL="0">
              <a:lnSpc>
                <a:spcPct val="115000"/>
              </a:lnSpc>
              <a:buNone/>
            </a:pPr>
            <a:r>
              <a:rPr lang="en-US" sz="1050" i="1" dirty="0">
                <a:solidFill>
                  <a:srgbClr val="F2EDE4"/>
                </a:solidFill>
                <a:latin typeface="Inter" pitchFamily="34" charset="0"/>
                <a:ea typeface="Inter" pitchFamily="34" charset="-122"/>
                <a:cs typeface="Inter" pitchFamily="34" charset="-120"/>
              </a:rPr>
              <a:t>"Advisors ne kaha production badhao, cost giraao. Maine mana kar diya. Pehle 500 log invoice ki line item nahi hain — woh is brand ki neev hain."</a:t>
            </a:r>
            <a:endParaRPr lang="en-US" sz="1050" dirty="0"/>
          </a:p>
        </p:txBody>
      </p:sp>
      <p:sp>
        <p:nvSpPr>
          <p:cNvPr id="21" name="Shape 19"/>
          <p:cNvSpPr/>
          <p:nvPr/>
        </p:nvSpPr>
        <p:spPr>
          <a:xfrm>
            <a:off x="6172200" y="3657600"/>
            <a:ext cx="5440680" cy="2057400"/>
          </a:xfrm>
          <a:prstGeom prst="rect">
            <a:avLst/>
          </a:prstGeom>
          <a:solidFill>
            <a:srgbClr val="151513"/>
          </a:solidFill>
          <a:ln w="9525">
            <a:solidFill>
              <a:srgbClr val="2B2A26"/>
            </a:solidFill>
            <a:prstDash val="solid"/>
          </a:ln>
        </p:spPr>
      </p:sp>
      <p:sp>
        <p:nvSpPr>
          <p:cNvPr id="22" name="Text 20"/>
          <p:cNvSpPr txBox="1"/>
          <p:nvPr/>
        </p:nvSpPr>
        <p:spPr>
          <a:xfrm>
            <a:off x="6400800" y="3840480"/>
            <a:ext cx="731520" cy="365760"/>
          </a:xfrm>
          <a:prstGeom prst="rect">
            <a:avLst/>
          </a:prstGeom>
          <a:noFill/>
          <a:ln/>
        </p:spPr>
        <p:txBody>
          <a:bodyPr wrap="square" lIns="0" tIns="0" rIns="0" bIns="0" rtlCol="0" anchor="t"/>
          <a:lstStyle/>
          <a:p>
            <a:pPr indent="0" marL="0">
              <a:buNone/>
            </a:pPr>
            <a:r>
              <a:rPr lang="en-US" sz="1800" b="1" dirty="0">
                <a:solidFill>
                  <a:srgbClr val="C9A45C"/>
                </a:solidFill>
                <a:latin typeface="Oswald" pitchFamily="34" charset="0"/>
                <a:ea typeface="Oswald" pitchFamily="34" charset="-122"/>
                <a:cs typeface="Oswald" pitchFamily="34" charset="-120"/>
              </a:rPr>
              <a:t>F4</a:t>
            </a:r>
            <a:endParaRPr lang="en-US" sz="1800" dirty="0"/>
          </a:p>
        </p:txBody>
      </p:sp>
      <p:sp>
        <p:nvSpPr>
          <p:cNvPr id="23" name="Text 21"/>
          <p:cNvSpPr txBox="1"/>
          <p:nvPr/>
        </p:nvSpPr>
        <p:spPr>
          <a:xfrm>
            <a:off x="7086600" y="3858768"/>
            <a:ext cx="3291840" cy="365760"/>
          </a:xfrm>
          <a:prstGeom prst="rect">
            <a:avLst/>
          </a:prstGeom>
          <a:noFill/>
          <a:ln/>
        </p:spPr>
        <p:txBody>
          <a:bodyPr wrap="square" lIns="0" tIns="0" rIns="0" bIns="0" rtlCol="0" anchor="t"/>
          <a:lstStyle/>
          <a:p>
            <a:pPr indent="0" marL="0">
              <a:buNone/>
            </a:pPr>
            <a:r>
              <a:rPr lang="en-US" sz="1700" b="1" dirty="0">
                <a:solidFill>
                  <a:srgbClr val="F2EDE4"/>
                </a:solidFill>
                <a:latin typeface="Oswald" pitchFamily="34" charset="0"/>
                <a:ea typeface="Oswald" pitchFamily="34" charset="-122"/>
                <a:cs typeface="Oswald" pitchFamily="34" charset="-120"/>
              </a:rPr>
              <a:t>JO TUMHARA HAI</a:t>
            </a:r>
            <a:endParaRPr lang="en-US" sz="1700" dirty="0"/>
          </a:p>
        </p:txBody>
      </p:sp>
      <p:sp>
        <p:nvSpPr>
          <p:cNvPr id="24" name="Text 22"/>
          <p:cNvSpPr txBox="1"/>
          <p:nvPr/>
        </p:nvSpPr>
        <p:spPr>
          <a:xfrm>
            <a:off x="10195560" y="3913632"/>
            <a:ext cx="1234440" cy="274320"/>
          </a:xfrm>
          <a:prstGeom prst="rect">
            <a:avLst/>
          </a:prstGeom>
          <a:noFill/>
          <a:ln/>
        </p:spPr>
        <p:txBody>
          <a:bodyPr wrap="square" lIns="0" tIns="0" rIns="0" bIns="0" rtlCol="0" anchor="t"/>
          <a:lstStyle/>
          <a:p>
            <a:pPr algn="r" indent="0" marL="0">
              <a:buNone/>
            </a:pPr>
            <a:r>
              <a:rPr lang="en-US" sz="800" b="1" spc="200" kern="0" dirty="0">
                <a:solidFill>
                  <a:srgbClr val="9C978E"/>
                </a:solidFill>
                <a:latin typeface="Inter" pitchFamily="34" charset="0"/>
                <a:ea typeface="Inter" pitchFamily="34" charset="-122"/>
                <a:cs typeface="Inter" pitchFamily="34" charset="-120"/>
              </a:rPr>
              <a:t>HER LINE</a:t>
            </a:r>
            <a:endParaRPr lang="en-US" sz="800" dirty="0"/>
          </a:p>
        </p:txBody>
      </p:sp>
      <p:sp>
        <p:nvSpPr>
          <p:cNvPr id="25" name="Text 23"/>
          <p:cNvSpPr txBox="1"/>
          <p:nvPr/>
        </p:nvSpPr>
        <p:spPr>
          <a:xfrm>
            <a:off x="6400800" y="4343400"/>
            <a:ext cx="4983480" cy="1280160"/>
          </a:xfrm>
          <a:prstGeom prst="rect">
            <a:avLst/>
          </a:prstGeom>
          <a:noFill/>
          <a:ln/>
        </p:spPr>
        <p:txBody>
          <a:bodyPr wrap="square" lIns="0" tIns="0" rIns="0" bIns="0" rtlCol="0" anchor="t"/>
          <a:lstStyle/>
          <a:p>
            <a:pPr indent="0" marL="0">
              <a:lnSpc>
                <a:spcPct val="115000"/>
              </a:lnSpc>
              <a:buNone/>
            </a:pPr>
            <a:r>
              <a:rPr lang="en-US" sz="1050" i="1" dirty="0">
                <a:solidFill>
                  <a:srgbClr val="F2EDE4"/>
                </a:solidFill>
                <a:latin typeface="Inter" pitchFamily="34" charset="0"/>
                <a:ea typeface="Inter" pitchFamily="34" charset="-122"/>
                <a:cs typeface="Inter" pitchFamily="34" charset="-120"/>
              </a:rPr>
              <a:t>"Ye ghadi kisi ko impress karne ke liye nahi hai. Ye un logon ke liye hai jinhone apna sab kuch khud banaya. Jo tumhara hai — wahi pehno."</a:t>
            </a:r>
            <a:endParaRPr lang="en-US" sz="1050" dirty="0"/>
          </a:p>
        </p:txBody>
      </p:sp>
      <p:sp>
        <p:nvSpPr>
          <p:cNvPr id="26" name="Text 24"/>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Lines to steer toward — she says them her way on the day. Music for all founder cuts: Ludovico Einaudi — "Nuvole Bianche" (reference).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DAY 2 · NEETU</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48</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PART 2 · EACH WATCH, IN HER WORDS</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FIVE CHARACTERS. FIVE SHORT TALKS.</a:t>
            </a:r>
            <a:endParaRPr lang="en-US" sz="3000" dirty="0"/>
          </a:p>
        </p:txBody>
      </p:sp>
      <p:sp>
        <p:nvSpPr>
          <p:cNvPr id="6" name="Shape 4"/>
          <p:cNvSpPr/>
          <p:nvPr/>
        </p:nvSpPr>
        <p:spPr>
          <a:xfrm>
            <a:off x="548640" y="1508760"/>
            <a:ext cx="2103120" cy="4343400"/>
          </a:xfrm>
          <a:prstGeom prst="rect">
            <a:avLst/>
          </a:prstGeom>
          <a:solidFill>
            <a:srgbClr val="151513"/>
          </a:solidFill>
          <a:ln w="9525">
            <a:solidFill>
              <a:srgbClr val="2B2A26"/>
            </a:solidFill>
            <a:prstDash val="solid"/>
          </a:ln>
        </p:spPr>
      </p:sp>
      <p:pic>
        <p:nvPicPr>
          <p:cNvPr id="7" name="Image 0" descr="/tmp/claude-0/-home-user-Sage-portfolio/d05fecce-977e-5eab-9cf5-7c09b306c551/scratchpad/wrdeck/img/crop_green.jpg">    </p:cNvPr>
          <p:cNvPicPr>
            <a:picLocks noChangeAspect="1"/>
          </p:cNvPicPr>
          <p:nvPr/>
        </p:nvPicPr>
        <p:blipFill>
          <a:blip r:embed="rId1"/>
          <a:srcRect l="0" r="0" t="0" b="0"/>
          <a:stretch/>
        </p:blipFill>
        <p:spPr>
          <a:xfrm>
            <a:off x="685800" y="1645920"/>
            <a:ext cx="1828800" cy="1463040"/>
          </a:xfrm>
          <a:prstGeom prst="rect">
            <a:avLst/>
          </a:prstGeom>
        </p:spPr>
      </p:pic>
      <p:sp>
        <p:nvSpPr>
          <p:cNvPr id="8" name="Shape 5"/>
          <p:cNvSpPr/>
          <p:nvPr/>
        </p:nvSpPr>
        <p:spPr>
          <a:xfrm>
            <a:off x="548640" y="3182112"/>
            <a:ext cx="2103120" cy="45720"/>
          </a:xfrm>
          <a:prstGeom prst="rect">
            <a:avLst/>
          </a:prstGeom>
          <a:solidFill>
            <a:srgbClr val="E8DFC8"/>
          </a:solidFill>
          <a:ln w="12700">
            <a:solidFill>
              <a:srgbClr val="E8DFC8"/>
            </a:solidFill>
            <a:prstDash val="solid"/>
          </a:ln>
        </p:spPr>
      </p:sp>
      <p:sp>
        <p:nvSpPr>
          <p:cNvPr id="9" name="Text 6"/>
          <p:cNvSpPr txBox="1"/>
          <p:nvPr/>
        </p:nvSpPr>
        <p:spPr>
          <a:xfrm>
            <a:off x="731520" y="3310128"/>
            <a:ext cx="182880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FOREST IVORY</a:t>
            </a:r>
            <a:endParaRPr lang="en-US" sz="1300" dirty="0"/>
          </a:p>
        </p:txBody>
      </p:sp>
      <p:sp>
        <p:nvSpPr>
          <p:cNvPr id="10" name="Text 7"/>
          <p:cNvSpPr txBox="1"/>
          <p:nvPr/>
        </p:nvSpPr>
        <p:spPr>
          <a:xfrm>
            <a:off x="731520" y="3584448"/>
            <a:ext cx="1828800" cy="228600"/>
          </a:xfrm>
          <a:prstGeom prst="rect">
            <a:avLst/>
          </a:prstGeom>
          <a:noFill/>
          <a:ln/>
        </p:spPr>
        <p:txBody>
          <a:bodyPr wrap="square" lIns="0" tIns="0" rIns="0" bIns="0" rtlCol="0" anchor="t"/>
          <a:lstStyle/>
          <a:p>
            <a:pPr indent="0" marL="0">
              <a:buNone/>
            </a:pPr>
            <a:r>
              <a:rPr lang="en-US" sz="800" b="1" spc="200" kern="0" dirty="0">
                <a:solidFill>
                  <a:srgbClr val="C9A45C"/>
                </a:solidFill>
                <a:latin typeface="Inter" pitchFamily="34" charset="0"/>
                <a:ea typeface="Inter" pitchFamily="34" charset="-122"/>
                <a:cs typeface="Inter" pitchFamily="34" charset="-120"/>
              </a:rPr>
              <a:t>ROOTS</a:t>
            </a:r>
            <a:endParaRPr lang="en-US" sz="800" dirty="0"/>
          </a:p>
        </p:txBody>
      </p:sp>
      <p:sp>
        <p:nvSpPr>
          <p:cNvPr id="11" name="Text 8"/>
          <p:cNvSpPr txBox="1"/>
          <p:nvPr/>
        </p:nvSpPr>
        <p:spPr>
          <a:xfrm>
            <a:off x="731520" y="3858768"/>
            <a:ext cx="1783080" cy="1371600"/>
          </a:xfrm>
          <a:prstGeom prst="rect">
            <a:avLst/>
          </a:prstGeom>
          <a:noFill/>
          <a:ln/>
        </p:spPr>
        <p:txBody>
          <a:bodyPr wrap="square" lIns="0" tIns="0" rIns="0" bIns="0" rtlCol="0" anchor="t"/>
          <a:lstStyle/>
          <a:p>
            <a:pPr indent="0" marL="0">
              <a:buNone/>
            </a:pPr>
            <a:r>
              <a:rPr lang="en-US" sz="850" i="1" dirty="0">
                <a:solidFill>
                  <a:srgbClr val="F2EDE4"/>
                </a:solidFill>
                <a:latin typeface="Inter" pitchFamily="34" charset="0"/>
                <a:ea typeface="Inter" pitchFamily="34" charset="-122"/>
                <a:cs typeface="Inter" pitchFamily="34" charset="-120"/>
              </a:rPr>
              <a:t>"Ivory aur bottle green hi kyun? Ye ghadi kis aadmi ke liye hai jo apni jadein nahi bhoolta?"</a:t>
            </a:r>
            <a:endParaRPr lang="en-US" sz="850" dirty="0"/>
          </a:p>
        </p:txBody>
      </p:sp>
      <p:sp>
        <p:nvSpPr>
          <p:cNvPr id="12" name="Text 9"/>
          <p:cNvSpPr txBox="1"/>
          <p:nvPr/>
        </p:nvSpPr>
        <p:spPr>
          <a:xfrm>
            <a:off x="731520" y="5303520"/>
            <a:ext cx="178308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one that stays. Made to be passed down.</a:t>
            </a:r>
            <a:endParaRPr lang="en-US" sz="850" dirty="0"/>
          </a:p>
        </p:txBody>
      </p:sp>
      <p:sp>
        <p:nvSpPr>
          <p:cNvPr id="13" name="Shape 10"/>
          <p:cNvSpPr/>
          <p:nvPr/>
        </p:nvSpPr>
        <p:spPr>
          <a:xfrm>
            <a:off x="2807208" y="1508760"/>
            <a:ext cx="2103120" cy="4343400"/>
          </a:xfrm>
          <a:prstGeom prst="rect">
            <a:avLst/>
          </a:prstGeom>
          <a:solidFill>
            <a:srgbClr val="151513"/>
          </a:solidFill>
          <a:ln w="9525">
            <a:solidFill>
              <a:srgbClr val="2B2A26"/>
            </a:solidFill>
            <a:prstDash val="solid"/>
          </a:ln>
        </p:spPr>
      </p:sp>
      <p:pic>
        <p:nvPicPr>
          <p:cNvPr id="14" name="Image 1" descr="/tmp/claude-0/-home-user-Sage-portfolio/d05fecce-977e-5eab-9cf5-7c09b306c551/scratchpad/wrdeck/img/crop_lime.jpg">    </p:cNvPr>
          <p:cNvPicPr>
            <a:picLocks noChangeAspect="1"/>
          </p:cNvPicPr>
          <p:nvPr/>
        </p:nvPicPr>
        <p:blipFill>
          <a:blip r:embed="rId2"/>
          <a:srcRect l="0" r="0" t="0" b="0"/>
          <a:stretch/>
        </p:blipFill>
        <p:spPr>
          <a:xfrm>
            <a:off x="2944368" y="1645920"/>
            <a:ext cx="1828800" cy="1463040"/>
          </a:xfrm>
          <a:prstGeom prst="rect">
            <a:avLst/>
          </a:prstGeom>
        </p:spPr>
      </p:pic>
      <p:sp>
        <p:nvSpPr>
          <p:cNvPr id="15" name="Shape 11"/>
          <p:cNvSpPr/>
          <p:nvPr/>
        </p:nvSpPr>
        <p:spPr>
          <a:xfrm>
            <a:off x="2807208" y="3182112"/>
            <a:ext cx="2103120" cy="45720"/>
          </a:xfrm>
          <a:prstGeom prst="rect">
            <a:avLst/>
          </a:prstGeom>
          <a:solidFill>
            <a:srgbClr val="D7F25A"/>
          </a:solidFill>
          <a:ln w="12700">
            <a:solidFill>
              <a:srgbClr val="D7F25A"/>
            </a:solidFill>
            <a:prstDash val="solid"/>
          </a:ln>
        </p:spPr>
      </p:sp>
      <p:sp>
        <p:nvSpPr>
          <p:cNvPr id="16" name="Text 12"/>
          <p:cNvSpPr txBox="1"/>
          <p:nvPr/>
        </p:nvSpPr>
        <p:spPr>
          <a:xfrm>
            <a:off x="2990088" y="3310128"/>
            <a:ext cx="182880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CITRUS MINT</a:t>
            </a:r>
            <a:endParaRPr lang="en-US" sz="1300" dirty="0"/>
          </a:p>
        </p:txBody>
      </p:sp>
      <p:sp>
        <p:nvSpPr>
          <p:cNvPr id="17" name="Text 13"/>
          <p:cNvSpPr txBox="1"/>
          <p:nvPr/>
        </p:nvSpPr>
        <p:spPr>
          <a:xfrm>
            <a:off x="2990088" y="3584448"/>
            <a:ext cx="1828800" cy="228600"/>
          </a:xfrm>
          <a:prstGeom prst="rect">
            <a:avLst/>
          </a:prstGeom>
          <a:noFill/>
          <a:ln/>
        </p:spPr>
        <p:txBody>
          <a:bodyPr wrap="square" lIns="0" tIns="0" rIns="0" bIns="0" rtlCol="0" anchor="t"/>
          <a:lstStyle/>
          <a:p>
            <a:pPr indent="0" marL="0">
              <a:buNone/>
            </a:pPr>
            <a:r>
              <a:rPr lang="en-US" sz="800" b="1" spc="200" kern="0" dirty="0">
                <a:solidFill>
                  <a:srgbClr val="C9A45C"/>
                </a:solidFill>
                <a:latin typeface="Inter" pitchFamily="34" charset="0"/>
                <a:ea typeface="Inter" pitchFamily="34" charset="-122"/>
                <a:cs typeface="Inter" pitchFamily="34" charset="-120"/>
              </a:rPr>
              <a:t>SWEAT</a:t>
            </a:r>
            <a:endParaRPr lang="en-US" sz="800" dirty="0"/>
          </a:p>
        </p:txBody>
      </p:sp>
      <p:sp>
        <p:nvSpPr>
          <p:cNvPr id="18" name="Text 14"/>
          <p:cNvSpPr txBox="1"/>
          <p:nvPr/>
        </p:nvSpPr>
        <p:spPr>
          <a:xfrm>
            <a:off x="2990088" y="3858768"/>
            <a:ext cx="1783080" cy="1371600"/>
          </a:xfrm>
          <a:prstGeom prst="rect">
            <a:avLst/>
          </a:prstGeom>
          <a:noFill/>
          <a:ln/>
        </p:spPr>
        <p:txBody>
          <a:bodyPr wrap="square" lIns="0" tIns="0" rIns="0" bIns="0" rtlCol="0" anchor="t"/>
          <a:lstStyle/>
          <a:p>
            <a:pPr indent="0" marL="0">
              <a:buNone/>
            </a:pPr>
            <a:r>
              <a:rPr lang="en-US" sz="850" i="1" dirty="0">
                <a:solidFill>
                  <a:srgbClr val="F2EDE4"/>
                </a:solidFill>
                <a:latin typeface="Inter" pitchFamily="34" charset="0"/>
                <a:ea typeface="Inter" pitchFamily="34" charset="-122"/>
                <a:cs typeface="Inter" pitchFamily="34" charset="-120"/>
              </a:rPr>
              <a:t>"Ek luxury watch jo gym mein utarni nahi padti — ye idea kahan se aaya?"</a:t>
            </a:r>
            <a:endParaRPr lang="en-US" sz="850" dirty="0"/>
          </a:p>
        </p:txBody>
      </p:sp>
      <p:sp>
        <p:nvSpPr>
          <p:cNvPr id="19" name="Text 15"/>
          <p:cNvSpPr txBox="1"/>
          <p:nvPr/>
        </p:nvSpPr>
        <p:spPr>
          <a:xfrm>
            <a:off x="2990088" y="5303520"/>
            <a:ext cx="178308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one that trains with you.</a:t>
            </a:r>
            <a:endParaRPr lang="en-US" sz="850" dirty="0"/>
          </a:p>
        </p:txBody>
      </p:sp>
      <p:sp>
        <p:nvSpPr>
          <p:cNvPr id="20" name="Shape 16"/>
          <p:cNvSpPr/>
          <p:nvPr/>
        </p:nvSpPr>
        <p:spPr>
          <a:xfrm>
            <a:off x="5065776" y="1508760"/>
            <a:ext cx="2103120" cy="4343400"/>
          </a:xfrm>
          <a:prstGeom prst="rect">
            <a:avLst/>
          </a:prstGeom>
          <a:solidFill>
            <a:srgbClr val="151513"/>
          </a:solidFill>
          <a:ln w="9525">
            <a:solidFill>
              <a:srgbClr val="2B2A26"/>
            </a:solidFill>
            <a:prstDash val="solid"/>
          </a:ln>
        </p:spPr>
      </p:sp>
      <p:pic>
        <p:nvPicPr>
          <p:cNvPr id="21" name="Image 2" descr="/tmp/claude-0/-home-user-Sage-portfolio/d05fecce-977e-5eab-9cf5-7c09b306c551/scratchpad/wrdeck/img/crop_skyblue.jpg">    </p:cNvPr>
          <p:cNvPicPr>
            <a:picLocks noChangeAspect="1"/>
          </p:cNvPicPr>
          <p:nvPr/>
        </p:nvPicPr>
        <p:blipFill>
          <a:blip r:embed="rId3"/>
          <a:srcRect l="0" r="0" t="0" b="0"/>
          <a:stretch/>
        </p:blipFill>
        <p:spPr>
          <a:xfrm>
            <a:off x="5202936" y="1645920"/>
            <a:ext cx="1828800" cy="1463040"/>
          </a:xfrm>
          <a:prstGeom prst="rect">
            <a:avLst/>
          </a:prstGeom>
        </p:spPr>
      </p:pic>
      <p:sp>
        <p:nvSpPr>
          <p:cNvPr id="22" name="Shape 17"/>
          <p:cNvSpPr/>
          <p:nvPr/>
        </p:nvSpPr>
        <p:spPr>
          <a:xfrm>
            <a:off x="5065776" y="3182112"/>
            <a:ext cx="2103120" cy="45720"/>
          </a:xfrm>
          <a:prstGeom prst="rect">
            <a:avLst/>
          </a:prstGeom>
          <a:solidFill>
            <a:srgbClr val="8EC9EE"/>
          </a:solidFill>
          <a:ln w="12700">
            <a:solidFill>
              <a:srgbClr val="8EC9EE"/>
            </a:solidFill>
            <a:prstDash val="solid"/>
          </a:ln>
        </p:spPr>
      </p:sp>
      <p:sp>
        <p:nvSpPr>
          <p:cNvPr id="23" name="Text 18"/>
          <p:cNvSpPr txBox="1"/>
          <p:nvPr/>
        </p:nvSpPr>
        <p:spPr>
          <a:xfrm>
            <a:off x="5248656" y="3310128"/>
            <a:ext cx="182880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CERULEAN</a:t>
            </a:r>
            <a:endParaRPr lang="en-US" sz="1300" dirty="0"/>
          </a:p>
        </p:txBody>
      </p:sp>
      <p:sp>
        <p:nvSpPr>
          <p:cNvPr id="24" name="Text 19"/>
          <p:cNvSpPr txBox="1"/>
          <p:nvPr/>
        </p:nvSpPr>
        <p:spPr>
          <a:xfrm>
            <a:off x="5248656" y="3584448"/>
            <a:ext cx="1828800" cy="228600"/>
          </a:xfrm>
          <a:prstGeom prst="rect">
            <a:avLst/>
          </a:prstGeom>
          <a:noFill/>
          <a:ln/>
        </p:spPr>
        <p:txBody>
          <a:bodyPr wrap="square" lIns="0" tIns="0" rIns="0" bIns="0" rtlCol="0" anchor="t"/>
          <a:lstStyle/>
          <a:p>
            <a:pPr indent="0" marL="0">
              <a:buNone/>
            </a:pPr>
            <a:r>
              <a:rPr lang="en-US" sz="800" b="1" spc="200" kern="0" dirty="0">
                <a:solidFill>
                  <a:srgbClr val="C9A45C"/>
                </a:solidFill>
                <a:latin typeface="Inter" pitchFamily="34" charset="0"/>
                <a:ea typeface="Inter" pitchFamily="34" charset="-122"/>
                <a:cs typeface="Inter" pitchFamily="34" charset="-120"/>
              </a:rPr>
              <a:t>FREEDOM</a:t>
            </a:r>
            <a:endParaRPr lang="en-US" sz="800" dirty="0"/>
          </a:p>
        </p:txBody>
      </p:sp>
      <p:sp>
        <p:nvSpPr>
          <p:cNvPr id="25" name="Text 20"/>
          <p:cNvSpPr txBox="1"/>
          <p:nvPr/>
        </p:nvSpPr>
        <p:spPr>
          <a:xfrm>
            <a:off x="5248656" y="3858768"/>
            <a:ext cx="1783080" cy="1371600"/>
          </a:xfrm>
          <a:prstGeom prst="rect">
            <a:avLst/>
          </a:prstGeom>
          <a:noFill/>
          <a:ln/>
        </p:spPr>
        <p:txBody>
          <a:bodyPr wrap="square" lIns="0" tIns="0" rIns="0" bIns="0" rtlCol="0" anchor="t"/>
          <a:lstStyle/>
          <a:p>
            <a:pPr indent="0" marL="0">
              <a:buNone/>
            </a:pPr>
            <a:r>
              <a:rPr lang="en-US" sz="850" i="1" dirty="0">
                <a:solidFill>
                  <a:srgbClr val="F2EDE4"/>
                </a:solidFill>
                <a:latin typeface="Inter" pitchFamily="34" charset="0"/>
                <a:ea typeface="Inter" pitchFamily="34" charset="-122"/>
                <a:cs typeface="Inter" pitchFamily="34" charset="-120"/>
              </a:rPr>
              <a:t>"Aasmaan, paani, safar — Cerulean un logon se kya kehti hai jo apne time pe jeete hain?"</a:t>
            </a:r>
            <a:endParaRPr lang="en-US" sz="850" dirty="0"/>
          </a:p>
        </p:txBody>
      </p:sp>
      <p:sp>
        <p:nvSpPr>
          <p:cNvPr id="26" name="Text 21"/>
          <p:cNvSpPr txBox="1"/>
          <p:nvPr/>
        </p:nvSpPr>
        <p:spPr>
          <a:xfrm>
            <a:off x="5248656" y="5303520"/>
            <a:ext cx="178308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one that goes anywhere.</a:t>
            </a:r>
            <a:endParaRPr lang="en-US" sz="850" dirty="0"/>
          </a:p>
        </p:txBody>
      </p:sp>
      <p:sp>
        <p:nvSpPr>
          <p:cNvPr id="27" name="Shape 22"/>
          <p:cNvSpPr/>
          <p:nvPr/>
        </p:nvSpPr>
        <p:spPr>
          <a:xfrm>
            <a:off x="7324344" y="1508760"/>
            <a:ext cx="2103120" cy="4343400"/>
          </a:xfrm>
          <a:prstGeom prst="rect">
            <a:avLst/>
          </a:prstGeom>
          <a:solidFill>
            <a:srgbClr val="151513"/>
          </a:solidFill>
          <a:ln w="9525">
            <a:solidFill>
              <a:srgbClr val="2B2A26"/>
            </a:solidFill>
            <a:prstDash val="solid"/>
          </a:ln>
        </p:spPr>
      </p:sp>
      <p:pic>
        <p:nvPicPr>
          <p:cNvPr id="28" name="Image 3" descr="/tmp/claude-0/-home-user-Sage-portfolio/d05fecce-977e-5eab-9cf5-7c09b306c551/scratchpad/wrdeck/img/crop_orange.jpg">    </p:cNvPr>
          <p:cNvPicPr>
            <a:picLocks noChangeAspect="1"/>
          </p:cNvPicPr>
          <p:nvPr/>
        </p:nvPicPr>
        <p:blipFill>
          <a:blip r:embed="rId4"/>
          <a:srcRect l="0" r="0" t="0" b="0"/>
          <a:stretch/>
        </p:blipFill>
        <p:spPr>
          <a:xfrm>
            <a:off x="7461504" y="1645920"/>
            <a:ext cx="1828800" cy="1463040"/>
          </a:xfrm>
          <a:prstGeom prst="rect">
            <a:avLst/>
          </a:prstGeom>
        </p:spPr>
      </p:pic>
      <p:sp>
        <p:nvSpPr>
          <p:cNvPr id="29" name="Shape 23"/>
          <p:cNvSpPr/>
          <p:nvPr/>
        </p:nvSpPr>
        <p:spPr>
          <a:xfrm>
            <a:off x="7324344" y="3182112"/>
            <a:ext cx="2103120" cy="45720"/>
          </a:xfrm>
          <a:prstGeom prst="rect">
            <a:avLst/>
          </a:prstGeom>
          <a:solidFill>
            <a:srgbClr val="F28C28"/>
          </a:solidFill>
          <a:ln w="12700">
            <a:solidFill>
              <a:srgbClr val="F28C28"/>
            </a:solidFill>
            <a:prstDash val="solid"/>
          </a:ln>
        </p:spPr>
      </p:sp>
      <p:sp>
        <p:nvSpPr>
          <p:cNvPr id="30" name="Text 24"/>
          <p:cNvSpPr txBox="1"/>
          <p:nvPr/>
        </p:nvSpPr>
        <p:spPr>
          <a:xfrm>
            <a:off x="7507224" y="3310128"/>
            <a:ext cx="182880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ROYAL TANGERINE</a:t>
            </a:r>
            <a:endParaRPr lang="en-US" sz="1300" dirty="0"/>
          </a:p>
        </p:txBody>
      </p:sp>
      <p:sp>
        <p:nvSpPr>
          <p:cNvPr id="31" name="Text 25"/>
          <p:cNvSpPr txBox="1"/>
          <p:nvPr/>
        </p:nvSpPr>
        <p:spPr>
          <a:xfrm>
            <a:off x="7507224" y="3584448"/>
            <a:ext cx="1828800" cy="228600"/>
          </a:xfrm>
          <a:prstGeom prst="rect">
            <a:avLst/>
          </a:prstGeom>
          <a:noFill/>
          <a:ln/>
        </p:spPr>
        <p:txBody>
          <a:bodyPr wrap="square" lIns="0" tIns="0" rIns="0" bIns="0" rtlCol="0" anchor="t"/>
          <a:lstStyle/>
          <a:p>
            <a:pPr indent="0" marL="0">
              <a:buNone/>
            </a:pPr>
            <a:r>
              <a:rPr lang="en-US" sz="800" b="1" spc="200" kern="0" dirty="0">
                <a:solidFill>
                  <a:srgbClr val="C9A45C"/>
                </a:solidFill>
                <a:latin typeface="Inter" pitchFamily="34" charset="0"/>
                <a:ea typeface="Inter" pitchFamily="34" charset="-122"/>
                <a:cs typeface="Inter" pitchFamily="34" charset="-120"/>
              </a:rPr>
              <a:t>JOURNEY</a:t>
            </a:r>
            <a:endParaRPr lang="en-US" sz="800" dirty="0"/>
          </a:p>
        </p:txBody>
      </p:sp>
      <p:sp>
        <p:nvSpPr>
          <p:cNvPr id="32" name="Text 26"/>
          <p:cNvSpPr txBox="1"/>
          <p:nvPr/>
        </p:nvSpPr>
        <p:spPr>
          <a:xfrm>
            <a:off x="7507224" y="3858768"/>
            <a:ext cx="1783080" cy="1371600"/>
          </a:xfrm>
          <a:prstGeom prst="rect">
            <a:avLst/>
          </a:prstGeom>
          <a:noFill/>
          <a:ln/>
        </p:spPr>
        <p:txBody>
          <a:bodyPr wrap="square" lIns="0" tIns="0" rIns="0" bIns="0" rtlCol="0" anchor="t"/>
          <a:lstStyle/>
          <a:p>
            <a:pPr indent="0" marL="0">
              <a:buNone/>
            </a:pPr>
            <a:r>
              <a:rPr lang="en-US" sz="850" i="1" dirty="0">
                <a:solidFill>
                  <a:srgbClr val="F2EDE4"/>
                </a:solidFill>
                <a:latin typeface="Inter" pitchFamily="34" charset="0"/>
                <a:ea typeface="Inter" pitchFamily="34" charset="-122"/>
                <a:cs typeface="Inter" pitchFamily="34" charset="-120"/>
              </a:rPr>
              <a:t>"Orange aur royal blue — bhookh aur manzil. Self-made logon ke liye ye ghadi kyun?"</a:t>
            </a:r>
            <a:endParaRPr lang="en-US" sz="850" dirty="0"/>
          </a:p>
        </p:txBody>
      </p:sp>
      <p:sp>
        <p:nvSpPr>
          <p:cNvPr id="33" name="Text 27"/>
          <p:cNvSpPr txBox="1"/>
          <p:nvPr/>
        </p:nvSpPr>
        <p:spPr>
          <a:xfrm>
            <a:off x="7507224" y="5303520"/>
            <a:ext cx="178308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self-made.</a:t>
            </a:r>
            <a:endParaRPr lang="en-US" sz="850" dirty="0"/>
          </a:p>
        </p:txBody>
      </p:sp>
      <p:sp>
        <p:nvSpPr>
          <p:cNvPr id="34" name="Shape 28"/>
          <p:cNvSpPr/>
          <p:nvPr/>
        </p:nvSpPr>
        <p:spPr>
          <a:xfrm>
            <a:off x="9582912" y="1508760"/>
            <a:ext cx="2103120" cy="4343400"/>
          </a:xfrm>
          <a:prstGeom prst="rect">
            <a:avLst/>
          </a:prstGeom>
          <a:solidFill>
            <a:srgbClr val="151513"/>
          </a:solidFill>
          <a:ln w="9525">
            <a:solidFill>
              <a:srgbClr val="2B2A26"/>
            </a:solidFill>
            <a:prstDash val="solid"/>
          </a:ln>
        </p:spPr>
      </p:sp>
      <p:pic>
        <p:nvPicPr>
          <p:cNvPr id="35" name="Image 4" descr="/tmp/claude-0/-home-user-Sage-portfolio/d05fecce-977e-5eab-9cf5-7c09b306c551/scratchpad/wrdeck/img/crop_redblue.jpg">    </p:cNvPr>
          <p:cNvPicPr>
            <a:picLocks noChangeAspect="1"/>
          </p:cNvPicPr>
          <p:nvPr/>
        </p:nvPicPr>
        <p:blipFill>
          <a:blip r:embed="rId5"/>
          <a:srcRect l="0" r="0" t="0" b="0"/>
          <a:stretch/>
        </p:blipFill>
        <p:spPr>
          <a:xfrm>
            <a:off x="9720072" y="1645920"/>
            <a:ext cx="1828800" cy="1463040"/>
          </a:xfrm>
          <a:prstGeom prst="rect">
            <a:avLst/>
          </a:prstGeom>
        </p:spPr>
      </p:pic>
      <p:sp>
        <p:nvSpPr>
          <p:cNvPr id="36" name="Shape 29"/>
          <p:cNvSpPr/>
          <p:nvPr/>
        </p:nvSpPr>
        <p:spPr>
          <a:xfrm>
            <a:off x="9582912" y="3182112"/>
            <a:ext cx="2103120" cy="45720"/>
          </a:xfrm>
          <a:prstGeom prst="rect">
            <a:avLst/>
          </a:prstGeom>
          <a:solidFill>
            <a:srgbClr val="D2283A"/>
          </a:solidFill>
          <a:ln w="12700">
            <a:solidFill>
              <a:srgbClr val="D2283A"/>
            </a:solidFill>
            <a:prstDash val="solid"/>
          </a:ln>
        </p:spPr>
      </p:sp>
      <p:sp>
        <p:nvSpPr>
          <p:cNvPr id="37" name="Text 30"/>
          <p:cNvSpPr txBox="1"/>
          <p:nvPr/>
        </p:nvSpPr>
        <p:spPr>
          <a:xfrm>
            <a:off x="9765792" y="3310128"/>
            <a:ext cx="182880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CRIMSON NAVY</a:t>
            </a:r>
            <a:endParaRPr lang="en-US" sz="1300" dirty="0"/>
          </a:p>
        </p:txBody>
      </p:sp>
      <p:sp>
        <p:nvSpPr>
          <p:cNvPr id="38" name="Text 31"/>
          <p:cNvSpPr txBox="1"/>
          <p:nvPr/>
        </p:nvSpPr>
        <p:spPr>
          <a:xfrm>
            <a:off x="9765792" y="3584448"/>
            <a:ext cx="1828800" cy="228600"/>
          </a:xfrm>
          <a:prstGeom prst="rect">
            <a:avLst/>
          </a:prstGeom>
          <a:noFill/>
          <a:ln/>
        </p:spPr>
        <p:txBody>
          <a:bodyPr wrap="square" lIns="0" tIns="0" rIns="0" bIns="0" rtlCol="0" anchor="t"/>
          <a:lstStyle/>
          <a:p>
            <a:pPr indent="0" marL="0">
              <a:buNone/>
            </a:pPr>
            <a:r>
              <a:rPr lang="en-US" sz="800" b="1" spc="200" kern="0" dirty="0">
                <a:solidFill>
                  <a:srgbClr val="C9A45C"/>
                </a:solidFill>
                <a:latin typeface="Inter" pitchFamily="34" charset="0"/>
                <a:ea typeface="Inter" pitchFamily="34" charset="-122"/>
                <a:cs typeface="Inter" pitchFamily="34" charset="-120"/>
              </a:rPr>
              <a:t>POWER</a:t>
            </a:r>
            <a:endParaRPr lang="en-US" sz="800" dirty="0"/>
          </a:p>
        </p:txBody>
      </p:sp>
      <p:sp>
        <p:nvSpPr>
          <p:cNvPr id="39" name="Text 32"/>
          <p:cNvSpPr txBox="1"/>
          <p:nvPr/>
        </p:nvSpPr>
        <p:spPr>
          <a:xfrm>
            <a:off x="9765792" y="3858768"/>
            <a:ext cx="1783080" cy="1371600"/>
          </a:xfrm>
          <a:prstGeom prst="rect">
            <a:avLst/>
          </a:prstGeom>
          <a:noFill/>
          <a:ln/>
        </p:spPr>
        <p:txBody>
          <a:bodyPr wrap="square" lIns="0" tIns="0" rIns="0" bIns="0" rtlCol="0" anchor="t"/>
          <a:lstStyle/>
          <a:p>
            <a:pPr indent="0" marL="0">
              <a:buNone/>
            </a:pPr>
            <a:r>
              <a:rPr lang="en-US" sz="850" i="1" dirty="0">
                <a:solidFill>
                  <a:srgbClr val="F2EDE4"/>
                </a:solidFill>
                <a:latin typeface="Inter" pitchFamily="34" charset="0"/>
                <a:ea typeface="Inter" pitchFamily="34" charset="-122"/>
                <a:cs typeface="Inter" pitchFamily="34" charset="-120"/>
              </a:rPr>
              <a:t>"Red ek decision hai. Ye ghadi kis aadmi ki hai — aur "dominance = restraint" isme kaise dikhta hai?"</a:t>
            </a:r>
            <a:endParaRPr lang="en-US" sz="850" dirty="0"/>
          </a:p>
        </p:txBody>
      </p:sp>
      <p:sp>
        <p:nvSpPr>
          <p:cNvPr id="40" name="Text 33"/>
          <p:cNvSpPr txBox="1"/>
          <p:nvPr/>
        </p:nvSpPr>
        <p:spPr>
          <a:xfrm>
            <a:off x="9765792" y="5303520"/>
            <a:ext cx="178308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The dominant.</a:t>
            </a:r>
            <a:endParaRPr lang="en-US" sz="850" dirty="0"/>
          </a:p>
        </p:txBody>
      </p:sp>
      <p:sp>
        <p:nvSpPr>
          <p:cNvPr id="41" name="Text 34"/>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Format: she holds the watch while she talks; camera C stays on the watch in her hands. One question per watch, 3–4 minutes each, cut to 30–40 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PRODUCTION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49</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CREW &amp; KIT</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ONE UNIT, ONE DAY, FIVE MOVES.</a:t>
            </a:r>
            <a:endParaRPr lang="en-US" sz="3000" dirty="0"/>
          </a:p>
        </p:txBody>
      </p:sp>
      <p:sp>
        <p:nvSpPr>
          <p:cNvPr id="6" name="Shape 4"/>
          <p:cNvSpPr/>
          <p:nvPr/>
        </p:nvSpPr>
        <p:spPr>
          <a:xfrm>
            <a:off x="548640" y="1508760"/>
            <a:ext cx="3566160" cy="4480560"/>
          </a:xfrm>
          <a:prstGeom prst="rect">
            <a:avLst/>
          </a:prstGeom>
          <a:solidFill>
            <a:srgbClr val="151513"/>
          </a:solidFill>
          <a:ln w="9525">
            <a:solidFill>
              <a:srgbClr val="2B2A26"/>
            </a:solidFill>
            <a:prstDash val="solid"/>
          </a:ln>
        </p:spPr>
      </p:sp>
      <p:sp>
        <p:nvSpPr>
          <p:cNvPr id="7" name="Text 5"/>
          <p:cNvSpPr txBox="1"/>
          <p:nvPr/>
        </p:nvSpPr>
        <p:spPr>
          <a:xfrm>
            <a:off x="777240" y="1691640"/>
            <a:ext cx="310896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CREW</a:t>
            </a:r>
            <a:endParaRPr lang="en-US" sz="750" dirty="0"/>
          </a:p>
        </p:txBody>
      </p:sp>
      <p:sp>
        <p:nvSpPr>
          <p:cNvPr id="8" name="Text 6"/>
          <p:cNvSpPr txBox="1"/>
          <p:nvPr/>
        </p:nvSpPr>
        <p:spPr>
          <a:xfrm>
            <a:off x="777240" y="2011680"/>
            <a:ext cx="3154680" cy="38404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DOP + 1st AC (A cam)</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Gaffer + 1 light assistant</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Stylist (5 looks) + HMU</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Watch handler — gloves, cloths, log sheet</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Runner + driver for the follow car</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Director / creative lead (Sage Media)</a:t>
            </a:r>
            <a:endParaRPr lang="en-US" sz="1050" dirty="0"/>
          </a:p>
        </p:txBody>
      </p:sp>
      <p:sp>
        <p:nvSpPr>
          <p:cNvPr id="9" name="Shape 7"/>
          <p:cNvSpPr/>
          <p:nvPr/>
        </p:nvSpPr>
        <p:spPr>
          <a:xfrm>
            <a:off x="4297680" y="1508760"/>
            <a:ext cx="3566160" cy="4480560"/>
          </a:xfrm>
          <a:prstGeom prst="rect">
            <a:avLst/>
          </a:prstGeom>
          <a:solidFill>
            <a:srgbClr val="151513"/>
          </a:solidFill>
          <a:ln w="9525">
            <a:solidFill>
              <a:srgbClr val="2B2A26"/>
            </a:solidFill>
            <a:prstDash val="solid"/>
          </a:ln>
        </p:spPr>
      </p:sp>
      <p:sp>
        <p:nvSpPr>
          <p:cNvPr id="10" name="Text 8"/>
          <p:cNvSpPr txBox="1"/>
          <p:nvPr/>
        </p:nvSpPr>
        <p:spPr>
          <a:xfrm>
            <a:off x="4526280" y="1691640"/>
            <a:ext cx="310896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KIT</a:t>
            </a:r>
            <a:endParaRPr lang="en-US" sz="750" dirty="0"/>
          </a:p>
        </p:txBody>
      </p:sp>
      <p:sp>
        <p:nvSpPr>
          <p:cNvPr id="11" name="Text 9"/>
          <p:cNvSpPr txBox="1"/>
          <p:nvPr/>
        </p:nvSpPr>
        <p:spPr>
          <a:xfrm>
            <a:off x="4526280" y="2011680"/>
            <a:ext cx="3154680" cy="38404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Cine camera ×2 (4K 10-bit, 120 fps)</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24 · 35 · 50 · 85 mm + 100 mm macro</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Underwater housing (C2) · gimbal · slider</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2 × 600 W + 2 RGB tubes · small hazer (office, dining room)</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UV torch for the lume · blackout cloth</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Time-lapse intervalometer (A2)</a:t>
            </a:r>
            <a:endParaRPr lang="en-US" sz="1050" dirty="0"/>
          </a:p>
        </p:txBody>
      </p:sp>
      <p:sp>
        <p:nvSpPr>
          <p:cNvPr id="12" name="Shape 10"/>
          <p:cNvSpPr/>
          <p:nvPr/>
        </p:nvSpPr>
        <p:spPr>
          <a:xfrm>
            <a:off x="8046720" y="1508760"/>
            <a:ext cx="3566160" cy="4480560"/>
          </a:xfrm>
          <a:prstGeom prst="rect">
            <a:avLst/>
          </a:prstGeom>
          <a:solidFill>
            <a:srgbClr val="151513"/>
          </a:solidFill>
          <a:ln w="9525">
            <a:solidFill>
              <a:srgbClr val="2B2A26"/>
            </a:solidFill>
            <a:prstDash val="solid"/>
          </a:ln>
        </p:spPr>
      </p:sp>
      <p:sp>
        <p:nvSpPr>
          <p:cNvPr id="13" name="Text 11"/>
          <p:cNvSpPr txBox="1"/>
          <p:nvPr/>
        </p:nvSpPr>
        <p:spPr>
          <a:xfrm>
            <a:off x="8275320" y="1691640"/>
            <a:ext cx="310896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TO HIRE</a:t>
            </a:r>
            <a:endParaRPr lang="en-US" sz="750" dirty="0"/>
          </a:p>
        </p:txBody>
      </p:sp>
      <p:sp>
        <p:nvSpPr>
          <p:cNvPr id="14" name="Text 12"/>
          <p:cNvSpPr txBox="1"/>
          <p:nvPr/>
        </p:nvSpPr>
        <p:spPr>
          <a:xfrm>
            <a:off x="8275320" y="2011680"/>
            <a:ext cx="3154680" cy="38404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Red convertible + delivery to the hotel by 17:00</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Battle ropes + kettlebell (B1, B2)</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Leather weekender + passport prop (C1)</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Watch stands + leather pillow (Day 2)</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5 coloured seamless rolls (Day 2)</a:t>
            </a:r>
            <a:endParaRPr lang="en-US" sz="1050" dirty="0"/>
          </a:p>
          <a:p>
            <a:pPr marL="152400" indent="-152400">
              <a:spcAft>
                <a:spcPts val="700"/>
              </a:spcAft>
              <a:buSzPct val="100000"/>
              <a:buChar char="•"/>
            </a:pPr>
            <a:r>
              <a:rPr lang="en-US" sz="1050" dirty="0">
                <a:solidFill>
                  <a:srgbClr val="F2EDE4"/>
                </a:solidFill>
                <a:latin typeface="Inter" pitchFamily="34" charset="0"/>
                <a:ea typeface="Inter" pitchFamily="34" charset="-122"/>
                <a:cs typeface="Inter" pitchFamily="34" charset="-120"/>
              </a:rPr>
              <a:t>Lav + boom for Neetu (Day 2)</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PRODUCTION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50</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BEFORE WE LOCK · TO CONFIRM</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EIGHT ANSWERS WE NEED THIS WEEK.</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548640"/>
                <a:gridCol w="4297680"/>
                <a:gridCol w="6217920"/>
              </a:tblGrid>
              <a:tr h="47548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QUESTION</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WHY IT MATTERS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Water-resistance rating of the Cerulean</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Decides whether C2 is shot under water or at the surface.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Palace: 2-hour morning slot + fee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Forest Ivory only. Corridor, door, hall. No haze, no diyas.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Modern hotel: gym / pool / office floor / porch / dining room access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Four worlds under one roof. Confirm hours in writing.</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Red convertible rental + delivery time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E1–E3. Must be at the porch by 17:00, detailed.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Mukesh ji's five looks approved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Ivory bandhgala · black training · white linen + navy · white shirt + royal-blue trousers / royal-blue suit · black suit.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06</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Two pieces of each watch on set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Backup if one scratches; one stays charged for the glow.</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07</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VO artist: Mukesh ji himself or a narrator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All 15 reels are English VO, recorded after the shoot.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75488">
                <a:tc>
                  <a:txBody>
                    <a:bodyPr/>
                    <a:lstStyle/>
                    <a:p>
                      <a:pPr indent="0" marL="0">
                        <a:buNone/>
                      </a:pPr>
                      <a:r>
                        <a:rPr lang="en-US" sz="1000" b="1" dirty="0">
                          <a:solidFill>
                            <a:srgbClr val="C9A45C"/>
                          </a:solidFill>
                          <a:latin typeface="Inter" pitchFamily="34" charset="0"/>
                          <a:ea typeface="Inter" pitchFamily="34" charset="-122"/>
                          <a:cs typeface="Inter" pitchFamily="34" charset="-120"/>
                        </a:rPr>
                        <a:t>08</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Music: licensed library or original score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tracks in this deck are mood references only (see music slide).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RELEASE</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51</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RELEASE ORDER</a:t>
            </a:r>
            <a:endParaRPr lang="en-US" sz="900" dirty="0"/>
          </a:p>
        </p:txBody>
      </p:sp>
      <p:sp>
        <p:nvSpPr>
          <p:cNvPr id="5" name="Text 3"/>
          <p:cNvSpPr txBox="1"/>
          <p:nvPr/>
        </p:nvSpPr>
        <p:spPr>
          <a:xfrm>
            <a:off x="548640" y="731520"/>
            <a:ext cx="10972800" cy="426720"/>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HERO FIRST. PUNCHES BETWEEN. FESTIVE ON THE DAY.</a:t>
            </a:r>
            <a:endParaRPr lang="en-US" sz="28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4846320"/>
                <a:gridCol w="3840480"/>
              </a:tblGrid>
              <a:tr h="45720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WHEN</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REEL</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WHY HERE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Launch day</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E1 Red Is A Decision + A1 What Survives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two strongest heroes — power and roots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B3 Proof</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Shortest, sharpest, most shareable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C1 Supposed To Be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breath after the power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D1 Nobody Was Coming</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self-made story, mid-week energy</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Fri 6 Nov · Dhanteras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D2 Two Colours + 500 Alpha Founder push</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Hunger → arrival on the day India buys something precious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Sun 8 Nov · Diwali</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E3 It Glows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glow at dusk, on the night of lights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After Diwali</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A2 · B1 · C2 · founder film</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Back to the slow, thoughtful ones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457200">
                <a:tc>
                  <a:txBody>
                    <a:bodyPr/>
                    <a:lstStyle/>
                    <a:p>
                      <a:pPr indent="0" marL="0">
                        <a:buNone/>
                      </a:pPr>
                      <a:r>
                        <a:rPr lang="en-US" sz="1000" b="1" dirty="0">
                          <a:solidFill>
                            <a:srgbClr val="C9A45C"/>
                          </a:solidFill>
                          <a:latin typeface="Inter" pitchFamily="34" charset="0"/>
                          <a:ea typeface="Inter" pitchFamily="34" charset="-122"/>
                          <a:cs typeface="Inter" pitchFamily="34" charset="-120"/>
                        </a:rPr>
                        <a:t>Then, every 1–2 days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A3 · B2 · C3 · D3 · E2 · Neetu: F1–F4 + five watch talks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Keeps the grid colour-balanced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  ·  MUSIC</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52</a:t>
            </a:r>
            <a:endParaRPr lang="en-US" sz="750" dirty="0"/>
          </a:p>
        </p:txBody>
      </p:sp>
      <p:sp>
        <p:nvSpPr>
          <p:cNvPr id="4" name="Text 2"/>
          <p:cNvSpPr txBox="1"/>
          <p:nvPr/>
        </p:nvSpPr>
        <p:spPr>
          <a:xfrm>
            <a:off x="548640" y="45720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MUSIC · EVERY REEL HAS A REFERENCE TRACK</a:t>
            </a:r>
            <a:endParaRPr lang="en-US" sz="900" dirty="0"/>
          </a:p>
        </p:txBody>
      </p:sp>
      <p:sp>
        <p:nvSpPr>
          <p:cNvPr id="5" name="Text 3"/>
          <p:cNvSpPr txBox="1"/>
          <p:nvPr/>
        </p:nvSpPr>
        <p:spPr>
          <a:xfrm>
            <a:off x="548640" y="731520"/>
            <a:ext cx="10972800" cy="457200"/>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REFERENCE TO EDIT TO. LICENSED TO POST.</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640080"/>
                <a:gridCol w="2194560"/>
                <a:gridCol w="4114800"/>
              </a:tblGrid>
              <a:tr h="265176">
                <a:tc>
                  <a:txBody>
                    <a:bodyPr/>
                    <a:lstStyle/>
                    <a:p>
                      <a:pPr indent="0" marL="0">
                        <a:buNone/>
                      </a:pPr>
                      <a:r>
                        <a:rPr lang="en-US" sz="750" b="1" dirty="0">
                          <a:solidFill>
                            <a:srgbClr val="C9A45C"/>
                          </a:solidFill>
                          <a:latin typeface="Inter" pitchFamily="34" charset="0"/>
                          <a:ea typeface="Inter" pitchFamily="34" charset="-122"/>
                          <a:cs typeface="Inter" pitchFamily="34" charset="-120"/>
                        </a:rPr>
                        <a:t>REEL</a:t>
                      </a:r>
                      <a:endParaRPr lang="en-US" sz="75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750" b="1" dirty="0">
                          <a:solidFill>
                            <a:srgbClr val="C9A45C"/>
                          </a:solidFill>
                          <a:latin typeface="Inter" pitchFamily="34" charset="0"/>
                          <a:ea typeface="Inter" pitchFamily="34" charset="-122"/>
                          <a:cs typeface="Inter" pitchFamily="34" charset="-120"/>
                        </a:rPr>
                        <a:t>TITLE</a:t>
                      </a:r>
                      <a:endParaRPr lang="en-US" sz="75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750" b="1" dirty="0">
                          <a:solidFill>
                            <a:srgbClr val="C9A45C"/>
                          </a:solidFill>
                          <a:latin typeface="Inter" pitchFamily="34" charset="0"/>
                          <a:ea typeface="Inter" pitchFamily="34" charset="-122"/>
                          <a:cs typeface="Inter" pitchFamily="34" charset="-120"/>
                        </a:rPr>
                        <a:t>REFERENCE TRACK — TAP TO LISTEN</a:t>
                      </a:r>
                      <a:endParaRPr lang="en-US" sz="75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A1</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What Survives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Max Richter — "On the Nature of Daylight"</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A2</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Everything Moves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Ólafur Arnalds — "Saman"</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A3</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Thirty Years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Nicholas Britell — "Succession (Main Title Theme)"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B1</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Nobody Claps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Hans Zimmer — "Mountains" (Interstellar)</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B2</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Twenty-One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Kendrick Lamar — "HUMBLE." (instrumental)</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B3</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Proof</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Gesaffelstein — "Opr"</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C1</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Supposed To Be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7" invalidUrl="" action="" tgtFrame="" tooltip="" history="1" highlightClick="0" endSnd="0">
                            <a:extLst>
                              <a:ext uri="{A12FA001-AC4F-418D-AE19-62706E023703}">
                                <ahyp:hlinkClr xmlns:ahyp="http://schemas.microsoft.com/office/drawing/2018/hyperlinkcolor" val="tx"/>
                              </a:ext>
                            </a:extLst>
                          </a:hlinkClick>
                        </a:rPr>
                        <a:t>Ludovico Einaudi — "Experience"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C2</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Quiet</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8" invalidUrl="" action="" tgtFrame="" tooltip="" history="1" highlightClick="0" endSnd="0">
                            <a:extLst>
                              <a:ext uri="{A12FA001-AC4F-418D-AE19-62706E023703}">
                                <ahyp:hlinkClr xmlns:ahyp="http://schemas.microsoft.com/office/drawing/2018/hyperlinkcolor" val="tx"/>
                              </a:ext>
                            </a:extLst>
                          </a:hlinkClick>
                        </a:rPr>
                        <a:t>Ólafur Arnalds — "Saman"</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C3</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Monday</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9" invalidUrl="" action="" tgtFrame="" tooltip="" history="1" highlightClick="0" endSnd="0">
                            <a:extLst>
                              <a:ext uri="{A12FA001-AC4F-418D-AE19-62706E023703}">
                                <ahyp:hlinkClr xmlns:ahyp="http://schemas.microsoft.com/office/drawing/2018/hyperlinkcolor" val="tx"/>
                              </a:ext>
                            </a:extLst>
                          </a:hlinkClick>
                        </a:rPr>
                        <a:t>Khruangbin — "Time (You and I)"</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D1</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Nobody Was Coming</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Ludwig Göransson — "Can You Hear the Music" (Oppenheimer)</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D2</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Two Colours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Hans Zimmer — "Time" (Inception)</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D3</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Only One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Trent Reznor &amp; Atticus Ross — "In Motion"</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E1</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Red Is A Decision</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3" invalidUrl="" action="" tgtFrame="" tooltip="" history="1" highlightClick="0" endSnd="0">
                            <a:extLst>
                              <a:ext uri="{A12FA001-AC4F-418D-AE19-62706E023703}">
                                <ahyp:hlinkClr xmlns:ahyp="http://schemas.microsoft.com/office/drawing/2018/hyperlinkcolor" val="tx"/>
                              </a:ext>
                            </a:extLst>
                          </a:hlinkClick>
                        </a:rPr>
                        <a:t>Nicholas Britell — "Succession (Main Title Theme)"</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E2</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Noticed</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4" invalidUrl="" action="" tgtFrame="" tooltip="" history="1" highlightClick="0" endSnd="0">
                            <a:extLst>
                              <a:ext uri="{A12FA001-AC4F-418D-AE19-62706E023703}">
                                <ahyp:hlinkClr xmlns:ahyp="http://schemas.microsoft.com/office/drawing/2018/hyperlinkcolor" val="tx"/>
                              </a:ext>
                            </a:extLst>
                          </a:hlinkClick>
                        </a:rPr>
                        <a:t>Kavinsky — "Nightcall"</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r h="265176">
                <a:tc>
                  <a:txBody>
                    <a:bodyPr/>
                    <a:lstStyle/>
                    <a:p>
                      <a:pPr indent="0" marL="0">
                        <a:buNone/>
                      </a:pPr>
                      <a:r>
                        <a:rPr lang="en-US" sz="900" b="1" dirty="0">
                          <a:solidFill>
                            <a:srgbClr val="C9A45C"/>
                          </a:solidFill>
                          <a:latin typeface="Inter" pitchFamily="34" charset="0"/>
                          <a:ea typeface="Inter" pitchFamily="34" charset="-122"/>
                          <a:cs typeface="Inter" pitchFamily="34" charset="-120"/>
                        </a:rPr>
                        <a:t>E3</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It Glows</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c>
                  <a:txBody>
                    <a:bodyPr/>
                    <a:lstStyle/>
                    <a:p>
                      <a:pPr indent="0" marL="0">
                        <a:buNone/>
                      </a:pPr>
                      <a:r>
                        <a:rPr lang="en-US" sz="900" u="sng" dirty="0">
                          <a:solidFill>
                            <a:srgbClr val="F2EDE4"/>
                          </a:solidFill>
                          <a:latin typeface="Inter" pitchFamily="34" charset="0"/>
                          <a:ea typeface="Inter" pitchFamily="34" charset="-122"/>
                          <a:cs typeface="Inter"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Gesaffelstein — "Pursuit"</a:t>
                      </a:r>
                      <a:endParaRPr lang="en-US" sz="900" dirty="0">
                        <a:latin typeface="Inter" charset="0"/>
                        <a:ea typeface="Inter" charset="0"/>
                        <a:cs typeface="Inter" charset="0"/>
                      </a:endParaRPr>
                    </a:p>
                  </a:txBody>
                  <a:tcPr marL="0" marR="76200" marT="38100" marB="38100">
                    <a:lnL w="0" cap="flat" cmpd="sng" algn="ctr">
                      <a:noFill/>
                    </a:lnL>
                    <a:lnR w="0" cap="flat" cmpd="sng" algn="ctr">
                      <a:noFill/>
                    </a:lnR>
                    <a:lnT w="0" cap="flat" cmpd="sng" algn="ctr">
                      <a:noFill/>
                    </a:lnT>
                    <a:lnB w="0" cap="flat" cmpd="sng" algn="ctr">
                      <a:noFill/>
                    </a:lnB>
                    <a:solidFill>
                      <a:srgbClr val="0B0B0A"/>
                    </a:solidFill>
                  </a:tcPr>
                </a:tc>
              </a:tr>
            </a:tbl>
          </a:graphicData>
        </a:graphic>
      </p:graphicFrame>
      <p:sp>
        <p:nvSpPr>
          <p:cNvPr id="7" name="Shape 4"/>
          <p:cNvSpPr/>
          <p:nvPr/>
        </p:nvSpPr>
        <p:spPr>
          <a:xfrm>
            <a:off x="7863840" y="1417320"/>
            <a:ext cx="3776472" cy="4343400"/>
          </a:xfrm>
          <a:prstGeom prst="rect">
            <a:avLst/>
          </a:prstGeom>
          <a:solidFill>
            <a:srgbClr val="151513"/>
          </a:solidFill>
          <a:ln w="9525">
            <a:solidFill>
              <a:srgbClr val="2B2A26"/>
            </a:solidFill>
            <a:prstDash val="solid"/>
          </a:ln>
        </p:spPr>
      </p:sp>
      <p:sp>
        <p:nvSpPr>
          <p:cNvPr id="8" name="Text 5"/>
          <p:cNvSpPr txBox="1"/>
          <p:nvPr/>
        </p:nvSpPr>
        <p:spPr>
          <a:xfrm>
            <a:off x="8092440" y="1600200"/>
            <a:ext cx="329184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BEFORE ANYTHING GOES LIVE</a:t>
            </a:r>
            <a:endParaRPr lang="en-US" sz="750" dirty="0"/>
          </a:p>
        </p:txBody>
      </p:sp>
      <p:sp>
        <p:nvSpPr>
          <p:cNvPr id="9" name="Text 6"/>
          <p:cNvSpPr txBox="1"/>
          <p:nvPr/>
        </p:nvSpPr>
        <p:spPr>
          <a:xfrm>
            <a:off x="8092440" y="1920240"/>
            <a:ext cx="3383280" cy="3749040"/>
          </a:xfrm>
          <a:prstGeom prst="rect">
            <a:avLst/>
          </a:prstGeom>
          <a:noFill/>
          <a:ln/>
        </p:spPr>
        <p:txBody>
          <a:bodyPr wrap="square" lIns="0" tIns="0" rIns="0" bIns="0" rtlCol="0" anchor="t"/>
          <a:lstStyle/>
          <a:p>
            <a:pPr marL="152400" indent="-152400">
              <a:spcAft>
                <a:spcPts val="800"/>
              </a:spcAft>
              <a:buSzPct val="100000"/>
              <a:buChar char="•"/>
            </a:pPr>
            <a:r>
              <a:rPr lang="en-US" sz="1000" dirty="0">
                <a:solidFill>
                  <a:srgbClr val="F2EDE4"/>
                </a:solidFill>
                <a:latin typeface="Inter" pitchFamily="34" charset="0"/>
                <a:ea typeface="Inter" pitchFamily="34" charset="-122"/>
                <a:cs typeface="Inter" pitchFamily="34" charset="-120"/>
              </a:rPr>
              <a:t>These tracks are for the editor — they set the mood, pace and cut points.</a:t>
            </a:r>
            <a:endParaRPr lang="en-US" sz="1000" dirty="0"/>
          </a:p>
          <a:p>
            <a:pPr marL="152400" indent="-152400">
              <a:spcAft>
                <a:spcPts val="800"/>
              </a:spcAft>
              <a:buSzPct val="100000"/>
              <a:buChar char="•"/>
            </a:pPr>
            <a:r>
              <a:rPr lang="en-US" sz="1000" dirty="0">
                <a:solidFill>
                  <a:srgbClr val="F2EDE4"/>
                </a:solidFill>
                <a:latin typeface="Inter" pitchFamily="34" charset="0"/>
                <a:ea typeface="Inter" pitchFamily="34" charset="-122"/>
                <a:cs typeface="Inter" pitchFamily="34" charset="-120"/>
              </a:rPr>
              <a:t>Wealth Roots posts from a business account: Instagram only allows its own licensed library there, and copyrighted film scores get muted or blocked.</a:t>
            </a:r>
            <a:endParaRPr lang="en-US" sz="1000" dirty="0"/>
          </a:p>
          <a:p>
            <a:pPr marL="152400" indent="-152400">
              <a:spcAft>
                <a:spcPts val="800"/>
              </a:spcAft>
              <a:buSzPct val="100000"/>
              <a:buChar char="•"/>
            </a:pPr>
            <a:r>
              <a:rPr lang="en-US" sz="1000" dirty="0">
                <a:solidFill>
                  <a:srgbClr val="F2EDE4"/>
                </a:solidFill>
                <a:latin typeface="Inter" pitchFamily="34" charset="0"/>
                <a:ea typeface="Inter" pitchFamily="34" charset="-122"/>
                <a:cs typeface="Inter" pitchFamily="34" charset="-120"/>
              </a:rPr>
              <a:t>So each final reel uses a licensed sound-alike (Artlist / Epidemic / Meta Sound Collection) or a short original score.</a:t>
            </a:r>
            <a:endParaRPr lang="en-US" sz="1000" dirty="0"/>
          </a:p>
          <a:p>
            <a:pPr marL="152400" indent="-152400">
              <a:spcAft>
                <a:spcPts val="800"/>
              </a:spcAft>
              <a:buSzPct val="100000"/>
              <a:buChar char="•"/>
            </a:pPr>
            <a:r>
              <a:rPr lang="en-US" sz="1000" dirty="0">
                <a:solidFill>
                  <a:srgbClr val="F2EDE4"/>
                </a:solidFill>
                <a:latin typeface="Inter" pitchFamily="34" charset="0"/>
                <a:ea typeface="Inter" pitchFamily="34" charset="-122"/>
                <a:cs typeface="Inter" pitchFamily="34" charset="-120"/>
              </a:rPr>
              <a:t>For the Dhanteras and Diwali drops, lock the licensed track before the edit — those dates can't slip.</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MUKESH GUPTA  ·  WEAR WHAT'S YOURS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53</a:t>
            </a:r>
            <a:endParaRPr lang="en-US" sz="750" dirty="0"/>
          </a:p>
        </p:txBody>
      </p:sp>
      <p:pic>
        <p:nvPicPr>
          <p:cNvPr id="4" name="Image 0" descr="/tmp/claude-0/-home-user-Sage-portfolio/d05fecce-977e-5eab-9cf5-7c09b306c551/scratchpad/wrdeck/gen/full/E3-3.jpg">    </p:cNvPr>
          <p:cNvPicPr>
            <a:picLocks noChangeAspect="1"/>
          </p:cNvPicPr>
          <p:nvPr/>
        </p:nvPicPr>
        <p:blipFill>
          <a:blip r:embed="rId1"/>
          <a:srcRect l="0" r="0" t="0" b="0"/>
          <a:stretch/>
        </p:blipFill>
        <p:spPr>
          <a:xfrm>
            <a:off x="7589520" y="0"/>
            <a:ext cx="4599432" cy="6858000"/>
          </a:xfrm>
          <a:prstGeom prst="rect">
            <a:avLst/>
          </a:prstGeom>
        </p:spPr>
      </p:pic>
      <p:sp>
        <p:nvSpPr>
          <p:cNvPr id="5" name="Text 2"/>
          <p:cNvSpPr txBox="1"/>
          <p:nvPr/>
        </p:nvSpPr>
        <p:spPr>
          <a:xfrm>
            <a:off x="548640" y="128016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WEALTH ROOTS</a:t>
            </a:r>
            <a:endParaRPr lang="en-US" sz="900" dirty="0"/>
          </a:p>
        </p:txBody>
      </p:sp>
      <p:sp>
        <p:nvSpPr>
          <p:cNvPr id="6" name="Text 3"/>
          <p:cNvSpPr txBox="1"/>
          <p:nvPr/>
        </p:nvSpPr>
        <p:spPr>
          <a:xfrm>
            <a:off x="548640" y="1645920"/>
            <a:ext cx="6858000" cy="2926080"/>
          </a:xfrm>
          <a:prstGeom prst="rect">
            <a:avLst/>
          </a:prstGeom>
          <a:noFill/>
          <a:ln/>
        </p:spPr>
        <p:txBody>
          <a:bodyPr wrap="square" lIns="0" tIns="0" rIns="0" bIns="0" rtlCol="0" anchor="t"/>
          <a:lstStyle/>
          <a:p>
            <a:pPr indent="0" marL="0">
              <a:lnSpc>
                <a:spcPct val="95000"/>
              </a:lnSpc>
              <a:buNone/>
            </a:pPr>
            <a:r>
              <a:rPr lang="en-US" sz="5600" b="1" dirty="0">
                <a:solidFill>
                  <a:srgbClr val="F2EDE4"/>
                </a:solidFill>
                <a:latin typeface="Oswald" pitchFamily="34" charset="0"/>
                <a:ea typeface="Oswald" pitchFamily="34" charset="-122"/>
                <a:cs typeface="Oswald" pitchFamily="34" charset="-120"/>
              </a:rPr>
              <a:t>WEAR</a:t>
            </a:r>
            <a:endParaRPr lang="en-US" sz="5600" dirty="0"/>
          </a:p>
          <a:p>
            <a:pPr indent="0" marL="0">
              <a:lnSpc>
                <a:spcPct val="95000"/>
              </a:lnSpc>
              <a:buNone/>
            </a:pPr>
            <a:r>
              <a:rPr lang="en-US" sz="5600" b="1" dirty="0">
                <a:solidFill>
                  <a:srgbClr val="F2EDE4"/>
                </a:solidFill>
                <a:latin typeface="Oswald" pitchFamily="34" charset="0"/>
                <a:ea typeface="Oswald" pitchFamily="34" charset="-122"/>
                <a:cs typeface="Oswald" pitchFamily="34" charset="-120"/>
              </a:rPr>
              <a:t>WHAT'S</a:t>
            </a:r>
            <a:endParaRPr lang="en-US" sz="5600" dirty="0"/>
          </a:p>
          <a:p>
            <a:pPr indent="0" marL="0">
              <a:lnSpc>
                <a:spcPct val="95000"/>
              </a:lnSpc>
              <a:buNone/>
            </a:pPr>
            <a:r>
              <a:rPr lang="en-US" sz="5600" b="1" dirty="0">
                <a:solidFill>
                  <a:srgbClr val="F2EDE4"/>
                </a:solidFill>
                <a:latin typeface="Oswald" pitchFamily="34" charset="0"/>
                <a:ea typeface="Oswald" pitchFamily="34" charset="-122"/>
                <a:cs typeface="Oswald" pitchFamily="34" charset="-120"/>
              </a:rPr>
              <a:t>YOURS.</a:t>
            </a:r>
            <a:endParaRPr lang="en-US" sz="5600" dirty="0"/>
          </a:p>
        </p:txBody>
      </p:sp>
      <p:sp>
        <p:nvSpPr>
          <p:cNvPr id="7" name="Text 4"/>
          <p:cNvSpPr txBox="1"/>
          <p:nvPr/>
        </p:nvSpPr>
        <p:spPr>
          <a:xfrm>
            <a:off x="548640" y="4663440"/>
            <a:ext cx="6766560" cy="457200"/>
          </a:xfrm>
          <a:prstGeom prst="rect">
            <a:avLst/>
          </a:prstGeom>
          <a:noFill/>
          <a:ln/>
        </p:spPr>
        <p:txBody>
          <a:bodyPr wrap="square" lIns="0" tIns="0" rIns="0" bIns="0" rtlCol="0" anchor="t"/>
          <a:lstStyle/>
          <a:p>
            <a:pPr indent="0" marL="0">
              <a:buNone/>
            </a:pPr>
            <a:r>
              <a:rPr lang="en-US" sz="1200" i="1" dirty="0">
                <a:solidFill>
                  <a:srgbClr val="C9A45C"/>
                </a:solidFill>
                <a:latin typeface="Inter" pitchFamily="34" charset="0"/>
                <a:ea typeface="Inter" pitchFamily="34" charset="-122"/>
                <a:cs typeface="Inter" pitchFamily="34" charset="-120"/>
              </a:rPr>
              <a:t>Here's to your roots. Your sweat. Your freedom. Your journey. Your power.</a:t>
            </a:r>
            <a:endParaRPr lang="en-US" sz="1200" dirty="0"/>
          </a:p>
        </p:txBody>
      </p:sp>
      <p:sp>
        <p:nvSpPr>
          <p:cNvPr id="8" name="Text 5"/>
          <p:cNvSpPr txBox="1"/>
          <p:nvPr/>
        </p:nvSpPr>
        <p:spPr>
          <a:xfrm>
            <a:off x="548640" y="5303520"/>
            <a:ext cx="676656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Shoot plan by Sage Media  ·  Jaipur  ·  business@sagemedia.in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Sage 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Roots × Mukesh Gupta — Wear What's Yours — Shoot Plan</dc:title>
  <dc:subject>PptxGenJS Presentation</dc:subject>
  <dc:creator>Sage Media</dc:creator>
  <cp:lastModifiedBy>Sage Media</cp:lastModifiedBy>
  <cp:revision>1</cp:revision>
  <dcterms:created xsi:type="dcterms:W3CDTF">2026-10-18T19:06:50Z</dcterms:created>
  <dcterms:modified xsi:type="dcterms:W3CDTF">2026-10-18T19:06:50Z</dcterms:modified>
</cp:coreProperties>
</file>